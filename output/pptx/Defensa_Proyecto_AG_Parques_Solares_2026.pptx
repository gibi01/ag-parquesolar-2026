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3.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b6f68a75cd4c23" /><Relationship Type="http://schemas.openxmlformats.org/officeDocument/2006/relationships/extended-properties" Target="/docProps/app.xml" Id="R7bf8476dfb3d4088" /><Relationship Type="http://schemas.openxmlformats.org/officeDocument/2006/relationships/officeDocument" Target="/ppt/presentation.xml" Id="R7ddb76c0730740be" /></Relationships>
</file>

<file path=ppt/presentation.xml><?xml version="1.0" encoding="utf-8"?>
<p:presentation xmlns:p="http://schemas.openxmlformats.org/presentationml/2006/main">
  <p:sldMasterIdLst>
    <p:sldMasterId xmlns:r="http://schemas.openxmlformats.org/officeDocument/2006/relationships" id="2147483648" r:id="Rc9f75108826a4344"/>
  </p:sldMasterIdLst>
  <p:notesMasterIdLst>
    <p:notesMasterId xmlns:r="http://schemas.openxmlformats.org/officeDocument/2006/relationships" r:id="R2db6e674793f4b51"/>
  </p:notesMasterIdLst>
  <p:sldIdLst>
    <p:sldId xmlns:r="http://schemas.openxmlformats.org/officeDocument/2006/relationships" id="256" r:id="R15c781ddf27e4bbf"/>
    <p:sldId xmlns:r="http://schemas.openxmlformats.org/officeDocument/2006/relationships" id="257" r:id="Rdd6fa0de2a6845b8"/>
    <p:sldId xmlns:r="http://schemas.openxmlformats.org/officeDocument/2006/relationships" id="258" r:id="R8d9f5535c3164f84"/>
    <p:sldId xmlns:r="http://schemas.openxmlformats.org/officeDocument/2006/relationships" id="259" r:id="R194b705fe8cb43d7"/>
    <p:sldId xmlns:r="http://schemas.openxmlformats.org/officeDocument/2006/relationships" id="260" r:id="Rc7233e45aa4d4d8b"/>
    <p:sldId xmlns:r="http://schemas.openxmlformats.org/officeDocument/2006/relationships" id="261" r:id="R4b973c2007494d68"/>
    <p:sldId xmlns:r="http://schemas.openxmlformats.org/officeDocument/2006/relationships" id="262" r:id="R283845a085184901"/>
    <p:sldId xmlns:r="http://schemas.openxmlformats.org/officeDocument/2006/relationships" id="263" r:id="R42bfa79d060d4511"/>
    <p:sldId xmlns:r="http://schemas.openxmlformats.org/officeDocument/2006/relationships" id="264" r:id="Recb80f2a4b124c13"/>
    <p:sldId xmlns:r="http://schemas.openxmlformats.org/officeDocument/2006/relationships" id="265" r:id="Raae5155b940148dc"/>
    <p:sldId xmlns:r="http://schemas.openxmlformats.org/officeDocument/2006/relationships" id="266" r:id="R17d91516fe4d4034"/>
    <p:sldId xmlns:r="http://schemas.openxmlformats.org/officeDocument/2006/relationships" id="267" r:id="R9a360c38e4414427"/>
    <p:sldId xmlns:r="http://schemas.openxmlformats.org/officeDocument/2006/relationships" id="268" r:id="Rce05800e4896485b"/>
    <p:sldId xmlns:r="http://schemas.openxmlformats.org/officeDocument/2006/relationships" id="269" r:id="Rc9fea5626d944731"/>
    <p:sldId xmlns:r="http://schemas.openxmlformats.org/officeDocument/2006/relationships" id="270" r:id="R188f913a64aa454f"/>
    <p:sldId xmlns:r="http://schemas.openxmlformats.org/officeDocument/2006/relationships" id="271" r:id="R58631c8895334d61"/>
    <p:sldId xmlns:r="http://schemas.openxmlformats.org/officeDocument/2006/relationships" id="272" r:id="R95154ed2e05f4864"/>
    <p:sldId xmlns:r="http://schemas.openxmlformats.org/officeDocument/2006/relationships" id="273" r:id="Rcb2f58e9eb534682"/>
    <p:sldId xmlns:r="http://schemas.openxmlformats.org/officeDocument/2006/relationships" id="274" r:id="R49615486ff824f72"/>
    <p:sldId xmlns:r="http://schemas.openxmlformats.org/officeDocument/2006/relationships" id="275" r:id="R9f1fc2aee4954f93"/>
    <p:sldId xmlns:r="http://schemas.openxmlformats.org/officeDocument/2006/relationships" id="276" r:id="R0210b5b7b9bd46f3"/>
    <p:sldId xmlns:r="http://schemas.openxmlformats.org/officeDocument/2006/relationships" id="277" r:id="Rdd546695c84e4e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ad9976ba7248ed" /><Relationship Type="http://schemas.openxmlformats.org/officeDocument/2006/relationships/slideMaster" Target="/ppt/slideMasters/slideMaster1.xml" Id="Rc9f75108826a4344" /><Relationship Type="http://schemas.openxmlformats.org/officeDocument/2006/relationships/notesMaster" Target="/ppt/notesMasters/notesMaster1.xml" Id="R2db6e674793f4b51" /><Relationship Type="http://schemas.openxmlformats.org/officeDocument/2006/relationships/presProps" Target="/ppt/presProps.xml" Id="R110e7017337442f8" /><Relationship Type="http://schemas.openxmlformats.org/officeDocument/2006/relationships/tableStyles" Target="/ppt/tableStyles.xml" Id="R76f48c4a4caa4a50" /><Relationship Type="http://schemas.openxmlformats.org/officeDocument/2006/relationships/slide" Target="/ppt/slides/slide1.xml" Id="R15c781ddf27e4bbf" /><Relationship Type="http://schemas.openxmlformats.org/officeDocument/2006/relationships/slide" Target="/ppt/slides/slide2.xml" Id="Rdd6fa0de2a6845b8" /><Relationship Type="http://schemas.openxmlformats.org/officeDocument/2006/relationships/slide" Target="/ppt/slides/slide3.xml" Id="R8d9f5535c3164f84" /><Relationship Type="http://schemas.openxmlformats.org/officeDocument/2006/relationships/slide" Target="/ppt/slides/slide4.xml" Id="R194b705fe8cb43d7" /><Relationship Type="http://schemas.openxmlformats.org/officeDocument/2006/relationships/slide" Target="/ppt/slides/slide5.xml" Id="Rc7233e45aa4d4d8b" /><Relationship Type="http://schemas.openxmlformats.org/officeDocument/2006/relationships/slide" Target="/ppt/slides/slide6.xml" Id="R4b973c2007494d68" /><Relationship Type="http://schemas.openxmlformats.org/officeDocument/2006/relationships/slide" Target="/ppt/slides/slide7.xml" Id="R283845a085184901" /><Relationship Type="http://schemas.openxmlformats.org/officeDocument/2006/relationships/slide" Target="/ppt/slides/slide8.xml" Id="R42bfa79d060d4511" /><Relationship Type="http://schemas.openxmlformats.org/officeDocument/2006/relationships/slide" Target="/ppt/slides/slide9.xml" Id="Recb80f2a4b124c13" /><Relationship Type="http://schemas.openxmlformats.org/officeDocument/2006/relationships/slide" Target="/ppt/slides/slide10.xml" Id="Raae5155b940148dc" /><Relationship Type="http://schemas.openxmlformats.org/officeDocument/2006/relationships/slide" Target="/ppt/slides/slide11.xml" Id="R17d91516fe4d4034" /><Relationship Type="http://schemas.openxmlformats.org/officeDocument/2006/relationships/slide" Target="/ppt/slides/slide12.xml" Id="R9a360c38e4414427" /><Relationship Type="http://schemas.openxmlformats.org/officeDocument/2006/relationships/slide" Target="/ppt/slides/slide13.xml" Id="Rce05800e4896485b" /><Relationship Type="http://schemas.openxmlformats.org/officeDocument/2006/relationships/slide" Target="/ppt/slides/slide14.xml" Id="Rc9fea5626d944731" /><Relationship Type="http://schemas.openxmlformats.org/officeDocument/2006/relationships/slide" Target="/ppt/slides/slide15.xml" Id="R188f913a64aa454f" /><Relationship Type="http://schemas.openxmlformats.org/officeDocument/2006/relationships/slide" Target="/ppt/slides/slide16.xml" Id="R58631c8895334d61" /><Relationship Type="http://schemas.openxmlformats.org/officeDocument/2006/relationships/slide" Target="/ppt/slides/slide17.xml" Id="R95154ed2e05f4864" /><Relationship Type="http://schemas.openxmlformats.org/officeDocument/2006/relationships/slide" Target="/ppt/slides/slide18.xml" Id="Rcb2f58e9eb534682" /><Relationship Type="http://schemas.openxmlformats.org/officeDocument/2006/relationships/slide" Target="/ppt/slides/slide19.xml" Id="R49615486ff824f72" /><Relationship Type="http://schemas.openxmlformats.org/officeDocument/2006/relationships/slide" Target="/ppt/slides/slide20.xml" Id="R9f1fc2aee4954f93" /><Relationship Type="http://schemas.openxmlformats.org/officeDocument/2006/relationships/slide" Target="/ppt/slides/slide21.xml" Id="R0210b5b7b9bd46f3" /><Relationship Type="http://schemas.openxmlformats.org/officeDocument/2006/relationships/slide" Target="/ppt/slides/slide22.xml" Id="Rdd546695c84e4e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28243992de4e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0c72e41b3d4d66" /><Relationship Type="http://schemas.openxmlformats.org/officeDocument/2006/relationships/notesMaster" Target="/ppt/notesMasters/notesMaster1.xml" Id="R5f0432097a9e42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c64631823a427a" /><Relationship Type="http://schemas.openxmlformats.org/officeDocument/2006/relationships/notesMaster" Target="/ppt/notesMasters/notesMaster1.xml" Id="R8629a265ead04d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cee564e8554874" /><Relationship Type="http://schemas.openxmlformats.org/officeDocument/2006/relationships/notesMaster" Target="/ppt/notesMasters/notesMaster1.xml" Id="R08341a93c35147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884dba8fb7404c" /><Relationship Type="http://schemas.openxmlformats.org/officeDocument/2006/relationships/notesMaster" Target="/ppt/notesMasters/notesMaster1.xml" Id="R4b94c7218ca843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187255013840c1" /><Relationship Type="http://schemas.openxmlformats.org/officeDocument/2006/relationships/notesMaster" Target="/ppt/notesMasters/notesMaster1.xml" Id="Rcba45ae4584545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2705d312d04760" /><Relationship Type="http://schemas.openxmlformats.org/officeDocument/2006/relationships/notesMaster" Target="/ppt/notesMasters/notesMaster1.xml" Id="R473cfc161d7143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66c57a537c418d" /><Relationship Type="http://schemas.openxmlformats.org/officeDocument/2006/relationships/notesMaster" Target="/ppt/notesMasters/notesMaster1.xml" Id="R89fc5914a48145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0a53c48d42a4496" /><Relationship Type="http://schemas.openxmlformats.org/officeDocument/2006/relationships/notesMaster" Target="/ppt/notesMasters/notesMaster1.xml" Id="Rfadba3e10b4344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0e5d777f63af41fc" /><Relationship Type="http://schemas.openxmlformats.org/officeDocument/2006/relationships/notesMaster" Target="/ppt/notesMasters/notesMaster1.xml" Id="Re37cf1fbd4c443c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7273a179514c6b" /><Relationship Type="http://schemas.openxmlformats.org/officeDocument/2006/relationships/notesMaster" Target="/ppt/notesMasters/notesMaster1.xml" Id="R416a4b47417840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48697d6e0e4427" /><Relationship Type="http://schemas.openxmlformats.org/officeDocument/2006/relationships/notesMaster" Target="/ppt/notesMasters/notesMaster1.xml" Id="Racf2d584fd68417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696cfddabd04242" /><Relationship Type="http://schemas.openxmlformats.org/officeDocument/2006/relationships/notesMaster" Target="/ppt/notesMasters/notesMaster1.xml" Id="Rc6164ef8777c49a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52444768dba4c56" /><Relationship Type="http://schemas.openxmlformats.org/officeDocument/2006/relationships/notesMaster" Target="/ppt/notesMasters/notesMaster1.xml" Id="Ra91a89f274414e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fab437b5ca42e6" /><Relationship Type="http://schemas.openxmlformats.org/officeDocument/2006/relationships/notesMaster" Target="/ppt/notesMasters/notesMaster1.xml" Id="R9a9ccf4f8dff487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e780951a9b94a1f" /><Relationship Type="http://schemas.openxmlformats.org/officeDocument/2006/relationships/notesMaster" Target="/ppt/notesMasters/notesMaster1.xml" Id="R0ff67acee4c94b7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5cd4aa3fac346af" /><Relationship Type="http://schemas.openxmlformats.org/officeDocument/2006/relationships/notesMaster" Target="/ppt/notesMasters/notesMaster1.xml" Id="R92fcfab797fe47d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da0c137e3c340b8" /><Relationship Type="http://schemas.openxmlformats.org/officeDocument/2006/relationships/notesMaster" Target="/ppt/notesMasters/notesMaster1.xml" Id="Ra1cad91813654a6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ef6effc09c94fae" /><Relationship Type="http://schemas.openxmlformats.org/officeDocument/2006/relationships/notesMaster" Target="/ppt/notesMasters/notesMaster1.xml" Id="R54117a33b1e741e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d588264a791448e" /><Relationship Type="http://schemas.openxmlformats.org/officeDocument/2006/relationships/notesMaster" Target="/ppt/notesMasters/notesMaster1.xml" Id="R562d0635e04249a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ab978ba344242f1" /><Relationship Type="http://schemas.openxmlformats.org/officeDocument/2006/relationships/notesMaster" Target="/ppt/notesMasters/notesMaster1.xml" Id="Ra6bce025c449408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3c410defcee4377" /><Relationship Type="http://schemas.openxmlformats.org/officeDocument/2006/relationships/notesMaster" Target="/ppt/notesMasters/notesMaster1.xml" Id="Redaf545959dd48d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9fe12ec42e34b5e" /><Relationship Type="http://schemas.openxmlformats.org/officeDocument/2006/relationships/notesMaster" Target="/ppt/notesMasters/notesMaster1.xml" Id="R07acccf439f24a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Apertura: el proyecto explora configuraciones de parques solares sobre una grilla. Explicaremos primero de dónde provienen los datos y luego cómo el AG produce y compara propuestas. Duración sugerida: 20 a 25 minutos. La ilustración de portada es conceptual, generada con IA, y no representa una instalación real. Fuente técnica: C:/Users/creis/OneDrive/Escritorio/AG-ParqueSolar-2026/README.md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algoritmo propone dónde ubicar un parque, qué forma darle y cuánto puede crecer. Un parque contiene celdas conectadas por borde. La escala de trabajo es provincial y la grilla de análisis usa 500 metros. La cartografía oficial aquí es contexto: el pipeline usa capas vectoriales y registros climáticos, no extrae datos de esta imagen. El mapa es de agosto de 2024.</a:t>
            </a:r>
          </a:p>
          <a:p xmlns:a="http://schemas.openxmlformats.org/drawingml/2006/main">
            <a:r>
              <a:t/>
            </a:r>
          </a:p>
          <a:p xmlns:a="http://schemas.openxmlformats.org/drawingml/2006/main">
            <a:r>
              <a:t>Fuentes del proyecto: C:/Users/creis/OneDrive/Escritorio/AG-ParqueSolar-2026/README.md</a:t>
            </a:r>
          </a:p>
          <a:p xmlns:a="http://schemas.openxmlformats.org/drawingml/2006/main">
            <a:r>
              <a:t>C:/Users/creis/OneDrive/Escritorio/AG-ParqueSolar-2026/generacion_electrica.pdf</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Separar fuentes evita confundir líneas con estaciones o geometría con capacidad eléctrica. IGN aporta el límite. INDEC aporta polígonos urbanos del Censo 2022. CKAN aporta líneas. El archivo CSV aporta estaciones. ERA5-Land aporta radiación. La preparación selecciona cuatro ET identificadas por CN, RM, RO y ST: Río Coronda, Romang, Rosario Oeste y Santo Tomé. El AG no usa MVA.</a:t>
            </a:r>
          </a:p>
          <a:p xmlns:a="http://schemas.openxmlformats.org/drawingml/2006/main">
            <a:r>
              <a:t/>
            </a:r>
          </a:p>
          <a:p xmlns:a="http://schemas.openxmlformats.org/drawingml/2006/main">
            <a:r>
              <a:t>Fuentes del proyecto: C:/Users/creis/OneDrive/Escritorio/AG-ParqueSolar-2026/config.yaml</a:t>
            </a:r>
          </a:p>
          <a:p xmlns:a="http://schemas.openxmlformats.org/drawingml/2006/main">
            <a:r>
              <a:t>C:/Users/creis/OneDrive/Escritorio/AG-ParqueSolar-2026/src/pipeline/ingest.py</a:t>
            </a:r>
          </a:p>
          <a:p xmlns:a="http://schemas.openxmlformats.org/drawingml/2006/main">
            <a:r>
              <a:t>C:/Users/creis/OneDrive/Escritorio/AG-ParqueSolar-2026/src/pipeline/preprocess.py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es un ejemplo fiel a src/api/indec.py. El cliente hace GET al WFS con parámetros separados. count=500 es el tamaño de página configurado. En la segunda página startIndex pasa a 500 y continúa hasta reunir numberMatched. El cliente verifica FeatureCollection, numberReturned, IDs únicos y un total estable. Si una página falta, falla. No es una consulta que se haga por cada cromosoma. Fuente: endpoint configurado https://geonode.indec.gob.ar/geoserver/geonode/wfs</a:t>
            </a:r>
          </a:p>
          <a:p xmlns:a="http://schemas.openxmlformats.org/drawingml/2006/main">
            <a:r>
              <a:t/>
            </a:r>
          </a:p>
          <a:p xmlns:a="http://schemas.openxmlformats.org/drawingml/2006/main">
            <a:r>
              <a:t>Fuentes del proyecto: C:/Users/creis/OneDrive/Escritorio/AG-ParqueSolar-2026/src/api/indec.py</a:t>
            </a:r>
          </a:p>
          <a:p xmlns:a="http://schemas.openxmlformats.org/drawingml/2006/main">
            <a:r>
              <a:t>C:/Users/creis/OneDrive/Escritorio/AG-ParqueSolar-2026/config.yaml</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app no trata todas las fuentes como una única API. IGN es un ZIP que contiene un shapefile. CKAN usa datastore_search paginado con resource_id, limit y offset. Las estaciones son un CSV descargado directamente. El clima usa xarray.open_zarr sobre ARCO con autorización Bearer de CDS_API_KEY, sin mostrar la credencial. La clave queda fuera de los metadatos de corrida. Los pesos cero desactivan su fuente, pero la exclusión urbana sigue activa.</a:t>
            </a:r>
          </a:p>
          <a:p xmlns:a="http://schemas.openxmlformats.org/drawingml/2006/main">
            <a:r>
              <a:t/>
            </a:r>
          </a:p>
          <a:p xmlns:a="http://schemas.openxmlformats.org/drawingml/2006/main">
            <a:r>
              <a:t>Fuentes del proyecto: C:/Users/creis/OneDrive/Escritorio/AG-ParqueSolar-2026/src/api/datos_gob_ar.py</a:t>
            </a:r>
          </a:p>
          <a:p xmlns:a="http://schemas.openxmlformats.org/drawingml/2006/main">
            <a:r>
              <a:t>C:/Users/creis/OneDrive/Escritorio/AG-ParqueSolar-2026/src/pipeline/ingest.py</a:t>
            </a:r>
          </a:p>
          <a:p xmlns:a="http://schemas.openxmlformats.org/drawingml/2006/main">
            <a:r>
              <a:t>C:/Users/creis/OneDrive/Escritorio/AG-ParqueSolar-2026/src/climate/arco.py</a:t>
            </a:r>
          </a:p>
          <a:p xmlns:a="http://schemas.openxmlformats.org/drawingml/2006/main">
            <a:r>
              <a:t>C:/Users/creis/OneDrive/Escritorio/AG-ParqueSolar-2026/src/main.py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radiación SSRD acumulada se convierte de joules por metro cuadrado a kWh por metro cuadrado dividiendo por 3.600.000. El resumen mensual exige 100% de horas únicas y finitas. Se promedian años completos de enero, abril, julio y octubre y se usan los días de cada estación para estimar un indicador anual. La corrida incluye 11 períodos: los cuatro meses de 2024 y 2025, más enero, abril y julio de 2026. No incluye octubre de 2026. Múltiples celdas de 500 m comparten el mismo píxel nativo, sin interpolación.</a:t>
            </a:r>
          </a:p>
          <a:p xmlns:a="http://schemas.openxmlformats.org/drawingml/2006/main">
            <a:r>
              <a:t/>
            </a:r>
          </a:p>
          <a:p xmlns:a="http://schemas.openxmlformats.org/drawingml/2006/main">
            <a:r>
              <a:t>Fuentes del proyecto: C:/Users/creis/OneDrive/Escritorio/AG-ParqueSolar-2026/src/climate/arco.py</a:t>
            </a:r>
          </a:p>
          <a:p xmlns:a="http://schemas.openxmlformats.org/drawingml/2006/main">
            <a:r>
              <a:t>C:/Users/creis/OneDrive/Escritorio/AG-ParqueSolar-2026/src/climate/climatology.py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Narrar las cuatro etapas. Primero cacheamos fuentes. Luego unificamos CRS para trabajar en metros, recortamos, validamos geometrías y excluimos zonas urbanas. Construimos el grafo de vecinos y asociamos cada celda válida al píxel climático más cercano. El snapshot guarda celdas, vecinos, clima y capas en SQLite. Su identificador depende del contenido. La optimización carga ese snapshot y exporta resultados en una carpeta nueva. Los datos anteriores no se reemplazan.</a:t>
            </a:r>
          </a:p>
          <a:p xmlns:a="http://schemas.openxmlformats.org/drawingml/2006/main">
            <a:r>
              <a:t/>
            </a:r>
          </a:p>
          <a:p xmlns:a="http://schemas.openxmlformats.org/drawingml/2006/main">
            <a:r>
              <a:t>Fuentes del proyecto: C:/Users/creis/OneDrive/Escritorio/AG-ParqueSolar-2026/src/pipeline/preprocess.py</a:t>
            </a:r>
          </a:p>
          <a:p xmlns:a="http://schemas.openxmlformats.org/drawingml/2006/main">
            <a:r>
              <a:t>C:/Users/creis/OneDrive/Escritorio/AG-ParqueSolar-2026/src/database/spatial.py</a:t>
            </a:r>
          </a:p>
          <a:p xmlns:a="http://schemas.openxmlformats.org/drawingml/2006/main">
            <a:r>
              <a:t>C:/Users/creis/OneDrive/Escritorio/AG-ParqueSolar-2026/src/main.py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Hay tres mecanismos diferentes. La caché de fuentes evita descargar lo existente salvo --force. La caché ARCO reutiliza períodos ya guardados y consulta los faltantes. El evaluador memoriza hasta 10.000 genotipos por dataset/configuración, para repetir cálculos sin reconstruir el parque. SQLite conserva snapshots y corridas. Si cambia la huella urbana o falta una fuente activa, el pipeline pide reprocesar o se detiene. No se inventan estaciones ni valores solares. Los metadatos conservan configuración, semilla y versiones, sin credenciales.</a:t>
            </a:r>
          </a:p>
          <a:p xmlns:a="http://schemas.openxmlformats.org/drawingml/2006/main">
            <a:r>
              <a:t/>
            </a:r>
          </a:p>
          <a:p xmlns:a="http://schemas.openxmlformats.org/drawingml/2006/main">
            <a:r>
              <a:t>Fuentes del proyecto: C:/Users/creis/OneDrive/Escritorio/AG-ParqueSolar-2026/src/data/cache.py</a:t>
            </a:r>
          </a:p>
          <a:p xmlns:a="http://schemas.openxmlformats.org/drawingml/2006/main">
            <a:r>
              <a:t>C:/Users/creis/OneDrive/Escritorio/AG-ParqueSolar-2026/src/climate/arco.py</a:t>
            </a:r>
          </a:p>
          <a:p xmlns:a="http://schemas.openxmlformats.org/drawingml/2006/main">
            <a:r>
              <a:t>C:/Users/creis/OneDrive/Escritorio/AG-ParqueSolar-2026/src/optimization/spatial.py</a:t>
            </a:r>
          </a:p>
          <a:p xmlns:a="http://schemas.openxmlformats.org/drawingml/2006/main">
            <a:r>
              <a:t>C:/Users/creis/OneDrive/Escritorio/AG-ParqueSolar-2026/src/database/spatial.py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celda completa tiene 0,25 km², equivalentes a 25 hectáreas. Con 31,3 MW/km² representa 7,825 MW. La contigüidad viene del grafo con vecinos por borde, no por una esquina. La exclusión urbana descarta celdas que tocan o intersectan la máscara, con margen cero y huecos internos rellenados en esta configuración. El límite 80 MW es una restricción experimental. Diez celdas completas suman 78,25 MW. En bordes provinciales hay celdas recortadas y el parque puede incluir más de diez fragmentos.</a:t>
            </a:r>
          </a:p>
          <a:p xmlns:a="http://schemas.openxmlformats.org/drawingml/2006/main">
            <a:r>
              <a:t/>
            </a:r>
          </a:p>
          <a:p xmlns:a="http://schemas.openxmlformats.org/drawingml/2006/main">
            <a:r>
              <a:t>Fuentes del proyecto: C:/Users/creis/OneDrive/Escritorio/AG-ParqueSolar-2026/config.yaml</a:t>
            </a:r>
          </a:p>
          <a:p xmlns:a="http://schemas.openxmlformats.org/drawingml/2006/main">
            <a:r>
              <a:t>C:/Users/creis/OneDrive/Escritorio/AG-ParqueSolar-2026/src/gis/grid.py</a:t>
            </a:r>
          </a:p>
          <a:p xmlns:a="http://schemas.openxmlformats.org/drawingml/2006/main">
            <a:r>
              <a:t>C:/Users/creis/OneDrive/Escritorio/AG-ParqueSolar-2026/src/optimization/spatial.py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cromosoma proviene del ejemplo registrado en la generación inicial de la corrida reproducida. La semilla es 46.504 y los cuatro genes son enteros. Cada entero selecciona una posición dentro de la frontera ordenada mediante módulo. El gen no es una coordenada, un ID de celda ni una dirección fija. Con la misma semilla, la misma secuencia y el mismo grafo se obtiene siempre el mismo parque. El genotipo codifica instrucciones y el fenotipo es el conjunto de celdas.</a:t>
            </a:r>
          </a:p>
          <a:p xmlns:a="http://schemas.openxmlformats.org/drawingml/2006/main">
            <a:r>
              <a:t/>
            </a:r>
          </a:p>
          <a:p xmlns:a="http://schemas.openxmlformats.org/drawingml/2006/main">
            <a:r>
              <a:t>Fuentes del proyecto: C:/Users/creis/OneDrive/Escritorio/AG-ParqueSolar-2026/src/optimization/spatial.py</a:t>
            </a:r>
          </a:p>
          <a:p xmlns:a="http://schemas.openxmlformats.org/drawingml/2006/main">
            <a:r>
              <a:t>C:/Users/creis/OneDrive/Escritorio/AG-ParqueSolar-2026/src/optimization/initialization.py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frontera contiene celdas válidas que comparten borde con el parque. Se ordena por la posición en la grilla, que usa fila, columna y componente. Para el primer gen, la frontera real es [46165,46503,46505,46843]. 429014945 módulo 4 da 1, por lo que se elige la segunda entrada: 46503. El índice comienza en cero. Luego se actualiza la frontera y el próximo entero usa una lista distinta. El evaluador omite una adición que excede potencia, o termina si no cabe ninguna celda de la frontera.</a:t>
            </a:r>
          </a:p>
          <a:p xmlns:a="http://schemas.openxmlformats.org/drawingml/2006/main">
            <a:r>
              <a:t/>
            </a:r>
          </a:p>
          <a:p xmlns:a="http://schemas.openxmlformats.org/drawingml/2006/main">
            <a:r>
              <a:t>Fuentes del proyecto: C:/Users/creis/OneDrive/Escritorio/AG-ParqueSolar-2026/src/optimization/spatial.py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Leer de izquierda a derecha. Esto muestra la decodificación de un cromosoma, no generaciones evolutivas. Semilla sola, luego uno, dos, tres y cuatro genes. La traza real agrega 46503,46505,46843 y46506. Cada adición comparte borde con una celda del parque. Todos los fragmentos de este ejemplo son cuadrados completos. En los recuadros pequeños los IDs se omiten porque la tabla inferior conserva la traza numérica.</a:t>
            </a:r>
          </a:p>
          <a:p xmlns:a="http://schemas.openxmlformats.org/drawingml/2006/main">
            <a:r>
              <a:t/>
            </a:r>
          </a:p>
          <a:p xmlns:a="http://schemas.openxmlformats.org/drawingml/2006/main">
            <a:r>
              <a:t>Fuentes del proyecto: C:/Users/creis/OneDrive/Escritorio/AG-ParqueSolar-2026/src/optimization/spatial.py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cuatro scores están entre cero y uno. Radiación usa min-max de las celdas válidas, con promedio ponderado por área para cada parque. Las distancias se calculan desde el centroide ponderado por área y se invierten para que cerca valga más. La potencia usa P/80. Los límites de normalización son del dataset y los resultados se recortan a [0,1]. Para este cromosoma: radiación 1830,38 kWh/m²/año, distancia a línea 0,967 km y a Rosario Oeste 62,764 km. Los pesos son provisionales y el score es comparativo.</a:t>
            </a:r>
          </a:p>
          <a:p xmlns:a="http://schemas.openxmlformats.org/drawingml/2006/main">
            <a:r>
              <a:t/>
            </a:r>
          </a:p>
          <a:p xmlns:a="http://schemas.openxmlformats.org/drawingml/2006/main">
            <a:r>
              <a:t>Fuentes del proyecto: C:/Users/creis/OneDrive/Escritorio/AG-ParqueSolar-2026/src/optimization/spatial.py</a:t>
            </a:r>
          </a:p>
          <a:p xmlns:a="http://schemas.openxmlformats.org/drawingml/2006/main">
            <a:r>
              <a:t>C:/Users/creis/OneDrive/Escritorio/AG-ParqueSolar-2026/config.yaml</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inicialización genera 50 individuos distribuidos por territorios de 50 km. Cada generación evalúa la población. Conserva hasta dos élites con fenotipos distintos. Completa 48 plazas con torneos de tres, cruza parejas con probabilidad 0,75 y muta hijos con probabilidad 0,20. Intenta evitar duplicados por conjunto de celdas. El archivo territorial conserva hasta diez candidatos por territorio. Se repite hasta 200 generaciones, más la evaluación inicial de generación cero. Las probabilidades no aseguran mejora individual.</a:t>
            </a:r>
          </a:p>
          <a:p xmlns:a="http://schemas.openxmlformats.org/drawingml/2006/main">
            <a:r>
              <a:t/>
            </a:r>
          </a:p>
          <a:p xmlns:a="http://schemas.openxmlformats.org/drawingml/2006/main">
            <a:r>
              <a:t>Fuentes del proyecto: C:/Users/creis/OneDrive/Escritorio/AG-ParqueSolar-2026/src/optimization/genetic_algorithm.py</a:t>
            </a:r>
          </a:p>
          <a:p xmlns:a="http://schemas.openxmlformats.org/drawingml/2006/main">
            <a:r>
              <a:t>C:/Users/creis/OneDrive/Escritorio/AG-ParqueSolar-2026/src/optimization/initialization.py</a:t>
            </a:r>
          </a:p>
          <a:p xmlns:a="http://schemas.openxmlformats.org/drawingml/2006/main">
            <a:r>
              <a:t>C:/Users/creis/OneDrive/Escritorio/AG-ParqueSolar-2026/config.yaml</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es un torneo didáctico compuesto por tres scores reales del ejemplo. No afirmamos que estos tres hayan participado juntos en un torneo de la corrida. La selección toma tres índices aleatorios con reemplazo dentro de cada torneo y elige el mayor fitness. Vuelve a sortear para cada plaza, por eso un ganador puede repetirse. Esto favorece buenas propuestas, sin convertir la selección en una regla que elige sólo a los mejores de toda la población.</a:t>
            </a:r>
          </a:p>
          <a:p xmlns:a="http://schemas.openxmlformats.org/drawingml/2006/main">
            <a:r>
              <a:t/>
            </a:r>
          </a:p>
          <a:p xmlns:a="http://schemas.openxmlformats.org/drawingml/2006/main">
            <a:r>
              <a:t>Fuentes del proyecto: C:/Users/creis/OneDrive/Escritorio/AG-ParqueSolar-2026/src/optimization/selection.py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Cruce real en la generación 1: A conserva los cuatro genes y agrega el último gen de B. Corte A=4 y corte B=6. El hijo conserva la semilla de A. Estos alias facilitan leer el cruce y no sustituyen la codificación entera. Un cruce puede producir un hijo mejor o peor.</a:t>
            </a:r>
          </a:p>
          <a:p xmlns:a="http://schemas.openxmlformats.org/drawingml/2006/main">
            <a:r>
              <a:t>Genotipo A: [429014945,1856101005,1726844270,53904684]</a:t>
            </a:r>
          </a:p>
          <a:p xmlns:a="http://schemas.openxmlformats.org/drawingml/2006/main">
            <a:r>
              <a:t>Genotipo B: [222056182,376207307,1261957109,1703992271,366345610,644229613,1986680326]</a:t>
            </a:r>
          </a:p>
          <a:p xmlns:a="http://schemas.openxmlformats.org/drawingml/2006/main">
            <a:r>
              <a:t>Hijo: [429014945,1856101005,1726844270,53904684,1986680326]</a:t>
            </a:r>
          </a:p>
          <a:p xmlns:a="http://schemas.openxmlformats.org/drawingml/2006/main">
            <a:r>
              <a:t>Fuente: C:/Users/creis/OneDrive/Escritorio/AG-ParqueSolar-2026/src/optimization/crossover.py</a:t>
            </a:r>
          </a:p>
          <a:p xmlns:a="http://schemas.openxmlformats.org/drawingml/2006/main">
            <a:r>
              <a:t>Corrida: C:\Users\creis\OneDrive\Escritorio\AG-ParqueSolar-2026\results\spatial\run-20261004T164747-1cc83f35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Evento real en la generación 1, semilla 380674. Se conserva el padre, y el hijo agrega un gen de valor 6. El decoder elige la celda 381148 y el fenotipo cambia de seis a siete celdas. La potencia aumenta 7,825 MW. La irradiación se mantiene en 1830,91 kWh/m²/año, pero cambian algo las distancias del centroide. Esta mutación mejora el fitness de 0,4498 a 0,4597. Otras mutaciones pueden cambiar un gen, eliminar crecimiento o cambiar la semilla. El operador intenta hasta cuatro veces lograr un fenotipo diferente, sin exigir que sea mejor.</a:t>
            </a:r>
          </a:p>
          <a:p xmlns:a="http://schemas.openxmlformats.org/drawingml/2006/main">
            <a:r>
              <a:t/>
            </a:r>
          </a:p>
          <a:p xmlns:a="http://schemas.openxmlformats.org/drawingml/2006/main">
            <a:r>
              <a:t>Fuentes del proyecto: C:/Users/creis/OneDrive/Escritorio/AG-ParqueSolar-2026/src/optimization/mutation.py</a:t>
            </a:r>
          </a:p>
          <a:p xmlns:a="http://schemas.openxmlformats.org/drawingml/2006/main">
            <a:r>
              <a:t>C:/Users/creis/OneDrive/Escritorio/AG-ParqueSolar-2026/src/optimization/spatial.py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curva corresponde a history.csv de la corrida del 4 de octubre de 2026 con semilla 42 y 50 individuos. El mejor fitness inicial es 0,646999 y el final 0,725455. Son 0,078455 puntos de score, no un porcentaje de rendimiento eléctrico. El promedio fluctúa porque hay mutación, cruces y nuevos muestreos para resolver duplicados. La comparación de mejores se conserva mediante élites y archivo. Esta corrida visita 6214 parques únicos entre poblaciones evaluadas, no todos los parques posibles. La curva por sí sola no demuestra óptimo global.</a:t>
            </a:r>
          </a:p>
          <a:p xmlns:a="http://schemas.openxmlformats.org/drawingml/2006/main">
            <a:r>
              <a:t/>
            </a:r>
          </a:p>
          <a:p xmlns:a="http://schemas.openxmlformats.org/drawingml/2006/main">
            <a:r>
              <a:t>Fuentes del proyecto: C:/Users/creis/OneDrive/Escritorio/AG-ParqueSolar-2026/results/spatial/run-20261004T164747-1cc83f35/history.csv</a:t>
            </a:r>
          </a:p>
          <a:p xmlns:a="http://schemas.openxmlformats.org/drawingml/2006/main">
            <a:r>
              <a:t>C:/Users/creis/OneDrive/Escritorio/AG-ParqueSolar-2026/src/optimization/genetic_algorithm.py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Estas filas son los líderes de la población en generaciones seleccionadas. No describen una genealogía única ni una mejora del cromosoma individual anterior. Incluso con una semilla repetida pueden cambiar genes, forma y métricas. El mejor final tiene once fragmentos, algunos recortados en el borde provincial, y por eso su área no equivale a once cuadrados completos. Los genes no procesados por alcanzar el límite de potencia pueden hacer que un cromosoma tenga más genes que adiciones efectivas.</a:t>
            </a:r>
          </a:p>
          <a:p xmlns:a="http://schemas.openxmlformats.org/drawingml/2006/main">
            <a:r>
              <a:t/>
            </a:r>
          </a:p>
          <a:p xmlns:a="http://schemas.openxmlformats.org/drawingml/2006/main">
            <a:r>
              <a:t>Fuentes del proyecto: C:/Users/creis/OneDrive/Escritorio/AG-ParqueSolar-2026/src/optimization/genetic_algorithm.py</a:t>
            </a:r>
          </a:p>
          <a:p xmlns:a="http://schemas.openxmlformats.org/drawingml/2006/main">
            <a:r>
              <a:t>C:/Users/creis/OneDrive/Escritorio/AG-ParqueSolar-2026/src/optimization/spatial.py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ranking general ordena por fitness y puede incluir parques solapados. El ranking territorial selecciona alternativas sin solapamiento, con separación adicional cero en la configuración actual. El mapa muestra centroides del top cinco territorial, con contorno de Santa Fe simplificado para esta visualización. Los símbolos son posiciones, no tamaños de parque. La corrida conserva geometría exacta en GeoJSON, métricas en CSV, curva en evolution.html y mapa en map.html. ET en la tabla significa la estación más cercana de las cuatro de referencia, no conexión habilitada.</a:t>
            </a:r>
          </a:p>
          <a:p xmlns:a="http://schemas.openxmlformats.org/drawingml/2006/main">
            <a:r>
              <a:t/>
            </a:r>
          </a:p>
          <a:p xmlns:a="http://schemas.openxmlformats.org/drawingml/2006/main">
            <a:r>
              <a:t>Fuentes del proyecto: C:/Users/creis/OneDrive/Escritorio/AG-ParqueSolar-2026/src/pipeline/reporting.py</a:t>
            </a:r>
          </a:p>
          <a:p xmlns:a="http://schemas.openxmlformats.org/drawingml/2006/main">
            <a:r>
              <a:t>C:/Users/creis/OneDrive/Escritorio/AG-ParqueSolar-2026/results/spatial/run-20261004T164747-1cc83f35/ranking_territorial.csv</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 una limitación central para la defensa. El mapa oficial distingue tensiones, no capacidad de transformación. El pipeline actual conserva ID, nombre y geometría de cuatro estaciones y calcula distancia, no MVA ni flujo de potencia. El mejor final está a unos 170,92 km de Santo Tomé, la más cercana de ese conjunto, aunque a 0,081 km de una línea. Esto muestra que un score alto no garantiza una conexión adecuada y que el inventario de referencia es limitado. Tampoco evalúa titularidad, catastro, costos, pendientes, permisos, pérdidas ni rendimiento fotovoltaico. La energía calculada es idealizada.</a:t>
            </a:r>
          </a:p>
          <a:p xmlns:a="http://schemas.openxmlformats.org/drawingml/2006/main">
            <a:r>
              <a:t/>
            </a:r>
          </a:p>
          <a:p xmlns:a="http://schemas.openxmlformats.org/drawingml/2006/main">
            <a:r>
              <a:t>Fuentes del proyecto: C:/Users/creis/OneDrive/Escritorio/AG-ParqueSolar-2026/README.md</a:t>
            </a:r>
          </a:p>
          <a:p xmlns:a="http://schemas.openxmlformats.org/drawingml/2006/main">
            <a:r>
              <a:t>C:/Users/creis/OneDrive/Escritorio/AG-ParqueSolar-2026/src/optimization/spatial.py</a:t>
            </a:r>
          </a:p>
          <a:p xmlns:a="http://schemas.openxmlformats.org/drawingml/2006/main">
            <a:r>
              <a:t>C:/Users/creis/OneDrive/Escritorio/AG-ParqueSolar-2026/generacion_electrica.pdf</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Respuestas sugeridas. ¿Por qué un AG? Porque explora combinaciones de ubicación y secuencias de crecimiento sin enumerarlas todas. No se afirma superioridad frente a otros métodos sin benchmark. ¿Contigüidad? Cada gen agrega una celda en la frontera por borde. ¿Por qué separar descarga y fitness? Para eficiencia y reproducibilidad. ¿Garantiza el mejor parque? Sólo el mejor encontrado en esta corrida bajo los supuestos. ¿Qué hace falta para aplicación real? Inventario completo y actualizado, capacidad y acceso a red, terreno, costos y permisos. Para sostener la calidad de la búsqueda conviene comparar varias semillas y sensibilidades de pesos y capacidad experimental.</a:t>
            </a:r>
          </a:p>
          <a:p xmlns:a="http://schemas.openxmlformats.org/drawingml/2006/main">
            <a:r>
              <a:t/>
            </a:r>
          </a:p>
          <a:p xmlns:a="http://schemas.openxmlformats.org/drawingml/2006/main">
            <a:r>
              <a:t>Fuentes del proyecto: C:/Users/creis/OneDrive/Escritorio/AG-ParqueSolar-2026/README.md</a:t>
            </a:r>
          </a:p>
          <a:p xmlns:a="http://schemas.openxmlformats.org/drawingml/2006/main">
            <a:r>
              <a:t>C:/Users/creis/OneDrive/Escritorio/AG-ParqueSolar-2026/config.yaml</a:t>
            </a:r>
          </a:p>
          <a:p xmlns:a="http://schemas.openxmlformats.org/drawingml/2006/main">
            <a:r>
              <a:t>C:/Users/creis/OneDrive/Escritorio/AG-ParqueSolar-2026/src/optimization/genetic_algorithm.py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c371b66ec94af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1bf79dd6c3483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04949eeef1a408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4a209c09e7746a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d674bd188cd459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a6c34abbf434b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C3BC9C-5277-47B9-BB39-00D757C3D35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5E9634B-D4A9-434D-81C6-785267AD215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9EB74D4-1344-4F2C-816F-8F6FAA0DEAE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BB9EC9-59EF-47C1-A06F-D57CE4CA4F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0C42CB6-DB66-427A-9992-6950C1F51E4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6B0781-D313-4218-B6A8-6E99BE135D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B94CC9-BF96-4B32-B508-0C39B06111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0E42B10-051E-4DF3-8764-52262B74F18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4C3EFF-E943-4AED-B7A0-8574483DA6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06213F-60F7-436C-A94E-51DA83A616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708ad26d2844e5" /><Relationship Type="http://schemas.openxmlformats.org/officeDocument/2006/relationships/slideLayout" Target="/ppt/slideLayouts/slideLayout1.xml" Id="R5d94bbd88eb540bd" /><Relationship Type="http://schemas.openxmlformats.org/officeDocument/2006/relationships/slideLayout" Target="/ppt/slideLayouts/slideLayout2.xml" Id="Ra4eea099894c440b" /><Relationship Type="http://schemas.openxmlformats.org/officeDocument/2006/relationships/slideLayout" Target="/ppt/slideLayouts/slideLayout3.xml" Id="R4b0c7d474310453d" /><Relationship Type="http://schemas.openxmlformats.org/officeDocument/2006/relationships/slideLayout" Target="/ppt/slideLayouts/slideLayout4.xml" Id="R183a7e24f423464f" /><Relationship Type="http://schemas.openxmlformats.org/officeDocument/2006/relationships/slideLayout" Target="/ppt/slideLayouts/slideLayout5.xml" Id="R0fcd8b886bb64719" /><Relationship Type="http://schemas.openxmlformats.org/officeDocument/2006/relationships/slideLayout" Target="/ppt/slideLayouts/slideLayout6.xml" Id="R4c59ce40f83341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94bbd88eb540bd"/>
    <p:sldLayoutId xmlns:r="http://schemas.openxmlformats.org/officeDocument/2006/relationships" id="2147483650" r:id="Ra4eea099894c440b"/>
    <p:sldLayoutId xmlns:r="http://schemas.openxmlformats.org/officeDocument/2006/relationships" id="2147483651" r:id="R4b0c7d474310453d"/>
    <p:sldLayoutId xmlns:r="http://schemas.openxmlformats.org/officeDocument/2006/relationships" id="2147483652" r:id="R183a7e24f423464f"/>
    <p:sldLayoutId xmlns:r="http://schemas.openxmlformats.org/officeDocument/2006/relationships" id="2147483653" r:id="R0fcd8b886bb64719"/>
    <p:sldLayoutId xmlns:r="http://schemas.openxmlformats.org/officeDocument/2006/relationships" id="2147483654" r:id="R4c59ce40f83341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00065edbb3a4c1e" /><Relationship Type="http://schemas.openxmlformats.org/officeDocument/2006/relationships/image" Target="/ppt/media/image.png" Id="R6bf04bf8ce0841dc" /><Relationship Type="http://schemas.openxmlformats.org/officeDocument/2006/relationships/notesSlide" Target="/ppt/notesSlides/notesSlide1.xml" Id="R589e6016ff7c44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b1417c4c9cb4402" /><Relationship Type="http://schemas.openxmlformats.org/officeDocument/2006/relationships/image" Target="/ppt/media/image2.png" Id="Rd0984d879b8040f4" /><Relationship Type="http://schemas.openxmlformats.org/officeDocument/2006/relationships/notesSlide" Target="/ppt/notesSlides/notesSlide2.xml" Id="R32cbbcaa1de24d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360124570064cbd" /><Relationship Type="http://schemas.openxmlformats.org/officeDocument/2006/relationships/notesSlide" Target="/ppt/notesSlides/notesSlide3.xml" Id="Rd9b713a8357449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1cd3403a3644858" /><Relationship Type="http://schemas.openxmlformats.org/officeDocument/2006/relationships/notesSlide" Target="/ppt/notesSlides/notesSlide4.xml" Id="R720433d40b4843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cb4ae752d9d433a" /><Relationship Type="http://schemas.openxmlformats.org/officeDocument/2006/relationships/notesSlide" Target="/ppt/notesSlides/notesSlide5.xml" Id="R703baf4ee25242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48b5ca358554001" /><Relationship Type="http://schemas.openxmlformats.org/officeDocument/2006/relationships/notesSlide" Target="/ppt/notesSlides/notesSlide6.xml" Id="R24f5cbce101f4c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71f1a44b7564f67" /><Relationship Type="http://schemas.openxmlformats.org/officeDocument/2006/relationships/notesSlide" Target="/ppt/notesSlides/notesSlide7.xml" Id="Rb89387dd11014f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d381b2ab470426e" /><Relationship Type="http://schemas.openxmlformats.org/officeDocument/2006/relationships/notesSlide" Target="/ppt/notesSlides/notesSlide8.xml" Id="R21d8779d2ac24c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72adfcdd5594d56" /><Relationship Type="http://schemas.openxmlformats.org/officeDocument/2006/relationships/notesSlide" Target="/ppt/notesSlides/notesSlide9.xml" Id="R66bfcc1d423f429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0bbe78e80e4479f" /><Relationship Type="http://schemas.openxmlformats.org/officeDocument/2006/relationships/notesSlide" Target="/ppt/notesSlides/notesSlide10.xml" Id="Re99ba3f26c204c0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417edd75b66456a" /><Relationship Type="http://schemas.openxmlformats.org/officeDocument/2006/relationships/notesSlide" Target="/ppt/notesSlides/notesSlide11.xml" Id="R0917fc39c23341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ac57a1bebff4224" /><Relationship Type="http://schemas.openxmlformats.org/officeDocument/2006/relationships/notesSlide" Target="/ppt/notesSlides/notesSlide12.xml" Id="R96fa4a6ff8fa46f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6eb131818544b50" /><Relationship Type="http://schemas.openxmlformats.org/officeDocument/2006/relationships/notesSlide" Target="/ppt/notesSlides/notesSlide13.xml" Id="Rffda44d29e354d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2fb0f900eab4bd1" /><Relationship Type="http://schemas.openxmlformats.org/officeDocument/2006/relationships/notesSlide" Target="/ppt/notesSlides/notesSlide14.xml" Id="R630ab321615344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177b4cfb9094512" /><Relationship Type="http://schemas.openxmlformats.org/officeDocument/2006/relationships/chart" Target="/ppt/slides/charts/chart1.xml" Id="R5292b16df7814dfe" /><Relationship Type="http://schemas.openxmlformats.org/officeDocument/2006/relationships/notesSlide" Target="/ppt/notesSlides/notesSlide15.xml" Id="R93178f9dabf3492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1e1edef56d045eb" /><Relationship Type="http://schemas.openxmlformats.org/officeDocument/2006/relationships/notesSlide" Target="/ppt/notesSlides/notesSlide16.xml" Id="R4a09f162aa1749c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0ac2d6e84a74010" /><Relationship Type="http://schemas.openxmlformats.org/officeDocument/2006/relationships/notesSlide" Target="/ppt/notesSlides/notesSlide17.xml" Id="Ref55c077de68475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fe92810f73b496c" /><Relationship Type="http://schemas.openxmlformats.org/officeDocument/2006/relationships/chart" Target="/ppt/slides/charts/chart2.xml" Id="R42858d930c364e2e" /><Relationship Type="http://schemas.openxmlformats.org/officeDocument/2006/relationships/notesSlide" Target="/ppt/notesSlides/notesSlide18.xml" Id="R22a63346f0f846d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48c0dc24b604b52" /><Relationship Type="http://schemas.openxmlformats.org/officeDocument/2006/relationships/notesSlide" Target="/ppt/notesSlides/notesSlide19.xml" Id="R6f1e9f30405c4d0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623e5044dbe4089" /><Relationship Type="http://schemas.openxmlformats.org/officeDocument/2006/relationships/chart" Target="/ppt/slides/charts/chart3.xml" Id="Rcfe2987c6018445d" /><Relationship Type="http://schemas.openxmlformats.org/officeDocument/2006/relationships/notesSlide" Target="/ppt/notesSlides/notesSlide20.xml" Id="R6b27eef698d44c1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99a1598c52e4837" /><Relationship Type="http://schemas.openxmlformats.org/officeDocument/2006/relationships/image" Target="/ppt/media/image3.png" Id="R278e5cf97d2e4083" /><Relationship Type="http://schemas.openxmlformats.org/officeDocument/2006/relationships/notesSlide" Target="/ppt/notesSlides/notesSlide21.xml" Id="R589526f27f49449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8581a145e0d445b" /><Relationship Type="http://schemas.openxmlformats.org/officeDocument/2006/relationships/notesSlide" Target="/ppt/notesSlides/notesSlide22.xml" Id="R5f673d2bb6f8430d" /></Relationships>
</file>

<file path=ppt/slides/charts/chart1.xml><?xml version="1.0" encoding="utf-8"?>
<c:chartSpace xmlns:c="http://schemas.openxmlformats.org/drawingml/2006/chart">
  <c:lang val="en-US"/>
  <c:chart>
    <c:plotArea>
      <c:barChart>
        <c:barDir val="col"/>
        <c:grouping val="clustered"/>
        <c:varyColors val="0"/>
        <c:ser>
          <c:idx val="0"/>
          <c:order val="0"/>
          <c:tx>
            <c:v>Fitness</c:v>
          </c:tx>
          <c:spPr>
            <a:solidFill xmlns:a="http://schemas.openxmlformats.org/drawingml/2006/main">
              <a:srgbClr val="087F8C"/>
            </a:solidFill>
          </c:spPr>
          <c:cat>
            <c:strLit>
              <c:ptCount val="3"/>
              <c:pt idx="0">
                <c:v>A</c:v>
              </c:pt>
              <c:pt idx="1">
                <c:v>B</c:v>
              </c:pt>
              <c:pt idx="2">
                <c:v>C</c:v>
              </c:pt>
            </c:strLit>
          </c:cat>
          <c:val>
            <c:numLit>
              <c:formatCode>0.000</c:formatCode>
              <c:ptCount val="3"/>
              <c:pt idx="0">
                <c:v>0.5839059030159175</c:v>
              </c:pt>
              <c:pt idx="1">
                <c:v>0.6461678745577318</c:v>
              </c:pt>
              <c:pt idx="2">
                <c:v>0.44977428064458913</c:v>
              </c:pt>
            </c:numLit>
          </c:val>
        </c:ser>
        <c:dLbls>
          <c:numFmt formatCode="0.000" sourceLinked="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catAx>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Fitness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
        <c:varyColors val="0"/>
        <c:ser>
          <c:idx val="0"/>
          <c:order val="0"/>
          <c:tx>
            <c:v>Mejor fitness</c:v>
          </c:tx>
          <c:spPr>
            <a:ln xmlns:a="http://schemas.openxmlformats.org/drawingml/2006/main" w="28575">
              <a:solidFill>
                <a:srgbClr val="087F8C"/>
              </a:solidFill>
            </a:ln>
          </c:spPr>
          <c:marker>
            <c:symbol val="none"/>
          </c:marker>
          <c:xVal>
            <c:numLit>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Lit>
          </c:xVal>
          <c:yVal>
            <c:numLit>
              <c:formatCode>0.00</c:formatCode>
              <c:ptCount val="201"/>
              <c:pt idx="0">
                <c:v>0.6469993155162486</c:v>
              </c:pt>
              <c:pt idx="1">
                <c:v>0.6477411670074239</c:v>
              </c:pt>
              <c:pt idx="2">
                <c:v>0.6556129236838357</c:v>
              </c:pt>
              <c:pt idx="3">
                <c:v>0.6658596361749733</c:v>
              </c:pt>
              <c:pt idx="4">
                <c:v>0.6658596361749733</c:v>
              </c:pt>
              <c:pt idx="5">
                <c:v>0.6659029837565028</c:v>
              </c:pt>
              <c:pt idx="6">
                <c:v>0.6659029837565028</c:v>
              </c:pt>
              <c:pt idx="7">
                <c:v>0.6659453389234518</c:v>
              </c:pt>
              <c:pt idx="8">
                <c:v>0.6659453389234518</c:v>
              </c:pt>
              <c:pt idx="9">
                <c:v>0.6660298762974126</c:v>
              </c:pt>
              <c:pt idx="10">
                <c:v>0.6663995373064783</c:v>
              </c:pt>
              <c:pt idx="11">
                <c:v>0.6663995373064783</c:v>
              </c:pt>
              <c:pt idx="12">
                <c:v>0.6663995373064783</c:v>
              </c:pt>
              <c:pt idx="13">
                <c:v>0.6663995373064783</c:v>
              </c:pt>
              <c:pt idx="14">
                <c:v>0.6663995373064783</c:v>
              </c:pt>
              <c:pt idx="15">
                <c:v>0.666465026731068</c:v>
              </c:pt>
              <c:pt idx="16">
                <c:v>0.666465026731068</c:v>
              </c:pt>
              <c:pt idx="17">
                <c:v>0.6665288719173706</c:v>
              </c:pt>
              <c:pt idx="18">
                <c:v>0.6665288719173706</c:v>
              </c:pt>
              <c:pt idx="19">
                <c:v>0.6665460532063571</c:v>
              </c:pt>
              <c:pt idx="20">
                <c:v>0.6665460532063571</c:v>
              </c:pt>
              <c:pt idx="21">
                <c:v>0.6665460532063571</c:v>
              </c:pt>
              <c:pt idx="22">
                <c:v>0.6665460532063571</c:v>
              </c:pt>
              <c:pt idx="23">
                <c:v>0.6665460532063571</c:v>
              </c:pt>
              <c:pt idx="24">
                <c:v>0.6665460532063571</c:v>
              </c:pt>
              <c:pt idx="25">
                <c:v>0.6665460532063571</c:v>
              </c:pt>
              <c:pt idx="26">
                <c:v>0.6666937791011459</c:v>
              </c:pt>
              <c:pt idx="27">
                <c:v>0.6666937791011459</c:v>
              </c:pt>
              <c:pt idx="28">
                <c:v>0.6666937791011459</c:v>
              </c:pt>
              <c:pt idx="29">
                <c:v>0.6666937791011459</c:v>
              </c:pt>
              <c:pt idx="30">
                <c:v>0.6702109047392162</c:v>
              </c:pt>
              <c:pt idx="31">
                <c:v>0.6702109047392162</c:v>
              </c:pt>
              <c:pt idx="32">
                <c:v>0.6706962988160039</c:v>
              </c:pt>
              <c:pt idx="33">
                <c:v>0.6708926667965457</c:v>
              </c:pt>
              <c:pt idx="34">
                <c:v>0.6713765244330663</c:v>
              </c:pt>
              <c:pt idx="35">
                <c:v>0.6713765244330663</c:v>
              </c:pt>
              <c:pt idx="36">
                <c:v>0.672710178181269</c:v>
              </c:pt>
              <c:pt idx="37">
                <c:v>0.6728545657660677</c:v>
              </c:pt>
              <c:pt idx="38">
                <c:v>0.6728545657660677</c:v>
              </c:pt>
              <c:pt idx="39">
                <c:v>0.6730635172543722</c:v>
              </c:pt>
              <c:pt idx="40">
                <c:v>0.6730635172543722</c:v>
              </c:pt>
              <c:pt idx="41">
                <c:v>0.6730635172543722</c:v>
              </c:pt>
              <c:pt idx="42">
                <c:v>0.6735123340076277</c:v>
              </c:pt>
              <c:pt idx="43">
                <c:v>0.6735123340076277</c:v>
              </c:pt>
              <c:pt idx="44">
                <c:v>0.6735123340076277</c:v>
              </c:pt>
              <c:pt idx="45">
                <c:v>0.6735123340076277</c:v>
              </c:pt>
              <c:pt idx="46">
                <c:v>0.6735123340076277</c:v>
              </c:pt>
              <c:pt idx="47">
                <c:v>0.673945078369878</c:v>
              </c:pt>
              <c:pt idx="48">
                <c:v>0.673945078369878</c:v>
              </c:pt>
              <c:pt idx="49">
                <c:v>0.673945078369878</c:v>
              </c:pt>
              <c:pt idx="50">
                <c:v>0.673945078369878</c:v>
              </c:pt>
              <c:pt idx="51">
                <c:v>0.673945078369878</c:v>
              </c:pt>
              <c:pt idx="52">
                <c:v>0.673945078369878</c:v>
              </c:pt>
              <c:pt idx="53">
                <c:v>0.673945078369878</c:v>
              </c:pt>
              <c:pt idx="54">
                <c:v>0.673945078369878</c:v>
              </c:pt>
              <c:pt idx="55">
                <c:v>0.673945078369878</c:v>
              </c:pt>
              <c:pt idx="56">
                <c:v>0.673945078369878</c:v>
              </c:pt>
              <c:pt idx="57">
                <c:v>0.673945078369878</c:v>
              </c:pt>
              <c:pt idx="58">
                <c:v>0.673945078369878</c:v>
              </c:pt>
              <c:pt idx="59">
                <c:v>0.673945078369878</c:v>
              </c:pt>
              <c:pt idx="60">
                <c:v>0.673945078369878</c:v>
              </c:pt>
              <c:pt idx="61">
                <c:v>0.673945078369878</c:v>
              </c:pt>
              <c:pt idx="62">
                <c:v>0.673945078369878</c:v>
              </c:pt>
              <c:pt idx="63">
                <c:v>0.673945078369878</c:v>
              </c:pt>
              <c:pt idx="64">
                <c:v>0.673945078369878</c:v>
              </c:pt>
              <c:pt idx="65">
                <c:v>0.6847435939773344</c:v>
              </c:pt>
              <c:pt idx="66">
                <c:v>0.6847435939773344</c:v>
              </c:pt>
              <c:pt idx="67">
                <c:v>0.6847435939773344</c:v>
              </c:pt>
              <c:pt idx="68">
                <c:v>0.6847435939773344</c:v>
              </c:pt>
              <c:pt idx="69">
                <c:v>0.6850214709543535</c:v>
              </c:pt>
              <c:pt idx="70">
                <c:v>0.6850214709543535</c:v>
              </c:pt>
              <c:pt idx="71">
                <c:v>0.6851892377636332</c:v>
              </c:pt>
              <c:pt idx="72">
                <c:v>0.6851892377636332</c:v>
              </c:pt>
              <c:pt idx="73">
                <c:v>0.6876476784619798</c:v>
              </c:pt>
              <c:pt idx="74">
                <c:v>0.6876476784619798</c:v>
              </c:pt>
              <c:pt idx="75">
                <c:v>0.6877012772012977</c:v>
              </c:pt>
              <c:pt idx="76">
                <c:v>0.6877012772012977</c:v>
              </c:pt>
              <c:pt idx="77">
                <c:v>0.6877526731682702</c:v>
              </c:pt>
              <c:pt idx="78">
                <c:v>0.6887845216711669</c:v>
              </c:pt>
              <c:pt idx="79">
                <c:v>0.6887845216711669</c:v>
              </c:pt>
              <c:pt idx="80">
                <c:v>0.6892227410986104</c:v>
              </c:pt>
              <c:pt idx="81">
                <c:v>0.6892227410986104</c:v>
              </c:pt>
              <c:pt idx="82">
                <c:v>0.6892227410986104</c:v>
              </c:pt>
              <c:pt idx="83">
                <c:v>0.6895450971591706</c:v>
              </c:pt>
              <c:pt idx="84">
                <c:v>0.6895450971591706</c:v>
              </c:pt>
              <c:pt idx="85">
                <c:v>0.6931130437115263</c:v>
              </c:pt>
              <c:pt idx="86">
                <c:v>0.6931130437115263</c:v>
              </c:pt>
              <c:pt idx="87">
                <c:v>0.6931130437115263</c:v>
              </c:pt>
              <c:pt idx="88">
                <c:v>0.6931130437115263</c:v>
              </c:pt>
              <c:pt idx="89">
                <c:v>0.693321875076339</c:v>
              </c:pt>
              <c:pt idx="90">
                <c:v>0.693321875076339</c:v>
              </c:pt>
              <c:pt idx="91">
                <c:v>0.6933800031353035</c:v>
              </c:pt>
              <c:pt idx="92">
                <c:v>0.6933800031353035</c:v>
              </c:pt>
              <c:pt idx="93">
                <c:v>0.6933800031353035</c:v>
              </c:pt>
              <c:pt idx="94">
                <c:v>0.6941944329502012</c:v>
              </c:pt>
              <c:pt idx="95">
                <c:v>0.6941944329502012</c:v>
              </c:pt>
              <c:pt idx="96">
                <c:v>0.6941944329502012</c:v>
              </c:pt>
              <c:pt idx="97">
                <c:v>0.6941944329502012</c:v>
              </c:pt>
              <c:pt idx="98">
                <c:v>0.6941944329502012</c:v>
              </c:pt>
              <c:pt idx="99">
                <c:v>0.696487749519071</c:v>
              </c:pt>
              <c:pt idx="100">
                <c:v>0.696487749519071</c:v>
              </c:pt>
              <c:pt idx="101">
                <c:v>0.696487749519071</c:v>
              </c:pt>
              <c:pt idx="102">
                <c:v>0.696487749519071</c:v>
              </c:pt>
              <c:pt idx="103">
                <c:v>0.696487749519071</c:v>
              </c:pt>
              <c:pt idx="104">
                <c:v>0.696487749519071</c:v>
              </c:pt>
              <c:pt idx="105">
                <c:v>0.696487749519071</c:v>
              </c:pt>
              <c:pt idx="106">
                <c:v>0.696487749519071</c:v>
              </c:pt>
              <c:pt idx="107">
                <c:v>0.696487749519071</c:v>
              </c:pt>
              <c:pt idx="108">
                <c:v>0.696487749519071</c:v>
              </c:pt>
              <c:pt idx="109">
                <c:v>0.696487749519071</c:v>
              </c:pt>
              <c:pt idx="110">
                <c:v>0.696487749519071</c:v>
              </c:pt>
              <c:pt idx="111">
                <c:v>0.696487749519071</c:v>
              </c:pt>
              <c:pt idx="112">
                <c:v>0.696487749519071</c:v>
              </c:pt>
              <c:pt idx="113">
                <c:v>0.696487749519071</c:v>
              </c:pt>
              <c:pt idx="114">
                <c:v>0.696487749519071</c:v>
              </c:pt>
              <c:pt idx="115">
                <c:v>0.696487749519071</c:v>
              </c:pt>
              <c:pt idx="116">
                <c:v>0.696487749519071</c:v>
              </c:pt>
              <c:pt idx="117">
                <c:v>0.6997338040217325</c:v>
              </c:pt>
              <c:pt idx="118">
                <c:v>0.6997338040217325</c:v>
              </c:pt>
              <c:pt idx="119">
                <c:v>0.6997338040217325</c:v>
              </c:pt>
              <c:pt idx="120">
                <c:v>0.6997338040217325</c:v>
              </c:pt>
              <c:pt idx="121">
                <c:v>0.6997338040217325</c:v>
              </c:pt>
              <c:pt idx="122">
                <c:v>0.6997338040217325</c:v>
              </c:pt>
              <c:pt idx="123">
                <c:v>0.6997338040217325</c:v>
              </c:pt>
              <c:pt idx="124">
                <c:v>0.6997338040217325</c:v>
              </c:pt>
              <c:pt idx="125">
                <c:v>0.6997338040217325</c:v>
              </c:pt>
              <c:pt idx="126">
                <c:v>0.6997338040217325</c:v>
              </c:pt>
              <c:pt idx="127">
                <c:v>0.6997338040217325</c:v>
              </c:pt>
              <c:pt idx="128">
                <c:v>0.6997338040217325</c:v>
              </c:pt>
              <c:pt idx="129">
                <c:v>0.6997338040217325</c:v>
              </c:pt>
              <c:pt idx="130">
                <c:v>0.6997338040217325</c:v>
              </c:pt>
              <c:pt idx="131">
                <c:v>0.6997338040217325</c:v>
              </c:pt>
              <c:pt idx="132">
                <c:v>0.6997338040217325</c:v>
              </c:pt>
              <c:pt idx="133">
                <c:v>0.6997338040217325</c:v>
              </c:pt>
              <c:pt idx="134">
                <c:v>0.6997338040217325</c:v>
              </c:pt>
              <c:pt idx="135">
                <c:v>0.6997338040217325</c:v>
              </c:pt>
              <c:pt idx="136">
                <c:v>0.6997338040217325</c:v>
              </c:pt>
              <c:pt idx="137">
                <c:v>0.6997338040217325</c:v>
              </c:pt>
              <c:pt idx="138">
                <c:v>0.699799812065836</c:v>
              </c:pt>
              <c:pt idx="139">
                <c:v>0.699799812065836</c:v>
              </c:pt>
              <c:pt idx="140">
                <c:v>0.699799812065836</c:v>
              </c:pt>
              <c:pt idx="141">
                <c:v>0.699799812065836</c:v>
              </c:pt>
              <c:pt idx="142">
                <c:v>0.700090490405116</c:v>
              </c:pt>
              <c:pt idx="143">
                <c:v>0.700090490405116</c:v>
              </c:pt>
              <c:pt idx="144">
                <c:v>0.700090490405116</c:v>
              </c:pt>
              <c:pt idx="145">
                <c:v>0.700090490405116</c:v>
              </c:pt>
              <c:pt idx="146">
                <c:v>0.7004790980205855</c:v>
              </c:pt>
              <c:pt idx="147">
                <c:v>0.703272830074601</c:v>
              </c:pt>
              <c:pt idx="148">
                <c:v>0.703272830074601</c:v>
              </c:pt>
              <c:pt idx="149">
                <c:v>0.7040147864865145</c:v>
              </c:pt>
              <c:pt idx="150">
                <c:v>0.7040147864865145</c:v>
              </c:pt>
              <c:pt idx="151">
                <c:v>0.7040147864865145</c:v>
              </c:pt>
              <c:pt idx="152">
                <c:v>0.7040147864865145</c:v>
              </c:pt>
              <c:pt idx="153">
                <c:v>0.7040147864865145</c:v>
              </c:pt>
              <c:pt idx="154">
                <c:v>0.7040147864865145</c:v>
              </c:pt>
              <c:pt idx="155">
                <c:v>0.7040147864865145</c:v>
              </c:pt>
              <c:pt idx="156">
                <c:v>0.7040147864865145</c:v>
              </c:pt>
              <c:pt idx="157">
                <c:v>0.7040147864865145</c:v>
              </c:pt>
              <c:pt idx="158">
                <c:v>0.7040147864865145</c:v>
              </c:pt>
              <c:pt idx="159">
                <c:v>0.7040147864865145</c:v>
              </c:pt>
              <c:pt idx="160">
                <c:v>0.7040147864865145</c:v>
              </c:pt>
              <c:pt idx="161">
                <c:v>0.7040147864865145</c:v>
              </c:pt>
              <c:pt idx="162">
                <c:v>0.7040147864865145</c:v>
              </c:pt>
              <c:pt idx="163">
                <c:v>0.7040147864865145</c:v>
              </c:pt>
              <c:pt idx="164">
                <c:v>0.7040147864865145</c:v>
              </c:pt>
              <c:pt idx="165">
                <c:v>0.7040147864865145</c:v>
              </c:pt>
              <c:pt idx="166">
                <c:v>0.7040147864865145</c:v>
              </c:pt>
              <c:pt idx="167">
                <c:v>0.7040147864865145</c:v>
              </c:pt>
              <c:pt idx="168">
                <c:v>0.7040147864865145</c:v>
              </c:pt>
              <c:pt idx="169">
                <c:v>0.7040147864865145</c:v>
              </c:pt>
              <c:pt idx="170">
                <c:v>0.7040147864865145</c:v>
              </c:pt>
              <c:pt idx="171">
                <c:v>0.7040147864865145</c:v>
              </c:pt>
              <c:pt idx="172">
                <c:v>0.7040147864865145</c:v>
              </c:pt>
              <c:pt idx="173">
                <c:v>0.7040147864865145</c:v>
              </c:pt>
              <c:pt idx="174">
                <c:v>0.7040147864865145</c:v>
              </c:pt>
              <c:pt idx="175">
                <c:v>0.7040147864865145</c:v>
              </c:pt>
              <c:pt idx="176">
                <c:v>0.7040147864865145</c:v>
              </c:pt>
              <c:pt idx="177">
                <c:v>0.7040147864865145</c:v>
              </c:pt>
              <c:pt idx="178">
                <c:v>0.7040147864865145</c:v>
              </c:pt>
              <c:pt idx="179">
                <c:v>0.7040147864865145</c:v>
              </c:pt>
              <c:pt idx="180">
                <c:v>0.7040147864865145</c:v>
              </c:pt>
              <c:pt idx="181">
                <c:v>0.7040147864865145</c:v>
              </c:pt>
              <c:pt idx="182">
                <c:v>0.7040147864865145</c:v>
              </c:pt>
              <c:pt idx="183">
                <c:v>0.7040147864865145</c:v>
              </c:pt>
              <c:pt idx="184">
                <c:v>0.7040147864865145</c:v>
              </c:pt>
              <c:pt idx="185">
                <c:v>0.7040147864865145</c:v>
              </c:pt>
              <c:pt idx="186">
                <c:v>0.7040147864865145</c:v>
              </c:pt>
              <c:pt idx="187">
                <c:v>0.7040147864865145</c:v>
              </c:pt>
              <c:pt idx="188">
                <c:v>0.7130609182834611</c:v>
              </c:pt>
              <c:pt idx="189">
                <c:v>0.7130609182834611</c:v>
              </c:pt>
              <c:pt idx="190">
                <c:v>0.7130609182834611</c:v>
              </c:pt>
              <c:pt idx="191">
                <c:v>0.7242401687661952</c:v>
              </c:pt>
              <c:pt idx="192">
                <c:v>0.7242401687661952</c:v>
              </c:pt>
              <c:pt idx="193">
                <c:v>0.7249331661683525</c:v>
              </c:pt>
              <c:pt idx="194">
                <c:v>0.7251335202342472</c:v>
              </c:pt>
              <c:pt idx="195">
                <c:v>0.7251335202342472</c:v>
              </c:pt>
              <c:pt idx="196">
                <c:v>0.7253484409068796</c:v>
              </c:pt>
              <c:pt idx="197">
                <c:v>0.7253484409068796</c:v>
              </c:pt>
              <c:pt idx="198">
                <c:v>0.7253484409068796</c:v>
              </c:pt>
              <c:pt idx="199">
                <c:v>0.7253484409068796</c:v>
              </c:pt>
              <c:pt idx="200">
                <c:v>0.7254546989907134</c:v>
              </c:pt>
            </c:numLit>
          </c:yVal>
        </c:ser>
        <c:ser>
          <c:idx val="1"/>
          <c:order val="1"/>
          <c:tx>
            <c:v>Fitness medio</c:v>
          </c:tx>
          <c:spPr>
            <a:ln xmlns:a="http://schemas.openxmlformats.org/drawingml/2006/main" w="19050">
              <a:solidFill>
                <a:srgbClr val="93A7B3"/>
              </a:solidFill>
            </a:ln>
          </c:spPr>
          <c:marker>
            <c:symbol val="none"/>
          </c:marker>
          <c:xVal>
            <c:numLit>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Lit>
          </c:xVal>
          <c:yVal>
            <c:numLit>
              <c:formatCode>0.00</c:formatCode>
              <c:ptCount val="201"/>
              <c:pt idx="0">
                <c:v>0.4846688246072967</c:v>
              </c:pt>
              <c:pt idx="1">
                <c:v>0.5347149052023261</c:v>
              </c:pt>
              <c:pt idx="2">
                <c:v>0.561782991898728</c:v>
              </c:pt>
              <c:pt idx="3">
                <c:v>0.6049806209803766</c:v>
              </c:pt>
              <c:pt idx="4">
                <c:v>0.6257920298516213</c:v>
              </c:pt>
              <c:pt idx="5">
                <c:v>0.638384320781719</c:v>
              </c:pt>
              <c:pt idx="6">
                <c:v>0.6217859325586867</c:v>
              </c:pt>
              <c:pt idx="7">
                <c:v>0.6087580511669901</c:v>
              </c:pt>
              <c:pt idx="8">
                <c:v>0.6038533237674841</c:v>
              </c:pt>
              <c:pt idx="9">
                <c:v>0.5988108919391201</c:v>
              </c:pt>
              <c:pt idx="10">
                <c:v>0.6167807046526922</c:v>
              </c:pt>
              <c:pt idx="11">
                <c:v>0.6085300056199155</c:v>
              </c:pt>
              <c:pt idx="12">
                <c:v>0.6076871375825844</c:v>
              </c:pt>
              <c:pt idx="13">
                <c:v>0.6198911635540335</c:v>
              </c:pt>
              <c:pt idx="14">
                <c:v>0.6168764876881692</c:v>
              </c:pt>
              <c:pt idx="15">
                <c:v>0.6203346197978987</c:v>
              </c:pt>
              <c:pt idx="16">
                <c:v>0.62727278744482</c:v>
              </c:pt>
              <c:pt idx="17">
                <c:v>0.6131048466842711</c:v>
              </c:pt>
              <c:pt idx="18">
                <c:v>0.5999017116060931</c:v>
              </c:pt>
              <c:pt idx="19">
                <c:v>0.6231059206920676</c:v>
              </c:pt>
              <c:pt idx="20">
                <c:v>0.6254986371430269</c:v>
              </c:pt>
              <c:pt idx="21">
                <c:v>0.6195432855723045</c:v>
              </c:pt>
              <c:pt idx="22">
                <c:v>0.6057079564158051</c:v>
              </c:pt>
              <c:pt idx="23">
                <c:v>0.6359246437592537</c:v>
              </c:pt>
              <c:pt idx="24">
                <c:v>0.6195760728693442</c:v>
              </c:pt>
              <c:pt idx="25">
                <c:v>0.6266000966400551</c:v>
              </c:pt>
              <c:pt idx="26">
                <c:v>0.6265520801375146</c:v>
              </c:pt>
              <c:pt idx="27">
                <c:v>0.6366042329932354</c:v>
              </c:pt>
              <c:pt idx="28">
                <c:v>0.614490691174649</c:v>
              </c:pt>
              <c:pt idx="29">
                <c:v>0.6042990747996321</c:v>
              </c:pt>
              <c:pt idx="30">
                <c:v>0.6182141514793025</c:v>
              </c:pt>
              <c:pt idx="31">
                <c:v>0.6345851460990073</c:v>
              </c:pt>
              <c:pt idx="32">
                <c:v>0.6187101136081603</c:v>
              </c:pt>
              <c:pt idx="33">
                <c:v>0.6286744096702638</c:v>
              </c:pt>
              <c:pt idx="34">
                <c:v>0.6329615189279287</c:v>
              </c:pt>
              <c:pt idx="35">
                <c:v>0.6185964422457025</c:v>
              </c:pt>
              <c:pt idx="36">
                <c:v>0.6211762518304845</c:v>
              </c:pt>
              <c:pt idx="37">
                <c:v>0.589391111395845</c:v>
              </c:pt>
              <c:pt idx="38">
                <c:v>0.614043887385777</c:v>
              </c:pt>
              <c:pt idx="39">
                <c:v>0.6272094697811892</c:v>
              </c:pt>
              <c:pt idx="40">
                <c:v>0.6203987169618367</c:v>
              </c:pt>
              <c:pt idx="41">
                <c:v>0.6020264728634891</c:v>
              </c:pt>
              <c:pt idx="42">
                <c:v>0.6343380825337236</c:v>
              </c:pt>
              <c:pt idx="43">
                <c:v>0.6203853431972624</c:v>
              </c:pt>
              <c:pt idx="44">
                <c:v>0.6152251893463966</c:v>
              </c:pt>
              <c:pt idx="45">
                <c:v>0.6035714651178675</c:v>
              </c:pt>
              <c:pt idx="46">
                <c:v>0.6047693163793599</c:v>
              </c:pt>
              <c:pt idx="47">
                <c:v>0.610179742602091</c:v>
              </c:pt>
              <c:pt idx="48">
                <c:v>0.6178215867813609</c:v>
              </c:pt>
              <c:pt idx="49">
                <c:v>0.6101759333071175</c:v>
              </c:pt>
              <c:pt idx="50">
                <c:v>0.6169183753322636</c:v>
              </c:pt>
              <c:pt idx="51">
                <c:v>0.6103275628356275</c:v>
              </c:pt>
              <c:pt idx="52">
                <c:v>0.6060984368317475</c:v>
              </c:pt>
              <c:pt idx="53">
                <c:v>0.6232940427546005</c:v>
              </c:pt>
              <c:pt idx="54">
                <c:v>0.623366979305014</c:v>
              </c:pt>
              <c:pt idx="55">
                <c:v>0.5966609509222649</c:v>
              </c:pt>
              <c:pt idx="56">
                <c:v>0.5947452918696354</c:v>
              </c:pt>
              <c:pt idx="57">
                <c:v>0.5879052863289977</c:v>
              </c:pt>
              <c:pt idx="58">
                <c:v>0.6232312749400903</c:v>
              </c:pt>
              <c:pt idx="59">
                <c:v>0.6261647560184853</c:v>
              </c:pt>
              <c:pt idx="60">
                <c:v>0.5949611890497674</c:v>
              </c:pt>
              <c:pt idx="61">
                <c:v>0.5957992212989452</c:v>
              </c:pt>
              <c:pt idx="62">
                <c:v>0.6182751990014316</c:v>
              </c:pt>
              <c:pt idx="63">
                <c:v>0.6127106792471131</c:v>
              </c:pt>
              <c:pt idx="64">
                <c:v>0.6240095212346134</c:v>
              </c:pt>
              <c:pt idx="65">
                <c:v>0.6142403878501933</c:v>
              </c:pt>
              <c:pt idx="66">
                <c:v>0.5969870563588123</c:v>
              </c:pt>
              <c:pt idx="67">
                <c:v>0.6161493480127269</c:v>
              </c:pt>
              <c:pt idx="68">
                <c:v>0.6092858427694373</c:v>
              </c:pt>
              <c:pt idx="69">
                <c:v>0.6197382634084806</c:v>
              </c:pt>
              <c:pt idx="70">
                <c:v>0.6103952834465634</c:v>
              </c:pt>
              <c:pt idx="71">
                <c:v>0.6410953310411079</c:v>
              </c:pt>
              <c:pt idx="72">
                <c:v>0.6520980878563474</c:v>
              </c:pt>
              <c:pt idx="73">
                <c:v>0.6371037411222055</c:v>
              </c:pt>
              <c:pt idx="74">
                <c:v>0.6206103188597126</c:v>
              </c:pt>
              <c:pt idx="75">
                <c:v>0.6102702266639455</c:v>
              </c:pt>
              <c:pt idx="76">
                <c:v>0.5879285724470361</c:v>
              </c:pt>
              <c:pt idx="77">
                <c:v>0.638623691935501</c:v>
              </c:pt>
              <c:pt idx="78">
                <c:v>0.6400693433012756</c:v>
              </c:pt>
              <c:pt idx="79">
                <c:v>0.6360159887090843</c:v>
              </c:pt>
              <c:pt idx="80">
                <c:v>0.6073859941516637</c:v>
              </c:pt>
              <c:pt idx="81">
                <c:v>0.6423477084571075</c:v>
              </c:pt>
              <c:pt idx="82">
                <c:v>0.6385311306008873</c:v>
              </c:pt>
              <c:pt idx="83">
                <c:v>0.6277243303176763</c:v>
              </c:pt>
              <c:pt idx="84">
                <c:v>0.6350942006250923</c:v>
              </c:pt>
              <c:pt idx="85">
                <c:v>0.63856705143614</c:v>
              </c:pt>
              <c:pt idx="86">
                <c:v>0.633677974627257</c:v>
              </c:pt>
              <c:pt idx="87">
                <c:v>0.6614733475286251</c:v>
              </c:pt>
              <c:pt idx="88">
                <c:v>0.6347765406993282</c:v>
              </c:pt>
              <c:pt idx="89">
                <c:v>0.6285012165272584</c:v>
              </c:pt>
              <c:pt idx="90">
                <c:v>0.6218548422677328</c:v>
              </c:pt>
              <c:pt idx="91">
                <c:v>0.6286841915522203</c:v>
              </c:pt>
              <c:pt idx="92">
                <c:v>0.6291804775657578</c:v>
              </c:pt>
              <c:pt idx="93">
                <c:v>0.6455703061236854</c:v>
              </c:pt>
              <c:pt idx="94">
                <c:v>0.6467435528157672</c:v>
              </c:pt>
              <c:pt idx="95">
                <c:v>0.6194567008761179</c:v>
              </c:pt>
              <c:pt idx="96">
                <c:v>0.6283689124735422</c:v>
              </c:pt>
              <c:pt idx="97">
                <c:v>0.6335230409844963</c:v>
              </c:pt>
              <c:pt idx="98">
                <c:v>0.6234765834999475</c:v>
              </c:pt>
              <c:pt idx="99">
                <c:v>0.6172277871823689</c:v>
              </c:pt>
              <c:pt idx="100">
                <c:v>0.6163890222015417</c:v>
              </c:pt>
              <c:pt idx="101">
                <c:v>0.6182281182456282</c:v>
              </c:pt>
              <c:pt idx="102">
                <c:v>0.6099967372877569</c:v>
              </c:pt>
              <c:pt idx="103">
                <c:v>0.6356712098711075</c:v>
              </c:pt>
              <c:pt idx="104">
                <c:v>0.6097410950468471</c:v>
              </c:pt>
              <c:pt idx="105">
                <c:v>0.6258239531519899</c:v>
              </c:pt>
              <c:pt idx="106">
                <c:v>0.6374931624221589</c:v>
              </c:pt>
              <c:pt idx="107">
                <c:v>0.6120802138426218</c:v>
              </c:pt>
              <c:pt idx="108">
                <c:v>0.6166803284694188</c:v>
              </c:pt>
              <c:pt idx="109">
                <c:v>0.6389799428271153</c:v>
              </c:pt>
              <c:pt idx="110">
                <c:v>0.6107247563448095</c:v>
              </c:pt>
              <c:pt idx="111">
                <c:v>0.6194819198248109</c:v>
              </c:pt>
              <c:pt idx="112">
                <c:v>0.637430216345795</c:v>
              </c:pt>
              <c:pt idx="113">
                <c:v>0.6342068118407866</c:v>
              </c:pt>
              <c:pt idx="114">
                <c:v>0.6210435760824087</c:v>
              </c:pt>
              <c:pt idx="115">
                <c:v>0.6273872139479095</c:v>
              </c:pt>
              <c:pt idx="116">
                <c:v>0.6321214305871546</c:v>
              </c:pt>
              <c:pt idx="117">
                <c:v>0.6337081808713505</c:v>
              </c:pt>
              <c:pt idx="118">
                <c:v>0.6394328997885662</c:v>
              </c:pt>
              <c:pt idx="119">
                <c:v>0.6372256636994035</c:v>
              </c:pt>
              <c:pt idx="120">
                <c:v>0.614806023150712</c:v>
              </c:pt>
              <c:pt idx="121">
                <c:v>0.6358995453448949</c:v>
              </c:pt>
              <c:pt idx="122">
                <c:v>0.6351063406885412</c:v>
              </c:pt>
              <c:pt idx="123">
                <c:v>0.6325901818549743</c:v>
              </c:pt>
              <c:pt idx="124">
                <c:v>0.6248609275751191</c:v>
              </c:pt>
              <c:pt idx="125">
                <c:v>0.6403468642982456</c:v>
              </c:pt>
              <c:pt idx="126">
                <c:v>0.6196986871257478</c:v>
              </c:pt>
              <c:pt idx="127">
                <c:v>0.6420961516925179</c:v>
              </c:pt>
              <c:pt idx="128">
                <c:v>0.6244991245835562</c:v>
              </c:pt>
              <c:pt idx="129">
                <c:v>0.6403358261918995</c:v>
              </c:pt>
              <c:pt idx="130">
                <c:v>0.6362844425251396</c:v>
              </c:pt>
              <c:pt idx="131">
                <c:v>0.6291407556779288</c:v>
              </c:pt>
              <c:pt idx="132">
                <c:v>0.6230184887276252</c:v>
              </c:pt>
              <c:pt idx="133">
                <c:v>0.6487465651336848</c:v>
              </c:pt>
              <c:pt idx="134">
                <c:v>0.6484837595720541</c:v>
              </c:pt>
              <c:pt idx="135">
                <c:v>0.6268816720808802</c:v>
              </c:pt>
              <c:pt idx="136">
                <c:v>0.6153222390732872</c:v>
              </c:pt>
              <c:pt idx="137">
                <c:v>0.6174671469840808</c:v>
              </c:pt>
              <c:pt idx="138">
                <c:v>0.6446865096785827</c:v>
              </c:pt>
              <c:pt idx="139">
                <c:v>0.6152194812139327</c:v>
              </c:pt>
              <c:pt idx="140">
                <c:v>0.620964190300317</c:v>
              </c:pt>
              <c:pt idx="141">
                <c:v>0.618522691600158</c:v>
              </c:pt>
              <c:pt idx="142">
                <c:v>0.6277496713309393</c:v>
              </c:pt>
              <c:pt idx="143">
                <c:v>0.6256793121784551</c:v>
              </c:pt>
              <c:pt idx="144">
                <c:v>0.6136712327992584</c:v>
              </c:pt>
              <c:pt idx="145">
                <c:v>0.6337244962536318</c:v>
              </c:pt>
              <c:pt idx="146">
                <c:v>0.60902777927946</c:v>
              </c:pt>
              <c:pt idx="147">
                <c:v>0.6078017604935146</c:v>
              </c:pt>
              <c:pt idx="148">
                <c:v>0.6139974537456326</c:v>
              </c:pt>
              <c:pt idx="149">
                <c:v>0.6308089956339775</c:v>
              </c:pt>
              <c:pt idx="150">
                <c:v>0.6186827971073467</c:v>
              </c:pt>
              <c:pt idx="151">
                <c:v>0.6203051189332086</c:v>
              </c:pt>
              <c:pt idx="152">
                <c:v>0.6102243716014717</c:v>
              </c:pt>
              <c:pt idx="153">
                <c:v>0.624237388587825</c:v>
              </c:pt>
              <c:pt idx="154">
                <c:v>0.6105477404083552</c:v>
              </c:pt>
              <c:pt idx="155">
                <c:v>0.6359621957791878</c:v>
              </c:pt>
              <c:pt idx="156">
                <c:v>0.6433943244196434</c:v>
              </c:pt>
              <c:pt idx="157">
                <c:v>0.6217793967974018</c:v>
              </c:pt>
              <c:pt idx="158">
                <c:v>0.6246951407685944</c:v>
              </c:pt>
              <c:pt idx="159">
                <c:v>0.6243640275364208</c:v>
              </c:pt>
              <c:pt idx="160">
                <c:v>0.6348709946016308</c:v>
              </c:pt>
              <c:pt idx="161">
                <c:v>0.6341585504628383</c:v>
              </c:pt>
              <c:pt idx="162">
                <c:v>0.6604940980016367</c:v>
              </c:pt>
              <c:pt idx="163">
                <c:v>0.602387657163098</c:v>
              </c:pt>
              <c:pt idx="164">
                <c:v>0.6350306395485645</c:v>
              </c:pt>
              <c:pt idx="165">
                <c:v>0.6404100693908988</c:v>
              </c:pt>
              <c:pt idx="166">
                <c:v>0.6372118521743002</c:v>
              </c:pt>
              <c:pt idx="167">
                <c:v>0.6450389348012547</c:v>
              </c:pt>
              <c:pt idx="168">
                <c:v>0.6133863729558295</c:v>
              </c:pt>
              <c:pt idx="169">
                <c:v>0.6539913749802366</c:v>
              </c:pt>
              <c:pt idx="170">
                <c:v>0.6379984939476054</c:v>
              </c:pt>
              <c:pt idx="171">
                <c:v>0.643210408399382</c:v>
              </c:pt>
              <c:pt idx="172">
                <c:v>0.6268138599509612</c:v>
              </c:pt>
              <c:pt idx="173">
                <c:v>0.6475228057609835</c:v>
              </c:pt>
              <c:pt idx="174">
                <c:v>0.6641503978419047</c:v>
              </c:pt>
              <c:pt idx="175">
                <c:v>0.6458129883028738</c:v>
              </c:pt>
              <c:pt idx="176">
                <c:v>0.6323068603493285</c:v>
              </c:pt>
              <c:pt idx="177">
                <c:v>0.6209538612851444</c:v>
              </c:pt>
              <c:pt idx="178">
                <c:v>0.6302447428016539</c:v>
              </c:pt>
              <c:pt idx="179">
                <c:v>0.6330636344581138</c:v>
              </c:pt>
              <c:pt idx="180">
                <c:v>0.6109292212144048</c:v>
              </c:pt>
              <c:pt idx="181">
                <c:v>0.6158935051629739</c:v>
              </c:pt>
              <c:pt idx="182">
                <c:v>0.6035244401556371</c:v>
              </c:pt>
              <c:pt idx="183">
                <c:v>0.62333890651346</c:v>
              </c:pt>
              <c:pt idx="184">
                <c:v>0.6259511223326899</c:v>
              </c:pt>
              <c:pt idx="185">
                <c:v>0.6441327882300559</c:v>
              </c:pt>
              <c:pt idx="186">
                <c:v>0.6169936035456626</c:v>
              </c:pt>
              <c:pt idx="187">
                <c:v>0.6395953463063738</c:v>
              </c:pt>
              <c:pt idx="188">
                <c:v>0.6257588926012846</c:v>
              </c:pt>
              <c:pt idx="189">
                <c:v>0.6205817768767881</c:v>
              </c:pt>
              <c:pt idx="190">
                <c:v>0.6391959517059882</c:v>
              </c:pt>
              <c:pt idx="191">
                <c:v>0.6589140625253265</c:v>
              </c:pt>
              <c:pt idx="192">
                <c:v>0.6352784483674132</c:v>
              </c:pt>
              <c:pt idx="193">
                <c:v>0.6662897669615484</c:v>
              </c:pt>
              <c:pt idx="194">
                <c:v>0.6438199732685697</c:v>
              </c:pt>
              <c:pt idx="195">
                <c:v>0.6700195848658125</c:v>
              </c:pt>
              <c:pt idx="196">
                <c:v>0.6476646287420422</c:v>
              </c:pt>
              <c:pt idx="197">
                <c:v>0.6620056698255732</c:v>
              </c:pt>
              <c:pt idx="198">
                <c:v>0.6577827784156856</c:v>
              </c:pt>
              <c:pt idx="199">
                <c:v>0.6733180239874964</c:v>
              </c:pt>
              <c:pt idx="200">
                <c:v>0.6652591805832857</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8"/>
          <c:min val="0.4"/>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Fitness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majorUnit val="0.1"/>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Generación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majorUnit val="5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varyColors val="0"/>
        <c:ser>
          <c:idx val="0"/>
          <c:order val="0"/>
          <c:tx>
            <c:v>Santa Fe</c:v>
          </c:tx>
          <c:spPr>
            <a:ln xmlns:a="http://schemas.openxmlformats.org/drawingml/2006/main" w="19050">
              <a:solidFill>
                <a:srgbClr val="9BB2BA"/>
              </a:solidFill>
            </a:ln>
          </c:spPr>
          <c:marker>
            <c:symbol val="none"/>
          </c:marker>
          <c:xVal>
            <c:numLit>
              <c:formatCode>General</c:formatCode>
              <c:ptCount val="117"/>
              <c:pt idx="0">
                <c:v>-60.272714108999935</c:v>
              </c:pt>
              <c:pt idx="1">
                <c:v>-60.33542979799995</c:v>
              </c:pt>
              <c:pt idx="2">
                <c:v>-60.41009728399996</c:v>
              </c:pt>
              <c:pt idx="3">
                <c:v>-60.41430298199998</c:v>
              </c:pt>
              <c:pt idx="4">
                <c:v>-60.45659790099995</c:v>
              </c:pt>
              <c:pt idx="5">
                <c:v>-60.45957222699997</c:v>
              </c:pt>
              <c:pt idx="6">
                <c:v>-60.556924169999945</c:v>
              </c:pt>
              <c:pt idx="7">
                <c:v>-60.68458224999995</c:v>
              </c:pt>
              <c:pt idx="8">
                <c:v>-60.781810733999976</c:v>
              </c:pt>
              <c:pt idx="9">
                <c:v>-60.81863289299997</c:v>
              </c:pt>
              <c:pt idx="10">
                <c:v>-60.87993599499998</c:v>
              </c:pt>
              <c:pt idx="11">
                <c:v>-60.917888396999956</c:v>
              </c:pt>
              <c:pt idx="12">
                <c:v>-60.93073748699999</c:v>
              </c:pt>
              <c:pt idx="13">
                <c:v>-61.717601436999985</c:v>
              </c:pt>
              <c:pt idx="14">
                <c:v>-62.87973016999996</c:v>
              </c:pt>
              <c:pt idx="15">
                <c:v>-61.92032357599999</c:v>
              </c:pt>
              <c:pt idx="16">
                <c:v>-61.787668387999986</c:v>
              </c:pt>
              <c:pt idx="17">
                <c:v>-61.770893426999976</c:v>
              </c:pt>
              <c:pt idx="18">
                <c:v>-61.79201090399994</c:v>
              </c:pt>
              <c:pt idx="19">
                <c:v>-61.77797208399994</c:v>
              </c:pt>
              <c:pt idx="20">
                <c:v>-61.795699068999966</c:v>
              </c:pt>
              <c:pt idx="21">
                <c:v>-61.85762454099995</c:v>
              </c:pt>
              <c:pt idx="22">
                <c:v>-61.94643792299996</c:v>
              </c:pt>
              <c:pt idx="23">
                <c:v>-61.94608100399995</c:v>
              </c:pt>
              <c:pt idx="24">
                <c:v>-61.88903342699996</c:v>
              </c:pt>
              <c:pt idx="25">
                <c:v>-61.891591346999974</c:v>
              </c:pt>
              <c:pt idx="26">
                <c:v>-61.92650993799998</c:v>
              </c:pt>
              <c:pt idx="27">
                <c:v>-61.90247738099998</c:v>
              </c:pt>
              <c:pt idx="28">
                <c:v>-61.93067399399996</c:v>
              </c:pt>
              <c:pt idx="29">
                <c:v>-61.914315199999976</c:v>
              </c:pt>
              <c:pt idx="30">
                <c:v>-62.01133772199995</c:v>
              </c:pt>
              <c:pt idx="31">
                <c:v>-62.03876100999997</c:v>
              </c:pt>
              <c:pt idx="32">
                <c:v>-62.13768710199997</c:v>
              </c:pt>
              <c:pt idx="33">
                <c:v>-62.196757220999984</c:v>
              </c:pt>
              <c:pt idx="34">
                <c:v>-62.167608823999956</c:v>
              </c:pt>
              <c:pt idx="35">
                <c:v>-62.22334769799994</c:v>
              </c:pt>
              <c:pt idx="36">
                <c:v>-62.217874937999966</c:v>
              </c:pt>
              <c:pt idx="37">
                <c:v>-62.241074682999965</c:v>
              </c:pt>
              <c:pt idx="38">
                <c:v>-62.12579002999996</c:v>
              </c:pt>
              <c:pt idx="39">
                <c:v>-61.84147593399996</c:v>
              </c:pt>
              <c:pt idx="40">
                <c:v>-62.13060252599996</c:v>
              </c:pt>
              <c:pt idx="41">
                <c:v>-61.71125637399996</c:v>
              </c:pt>
              <c:pt idx="42">
                <c:v>-58.88392236899995</c:v>
              </c:pt>
              <c:pt idx="43">
                <c:v>-58.88082187799995</c:v>
              </c:pt>
              <c:pt idx="44">
                <c:v>-58.94511298599997</c:v>
              </c:pt>
              <c:pt idx="45">
                <c:v>-59.06241250099998</c:v>
              </c:pt>
              <c:pt idx="46">
                <c:v>-59.10786811599996</c:v>
              </c:pt>
              <c:pt idx="47">
                <c:v>-59.103458202999946</c:v>
              </c:pt>
              <c:pt idx="48">
                <c:v>-59.07621337499995</c:v>
              </c:pt>
              <c:pt idx="49">
                <c:v>-59.08597707499996</c:v>
              </c:pt>
              <c:pt idx="50">
                <c:v>-59.04885748399994</c:v>
              </c:pt>
              <c:pt idx="51">
                <c:v>-59.100007983999944</c:v>
              </c:pt>
              <c:pt idx="52">
                <c:v>-59.105012762999934</c:v>
              </c:pt>
              <c:pt idx="53">
                <c:v>-59.07860074599995</c:v>
              </c:pt>
              <c:pt idx="54">
                <c:v>-59.16045420299997</c:v>
              </c:pt>
              <c:pt idx="55">
                <c:v>-59.15807474199994</c:v>
              </c:pt>
              <c:pt idx="56">
                <c:v>-59.210898775999965</c:v>
              </c:pt>
              <c:pt idx="57">
                <c:v>-59.19971530899994</c:v>
              </c:pt>
              <c:pt idx="58">
                <c:v>-59.257536210999945</c:v>
              </c:pt>
              <c:pt idx="59">
                <c:v>-59.34676599699998</c:v>
              </c:pt>
              <c:pt idx="60">
                <c:v>-59.40781438999994</c:v>
              </c:pt>
              <c:pt idx="61">
                <c:v>-59.50063342499993</c:v>
              </c:pt>
              <c:pt idx="62">
                <c:v>-59.51978798499994</c:v>
              </c:pt>
              <c:pt idx="63">
                <c:v>-59.60428319099998</c:v>
              </c:pt>
              <c:pt idx="64">
                <c:v>-59.57995317099994</c:v>
              </c:pt>
              <c:pt idx="65">
                <c:v>-59.59018485299998</c:v>
              </c:pt>
              <c:pt idx="66">
                <c:v>-59.61754865399996</c:v>
              </c:pt>
              <c:pt idx="67">
                <c:v>-59.65966511299996</c:v>
              </c:pt>
              <c:pt idx="68">
                <c:v>-59.604699564999976</c:v>
              </c:pt>
              <c:pt idx="69">
                <c:v>-59.566390242999944</c:v>
              </c:pt>
              <c:pt idx="70">
                <c:v>-59.61612097799997</c:v>
              </c:pt>
              <c:pt idx="71">
                <c:v>-59.636584341999935</c:v>
              </c:pt>
              <c:pt idx="72">
                <c:v>-59.71201325399994</c:v>
              </c:pt>
              <c:pt idx="73">
                <c:v>-59.66680349599994</c:v>
              </c:pt>
              <c:pt idx="74">
                <c:v>-59.703439283999955</c:v>
              </c:pt>
              <c:pt idx="75">
                <c:v>-59.650329589999956</c:v>
              </c:pt>
              <c:pt idx="76">
                <c:v>-59.64585632899997</c:v>
              </c:pt>
              <c:pt idx="77">
                <c:v>-59.678405761999954</c:v>
              </c:pt>
              <c:pt idx="78">
                <c:v>-59.633300780999946</c:v>
              </c:pt>
              <c:pt idx="79">
                <c:v>-59.69939420099996</c:v>
              </c:pt>
              <c:pt idx="80">
                <c:v>-59.734848168999974</c:v>
              </c:pt>
              <c:pt idx="81">
                <c:v>-59.81817626999998</c:v>
              </c:pt>
              <c:pt idx="82">
                <c:v>-59.87792968799994</c:v>
              </c:pt>
              <c:pt idx="83">
                <c:v>-59.963378905999946</c:v>
              </c:pt>
              <c:pt idx="84">
                <c:v>-60.00268554699994</c:v>
              </c:pt>
              <c:pt idx="85">
                <c:v>-60.105590819999975</c:v>
              </c:pt>
              <c:pt idx="86">
                <c:v>-60.086791991999974</c:v>
              </c:pt>
              <c:pt idx="87">
                <c:v>-60.14349365199996</c:v>
              </c:pt>
              <c:pt idx="88">
                <c:v>-60.21235440799995</c:v>
              </c:pt>
              <c:pt idx="89">
                <c:v>-60.24400123899994</c:v>
              </c:pt>
              <c:pt idx="90">
                <c:v>-60.332806708999954</c:v>
              </c:pt>
              <c:pt idx="91">
                <c:v>-60.33066519399995</c:v>
              </c:pt>
              <c:pt idx="92">
                <c:v>-60.467590331999986</c:v>
              </c:pt>
              <c:pt idx="93">
                <c:v>-60.584077785999966</c:v>
              </c:pt>
              <c:pt idx="94">
                <c:v>-60.638793944999975</c:v>
              </c:pt>
              <c:pt idx="95">
                <c:v>-60.63856744199995</c:v>
              </c:pt>
              <c:pt idx="96">
                <c:v>-60.67578124999994</c:v>
              </c:pt>
              <c:pt idx="97">
                <c:v>-60.65722656299994</c:v>
              </c:pt>
              <c:pt idx="98">
                <c:v>-60.72184857599996</c:v>
              </c:pt>
              <c:pt idx="99">
                <c:v>-60.65600585899995</c:v>
              </c:pt>
              <c:pt idx="100">
                <c:v>-60.700381850999975</c:v>
              </c:pt>
              <c:pt idx="101">
                <c:v>-60.67260742199994</c:v>
              </c:pt>
              <c:pt idx="102">
                <c:v>-60.679018277999944</c:v>
              </c:pt>
              <c:pt idx="103">
                <c:v>-60.718993222999984</c:v>
              </c:pt>
              <c:pt idx="104">
                <c:v>-60.72381591799996</c:v>
              </c:pt>
              <c:pt idx="105">
                <c:v>-60.776184081999986</c:v>
              </c:pt>
              <c:pt idx="106">
                <c:v>-60.74737548799993</c:v>
              </c:pt>
              <c:pt idx="107">
                <c:v>-60.71600341799996</c:v>
              </c:pt>
              <c:pt idx="108">
                <c:v>-60.658874511999954</c:v>
              </c:pt>
              <c:pt idx="109">
                <c:v>-60.67620849599996</c:v>
              </c:pt>
              <c:pt idx="110">
                <c:v>-60.493408202999944</c:v>
              </c:pt>
              <c:pt idx="111">
                <c:v>-60.39205528699995</c:v>
              </c:pt>
              <c:pt idx="112">
                <c:v>-60.30306344699994</c:v>
              </c:pt>
              <c:pt idx="113">
                <c:v>-60.284503650999966</c:v>
              </c:pt>
              <c:pt idx="114">
                <c:v>-60.29782863199995</c:v>
              </c:pt>
              <c:pt idx="115">
                <c:v>-60.25239243999994</c:v>
              </c:pt>
              <c:pt idx="116">
                <c:v>-60.272714108999935</c:v>
              </c:pt>
            </c:numLit>
          </c:xVal>
          <c:yVal>
            <c:numLit>
              <c:formatCode>General</c:formatCode>
              <c:ptCount val="117"/>
              <c:pt idx="0">
                <c:v>-33.26386310199996</c:v>
              </c:pt>
              <c:pt idx="1">
                <c:v>-33.41232811899994</c:v>
              </c:pt>
              <c:pt idx="2">
                <c:v>-33.46795991699997</c:v>
              </c:pt>
              <c:pt idx="3">
                <c:v>-33.545744497999976</c:v>
              </c:pt>
              <c:pt idx="4">
                <c:v>-33.58197179199993</c:v>
              </c:pt>
              <c:pt idx="5">
                <c:v>-33.63146457999994</c:v>
              </c:pt>
              <c:pt idx="6">
                <c:v>-33.64684410199993</c:v>
              </c:pt>
              <c:pt idx="7">
                <c:v>-33.585156575999974</c:v>
              </c:pt>
              <c:pt idx="8">
                <c:v>-33.57875951899996</c:v>
              </c:pt>
              <c:pt idx="9">
                <c:v>-33.540450196999984</c:v>
              </c:pt>
              <c:pt idx="10">
                <c:v>-33.55553228699995</c:v>
              </c:pt>
              <c:pt idx="11">
                <c:v>-33.589677551999955</c:v>
              </c:pt>
              <c:pt idx="12">
                <c:v>-33.65201942899995</c:v>
              </c:pt>
              <c:pt idx="13">
                <c:v>-34.38360696199993</c:v>
              </c:pt>
              <c:pt idx="14">
                <c:v>-34.383487988999946</c:v>
              </c:pt>
              <c:pt idx="15">
                <c:v>-33.12015834999994</c:v>
              </c:pt>
              <c:pt idx="16">
                <c:v>-33.006201714999975</c:v>
              </c:pt>
              <c:pt idx="17">
                <c:v>-32.90166434699995</c:v>
              </c:pt>
              <c:pt idx="18">
                <c:v>-32.87699698199998</c:v>
              </c:pt>
              <c:pt idx="19">
                <c:v>-32.830121599999984</c:v>
              </c:pt>
              <c:pt idx="20">
                <c:v>-32.77396632099993</c:v>
              </c:pt>
              <c:pt idx="21">
                <c:v>-32.69461129599995</c:v>
              </c:pt>
              <c:pt idx="22">
                <c:v>-32.67843096099995</c:v>
              </c:pt>
              <c:pt idx="23">
                <c:v>-32.65047229399994</c:v>
              </c:pt>
              <c:pt idx="24">
                <c:v>-32.61043786299996</c:v>
              </c:pt>
              <c:pt idx="25">
                <c:v>-32.59009347099993</c:v>
              </c:pt>
              <c:pt idx="26">
                <c:v>-32.584263791999945</c:v>
              </c:pt>
              <c:pt idx="27">
                <c:v>-32.56861883599993</c:v>
              </c:pt>
              <c:pt idx="28">
                <c:v>-32.544050900999935</c:v>
              </c:pt>
              <c:pt idx="29">
                <c:v>-32.494558111999936</c:v>
              </c:pt>
              <c:pt idx="30">
                <c:v>-32.34643666399995</c:v>
              </c:pt>
              <c:pt idx="31">
                <c:v>-32.26095452799996</c:v>
              </c:pt>
              <c:pt idx="32">
                <c:v>-32.20021878499995</c:v>
              </c:pt>
              <c:pt idx="33">
                <c:v>-32.11432024299995</c:v>
              </c:pt>
              <c:pt idx="34">
                <c:v>-31.986186267999983</c:v>
              </c:pt>
              <c:pt idx="35">
                <c:v>-31.88345303899996</c:v>
              </c:pt>
              <c:pt idx="36">
                <c:v>-31.740685378999956</c:v>
              </c:pt>
              <c:pt idx="37">
                <c:v>-31.70017505499993</c:v>
              </c:pt>
              <c:pt idx="38">
                <c:v>-31.615565697999955</c:v>
              </c:pt>
              <c:pt idx="39">
                <c:v>-30.744956007999974</c:v>
              </c:pt>
              <c:pt idx="40">
                <c:v>-30.47992768699993</c:v>
              </c:pt>
              <c:pt idx="41">
                <c:v>-27.999420649999934</c:v>
              </c:pt>
              <c:pt idx="42">
                <c:v>-27.99944444399995</c:v>
              </c:pt>
              <c:pt idx="43">
                <c:v>-28.066824880999945</c:v>
              </c:pt>
              <c:pt idx="44">
                <c:v>-28.133774296999945</c:v>
              </c:pt>
              <c:pt idx="45">
                <c:v>-28.12810873999996</c:v>
              </c:pt>
              <c:pt idx="46">
                <c:v>-28.22276613599996</c:v>
              </c:pt>
              <c:pt idx="47">
                <c:v>-28.328816271999983</c:v>
              </c:pt>
              <c:pt idx="48">
                <c:v>-28.365340996999976</c:v>
              </c:pt>
              <c:pt idx="49">
                <c:v>-28.435965838999948</c:v>
              </c:pt>
              <c:pt idx="50">
                <c:v>-28.493310847999965</c:v>
              </c:pt>
              <c:pt idx="51">
                <c:v>-28.576399184999957</c:v>
              </c:pt>
              <c:pt idx="52">
                <c:v>-28.633936990999928</c:v>
              </c:pt>
              <c:pt idx="53">
                <c:v>-28.667487389999962</c:v>
              </c:pt>
              <c:pt idx="54">
                <c:v>-28.794788551999943</c:v>
              </c:pt>
              <c:pt idx="55">
                <c:v>-28.877355846999933</c:v>
              </c:pt>
              <c:pt idx="56">
                <c:v>-28.977531152999973</c:v>
              </c:pt>
              <c:pt idx="57">
                <c:v>-29.031544916999962</c:v>
              </c:pt>
              <c:pt idx="58">
                <c:v>-29.089603764999936</c:v>
              </c:pt>
              <c:pt idx="59">
                <c:v>-29.11435015899997</c:v>
              </c:pt>
              <c:pt idx="60">
                <c:v>-29.22137577899997</c:v>
              </c:pt>
              <c:pt idx="61">
                <c:v>-29.243517511999983</c:v>
              </c:pt>
              <c:pt idx="62">
                <c:v>-29.343189025999948</c:v>
              </c:pt>
              <c:pt idx="63">
                <c:v>-29.39474316299993</c:v>
              </c:pt>
              <c:pt idx="64">
                <c:v>-29.459847889999935</c:v>
              </c:pt>
              <c:pt idx="65">
                <c:v>-29.56977898699995</c:v>
              </c:pt>
              <c:pt idx="66">
                <c:v>-29.775840305999964</c:v>
              </c:pt>
              <c:pt idx="67">
                <c:v>-29.843179050999936</c:v>
              </c:pt>
              <c:pt idx="68">
                <c:v>-29.902665574999958</c:v>
              </c:pt>
              <c:pt idx="69">
                <c:v>-30.008075695999935</c:v>
              </c:pt>
              <c:pt idx="70">
                <c:v>-30.113009923999982</c:v>
              </c:pt>
              <c:pt idx="71">
                <c:v>-30.237455732999933</c:v>
              </c:pt>
              <c:pt idx="72">
                <c:v>-30.276240945999973</c:v>
              </c:pt>
              <c:pt idx="73">
                <c:v>-30.327161410999963</c:v>
              </c:pt>
              <c:pt idx="74">
                <c:v>-30.44261041699997</c:v>
              </c:pt>
              <c:pt idx="75">
                <c:v>-30.500976562999938</c:v>
              </c:pt>
              <c:pt idx="76">
                <c:v>-30.59703743299997</c:v>
              </c:pt>
              <c:pt idx="77">
                <c:v>-30.64691162099996</c:v>
              </c:pt>
              <c:pt idx="78">
                <c:v>-30.713928222999982</c:v>
              </c:pt>
              <c:pt idx="79">
                <c:v>-30.76907246099995</c:v>
              </c:pt>
              <c:pt idx="80">
                <c:v>-30.876624095999944</c:v>
              </c:pt>
              <c:pt idx="81">
                <c:v>-30.94250488299997</c:v>
              </c:pt>
              <c:pt idx="82">
                <c:v>-31.056213378999928</c:v>
              </c:pt>
              <c:pt idx="83">
                <c:v>-31.119873046999942</c:v>
              </c:pt>
              <c:pt idx="84">
                <c:v>-31.238586425999983</c:v>
              </c:pt>
              <c:pt idx="85">
                <c:v>-31.289916991999974</c:v>
              </c:pt>
              <c:pt idx="86">
                <c:v>-31.346984862999932</c:v>
              </c:pt>
              <c:pt idx="87">
                <c:v>-31.44360351599994</c:v>
              </c:pt>
              <c:pt idx="88">
                <c:v>-31.467815508999934</c:v>
              </c:pt>
              <c:pt idx="89">
                <c:v>-31.530395331999955</c:v>
              </c:pt>
              <c:pt idx="90">
                <c:v>-31.547156194999957</c:v>
              </c:pt>
              <c:pt idx="91">
                <c:v>-31.608546287999957</c:v>
              </c:pt>
              <c:pt idx="92">
                <c:v>-31.698303222999982</c:v>
              </c:pt>
              <c:pt idx="93">
                <c:v>-31.70848364799997</c:v>
              </c:pt>
              <c:pt idx="94">
                <c:v>-31.74200439499998</c:v>
              </c:pt>
              <c:pt idx="95">
                <c:v>-31.787481751999962</c:v>
              </c:pt>
              <c:pt idx="96">
                <c:v>-31.811706542999957</c:v>
              </c:pt>
              <c:pt idx="97">
                <c:v>-31.911315917999957</c:v>
              </c:pt>
              <c:pt idx="98">
                <c:v>-31.96617926999994</c:v>
              </c:pt>
              <c:pt idx="99">
                <c:v>-32.067077636999954</c:v>
              </c:pt>
              <c:pt idx="100">
                <c:v>-32.14976902099994</c:v>
              </c:pt>
              <c:pt idx="101">
                <c:v>-32.23260497999996</c:v>
              </c:pt>
              <c:pt idx="102">
                <c:v>-32.31952922299996</c:v>
              </c:pt>
              <c:pt idx="103">
                <c:v>-32.334043934999954</c:v>
              </c:pt>
              <c:pt idx="104">
                <c:v>-32.45611572299998</c:v>
              </c:pt>
              <c:pt idx="105">
                <c:v>-32.50701904299996</c:v>
              </c:pt>
              <c:pt idx="106">
                <c:v>-32.55432128899997</c:v>
              </c:pt>
              <c:pt idx="107">
                <c:v>-32.77362060499996</c:v>
              </c:pt>
              <c:pt idx="108">
                <c:v>-32.83117675799997</c:v>
              </c:pt>
              <c:pt idx="109">
                <c:v>-32.89959716799996</c:v>
              </c:pt>
              <c:pt idx="110">
                <c:v>-33.13140869099993</c:v>
              </c:pt>
              <c:pt idx="111">
                <c:v>-33.18898425799995</c:v>
              </c:pt>
              <c:pt idx="112">
                <c:v>-33.18351149799997</c:v>
              </c:pt>
              <c:pt idx="113">
                <c:v>-33.207068161999985</c:v>
              </c:pt>
              <c:pt idx="114">
                <c:v>-33.24228418399997</c:v>
              </c:pt>
              <c:pt idx="115">
                <c:v>-33.27541507099994</c:v>
              </c:pt>
              <c:pt idx="116">
                <c:v>-33.26386310199996</c:v>
              </c:pt>
            </c:numLit>
          </c:yVal>
        </c:ser>
        <c:ser>
          <c:idx val="1"/>
          <c:order val="1"/>
          <c:tx>
            <c:v>#1</c:v>
          </c:tx>
          <c:spPr>
            <a:ln xmlns:a="http://schemas.openxmlformats.org/drawingml/2006/main" w="0">
              <a:noFill/>
            </a:ln>
          </c:spPr>
          <c:marker>
            <c:symbol val="circle"/>
            <c:size val="10"/>
            <c:spPr>
              <a:solidFill xmlns:a="http://schemas.openxmlformats.org/drawingml/2006/main">
                <a:srgbClr val="C7902C"/>
              </a:solidFill>
            </c:spPr>
          </c:mark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r"/>
            <c:showLegendKey val="0"/>
            <c:showVal val="0"/>
            <c:showCatName val="0"/>
            <c:showSerName val="1"/>
            <c:showPercent val="0"/>
            <c:showBubbleSize val="0"/>
            <c:showLeaderLines val="0"/>
          </c:dLbls>
          <c:xVal>
            <c:numLit>
              <c:formatCode>General</c:formatCode>
              <c:ptCount val="1"/>
              <c:pt idx="0">
                <c:v>-62.07184214075068</c:v>
              </c:pt>
            </c:numLit>
          </c:xVal>
          <c:yVal>
            <c:numLit>
              <c:formatCode>General</c:formatCode>
              <c:ptCount val="1"/>
              <c:pt idx="0">
                <c:v>-30.521114365108662</c:v>
              </c:pt>
            </c:numLit>
          </c:yVal>
        </c:ser>
        <c:ser>
          <c:idx val="2"/>
          <c:order val="2"/>
          <c:tx>
            <c:v>#2</c:v>
          </c:tx>
          <c:spPr>
            <a:ln xmlns:a="http://schemas.openxmlformats.org/drawingml/2006/main" w="0">
              <a:noFill/>
            </a:ln>
          </c:spPr>
          <c:marker>
            <c:symbol val="circle"/>
            <c:size val="10"/>
            <c:spPr>
              <a:solidFill xmlns:a="http://schemas.openxmlformats.org/drawingml/2006/main">
                <a:srgbClr val="087F8C"/>
              </a:solidFill>
            </c:spPr>
          </c:mark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r"/>
            <c:showLegendKey val="0"/>
            <c:showVal val="0"/>
            <c:showCatName val="0"/>
            <c:showSerName val="1"/>
            <c:showPercent val="0"/>
            <c:showBubbleSize val="0"/>
            <c:showLeaderLines val="0"/>
          </c:dLbls>
          <c:xVal>
            <c:numLit>
              <c:formatCode>General</c:formatCode>
              <c:ptCount val="1"/>
              <c:pt idx="0">
                <c:v>-60.78321925365153</c:v>
              </c:pt>
            </c:numLit>
          </c:xVal>
          <c:yVal>
            <c:numLit>
              <c:formatCode>General</c:formatCode>
              <c:ptCount val="1"/>
              <c:pt idx="0">
                <c:v>-32.95596133915112</c:v>
              </c:pt>
            </c:numLit>
          </c:yVal>
        </c:ser>
        <c:ser>
          <c:idx val="3"/>
          <c:order val="3"/>
          <c:tx>
            <c:v>#3 a #5</c:v>
          </c:tx>
          <c:spPr>
            <a:ln xmlns:a="http://schemas.openxmlformats.org/drawingml/2006/main" w="0">
              <a:noFill/>
            </a:ln>
          </c:spPr>
          <c:marker>
            <c:symbol val="circle"/>
            <c:size val="10"/>
            <c:spPr>
              <a:solidFill xmlns:a="http://schemas.openxmlformats.org/drawingml/2006/main">
                <a:srgbClr val="087F8C"/>
              </a:solidFill>
            </c:spPr>
          </c:mark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l"/>
            <c:showLegendKey val="0"/>
            <c:showVal val="0"/>
            <c:showCatName val="0"/>
            <c:showSerName val="1"/>
            <c:showPercent val="0"/>
            <c:showBubbleSize val="0"/>
            <c:showLeaderLines val="0"/>
          </c:dLbls>
          <c:xVal>
            <c:numLit>
              <c:formatCode>General</c:formatCode>
              <c:ptCount val="1"/>
              <c:pt idx="0">
                <c:v>-59.786793434531695</c:v>
              </c:pt>
            </c:numLit>
          </c:xVal>
          <c:yVal>
            <c:numLit>
              <c:formatCode>General</c:formatCode>
              <c:ptCount val="1"/>
              <c:pt idx="0">
                <c:v>-29.42693818112937</c:v>
              </c:pt>
            </c:numLit>
          </c:yVal>
        </c:ser>
        <c:ser>
          <c:idx val="4"/>
          <c:order val="4"/>
          <c:tx>
            <c:v>#4</c:v>
          </c:tx>
          <c:spPr>
            <a:ln xmlns:a="http://schemas.openxmlformats.org/drawingml/2006/main" w="0">
              <a:noFill/>
            </a:ln>
          </c:spPr>
          <c:marker>
            <c:symbol val="circle"/>
            <c:size val="10"/>
            <c:spPr>
              <a:solidFill xmlns:a="http://schemas.openxmlformats.org/drawingml/2006/main">
                <a:srgbClr val="087F8C"/>
              </a:solidFill>
            </c:spPr>
          </c:mark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r"/>
            <c:showLegendKey val="0"/>
            <c:showVal val="0"/>
            <c:showCatName val="0"/>
            <c:showSerName val="0"/>
            <c:showPercent val="0"/>
            <c:showBubbleSize val="0"/>
            <c:showLeaderLines val="0"/>
          </c:dLbls>
          <c:xVal>
            <c:numLit>
              <c:formatCode>General</c:formatCode>
              <c:ptCount val="1"/>
              <c:pt idx="0">
                <c:v>-59.71898528274436</c:v>
              </c:pt>
            </c:numLit>
          </c:xVal>
          <c:yVal>
            <c:numLit>
              <c:formatCode>General</c:formatCode>
              <c:ptCount val="1"/>
              <c:pt idx="0">
                <c:v>-29.32518667114513</c:v>
              </c:pt>
            </c:numLit>
          </c:yVal>
        </c:ser>
        <c:ser>
          <c:idx val="5"/>
          <c:order val="5"/>
          <c:tx>
            <c:v>#5</c:v>
          </c:tx>
          <c:spPr>
            <a:ln xmlns:a="http://schemas.openxmlformats.org/drawingml/2006/main" w="0">
              <a:noFill/>
            </a:ln>
          </c:spPr>
          <c:marker>
            <c:symbol val="circle"/>
            <c:size val="10"/>
            <c:spPr>
              <a:solidFill xmlns:a="http://schemas.openxmlformats.org/drawingml/2006/main">
                <a:srgbClr val="087F8C"/>
              </a:solidFill>
            </c:spPr>
          </c:mark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r"/>
            <c:showLegendKey val="0"/>
            <c:showVal val="0"/>
            <c:showCatName val="0"/>
            <c:showSerName val="0"/>
            <c:showPercent val="0"/>
            <c:showBubbleSize val="0"/>
            <c:showLeaderLines val="0"/>
          </c:dLbls>
          <c:xVal>
            <c:numLit>
              <c:formatCode>General</c:formatCode>
              <c:ptCount val="1"/>
              <c:pt idx="0">
                <c:v>-59.71520048273946</c:v>
              </c:pt>
            </c:numLit>
          </c:xVal>
          <c:yVal>
            <c:numLit>
              <c:formatCode>General</c:formatCode>
              <c:ptCount val="1"/>
              <c:pt idx="0">
                <c:v>-29.394980919485175</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8"/>
          <c:min val="-35"/>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valAx>
      <c:valAx>
        <c:axId val="48650112"/>
        <c:scaling>
          <c:orientation val="minMax"/>
          <c:max val="-59"/>
          <c:min val="-63"/>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2BDA43C-74ED-4CFB-B62C-7336BE57E5CA}"/>
              </a:ext>
            </a:extLst>
          </p:cNvPr>
          <p:cNvPicPr>
            <a:picLocks xmlns:a="http://schemas.openxmlformats.org/drawingml/2006/main" noChangeAspect="1"/>
          </p:cNvPicPr>
          <p:nvPr/>
        </p:nvPicPr>
        <p:blipFill>
          <a:blip xmlns:r="http://schemas.openxmlformats.org/officeDocument/2006/relationships" xmlns:a="http://schemas.openxmlformats.org/drawingml/2006/main" r:embed="R6bf04bf8ce0841d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2763A57-E688-4D89-9213-4E6390EA3698}"/>
              </a:ext>
            </a:extLst>
          </p:cNvPr>
          <p:cNvSpPr>
            <a:spLocks xmlns:a="http://schemas.openxmlformats.org/drawingml/2006/main" noGrp="1"/>
          </p:cNvSpPr>
          <p:nvPr/>
        </p:nvSpPr>
        <p:spPr>
          <a:xfrm xmlns:a="http://schemas.openxmlformats.org/drawingml/2006/main">
            <a:off x="590550" y="876300"/>
            <a:ext cx="6762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950" b="1">
                <a:solidFill>
                  <a:srgbClr val="FFFFFF"/>
                </a:solidFill>
                <a:latin typeface="Arial"/>
                <a:ea typeface="Arial"/>
                <a:cs typeface="Arial"/>
              </a:defRPr>
            </a:def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Parques solares</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y algoritmo genético</a:t>
            </a:r>
          </a:p>
        </p:txBody>
      </p:sp>
      <p:sp>
        <p:nvSpPr>
          <p:cNvPr id="3" name="">
            <a:extLst xmlns:a="http://schemas.openxmlformats.org/drawingml/2006/main">
              <a:ext uri="{FF2B5EF4-FFF2-40B4-BE49-F238E27FC236}">
                <a16:creationId xmlns:a16="http://schemas.microsoft.com/office/drawing/2014/main" id="{B8D38975-1C4C-4A59-B3C6-39617D707336}"/>
              </a:ext>
            </a:extLst>
          </p:cNvPr>
          <p:cNvSpPr>
            <a:spLocks xmlns:a="http://schemas.openxmlformats.org/drawingml/2006/main" noGrp="1"/>
          </p:cNvSpPr>
          <p:nvPr/>
        </p:nvSpPr>
        <p:spPr>
          <a:xfrm xmlns:a="http://schemas.openxmlformats.org/drawingml/2006/main">
            <a:off x="619125" y="3019425"/>
            <a:ext cx="561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Ubicación, forma y superficie</a:t>
            </a:r>
          </a:p>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en Santa Fe</a:t>
            </a:r>
          </a:p>
        </p:txBody>
      </p:sp>
      <p:sp>
        <p:nvSpPr>
          <p:cNvPr id="4" name="">
            <a:extLst xmlns:a="http://schemas.openxmlformats.org/drawingml/2006/main">
              <a:ext uri="{FF2B5EF4-FFF2-40B4-BE49-F238E27FC236}">
                <a16:creationId xmlns:a16="http://schemas.microsoft.com/office/drawing/2014/main" id="{94C651C0-B554-48E1-8D2B-7AA4A84F5270}"/>
              </a:ext>
            </a:extLst>
          </p:cNvPr>
          <p:cNvSpPr>
            <a:spLocks xmlns:a="http://schemas.openxmlformats.org/drawingml/2006/main" noGrp="1"/>
          </p:cNvSpPr>
          <p:nvPr/>
        </p:nvSpPr>
        <p:spPr>
          <a:xfrm xmlns:a="http://schemas.openxmlformats.org/drawingml/2006/main">
            <a:off x="619125" y="5238750"/>
            <a:ext cx="647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FFFFFF"/>
                </a:solidFill>
                <a:latin typeface="Arial"/>
                <a:ea typeface="Arial"/>
                <a:cs typeface="Arial"/>
              </a:defRPr>
            </a:def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Guía visual para la presentación y defensa</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Proyecto AG-ParqueSolar-2026</a:t>
            </a:r>
          </a:p>
        </p:txBody>
      </p:sp>
    </p:spTree>
    <p:extLst>
      <p:ext uri="{BB962C8B-B14F-4D97-AF65-F5344CB8AC3E}">
        <p14:creationId xmlns:p14="http://schemas.microsoft.com/office/powerpoint/2010/main" val="12014785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506C55-1B8F-454A-A01D-BFF96D2C498A}"/>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El problema territorial</a:t>
            </a:r>
          </a:p>
        </p:txBody>
      </p:sp>
      <p:sp>
        <p:nvSpPr>
          <p:cNvPr id="2" name="">
            <a:extLst xmlns:a="http://schemas.openxmlformats.org/drawingml/2006/main">
              <a:ext uri="{FF2B5EF4-FFF2-40B4-BE49-F238E27FC236}">
                <a16:creationId xmlns:a16="http://schemas.microsoft.com/office/drawing/2014/main" id="{7ECF9735-E290-4958-AAED-13CECF0A3939}"/>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02</a:t>
            </a:r>
          </a:p>
        </p:txBody>
      </p:sp>
      <p:pic>
        <p:nvPicPr>
          <p:cNvPr id="3" name="">
            <a:extLst xmlns:a="http://schemas.openxmlformats.org/drawingml/2006/main">
              <a:ext uri="{FF2B5EF4-FFF2-40B4-BE49-F238E27FC236}">
                <a16:creationId xmlns:a16="http://schemas.microsoft.com/office/drawing/2014/main" id="{E6DD50A6-68C4-4358-A33C-085FC7A731F9}"/>
              </a:ext>
            </a:extLst>
          </p:cNvPr>
          <p:cNvPicPr>
            <a:picLocks xmlns:a="http://schemas.openxmlformats.org/drawingml/2006/main" noChangeAspect="1"/>
          </p:cNvPicPr>
          <p:nvPr/>
        </p:nvPicPr>
        <p:blipFill>
          <a:blip xmlns:r="http://schemas.openxmlformats.org/officeDocument/2006/relationships" xmlns:a="http://schemas.openxmlformats.org/drawingml/2006/main" r:embed="Rd0984d879b8040f4"/>
          <a:stretch xmlns:a="http://schemas.openxmlformats.org/drawingml/2006/main"/>
        </p:blipFill>
        <p:spPr>
          <a:xfrm xmlns:a="http://schemas.openxmlformats.org/drawingml/2006/main">
            <a:off x="872180" y="1438275"/>
            <a:ext cx="3113389" cy="4400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716C6E7-2CE6-46E0-9194-3358AE9FE9BA}"/>
              </a:ext>
            </a:extLst>
          </p:cNvPr>
          <p:cNvSpPr>
            <a:spLocks xmlns:a="http://schemas.openxmlformats.org/drawingml/2006/main" noGrp="1"/>
          </p:cNvSpPr>
          <p:nvPr/>
        </p:nvSpPr>
        <p:spPr>
          <a:xfrm xmlns:a="http://schemas.openxmlformats.org/drawingml/2006/main">
            <a:off x="4762500" y="1581150"/>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087F8C"/>
                </a:solidFill>
                <a:latin typeface="Arial"/>
                <a:ea typeface="Arial"/>
                <a:cs typeface="Arial"/>
              </a:defRPr>
            </a:def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Cada propuesta combina</a:t>
            </a:r>
          </a:p>
        </p:txBody>
      </p:sp>
      <p:sp>
        <p:nvSpPr>
          <p:cNvPr id="5" name="">
            <a:extLst xmlns:a="http://schemas.openxmlformats.org/drawingml/2006/main">
              <a:ext uri="{FF2B5EF4-FFF2-40B4-BE49-F238E27FC236}">
                <a16:creationId xmlns:a16="http://schemas.microsoft.com/office/drawing/2014/main" id="{41C962A7-30E7-431A-8DB2-6FBB98AB8533}"/>
              </a:ext>
            </a:extLst>
          </p:cNvPr>
          <p:cNvSpPr>
            <a:spLocks xmlns:a="http://schemas.openxmlformats.org/drawingml/2006/main" noGrp="1"/>
          </p:cNvSpPr>
          <p:nvPr/>
        </p:nvSpPr>
        <p:spPr>
          <a:xfrm xmlns:a="http://schemas.openxmlformats.org/drawingml/2006/main">
            <a:off x="4762500" y="2238375"/>
            <a:ext cx="67627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0">
                <a:solidFill>
                  <a:srgbClr val="183B4E"/>
                </a:solidFill>
                <a:latin typeface="Arial"/>
                <a:ea typeface="Arial"/>
                <a:cs typeface="Arial"/>
              </a:defRPr>
            </a:defPPr>
          </a:lstStyle>
          <a:p xmlns:a="http://schemas.openxmlformats.org/drawingml/2006/main">
            <a:pPr>
              <a:defRPr sz="2250" b="0">
                <a:solidFill>
                  <a:srgbClr val="183B4E"/>
                </a:solidFill>
                <a:latin typeface="Arial"/>
                <a:ea typeface="Arial"/>
                <a:cs typeface="Arial"/>
              </a:defRPr>
            </a:pPr>
            <a:r>
              <a:rPr sz="2250" b="0">
                <a:solidFill>
                  <a:srgbClr val="183B4E"/>
                </a:solidFill>
                <a:latin typeface="Arial"/>
                <a:ea typeface="Arial"/>
                <a:cs typeface="Arial"/>
              </a:rPr>
              <a:t>Una ubicación dentro de Santa Fe</a:t>
            </a:r>
          </a:p>
          <a:p xmlns:a="http://schemas.openxmlformats.org/drawingml/2006/main">
            <a:r>
              <a:t/>
            </a:r>
          </a:p>
          <a:p xmlns:a="http://schemas.openxmlformats.org/drawingml/2006/main">
            <a:pPr>
              <a:defRPr sz="2250" b="0">
                <a:solidFill>
                  <a:srgbClr val="183B4E"/>
                </a:solidFill>
                <a:latin typeface="Arial"/>
                <a:ea typeface="Arial"/>
                <a:cs typeface="Arial"/>
              </a:defRPr>
            </a:pPr>
            <a:r>
              <a:rPr sz="2250" b="0">
                <a:solidFill>
                  <a:srgbClr val="183B4E"/>
                </a:solidFill>
                <a:latin typeface="Arial"/>
                <a:ea typeface="Arial"/>
                <a:cs typeface="Arial"/>
              </a:rPr>
              <a:t>Una forma de celdas contiguas</a:t>
            </a:r>
          </a:p>
          <a:p xmlns:a="http://schemas.openxmlformats.org/drawingml/2006/main">
            <a:r>
              <a:t/>
            </a:r>
          </a:p>
          <a:p xmlns:a="http://schemas.openxmlformats.org/drawingml/2006/main">
            <a:pPr>
              <a:defRPr sz="2250" b="0">
                <a:solidFill>
                  <a:srgbClr val="183B4E"/>
                </a:solidFill>
                <a:latin typeface="Arial"/>
                <a:ea typeface="Arial"/>
                <a:cs typeface="Arial"/>
              </a:defRPr>
            </a:pPr>
            <a:r>
              <a:rPr sz="2250" b="0">
                <a:solidFill>
                  <a:srgbClr val="183B4E"/>
                </a:solidFill>
                <a:latin typeface="Arial"/>
                <a:ea typeface="Arial"/>
                <a:cs typeface="Arial"/>
              </a:rPr>
              <a:t>Una superficie bajo el límite experimental</a:t>
            </a:r>
          </a:p>
        </p:txBody>
      </p:sp>
      <p:sp>
        <p:nvSpPr>
          <p:cNvPr id="6" name="">
            <a:extLst xmlns:a="http://schemas.openxmlformats.org/drawingml/2006/main">
              <a:ext uri="{FF2B5EF4-FFF2-40B4-BE49-F238E27FC236}">
                <a16:creationId xmlns:a16="http://schemas.microsoft.com/office/drawing/2014/main" id="{2C6DC634-A821-4BB2-81D2-A9B27FF8069A}"/>
              </a:ext>
            </a:extLst>
          </p:cNvPr>
          <p:cNvSpPr>
            <a:spLocks xmlns:a="http://schemas.openxmlformats.org/drawingml/2006/main" noGrp="1"/>
          </p:cNvSpPr>
          <p:nvPr/>
        </p:nvSpPr>
        <p:spPr>
          <a:xfrm xmlns:a="http://schemas.openxmlformats.org/drawingml/2006/main">
            <a:off x="4762500" y="5000625"/>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02A43"/>
                </a:solidFill>
                <a:latin typeface="Arial"/>
                <a:ea typeface="Arial"/>
                <a:cs typeface="Arial"/>
              </a:defRPr>
            </a:defPPr>
          </a:lstStyle>
          <a:p xmlns:a="http://schemas.openxmlformats.org/drawingml/2006/main">
            <a:pPr>
              <a:defRPr sz="2250" b="1">
                <a:solidFill>
                  <a:srgbClr val="102A43"/>
                </a:solidFill>
                <a:latin typeface="Arial"/>
                <a:ea typeface="Arial"/>
                <a:cs typeface="Arial"/>
              </a:defRPr>
            </a:pPr>
            <a:r>
              <a:rPr sz="2250" b="1">
                <a:solidFill>
                  <a:srgbClr val="102A43"/>
                </a:solidFill>
                <a:latin typeface="Arial"/>
                <a:ea typeface="Arial"/>
                <a:cs typeface="Arial"/>
              </a:rPr>
              <a:t>Resultado: candidatos para estudiar</a:t>
            </a:r>
          </a:p>
          <a:p xmlns:a="http://schemas.openxmlformats.org/drawingml/2006/main">
            <a:pPr>
              <a:defRPr sz="2250" b="1">
                <a:solidFill>
                  <a:srgbClr val="102A43"/>
                </a:solidFill>
                <a:latin typeface="Arial"/>
                <a:ea typeface="Arial"/>
                <a:cs typeface="Arial"/>
              </a:defRPr>
            </a:pPr>
            <a:r>
              <a:rPr sz="2250" b="1">
                <a:solidFill>
                  <a:srgbClr val="102A43"/>
                </a:solidFill>
                <a:latin typeface="Arial"/>
                <a:ea typeface="Arial"/>
                <a:cs typeface="Arial"/>
              </a:rPr>
              <a:t>con mayor detalle</a:t>
            </a:r>
          </a:p>
        </p:txBody>
      </p:sp>
    </p:spTree>
    <p:extLst>
      <p:ext uri="{BB962C8B-B14F-4D97-AF65-F5344CB8AC3E}">
        <p14:creationId xmlns:p14="http://schemas.microsoft.com/office/powerpoint/2010/main" val="13827931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A01CB9-3186-4329-9035-D3F281CDFB61}"/>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Fuentes y funciones de los datos</a:t>
            </a:r>
          </a:p>
        </p:txBody>
      </p:sp>
      <p:sp>
        <p:nvSpPr>
          <p:cNvPr id="2" name="">
            <a:extLst xmlns:a="http://schemas.openxmlformats.org/drawingml/2006/main">
              <a:ext uri="{FF2B5EF4-FFF2-40B4-BE49-F238E27FC236}">
                <a16:creationId xmlns:a16="http://schemas.microsoft.com/office/drawing/2014/main" id="{31E405B2-3F1C-4303-9162-EFCA677F0B39}"/>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3AAFD533-6301-49D5-B5C0-EF0398C68D58}"/>
              </a:ext>
            </a:extLst>
          </p:cNvPr>
          <p:cNvGraphicFramePr/>
          <p:nvPr/>
        </p:nvGraphicFramePr>
        <p:xfrm>
          <a:off xmlns:a="http://schemas.openxmlformats.org/drawingml/2006/main" x="571500" y="1581150"/>
          <a:ext xmlns:a="http://schemas.openxmlformats.org/drawingml/2006/main" cx="11049000" cy="3800475"/>
        </p:xfrm>
        <a:graphic xmlns:a="http://schemas.openxmlformats.org/drawingml/2006/main">
          <a:graphicData uri="http://schemas.openxmlformats.org/drawingml/2006/table">
            <a:tbl>
              <a:tblPr/>
              <a:tblGrid>
                <a:gridCol w="2952750"/>
                <a:gridCol w="3381375"/>
                <a:gridCol w="4714875"/>
              </a:tblGrid>
              <a:tr h="633413">
                <a:tc>
                  <a:txBody>
                    <a:bodyPr/>
                    <a:lstStyle/>
                    <a:p>
                      <a:r>
                        <a:rPr sz="1875" b="1">
                          <a:solidFill>
                            <a:srgbClr val="FFFFFF"/>
                          </a:solidFill>
                          <a:latin typeface="Arial"/>
                          <a:ea typeface="Arial"/>
                          <a:cs typeface="Arial"/>
                        </a:rPr>
                        <a:t>Fuente</a:t>
                      </a:r>
                    </a:p>
                  </a:txBody>
                  <a:tcPr marL="91440" marR="91440" marT="45720" marB="45720">
                    <a:solidFill>
                      <a:srgbClr val="102A43"/>
                    </a:solidFill>
                  </a:tcPr>
                </a:tc>
                <a:tc>
                  <a:txBody>
                    <a:bodyPr/>
                    <a:lstStyle/>
                    <a:p>
                      <a:r>
                        <a:rPr sz="1875" b="1">
                          <a:solidFill>
                            <a:srgbClr val="FFFFFF"/>
                          </a:solidFill>
                          <a:latin typeface="Arial"/>
                          <a:ea typeface="Arial"/>
                          <a:cs typeface="Arial"/>
                        </a:rPr>
                        <a:t>Dato</a:t>
                      </a:r>
                    </a:p>
                  </a:txBody>
                  <a:tcPr marL="91440" marR="91440" marT="45720" marB="45720">
                    <a:solidFill>
                      <a:srgbClr val="102A43"/>
                    </a:solidFill>
                  </a:tcPr>
                </a:tc>
                <a:tc>
                  <a:txBody>
                    <a:bodyPr/>
                    <a:lstStyle/>
                    <a:p>
                      <a:r>
                        <a:rPr sz="1875" b="1">
                          <a:solidFill>
                            <a:srgbClr val="FFFFFF"/>
                          </a:solidFill>
                          <a:latin typeface="Arial"/>
                          <a:ea typeface="Arial"/>
                          <a:cs typeface="Arial"/>
                        </a:rPr>
                        <a:t>Uso en el modelo</a:t>
                      </a:r>
                    </a:p>
                  </a:txBody>
                  <a:tcPr marL="91440" marR="91440" marT="45720" marB="45720">
                    <a:solidFill>
                      <a:srgbClr val="102A43"/>
                    </a:solidFill>
                  </a:tcPr>
                </a:tc>
              </a:tr>
              <a:tr h="633413">
                <a:tc>
                  <a:txBody>
                    <a:bodyPr/>
                    <a:lstStyle/>
                    <a:p>
                      <a:r>
                        <a:rPr sz="1875" b="0">
                          <a:solidFill>
                            <a:srgbClr val="183B4E"/>
                          </a:solidFill>
                          <a:latin typeface="Arial"/>
                          <a:ea typeface="Arial"/>
                          <a:cs typeface="Arial"/>
                        </a:rPr>
                        <a:t>IGN</a:t>
                      </a:r>
                    </a:p>
                  </a:txBody>
                  <a:tcPr marL="91440" marR="91440" marT="45720" marB="45720">
                    <a:solidFill>
                      <a:srgbClr val="FFFFFF"/>
                    </a:solidFill>
                  </a:tcPr>
                </a:tc>
                <a:tc>
                  <a:txBody>
                    <a:bodyPr/>
                    <a:lstStyle/>
                    <a:p>
                      <a:r>
                        <a:rPr sz="1875" b="0">
                          <a:solidFill>
                            <a:srgbClr val="183B4E"/>
                          </a:solidFill>
                          <a:latin typeface="Arial"/>
                          <a:ea typeface="Arial"/>
                          <a:cs typeface="Arial"/>
                        </a:rPr>
                        <a:t>Límite provincial</a:t>
                      </a:r>
                    </a:p>
                  </a:txBody>
                  <a:tcPr marL="91440" marR="91440" marT="45720" marB="45720">
                    <a:solidFill>
                      <a:srgbClr val="FFFFFF"/>
                    </a:solidFill>
                  </a:tcPr>
                </a:tc>
                <a:tc>
                  <a:txBody>
                    <a:bodyPr/>
                    <a:lstStyle/>
                    <a:p>
                      <a:r>
                        <a:rPr sz="1875" b="0">
                          <a:solidFill>
                            <a:srgbClr val="183B4E"/>
                          </a:solidFill>
                          <a:latin typeface="Arial"/>
                          <a:ea typeface="Arial"/>
                          <a:cs typeface="Arial"/>
                        </a:rPr>
                        <a:t>Recorte de Santa Fe</a:t>
                      </a:r>
                    </a:p>
                  </a:txBody>
                  <a:tcPr marL="91440" marR="91440" marT="45720" marB="45720">
                    <a:solidFill>
                      <a:srgbClr val="FFFFFF"/>
                    </a:solidFill>
                  </a:tcPr>
                </a:tc>
              </a:tr>
              <a:tr h="633413">
                <a:tc>
                  <a:txBody>
                    <a:bodyPr/>
                    <a:lstStyle/>
                    <a:p>
                      <a:r>
                        <a:rPr sz="1875" b="0">
                          <a:solidFill>
                            <a:srgbClr val="183B4E"/>
                          </a:solidFill>
                          <a:latin typeface="Arial"/>
                          <a:ea typeface="Arial"/>
                          <a:cs typeface="Arial"/>
                        </a:rPr>
                        <a:t>INDEC 2022</a:t>
                      </a:r>
                    </a:p>
                  </a:txBody>
                  <a:tcPr marL="91440" marR="91440" marT="45720" marB="45720">
                    <a:solidFill>
                      <a:srgbClr val="EEF5F5"/>
                    </a:solidFill>
                  </a:tcPr>
                </a:tc>
                <a:tc>
                  <a:txBody>
                    <a:bodyPr/>
                    <a:lstStyle/>
                    <a:p>
                      <a:r>
                        <a:rPr sz="1875" b="0">
                          <a:solidFill>
                            <a:srgbClr val="183B4E"/>
                          </a:solidFill>
                          <a:latin typeface="Arial"/>
                          <a:ea typeface="Arial"/>
                          <a:cs typeface="Arial"/>
                        </a:rPr>
                        <a:t>Envolventes urbanas</a:t>
                      </a:r>
                    </a:p>
                  </a:txBody>
                  <a:tcPr marL="91440" marR="91440" marT="45720" marB="45720">
                    <a:solidFill>
                      <a:srgbClr val="EEF5F5"/>
                    </a:solidFill>
                  </a:tcPr>
                </a:tc>
                <a:tc>
                  <a:txBody>
                    <a:bodyPr/>
                    <a:lstStyle/>
                    <a:p>
                      <a:r>
                        <a:rPr sz="1875" b="0">
                          <a:solidFill>
                            <a:srgbClr val="183B4E"/>
                          </a:solidFill>
                          <a:latin typeface="Arial"/>
                          <a:ea typeface="Arial"/>
                          <a:cs typeface="Arial"/>
                        </a:rPr>
                        <a:t>Exclusión de celdas</a:t>
                      </a:r>
                    </a:p>
                  </a:txBody>
                  <a:tcPr marL="91440" marR="91440" marT="45720" marB="45720">
                    <a:solidFill>
                      <a:srgbClr val="EEF5F5"/>
                    </a:solidFill>
                  </a:tcPr>
                </a:tc>
              </a:tr>
              <a:tr h="633413">
                <a:tc>
                  <a:txBody>
                    <a:bodyPr/>
                    <a:lstStyle/>
                    <a:p>
                      <a:r>
                        <a:rPr sz="1875" b="0">
                          <a:solidFill>
                            <a:srgbClr val="183B4E"/>
                          </a:solidFill>
                          <a:latin typeface="Arial"/>
                          <a:ea typeface="Arial"/>
                          <a:cs typeface="Arial"/>
                        </a:rPr>
                        <a:t>datos.gob.ar / CKAN</a:t>
                      </a:r>
                    </a:p>
                  </a:txBody>
                  <a:tcPr marL="91440" marR="91440" marT="45720" marB="45720">
                    <a:solidFill>
                      <a:srgbClr val="FFFFFF"/>
                    </a:solidFill>
                  </a:tcPr>
                </a:tc>
                <a:tc>
                  <a:txBody>
                    <a:bodyPr/>
                    <a:lstStyle/>
                    <a:p>
                      <a:r>
                        <a:rPr sz="1875" b="0">
                          <a:solidFill>
                            <a:srgbClr val="183B4E"/>
                          </a:solidFill>
                          <a:latin typeface="Arial"/>
                          <a:ea typeface="Arial"/>
                          <a:cs typeface="Arial"/>
                        </a:rPr>
                        <a:t>Geometría de líneas</a:t>
                      </a:r>
                    </a:p>
                  </a:txBody>
                  <a:tcPr marL="91440" marR="91440" marT="45720" marB="45720">
                    <a:solidFill>
                      <a:srgbClr val="FFFFFF"/>
                    </a:solidFill>
                  </a:tcPr>
                </a:tc>
                <a:tc>
                  <a:txBody>
                    <a:bodyPr/>
                    <a:lstStyle/>
                    <a:p>
                      <a:r>
                        <a:rPr sz="1875" b="0">
                          <a:solidFill>
                            <a:srgbClr val="183B4E"/>
                          </a:solidFill>
                          <a:latin typeface="Arial"/>
                          <a:ea typeface="Arial"/>
                          <a:cs typeface="Arial"/>
                        </a:rPr>
                        <a:t>Distancia a la red</a:t>
                      </a:r>
                    </a:p>
                  </a:txBody>
                  <a:tcPr marL="91440" marR="91440" marT="45720" marB="45720">
                    <a:solidFill>
                      <a:srgbClr val="FFFFFF"/>
                    </a:solidFill>
                  </a:tcPr>
                </a:tc>
              </a:tr>
              <a:tr h="633413">
                <a:tc>
                  <a:txBody>
                    <a:bodyPr/>
                    <a:lstStyle/>
                    <a:p>
                      <a:r>
                        <a:rPr sz="1875" b="0">
                          <a:solidFill>
                            <a:srgbClr val="183B4E"/>
                          </a:solidFill>
                          <a:latin typeface="Arial"/>
                          <a:ea typeface="Arial"/>
                          <a:cs typeface="Arial"/>
                        </a:rPr>
                        <a:t>Secretaría de Energía</a:t>
                      </a:r>
                    </a:p>
                  </a:txBody>
                  <a:tcPr marL="91440" marR="91440" marT="45720" marB="45720">
                    <a:solidFill>
                      <a:srgbClr val="EEF5F5"/>
                    </a:solidFill>
                  </a:tcPr>
                </a:tc>
                <a:tc>
                  <a:txBody>
                    <a:bodyPr/>
                    <a:lstStyle/>
                    <a:p>
                      <a:r>
                        <a:rPr sz="1875" b="0">
                          <a:solidFill>
                            <a:srgbClr val="183B4E"/>
                          </a:solidFill>
                          <a:latin typeface="Arial"/>
                          <a:ea typeface="Arial"/>
                          <a:cs typeface="Arial"/>
                        </a:rPr>
                        <a:t>CSV de estaciones</a:t>
                      </a:r>
                    </a:p>
                  </a:txBody>
                  <a:tcPr marL="91440" marR="91440" marT="45720" marB="45720">
                    <a:solidFill>
                      <a:srgbClr val="EEF5F5"/>
                    </a:solidFill>
                  </a:tcPr>
                </a:tc>
                <a:tc>
                  <a:txBody>
                    <a:bodyPr/>
                    <a:lstStyle/>
                    <a:p>
                      <a:r>
                        <a:rPr sz="1875" b="0">
                          <a:solidFill>
                            <a:srgbClr val="183B4E"/>
                          </a:solidFill>
                          <a:latin typeface="Arial"/>
                          <a:ea typeface="Arial"/>
                          <a:cs typeface="Arial"/>
                        </a:rPr>
                        <a:t>Distancia a 4 ET de referencia</a:t>
                      </a:r>
                    </a:p>
                  </a:txBody>
                  <a:tcPr marL="91440" marR="91440" marT="45720" marB="45720">
                    <a:solidFill>
                      <a:srgbClr val="EEF5F5"/>
                    </a:solidFill>
                  </a:tcPr>
                </a:tc>
              </a:tr>
              <a:tr h="633413">
                <a:tc>
                  <a:txBody>
                    <a:bodyPr/>
                    <a:lstStyle/>
                    <a:p>
                      <a:r>
                        <a:rPr sz="1875" b="0">
                          <a:solidFill>
                            <a:srgbClr val="183B4E"/>
                          </a:solidFill>
                          <a:latin typeface="Arial"/>
                          <a:ea typeface="Arial"/>
                          <a:cs typeface="Arial"/>
                        </a:rPr>
                        <a:t>Copernicus ERA5-Land</a:t>
                      </a:r>
                    </a:p>
                  </a:txBody>
                  <a:tcPr marL="91440" marR="91440" marT="45720" marB="45720">
                    <a:solidFill>
                      <a:srgbClr val="FFFFFF"/>
                    </a:solidFill>
                  </a:tcPr>
                </a:tc>
                <a:tc>
                  <a:txBody>
                    <a:bodyPr/>
                    <a:lstStyle/>
                    <a:p>
                      <a:r>
                        <a:rPr sz="1875" b="0">
                          <a:solidFill>
                            <a:srgbClr val="183B4E"/>
                          </a:solidFill>
                          <a:latin typeface="Arial"/>
                          <a:ea typeface="Arial"/>
                          <a:cs typeface="Arial"/>
                        </a:rPr>
                        <a:t>Radiación horaria SSRD</a:t>
                      </a:r>
                    </a:p>
                  </a:txBody>
                  <a:tcPr marL="91440" marR="91440" marT="45720" marB="45720">
                    <a:solidFill>
                      <a:srgbClr val="FFFFFF"/>
                    </a:solidFill>
                  </a:tcPr>
                </a:tc>
                <a:tc>
                  <a:txBody>
                    <a:bodyPr/>
                    <a:lstStyle/>
                    <a:p>
                      <a:r>
                        <a:rPr sz="1875" b="0">
                          <a:solidFill>
                            <a:srgbClr val="183B4E"/>
                          </a:solidFill>
                          <a:latin typeface="Arial"/>
                          <a:ea typeface="Arial"/>
                          <a:cs typeface="Arial"/>
                        </a:rPr>
                        <a:t>Indicador solar anual</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F8CF4A9-3D69-4FA5-8EA6-9FD0EBD4C1F1}"/>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defRPr sz="1575" b="0">
                <a:solidFill>
                  <a:srgbClr val="526778"/>
                </a:solidFill>
                <a:latin typeface="Arial"/>
                <a:ea typeface="Arial"/>
                <a:cs typeface="Arial"/>
              </a:defRPr>
            </a:pPr>
            <a:r>
              <a:rPr sz="1575" b="0">
                <a:solidFill>
                  <a:srgbClr val="526778"/>
                </a:solidFill>
                <a:latin typeface="Arial"/>
                <a:ea typeface="Arial"/>
                <a:cs typeface="Arial"/>
              </a:rPr>
              <a:t>Cada fuente tiene un formato y una validación propios</a:t>
            </a:r>
          </a:p>
        </p:txBody>
      </p:sp>
    </p:spTree>
    <p:extLst>
      <p:ext uri="{BB962C8B-B14F-4D97-AF65-F5344CB8AC3E}">
        <p14:creationId xmlns:p14="http://schemas.microsoft.com/office/powerpoint/2010/main" val="1510060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5E58FD7-D2FB-494E-A98D-1944C3D3F4D4}"/>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Una petición real: polígonos urbanos</a:t>
            </a:r>
          </a:p>
        </p:txBody>
      </p:sp>
      <p:sp>
        <p:nvSpPr>
          <p:cNvPr id="2" name="">
            <a:extLst xmlns:a="http://schemas.openxmlformats.org/drawingml/2006/main">
              <a:ext uri="{FF2B5EF4-FFF2-40B4-BE49-F238E27FC236}">
                <a16:creationId xmlns:a16="http://schemas.microsoft.com/office/drawing/2014/main" id="{0A0A6694-DFF9-4A53-9A36-E35E8A98FB70}"/>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D7C28A79-83A2-4449-986C-2464849EDE65}"/>
              </a:ext>
            </a:extLst>
          </p:cNvPr>
          <p:cNvSpPr>
            <a:spLocks xmlns:a="http://schemas.openxmlformats.org/drawingml/2006/main" noGrp="1"/>
          </p:cNvSpPr>
          <p:nvPr/>
        </p:nvSpPr>
        <p:spPr>
          <a:xfrm xmlns:a="http://schemas.openxmlformats.org/drawingml/2006/main">
            <a:off x="571500" y="15049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087F8C"/>
                </a:solidFill>
                <a:latin typeface="Arial"/>
                <a:ea typeface="Arial"/>
                <a:cs typeface="Arial"/>
              </a:defRPr>
            </a:def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GET al servicio WFS de INDEC</a:t>
            </a:r>
          </a:p>
        </p:txBody>
      </p:sp>
      <p:graphicFrame>
        <p:nvGraphicFramePr>
          <p:cNvPr id="4" name="">
            <a:extLst xmlns:a="http://schemas.openxmlformats.org/drawingml/2006/main">
              <a:ext uri="{FF2B5EF4-FFF2-40B4-BE49-F238E27FC236}">
                <a16:creationId xmlns:a16="http://schemas.microsoft.com/office/drawing/2014/main" id="{5A3142EB-5F82-43D8-86F1-62524137E5BE}"/>
              </a:ext>
            </a:extLst>
          </p:cNvPr>
          <p:cNvGraphicFramePr/>
          <p:nvPr/>
        </p:nvGraphicFramePr>
        <p:xfrm>
          <a:off xmlns:a="http://schemas.openxmlformats.org/drawingml/2006/main" x="571500" y="2190750"/>
          <a:ext xmlns:a="http://schemas.openxmlformats.org/drawingml/2006/main" cx="7334250" cy="3057525"/>
        </p:xfrm>
        <a:graphic xmlns:a="http://schemas.openxmlformats.org/drawingml/2006/main">
          <a:graphicData uri="http://schemas.openxmlformats.org/drawingml/2006/table">
            <a:tbl>
              <a:tblPr/>
              <a:tblGrid>
                <a:gridCol w="2905125"/>
                <a:gridCol w="4429125"/>
              </a:tblGrid>
              <a:tr h="509588">
                <a:tc>
                  <a:txBody>
                    <a:bodyPr/>
                    <a:lstStyle/>
                    <a:p>
                      <a:r>
                        <a:rPr sz="1800" b="1">
                          <a:solidFill>
                            <a:srgbClr val="FFFFFF"/>
                          </a:solidFill>
                          <a:latin typeface="Arial"/>
                          <a:ea typeface="Arial"/>
                          <a:cs typeface="Arial"/>
                        </a:rPr>
                        <a:t>Parámetro</a:t>
                      </a:r>
                    </a:p>
                  </a:txBody>
                  <a:tcPr marL="91440" marR="91440" marT="45720" marB="45720">
                    <a:solidFill>
                      <a:srgbClr val="102A43"/>
                    </a:solidFill>
                  </a:tcPr>
                </a:tc>
                <a:tc>
                  <a:txBody>
                    <a:bodyPr/>
                    <a:lstStyle/>
                    <a:p>
                      <a:r>
                        <a:rPr sz="1800" b="1">
                          <a:solidFill>
                            <a:srgbClr val="FFFFFF"/>
                          </a:solidFill>
                          <a:latin typeface="Arial"/>
                          <a:ea typeface="Arial"/>
                          <a:cs typeface="Arial"/>
                        </a:rPr>
                        <a:t>Valor enviado</a:t>
                      </a:r>
                    </a:p>
                  </a:txBody>
                  <a:tcPr marL="91440" marR="91440" marT="45720" marB="45720">
                    <a:solidFill>
                      <a:srgbClr val="102A43"/>
                    </a:solidFill>
                  </a:tcPr>
                </a:tc>
              </a:tr>
              <a:tr h="509588">
                <a:tc>
                  <a:txBody>
                    <a:bodyPr/>
                    <a:lstStyle/>
                    <a:p>
                      <a:r>
                        <a:rPr sz="1800" b="0">
                          <a:solidFill>
                            <a:srgbClr val="183B4E"/>
                          </a:solidFill>
                          <a:latin typeface="Arial"/>
                          <a:ea typeface="Arial"/>
                          <a:cs typeface="Arial"/>
                        </a:rPr>
                        <a:t>request / version</a:t>
                      </a:r>
                    </a:p>
                  </a:txBody>
                  <a:tcPr marL="91440" marR="91440" marT="45720" marB="45720">
                    <a:solidFill>
                      <a:srgbClr val="FFFFFF"/>
                    </a:solidFill>
                  </a:tcPr>
                </a:tc>
                <a:tc>
                  <a:txBody>
                    <a:bodyPr/>
                    <a:lstStyle/>
                    <a:p>
                      <a:r>
                        <a:rPr sz="1800" b="0">
                          <a:solidFill>
                            <a:srgbClr val="183B4E"/>
                          </a:solidFill>
                          <a:latin typeface="Arial"/>
                          <a:ea typeface="Arial"/>
                          <a:cs typeface="Arial"/>
                        </a:rPr>
                        <a:t>GetFeature / 2.0.0</a:t>
                      </a:r>
                    </a:p>
                  </a:txBody>
                  <a:tcPr marL="91440" marR="91440" marT="45720" marB="45720">
                    <a:solidFill>
                      <a:srgbClr val="FFFFFF"/>
                    </a:solidFill>
                  </a:tcPr>
                </a:tc>
              </a:tr>
              <a:tr h="509588">
                <a:tc>
                  <a:txBody>
                    <a:bodyPr/>
                    <a:lstStyle/>
                    <a:p>
                      <a:r>
                        <a:rPr sz="1800" b="0">
                          <a:solidFill>
                            <a:srgbClr val="183B4E"/>
                          </a:solidFill>
                          <a:latin typeface="Arial"/>
                          <a:ea typeface="Arial"/>
                          <a:cs typeface="Arial"/>
                        </a:rPr>
                        <a:t>typeNames</a:t>
                      </a:r>
                    </a:p>
                  </a:txBody>
                  <a:tcPr marL="91440" marR="91440" marT="45720" marB="45720">
                    <a:solidFill>
                      <a:srgbClr val="EEF5F5"/>
                    </a:solidFill>
                  </a:tcPr>
                </a:tc>
                <a:tc>
                  <a:txBody>
                    <a:bodyPr/>
                    <a:lstStyle/>
                    <a:p>
                      <a:r>
                        <a:rPr sz="1800" b="0">
                          <a:solidFill>
                            <a:srgbClr val="183B4E"/>
                          </a:solidFill>
                          <a:latin typeface="Arial"/>
                          <a:ea typeface="Arial"/>
                          <a:cs typeface="Arial"/>
                        </a:rPr>
                        <a:t>geonode:localidades_censales</a:t>
                      </a:r>
                    </a:p>
                  </a:txBody>
                  <a:tcPr marL="91440" marR="91440" marT="45720" marB="45720">
                    <a:solidFill>
                      <a:srgbClr val="EEF5F5"/>
                    </a:solidFill>
                  </a:tcPr>
                </a:tc>
              </a:tr>
              <a:tr h="509588">
                <a:tc>
                  <a:txBody>
                    <a:bodyPr/>
                    <a:lstStyle/>
                    <a:p>
                      <a:r>
                        <a:rPr sz="1800" b="0">
                          <a:solidFill>
                            <a:srgbClr val="183B4E"/>
                          </a:solidFill>
                          <a:latin typeface="Arial"/>
                          <a:ea typeface="Arial"/>
                          <a:cs typeface="Arial"/>
                        </a:rPr>
                        <a:t>outputFormat / srsName</a:t>
                      </a:r>
                    </a:p>
                  </a:txBody>
                  <a:tcPr marL="91440" marR="91440" marT="45720" marB="45720">
                    <a:solidFill>
                      <a:srgbClr val="FFFFFF"/>
                    </a:solidFill>
                  </a:tcPr>
                </a:tc>
                <a:tc>
                  <a:txBody>
                    <a:bodyPr/>
                    <a:lstStyle/>
                    <a:p>
                      <a:r>
                        <a:rPr sz="1800" b="0">
                          <a:solidFill>
                            <a:srgbClr val="183B4E"/>
                          </a:solidFill>
                          <a:latin typeface="Arial"/>
                          <a:ea typeface="Arial"/>
                          <a:cs typeface="Arial"/>
                        </a:rPr>
                        <a:t>application/json / EPSG:4326</a:t>
                      </a:r>
                    </a:p>
                  </a:txBody>
                  <a:tcPr marL="91440" marR="91440" marT="45720" marB="45720">
                    <a:solidFill>
                      <a:srgbClr val="FFFFFF"/>
                    </a:solidFill>
                  </a:tcPr>
                </a:tc>
              </a:tr>
              <a:tr h="509588">
                <a:tc>
                  <a:txBody>
                    <a:bodyPr/>
                    <a:lstStyle/>
                    <a:p>
                      <a:r>
                        <a:rPr sz="1800" b="0">
                          <a:solidFill>
                            <a:srgbClr val="183B4E"/>
                          </a:solidFill>
                          <a:latin typeface="Arial"/>
                          <a:ea typeface="Arial"/>
                          <a:cs typeface="Arial"/>
                        </a:rPr>
                        <a:t>count / startIndex</a:t>
                      </a:r>
                    </a:p>
                  </a:txBody>
                  <a:tcPr marL="91440" marR="91440" marT="45720" marB="45720">
                    <a:solidFill>
                      <a:srgbClr val="EEF5F5"/>
                    </a:solidFill>
                  </a:tcPr>
                </a:tc>
                <a:tc>
                  <a:txBody>
                    <a:bodyPr/>
                    <a:lstStyle/>
                    <a:p>
                      <a:r>
                        <a:rPr sz="1800" b="0">
                          <a:solidFill>
                            <a:srgbClr val="183B4E"/>
                          </a:solidFill>
                          <a:latin typeface="Arial"/>
                          <a:ea typeface="Arial"/>
                          <a:cs typeface="Arial"/>
                        </a:rPr>
                        <a:t>500 / 0, luego 500, 1.000…</a:t>
                      </a:r>
                    </a:p>
                  </a:txBody>
                  <a:tcPr marL="91440" marR="91440" marT="45720" marB="45720">
                    <a:solidFill>
                      <a:srgbClr val="EEF5F5"/>
                    </a:solidFill>
                  </a:tcPr>
                </a:tc>
              </a:tr>
              <a:tr h="509588">
                <a:tc>
                  <a:txBody>
                    <a:bodyPr/>
                    <a:lstStyle/>
                    <a:p>
                      <a:r>
                        <a:rPr sz="1800" b="0">
                          <a:solidFill>
                            <a:srgbClr val="183B4E"/>
                          </a:solidFill>
                          <a:latin typeface="Arial"/>
                          <a:ea typeface="Arial"/>
                          <a:cs typeface="Arial"/>
                        </a:rPr>
                        <a:t>sortBy</a:t>
                      </a:r>
                    </a:p>
                  </a:txBody>
                  <a:tcPr marL="91440" marR="91440" marT="45720" marB="45720">
                    <a:solidFill>
                      <a:srgbClr val="FFFFFF"/>
                    </a:solidFill>
                  </a:tcPr>
                </a:tc>
                <a:tc>
                  <a:txBody>
                    <a:bodyPr/>
                    <a:lstStyle/>
                    <a:p>
                      <a:r>
                        <a:rPr sz="1800" b="0">
                          <a:solidFill>
                            <a:srgbClr val="183B4E"/>
                          </a:solidFill>
                          <a:latin typeface="Arial"/>
                          <a:ea typeface="Arial"/>
                          <a:cs typeface="Arial"/>
                        </a:rPr>
                        <a:t>fid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DD4DD7A-E8F7-4651-8E1E-274D223DA66F}"/>
              </a:ext>
            </a:extLst>
          </p:cNvPr>
          <p:cNvSpPr>
            <a:spLocks xmlns:a="http://schemas.openxmlformats.org/drawingml/2006/main" noGrp="1"/>
          </p:cNvSpPr>
          <p:nvPr/>
        </p:nvSpPr>
        <p:spPr>
          <a:xfrm xmlns:a="http://schemas.openxmlformats.org/drawingml/2006/main">
            <a:off x="8362950" y="2343150"/>
            <a:ext cx="319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02A43"/>
                </a:solidFill>
                <a:latin typeface="Arial"/>
                <a:ea typeface="Arial"/>
                <a:cs typeface="Arial"/>
              </a:defRPr>
            </a:defPPr>
          </a:lstStyle>
          <a:p xmlns:a="http://schemas.openxmlformats.org/drawingml/2006/main">
            <a:pPr>
              <a:defRPr sz="2250" b="1">
                <a:solidFill>
                  <a:srgbClr val="102A43"/>
                </a:solidFill>
                <a:latin typeface="Arial"/>
                <a:ea typeface="Arial"/>
                <a:cs typeface="Arial"/>
              </a:defRPr>
            </a:pPr>
            <a:r>
              <a:rPr sz="2250" b="1">
                <a:solidFill>
                  <a:srgbClr val="102A43"/>
                </a:solidFill>
                <a:latin typeface="Arial"/>
                <a:ea typeface="Arial"/>
                <a:cs typeface="Arial"/>
              </a:rPr>
              <a:t>Respuesta GeoJSON</a:t>
            </a:r>
          </a:p>
        </p:txBody>
      </p:sp>
      <p:sp>
        <p:nvSpPr>
          <p:cNvPr id="6" name="">
            <a:extLst xmlns:a="http://schemas.openxmlformats.org/drawingml/2006/main">
              <a:ext uri="{FF2B5EF4-FFF2-40B4-BE49-F238E27FC236}">
                <a16:creationId xmlns:a16="http://schemas.microsoft.com/office/drawing/2014/main" id="{A4DF2A49-A34D-4DEF-809E-7F260A2AF5FE}"/>
              </a:ext>
            </a:extLst>
          </p:cNvPr>
          <p:cNvSpPr>
            <a:spLocks xmlns:a="http://schemas.openxmlformats.org/drawingml/2006/main" noGrp="1"/>
          </p:cNvSpPr>
          <p:nvPr/>
        </p:nvSpPr>
        <p:spPr>
          <a:xfrm xmlns:a="http://schemas.openxmlformats.org/drawingml/2006/main">
            <a:off x="8362950" y="3143250"/>
            <a:ext cx="31908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83B4E"/>
                </a:solidFill>
                <a:latin typeface="Arial"/>
                <a:ea typeface="Arial"/>
                <a:cs typeface="Arial"/>
              </a:defRPr>
            </a:defPPr>
          </a:lstStyle>
          <a:p xmlns:a="http://schemas.openxmlformats.org/drawingml/2006/main">
            <a:pPr>
              <a:defRPr sz="2100" b="0">
                <a:solidFill>
                  <a:srgbClr val="183B4E"/>
                </a:solidFill>
                <a:latin typeface="Arial"/>
                <a:ea typeface="Arial"/>
                <a:cs typeface="Arial"/>
              </a:defRPr>
            </a:pPr>
            <a:r>
              <a:rPr sz="2100" b="0">
                <a:solidFill>
                  <a:srgbClr val="183B4E"/>
                </a:solidFill>
                <a:latin typeface="Arial"/>
                <a:ea typeface="Arial"/>
                <a:cs typeface="Arial"/>
              </a:rPr>
              <a:t>features</a:t>
            </a:r>
          </a:p>
          <a:p xmlns:a="http://schemas.openxmlformats.org/drawingml/2006/main">
            <a:pPr>
              <a:defRPr sz="2100" b="0">
                <a:solidFill>
                  <a:srgbClr val="183B4E"/>
                </a:solidFill>
                <a:latin typeface="Arial"/>
                <a:ea typeface="Arial"/>
                <a:cs typeface="Arial"/>
              </a:defRPr>
            </a:pPr>
            <a:r>
              <a:rPr sz="2100" b="0">
                <a:solidFill>
                  <a:srgbClr val="183B4E"/>
                </a:solidFill>
                <a:latin typeface="Arial"/>
                <a:ea typeface="Arial"/>
                <a:cs typeface="Arial"/>
              </a:rPr>
              <a:t>numberMatched</a:t>
            </a:r>
          </a:p>
          <a:p xmlns:a="http://schemas.openxmlformats.org/drawingml/2006/main">
            <a:pPr>
              <a:defRPr sz="2100" b="0">
                <a:solidFill>
                  <a:srgbClr val="183B4E"/>
                </a:solidFill>
                <a:latin typeface="Arial"/>
                <a:ea typeface="Arial"/>
                <a:cs typeface="Arial"/>
              </a:defRPr>
            </a:pPr>
            <a:r>
              <a:rPr sz="2100" b="0">
                <a:solidFill>
                  <a:srgbClr val="183B4E"/>
                </a:solidFill>
                <a:latin typeface="Arial"/>
                <a:ea typeface="Arial"/>
                <a:cs typeface="Arial"/>
              </a:rPr>
              <a:t>numberReturned</a:t>
            </a:r>
          </a:p>
        </p:txBody>
      </p:sp>
      <p:sp>
        <p:nvSpPr>
          <p:cNvPr id="7" name="">
            <a:extLst xmlns:a="http://schemas.openxmlformats.org/drawingml/2006/main">
              <a:ext uri="{FF2B5EF4-FFF2-40B4-BE49-F238E27FC236}">
                <a16:creationId xmlns:a16="http://schemas.microsoft.com/office/drawing/2014/main" id="{F5713B61-7636-4BFF-92BF-761C7A2B263C}"/>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defRPr sz="1575" b="0">
                <a:solidFill>
                  <a:srgbClr val="526778"/>
                </a:solidFill>
                <a:latin typeface="Arial"/>
                <a:ea typeface="Arial"/>
                <a:cs typeface="Arial"/>
              </a:defRPr>
            </a:pPr>
            <a:r>
              <a:rPr sz="1575" b="0">
                <a:solidFill>
                  <a:srgbClr val="526778"/>
                </a:solidFill>
                <a:latin typeface="Arial"/>
                <a:ea typeface="Arial"/>
                <a:cs typeface="Arial"/>
              </a:rPr>
              <a:t>El cliente exige una descarga nacional completa antes del recorte provincial</a:t>
            </a:r>
          </a:p>
        </p:txBody>
      </p:sp>
    </p:spTree>
    <p:extLst>
      <p:ext uri="{BB962C8B-B14F-4D97-AF65-F5344CB8AC3E}">
        <p14:creationId xmlns:p14="http://schemas.microsoft.com/office/powerpoint/2010/main" val="13343421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A0E7B8-8C08-4EE6-AE39-732D702CAA0C}"/>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Los otros accesos a datos</a:t>
            </a:r>
          </a:p>
        </p:txBody>
      </p:sp>
      <p:sp>
        <p:nvSpPr>
          <p:cNvPr id="2" name="">
            <a:extLst xmlns:a="http://schemas.openxmlformats.org/drawingml/2006/main">
              <a:ext uri="{FF2B5EF4-FFF2-40B4-BE49-F238E27FC236}">
                <a16:creationId xmlns:a16="http://schemas.microsoft.com/office/drawing/2014/main" id="{1758E7CF-5A0E-47F3-AEE2-C6534E2B0DD4}"/>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FF110D14-9345-4F5E-AA7B-3BE0DB808892}"/>
              </a:ext>
            </a:extLst>
          </p:cNvPr>
          <p:cNvGraphicFramePr/>
          <p:nvPr/>
        </p:nvGraphicFramePr>
        <p:xfrm>
          <a:off xmlns:a="http://schemas.openxmlformats.org/drawingml/2006/main" x="571500" y="1657350"/>
          <a:ext xmlns:a="http://schemas.openxmlformats.org/drawingml/2006/main" cx="11049000" cy="3524250"/>
        </p:xfrm>
        <a:graphic xmlns:a="http://schemas.openxmlformats.org/drawingml/2006/main">
          <a:graphicData uri="http://schemas.openxmlformats.org/drawingml/2006/table">
            <a:tbl>
              <a:tblPr/>
              <a:tblGrid>
                <a:gridCol w="2809875"/>
                <a:gridCol w="4857750"/>
                <a:gridCol w="3381375"/>
              </a:tblGrid>
              <a:tr h="704850">
                <a:tc>
                  <a:txBody>
                    <a:bodyPr/>
                    <a:lstStyle/>
                    <a:p>
                      <a:r>
                        <a:rPr sz="1875" b="1">
                          <a:solidFill>
                            <a:srgbClr val="FFFFFF"/>
                          </a:solidFill>
                          <a:latin typeface="Arial"/>
                          <a:ea typeface="Arial"/>
                          <a:cs typeface="Arial"/>
                        </a:rPr>
                        <a:t>Recurso</a:t>
                      </a:r>
                    </a:p>
                  </a:txBody>
                  <a:tcPr marL="91440" marR="91440" marT="45720" marB="45720">
                    <a:solidFill>
                      <a:srgbClr val="102A43"/>
                    </a:solidFill>
                  </a:tcPr>
                </a:tc>
                <a:tc>
                  <a:txBody>
                    <a:bodyPr/>
                    <a:lstStyle/>
                    <a:p>
                      <a:r>
                        <a:rPr sz="1875" b="1">
                          <a:solidFill>
                            <a:srgbClr val="FFFFFF"/>
                          </a:solidFill>
                          <a:latin typeface="Arial"/>
                          <a:ea typeface="Arial"/>
                          <a:cs typeface="Arial"/>
                        </a:rPr>
                        <a:t>Petición / acceso</a:t>
                      </a:r>
                    </a:p>
                  </a:txBody>
                  <a:tcPr marL="91440" marR="91440" marT="45720" marB="45720">
                    <a:solidFill>
                      <a:srgbClr val="102A43"/>
                    </a:solidFill>
                  </a:tcPr>
                </a:tc>
                <a:tc>
                  <a:txBody>
                    <a:bodyPr/>
                    <a:lstStyle/>
                    <a:p>
                      <a:r>
                        <a:rPr sz="1875" b="1">
                          <a:solidFill>
                            <a:srgbClr val="FFFFFF"/>
                          </a:solidFill>
                          <a:latin typeface="Arial"/>
                          <a:ea typeface="Arial"/>
                          <a:cs typeface="Arial"/>
                        </a:rPr>
                        <a:t>Respuesta</a:t>
                      </a:r>
                    </a:p>
                  </a:txBody>
                  <a:tcPr marL="91440" marR="91440" marT="45720" marB="45720">
                    <a:solidFill>
                      <a:srgbClr val="102A43"/>
                    </a:solidFill>
                  </a:tcPr>
                </a:tc>
              </a:tr>
              <a:tr h="704850">
                <a:tc>
                  <a:txBody>
                    <a:bodyPr/>
                    <a:lstStyle/>
                    <a:p>
                      <a:r>
                        <a:rPr sz="1875" b="0">
                          <a:solidFill>
                            <a:srgbClr val="183B4E"/>
                          </a:solidFill>
                          <a:latin typeface="Arial"/>
                          <a:ea typeface="Arial"/>
                          <a:cs typeface="Arial"/>
                        </a:rPr>
                        <a:t>Límite IGN</a:t>
                      </a:r>
                    </a:p>
                  </a:txBody>
                  <a:tcPr marL="91440" marR="91440" marT="45720" marB="45720">
                    <a:solidFill>
                      <a:srgbClr val="FFFFFF"/>
                    </a:solidFill>
                  </a:tcPr>
                </a:tc>
                <a:tc>
                  <a:txBody>
                    <a:bodyPr/>
                    <a:lstStyle/>
                    <a:p>
                      <a:r>
                        <a:rPr sz="1875" b="0">
                          <a:solidFill>
                            <a:srgbClr val="183B4E"/>
                          </a:solidFill>
                          <a:latin typeface="Arial"/>
                          <a:ea typeface="Arial"/>
                          <a:cs typeface="Arial"/>
                        </a:rPr>
                        <a:t>Descarga del ZIP</a:t>
                      </a:r>
                    </a:p>
                  </a:txBody>
                  <a:tcPr marL="91440" marR="91440" marT="45720" marB="45720">
                    <a:solidFill>
                      <a:srgbClr val="FFFFFF"/>
                    </a:solidFill>
                  </a:tcPr>
                </a:tc>
                <a:tc>
                  <a:txBody>
                    <a:bodyPr/>
                    <a:lstStyle/>
                    <a:p>
                      <a:r>
                        <a:rPr sz="1875" b="0">
                          <a:solidFill>
                            <a:srgbClr val="183B4E"/>
                          </a:solidFill>
                          <a:latin typeface="Arial"/>
                          <a:ea typeface="Arial"/>
                          <a:cs typeface="Arial"/>
                        </a:rPr>
                        <a:t>Shapefile y CRS</a:t>
                      </a:r>
                    </a:p>
                  </a:txBody>
                  <a:tcPr marL="91440" marR="91440" marT="45720" marB="45720">
                    <a:solidFill>
                      <a:srgbClr val="FFFFFF"/>
                    </a:solidFill>
                  </a:tcPr>
                </a:tc>
              </a:tr>
              <a:tr h="704850">
                <a:tc>
                  <a:txBody>
                    <a:bodyPr/>
                    <a:lstStyle/>
                    <a:p>
                      <a:r>
                        <a:rPr sz="1875" b="0">
                          <a:solidFill>
                            <a:srgbClr val="183B4E"/>
                          </a:solidFill>
                          <a:latin typeface="Arial"/>
                          <a:ea typeface="Arial"/>
                          <a:cs typeface="Arial"/>
                        </a:rPr>
                        <a:t>Líneas eléctricas</a:t>
                      </a:r>
                    </a:p>
                  </a:txBody>
                  <a:tcPr marL="91440" marR="91440" marT="45720" marB="45720">
                    <a:solidFill>
                      <a:srgbClr val="EEF5F5"/>
                    </a:solidFill>
                  </a:tcPr>
                </a:tc>
                <a:tc>
                  <a:txBody>
                    <a:bodyPr/>
                    <a:lstStyle/>
                    <a:p>
                      <a:r>
                        <a:rPr sz="1875" b="0">
                          <a:solidFill>
                            <a:srgbClr val="183B4E"/>
                          </a:solidFill>
                          <a:latin typeface="Arial"/>
                          <a:ea typeface="Arial"/>
                          <a:cs typeface="Arial"/>
                        </a:rPr>
                        <a:t>datastore_search</a:t>
                      </a:r>
                    </a:p>
                    <a:p>
                      <a:r>
                        <a:rPr sz="1875" b="0">
                          <a:solidFill>
                            <a:srgbClr val="183B4E"/>
                          </a:solidFill>
                          <a:latin typeface="Arial"/>
                          <a:ea typeface="Arial"/>
                          <a:cs typeface="Arial"/>
                        </a:rPr>
                        <a:t>resource_id, limit, offset</a:t>
                      </a:r>
                    </a:p>
                  </a:txBody>
                  <a:tcPr marL="91440" marR="91440" marT="45720" marB="45720">
                    <a:solidFill>
                      <a:srgbClr val="EEF5F5"/>
                    </a:solidFill>
                  </a:tcPr>
                </a:tc>
                <a:tc>
                  <a:txBody>
                    <a:bodyPr/>
                    <a:lstStyle/>
                    <a:p>
                      <a:r>
                        <a:rPr sz="1875" b="0">
                          <a:solidFill>
                            <a:srgbClr val="183B4E"/>
                          </a:solidFill>
                          <a:latin typeface="Arial"/>
                          <a:ea typeface="Arial"/>
                          <a:cs typeface="Arial"/>
                        </a:rPr>
                        <a:t>JSON con geometrías</a:t>
                      </a:r>
                    </a:p>
                  </a:txBody>
                  <a:tcPr marL="91440" marR="91440" marT="45720" marB="45720">
                    <a:solidFill>
                      <a:srgbClr val="EEF5F5"/>
                    </a:solidFill>
                  </a:tcPr>
                </a:tc>
              </a:tr>
              <a:tr h="704850">
                <a:tc>
                  <a:txBody>
                    <a:bodyPr/>
                    <a:lstStyle/>
                    <a:p>
                      <a:r>
                        <a:rPr sz="1875" b="0">
                          <a:solidFill>
                            <a:srgbClr val="183B4E"/>
                          </a:solidFill>
                          <a:latin typeface="Arial"/>
                          <a:ea typeface="Arial"/>
                          <a:cs typeface="Arial"/>
                        </a:rPr>
                        <a:t>Estaciones</a:t>
                      </a:r>
                    </a:p>
                  </a:txBody>
                  <a:tcPr marL="91440" marR="91440" marT="45720" marB="45720">
                    <a:solidFill>
                      <a:srgbClr val="FFFFFF"/>
                    </a:solidFill>
                  </a:tcPr>
                </a:tc>
                <a:tc>
                  <a:txBody>
                    <a:bodyPr/>
                    <a:lstStyle/>
                    <a:p>
                      <a:r>
                        <a:rPr sz="1875" b="0">
                          <a:solidFill>
                            <a:srgbClr val="183B4E"/>
                          </a:solidFill>
                          <a:latin typeface="Arial"/>
                          <a:ea typeface="Arial"/>
                          <a:cs typeface="Arial"/>
                        </a:rPr>
                        <a:t>Descarga del archivo</a:t>
                      </a:r>
                    </a:p>
                  </a:txBody>
                  <a:tcPr marL="91440" marR="91440" marT="45720" marB="45720">
                    <a:solidFill>
                      <a:srgbClr val="FFFFFF"/>
                    </a:solidFill>
                  </a:tcPr>
                </a:tc>
                <a:tc>
                  <a:txBody>
                    <a:bodyPr/>
                    <a:lstStyle/>
                    <a:p>
                      <a:r>
                        <a:rPr sz="1875" b="0">
                          <a:solidFill>
                            <a:srgbClr val="183B4E"/>
                          </a:solidFill>
                          <a:latin typeface="Arial"/>
                          <a:ea typeface="Arial"/>
                          <a:cs typeface="Arial"/>
                        </a:rPr>
                        <a:t>CSV con ubicaciones</a:t>
                      </a:r>
                    </a:p>
                  </a:txBody>
                  <a:tcPr marL="91440" marR="91440" marT="45720" marB="45720">
                    <a:solidFill>
                      <a:srgbClr val="FFFFFF"/>
                    </a:solidFill>
                  </a:tcPr>
                </a:tc>
              </a:tr>
              <a:tr h="704850">
                <a:tc>
                  <a:txBody>
                    <a:bodyPr/>
                    <a:lstStyle/>
                    <a:p>
                      <a:r>
                        <a:rPr sz="1875" b="0">
                          <a:solidFill>
                            <a:srgbClr val="183B4E"/>
                          </a:solidFill>
                          <a:latin typeface="Arial"/>
                          <a:ea typeface="Arial"/>
                          <a:cs typeface="Arial"/>
                        </a:rPr>
                        <a:t>Radiación ARCO</a:t>
                      </a:r>
                    </a:p>
                  </a:txBody>
                  <a:tcPr marL="91440" marR="91440" marT="45720" marB="45720">
                    <a:solidFill>
                      <a:srgbClr val="EEF5F5"/>
                    </a:solidFill>
                  </a:tcPr>
                </a:tc>
                <a:tc>
                  <a:txBody>
                    <a:bodyPr/>
                    <a:lstStyle/>
                    <a:p>
                      <a:r>
                        <a:rPr sz="1875" b="0">
                          <a:solidFill>
                            <a:srgbClr val="183B4E"/>
                          </a:solidFill>
                          <a:latin typeface="Arial"/>
                          <a:ea typeface="Arial"/>
                          <a:cs typeface="Arial"/>
                        </a:rPr>
                        <a:t>Lectura de bloques Zarr</a:t>
                      </a:r>
                    </a:p>
                    <a:p>
                      <a:r>
                        <a:rPr sz="1875" b="0">
                          <a:solidFill>
                            <a:srgbClr val="183B4E"/>
                          </a:solidFill>
                          <a:latin typeface="Arial"/>
                          <a:ea typeface="Arial"/>
                          <a:cs typeface="Arial"/>
                        </a:rPr>
                        <a:t>Autorización CDS</a:t>
                      </a:r>
                    </a:p>
                  </a:txBody>
                  <a:tcPr marL="91440" marR="91440" marT="45720" marB="45720">
                    <a:solidFill>
                      <a:srgbClr val="EEF5F5"/>
                    </a:solidFill>
                  </a:tcPr>
                </a:tc>
                <a:tc>
                  <a:txBody>
                    <a:bodyPr/>
                    <a:lstStyle/>
                    <a:p>
                      <a:r>
                        <a:rPr sz="1875" b="0">
                          <a:solidFill>
                            <a:srgbClr val="183B4E"/>
                          </a:solidFill>
                          <a:latin typeface="Arial"/>
                          <a:ea typeface="Arial"/>
                          <a:cs typeface="Arial"/>
                        </a:rPr>
                        <a:t>Series horarias SSRD</a:t>
                      </a:r>
                    </a:p>
                  </a:txBody>
                  <a:tcPr marL="91440" marR="91440" marT="45720" marB="45720">
                    <a:solidFill>
                      <a:srgbClr val="EEF5F5"/>
                    </a:solidFill>
                  </a:tcPr>
                </a:tc>
              </a:tr>
            </a:tbl>
          </a:graphicData>
        </a:graphic>
      </p:graphicFrame>
      <p:sp>
        <p:nvSpPr>
          <p:cNvPr id="4" name="">
            <a:extLst xmlns:a="http://schemas.openxmlformats.org/drawingml/2006/main">
              <a:ext uri="{FF2B5EF4-FFF2-40B4-BE49-F238E27FC236}">
                <a16:creationId xmlns:a16="http://schemas.microsoft.com/office/drawing/2014/main" id="{851405F0-20B6-4F1F-BFB5-BF97D0641CBE}"/>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defRPr sz="1575" b="0">
                <a:solidFill>
                  <a:srgbClr val="526778"/>
                </a:solidFill>
                <a:latin typeface="Arial"/>
                <a:ea typeface="Arial"/>
                <a:cs typeface="Arial"/>
              </a:defRPr>
            </a:pPr>
            <a:r>
              <a:rPr sz="1575" b="0">
                <a:solidFill>
                  <a:srgbClr val="526778"/>
                </a:solidFill>
                <a:latin typeface="Arial"/>
                <a:ea typeface="Arial"/>
                <a:cs typeface="Arial"/>
              </a:rPr>
              <a:t>--download obtiene las capas vectoriales. --process también consulta el clima</a:t>
            </a:r>
          </a:p>
        </p:txBody>
      </p:sp>
    </p:spTree>
    <p:extLst>
      <p:ext uri="{BB962C8B-B14F-4D97-AF65-F5344CB8AC3E}">
        <p14:creationId xmlns:p14="http://schemas.microsoft.com/office/powerpoint/2010/main" val="8953640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34CF28-56BF-4268-8089-52FAE29EB34F}"/>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Radiación: de horas a un indicador anual</a:t>
            </a:r>
          </a:p>
        </p:txBody>
      </p:sp>
      <p:sp>
        <p:nvSpPr>
          <p:cNvPr id="2" name="">
            <a:extLst xmlns:a="http://schemas.openxmlformats.org/drawingml/2006/main">
              <a:ext uri="{FF2B5EF4-FFF2-40B4-BE49-F238E27FC236}">
                <a16:creationId xmlns:a16="http://schemas.microsoft.com/office/drawing/2014/main" id="{9B5C9920-D8D3-4FFA-B2A3-06BB5271FB14}"/>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2A3ACB81-8ED8-43B0-B2DA-E4901431DC12}"/>
              </a:ext>
            </a:extLst>
          </p:cNvPr>
          <p:cNvSpPr>
            <a:spLocks xmlns:a="http://schemas.openxmlformats.org/drawingml/2006/main" noGrp="1"/>
          </p:cNvSpPr>
          <p:nvPr/>
        </p:nvSpPr>
        <p:spPr>
          <a:xfrm xmlns:a="http://schemas.openxmlformats.org/drawingml/2006/main">
            <a:off x="571500" y="158115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Grilla de análisis</a:t>
            </a:r>
          </a:p>
        </p:txBody>
      </p:sp>
      <p:sp>
        <p:nvSpPr>
          <p:cNvPr id="4" name="">
            <a:extLst xmlns:a="http://schemas.openxmlformats.org/drawingml/2006/main">
              <a:ext uri="{FF2B5EF4-FFF2-40B4-BE49-F238E27FC236}">
                <a16:creationId xmlns:a16="http://schemas.microsoft.com/office/drawing/2014/main" id="{E31EC189-1E33-4491-AA58-4265B85D55FE}"/>
              </a:ext>
            </a:extLst>
          </p:cNvPr>
          <p:cNvSpPr>
            <a:spLocks xmlns:a="http://schemas.openxmlformats.org/drawingml/2006/main" noGrp="1"/>
          </p:cNvSpPr>
          <p:nvPr/>
        </p:nvSpPr>
        <p:spPr>
          <a:xfrm xmlns:a="http://schemas.openxmlformats.org/drawingml/2006/main">
            <a:off x="571500" y="214312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200" b="1">
                <a:solidFill>
                  <a:srgbClr val="102A43"/>
                </a:solidFill>
                <a:latin typeface="Arial"/>
                <a:ea typeface="Arial"/>
                <a:cs typeface="Arial"/>
              </a:defRPr>
            </a:defPPr>
          </a:lstStyle>
          <a:p xmlns:a="http://schemas.openxmlformats.org/drawingml/2006/main">
            <a:pPr>
              <a:defRPr sz="4200" b="1">
                <a:solidFill>
                  <a:srgbClr val="102A43"/>
                </a:solidFill>
                <a:latin typeface="Arial"/>
                <a:ea typeface="Arial"/>
                <a:cs typeface="Arial"/>
              </a:defRPr>
            </a:pPr>
            <a:r>
              <a:rPr sz="4200" b="1">
                <a:solidFill>
                  <a:srgbClr val="102A43"/>
                </a:solidFill>
                <a:latin typeface="Arial"/>
                <a:ea typeface="Arial"/>
                <a:cs typeface="Arial"/>
              </a:rPr>
              <a:t>500 × 500 m</a:t>
            </a:r>
          </a:p>
        </p:txBody>
      </p:sp>
      <p:sp>
        <p:nvSpPr>
          <p:cNvPr id="5" name="">
            <a:extLst xmlns:a="http://schemas.openxmlformats.org/drawingml/2006/main">
              <a:ext uri="{FF2B5EF4-FFF2-40B4-BE49-F238E27FC236}">
                <a16:creationId xmlns:a16="http://schemas.microsoft.com/office/drawing/2014/main" id="{9411987B-FDC9-4721-A2A0-719E735496D0}"/>
              </a:ext>
            </a:extLst>
          </p:cNvPr>
          <p:cNvSpPr>
            <a:spLocks xmlns:a="http://schemas.openxmlformats.org/drawingml/2006/main" noGrp="1"/>
          </p:cNvSpPr>
          <p:nvPr/>
        </p:nvSpPr>
        <p:spPr>
          <a:xfrm xmlns:a="http://schemas.openxmlformats.org/drawingml/2006/main">
            <a:off x="571500" y="3095625"/>
            <a:ext cx="5334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183B4E"/>
                </a:solidFill>
                <a:latin typeface="Arial"/>
                <a:ea typeface="Arial"/>
                <a:cs typeface="Arial"/>
              </a:defRPr>
            </a:defPPr>
          </a:lstStyle>
          <a:p xmlns:a="http://schemas.openxmlformats.org/drawingml/2006/main">
            <a:pPr>
              <a:defRPr sz="2175" b="0">
                <a:solidFill>
                  <a:srgbClr val="183B4E"/>
                </a:solidFill>
                <a:latin typeface="Arial"/>
                <a:ea typeface="Arial"/>
                <a:cs typeface="Arial"/>
              </a:defRPr>
            </a:pPr>
            <a:r>
              <a:rPr sz="2175" b="0">
                <a:solidFill>
                  <a:srgbClr val="183B4E"/>
                </a:solidFill>
                <a:latin typeface="Arial"/>
                <a:ea typeface="Arial"/>
                <a:cs typeface="Arial"/>
              </a:rPr>
              <a:t>Varias celdas pueden compartir</a:t>
            </a:r>
          </a:p>
          <a:p xmlns:a="http://schemas.openxmlformats.org/drawingml/2006/main">
            <a:pPr>
              <a:defRPr sz="2175" b="0">
                <a:solidFill>
                  <a:srgbClr val="183B4E"/>
                </a:solidFill>
                <a:latin typeface="Arial"/>
                <a:ea typeface="Arial"/>
                <a:cs typeface="Arial"/>
              </a:defRPr>
            </a:pPr>
            <a:r>
              <a:rPr sz="2175" b="0">
                <a:solidFill>
                  <a:srgbClr val="183B4E"/>
                </a:solidFill>
                <a:latin typeface="Arial"/>
                <a:ea typeface="Arial"/>
                <a:cs typeface="Arial"/>
              </a:rPr>
              <a:t>un píxel climático nativo</a:t>
            </a:r>
          </a:p>
        </p:txBody>
      </p:sp>
      <p:graphicFrame>
        <p:nvGraphicFramePr>
          <p:cNvPr id="6" name="">
            <a:extLst xmlns:a="http://schemas.openxmlformats.org/drawingml/2006/main">
              <a:ext uri="{FF2B5EF4-FFF2-40B4-BE49-F238E27FC236}">
                <a16:creationId xmlns:a16="http://schemas.microsoft.com/office/drawing/2014/main" id="{0344F94E-36C2-4270-A035-307A51E12DB8}"/>
              </a:ext>
            </a:extLst>
          </p:cNvPr>
          <p:cNvGraphicFramePr/>
          <p:nvPr/>
        </p:nvGraphicFramePr>
        <p:xfrm>
          <a:off xmlns:a="http://schemas.openxmlformats.org/drawingml/2006/main" x="6286500" y="1638300"/>
          <a:ext xmlns:a="http://schemas.openxmlformats.org/drawingml/2006/main" cx="5238750" cy="3152775"/>
        </p:xfrm>
        <a:graphic xmlns:a="http://schemas.openxmlformats.org/drawingml/2006/main">
          <a:graphicData uri="http://schemas.openxmlformats.org/drawingml/2006/table">
            <a:tbl>
              <a:tblPr/>
              <a:tblGrid>
                <a:gridCol w="2047875"/>
                <a:gridCol w="3190875"/>
              </a:tblGrid>
              <a:tr h="630555">
                <a:tc>
                  <a:txBody>
                    <a:bodyPr/>
                    <a:lstStyle/>
                    <a:p>
                      <a:r>
                        <a:rPr sz="1725" b="1">
                          <a:solidFill>
                            <a:srgbClr val="FFFFFF"/>
                          </a:solidFill>
                          <a:latin typeface="Arial"/>
                          <a:ea typeface="Arial"/>
                          <a:cs typeface="Arial"/>
                        </a:rPr>
                        <a:t>Paso</a:t>
                      </a:r>
                    </a:p>
                  </a:txBody>
                  <a:tcPr marL="91440" marR="91440" marT="45720" marB="45720">
                    <a:solidFill>
                      <a:srgbClr val="102A43"/>
                    </a:solidFill>
                  </a:tcPr>
                </a:tc>
                <a:tc>
                  <a:txBody>
                    <a:bodyPr/>
                    <a:lstStyle/>
                    <a:p>
                      <a:r>
                        <a:rPr sz="1725" b="1">
                          <a:solidFill>
                            <a:srgbClr val="FFFFFF"/>
                          </a:solidFill>
                          <a:latin typeface="Arial"/>
                          <a:ea typeface="Arial"/>
                          <a:cs typeface="Arial"/>
                        </a:rPr>
                        <a:t>Tratamiento</a:t>
                      </a:r>
                    </a:p>
                  </a:txBody>
                  <a:tcPr marL="91440" marR="91440" marT="45720" marB="45720">
                    <a:solidFill>
                      <a:srgbClr val="102A43"/>
                    </a:solidFill>
                  </a:tcPr>
                </a:tc>
              </a:tr>
              <a:tr h="630555">
                <a:tc>
                  <a:txBody>
                    <a:bodyPr/>
                    <a:lstStyle/>
                    <a:p>
                      <a:r>
                        <a:rPr sz="1725" b="0">
                          <a:solidFill>
                            <a:srgbClr val="183B4E"/>
                          </a:solidFill>
                          <a:latin typeface="Arial"/>
                          <a:ea typeface="Arial"/>
                          <a:cs typeface="Arial"/>
                        </a:rPr>
                        <a:t>Horas SSRD</a:t>
                      </a:r>
                    </a:p>
                  </a:txBody>
                  <a:tcPr marL="91440" marR="91440" marT="45720" marB="45720">
                    <a:solidFill>
                      <a:srgbClr val="FFFFFF"/>
                    </a:solidFill>
                  </a:tcPr>
                </a:tc>
                <a:tc>
                  <a:txBody>
                    <a:bodyPr/>
                    <a:lstStyle/>
                    <a:p>
                      <a:r>
                        <a:rPr sz="1725" b="0">
                          <a:solidFill>
                            <a:srgbClr val="183B4E"/>
                          </a:solidFill>
                          <a:latin typeface="Arial"/>
                          <a:ea typeface="Arial"/>
                          <a:cs typeface="Arial"/>
                        </a:rPr>
                        <a:t>J/m² ÷ 3.600.000</a:t>
                      </a:r>
                    </a:p>
                  </a:txBody>
                  <a:tcPr marL="91440" marR="91440" marT="45720" marB="45720">
                    <a:solidFill>
                      <a:srgbClr val="FFFFFF"/>
                    </a:solidFill>
                  </a:tcPr>
                </a:tc>
              </a:tr>
              <a:tr h="630555">
                <a:tc>
                  <a:txBody>
                    <a:bodyPr/>
                    <a:lstStyle/>
                    <a:p>
                      <a:r>
                        <a:rPr sz="1725" b="0">
                          <a:solidFill>
                            <a:srgbClr val="183B4E"/>
                          </a:solidFill>
                          <a:latin typeface="Arial"/>
                          <a:ea typeface="Arial"/>
                          <a:cs typeface="Arial"/>
                        </a:rPr>
                        <a:t>Mes completo</a:t>
                      </a:r>
                    </a:p>
                  </a:txBody>
                  <a:tcPr marL="91440" marR="91440" marT="45720" marB="45720">
                    <a:solidFill>
                      <a:srgbClr val="EEF5F5"/>
                    </a:solidFill>
                  </a:tcPr>
                </a:tc>
                <a:tc>
                  <a:txBody>
                    <a:bodyPr/>
                    <a:lstStyle/>
                    <a:p>
                      <a:r>
                        <a:rPr sz="1725" b="0">
                          <a:solidFill>
                            <a:srgbClr val="183B4E"/>
                          </a:solidFill>
                          <a:latin typeface="Arial"/>
                          <a:ea typeface="Arial"/>
                          <a:cs typeface="Arial"/>
                        </a:rPr>
                        <a:t>100% de horas válidas</a:t>
                      </a:r>
                    </a:p>
                  </a:txBody>
                  <a:tcPr marL="91440" marR="91440" marT="45720" marB="45720">
                    <a:solidFill>
                      <a:srgbClr val="EEF5F5"/>
                    </a:solidFill>
                  </a:tcPr>
                </a:tc>
              </a:tr>
              <a:tr h="630555">
                <a:tc>
                  <a:txBody>
                    <a:bodyPr/>
                    <a:lstStyle/>
                    <a:p>
                      <a:r>
                        <a:rPr sz="1725" b="0">
                          <a:solidFill>
                            <a:srgbClr val="183B4E"/>
                          </a:solidFill>
                          <a:latin typeface="Arial"/>
                          <a:ea typeface="Arial"/>
                          <a:cs typeface="Arial"/>
                        </a:rPr>
                        <a:t>Media interanual</a:t>
                      </a:r>
                    </a:p>
                  </a:txBody>
                  <a:tcPr marL="91440" marR="91440" marT="45720" marB="45720">
                    <a:solidFill>
                      <a:srgbClr val="FFFFFF"/>
                    </a:solidFill>
                  </a:tcPr>
                </a:tc>
                <a:tc>
                  <a:txBody>
                    <a:bodyPr/>
                    <a:lstStyle/>
                    <a:p>
                      <a:r>
                        <a:rPr sz="1725" b="0">
                          <a:solidFill>
                            <a:srgbClr val="183B4E"/>
                          </a:solidFill>
                          <a:latin typeface="Arial"/>
                          <a:ea typeface="Arial"/>
                          <a:cs typeface="Arial"/>
                        </a:rPr>
                        <a:t>Enero, abril, julio, octubre</a:t>
                      </a:r>
                    </a:p>
                  </a:txBody>
                  <a:tcPr marL="91440" marR="91440" marT="45720" marB="45720">
                    <a:solidFill>
                      <a:srgbClr val="FFFFFF"/>
                    </a:solidFill>
                  </a:tcPr>
                </a:tc>
              </a:tr>
              <a:tr h="630555">
                <a:tc>
                  <a:txBody>
                    <a:bodyPr/>
                    <a:lstStyle/>
                    <a:p>
                      <a:r>
                        <a:rPr sz="1725" b="0">
                          <a:solidFill>
                            <a:srgbClr val="183B4E"/>
                          </a:solidFill>
                          <a:latin typeface="Arial"/>
                          <a:ea typeface="Arial"/>
                          <a:cs typeface="Arial"/>
                        </a:rPr>
                        <a:t>Estimación anual</a:t>
                      </a:r>
                    </a:p>
                  </a:txBody>
                  <a:tcPr marL="91440" marR="91440" marT="45720" marB="45720">
                    <a:solidFill>
                      <a:srgbClr val="EEF5F5"/>
                    </a:solidFill>
                  </a:tcPr>
                </a:tc>
                <a:tc>
                  <a:txBody>
                    <a:bodyPr/>
                    <a:lstStyle/>
                    <a:p>
                      <a:r>
                        <a:rPr sz="1725" b="0">
                          <a:solidFill>
                            <a:srgbClr val="183B4E"/>
                          </a:solidFill>
                          <a:latin typeface="Arial"/>
                          <a:ea typeface="Arial"/>
                          <a:cs typeface="Arial"/>
                        </a:rPr>
                        <a:t>Media diaria × días de estación</a:t>
                      </a:r>
                    </a:p>
                  </a:txBody>
                  <a:tcPr marL="91440" marR="91440" marT="45720" marB="45720">
                    <a:solidFill>
                      <a:srgbClr val="EEF5F5"/>
                    </a:solidFill>
                  </a:tcPr>
                </a:tc>
              </a:tr>
            </a:tbl>
          </a:graphicData>
        </a:graphic>
      </p:graphicFrame>
      <p:sp>
        <p:nvSpPr>
          <p:cNvPr id="7" name="">
            <a:extLst xmlns:a="http://schemas.openxmlformats.org/drawingml/2006/main">
              <a:ext uri="{FF2B5EF4-FFF2-40B4-BE49-F238E27FC236}">
                <a16:creationId xmlns:a16="http://schemas.microsoft.com/office/drawing/2014/main" id="{E39A306B-F04F-46C7-B40D-549ECA27DF81}"/>
              </a:ext>
            </a:extLst>
          </p:cNvPr>
          <p:cNvSpPr>
            <a:spLocks xmlns:a="http://schemas.openxmlformats.org/drawingml/2006/main" noGrp="1"/>
          </p:cNvSpPr>
          <p:nvPr/>
        </p:nvSpPr>
        <p:spPr>
          <a:xfrm xmlns:a="http://schemas.openxmlformats.org/drawingml/2006/main">
            <a:off x="571500" y="507682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02A43"/>
                </a:solidFill>
                <a:latin typeface="Arial"/>
                <a:ea typeface="Arial"/>
                <a:cs typeface="Arial"/>
              </a:defRPr>
            </a:defPPr>
          </a:lstStyle>
          <a:p xmlns:a="http://schemas.openxmlformats.org/drawingml/2006/main">
            <a:pPr>
              <a:defRPr sz="2325" b="1">
                <a:solidFill>
                  <a:srgbClr val="102A43"/>
                </a:solidFill>
                <a:latin typeface="Arial"/>
                <a:ea typeface="Arial"/>
                <a:cs typeface="Arial"/>
              </a:defRPr>
            </a:pPr>
            <a:r>
              <a:rPr sz="2325" b="1">
                <a:solidFill>
                  <a:srgbClr val="102A43"/>
                </a:solidFill>
                <a:latin typeface="Arial"/>
                <a:ea typeface="Arial"/>
                <a:cs typeface="Arial"/>
              </a:rPr>
              <a:t>500 m de grilla no equivale a 500 m</a:t>
            </a:r>
          </a:p>
          <a:p xmlns:a="http://schemas.openxmlformats.org/drawingml/2006/main">
            <a:pPr>
              <a:defRPr sz="2325" b="1">
                <a:solidFill>
                  <a:srgbClr val="102A43"/>
                </a:solidFill>
                <a:latin typeface="Arial"/>
                <a:ea typeface="Arial"/>
                <a:cs typeface="Arial"/>
              </a:defRPr>
            </a:pPr>
            <a:r>
              <a:rPr sz="2325" b="1">
                <a:solidFill>
                  <a:srgbClr val="102A43"/>
                </a:solidFill>
                <a:latin typeface="Arial"/>
                <a:ea typeface="Arial"/>
                <a:cs typeface="Arial"/>
              </a:rPr>
              <a:t>de resolución climática</a:t>
            </a:r>
          </a:p>
        </p:txBody>
      </p:sp>
    </p:spTree>
    <p:extLst>
      <p:ext uri="{BB962C8B-B14F-4D97-AF65-F5344CB8AC3E}">
        <p14:creationId xmlns:p14="http://schemas.microsoft.com/office/powerpoint/2010/main" val="16648236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6C054C5-074B-435C-B31A-545BD8805F94}"/>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Preparación y persistencia</a:t>
            </a:r>
          </a:p>
        </p:txBody>
      </p:sp>
      <p:sp>
        <p:nvSpPr>
          <p:cNvPr id="2" name="">
            <a:extLst xmlns:a="http://schemas.openxmlformats.org/drawingml/2006/main">
              <a:ext uri="{FF2B5EF4-FFF2-40B4-BE49-F238E27FC236}">
                <a16:creationId xmlns:a16="http://schemas.microsoft.com/office/drawing/2014/main" id="{461D479E-09C7-4FCE-B61B-A6E7A5F412A9}"/>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DE1ABB23-4561-4678-B67E-07A95C0CF63C}"/>
              </a:ext>
            </a:extLst>
          </p:cNvPr>
          <p:cNvSpPr>
            <a:spLocks xmlns:a="http://schemas.openxmlformats.org/drawingml/2006/main" noGrp="1"/>
          </p:cNvSpPr>
          <p:nvPr/>
        </p:nvSpPr>
        <p:spPr>
          <a:xfrm xmlns:a="http://schemas.openxmlformats.org/drawingml/2006/main">
            <a:off x="571500" y="1752600"/>
            <a:ext cx="228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650" b="1">
                <a:solidFill>
                  <a:srgbClr val="C7902C"/>
                </a:solidFill>
                <a:latin typeface="Arial"/>
                <a:ea typeface="Arial"/>
                <a:cs typeface="Arial"/>
              </a:defRPr>
            </a:defPPr>
          </a:lstStyle>
          <a:p xmlns:a="http://schemas.openxmlformats.org/drawingml/2006/main">
            <a:pPr>
              <a:defRPr sz="4650" b="1">
                <a:solidFill>
                  <a:srgbClr val="C7902C"/>
                </a:solidFill>
                <a:latin typeface="Arial"/>
                <a:ea typeface="Arial"/>
                <a:cs typeface="Arial"/>
              </a:defRPr>
            </a:pPr>
            <a:r>
              <a:rPr sz="4650" b="1">
                <a:solidFill>
                  <a:srgbClr val="C7902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ABE821A-183A-4879-A90D-C26CAB63D7B1}"/>
              </a:ext>
            </a:extLst>
          </p:cNvPr>
          <p:cNvSpPr>
            <a:spLocks xmlns:a="http://schemas.openxmlformats.org/drawingml/2006/main" noGrp="1"/>
          </p:cNvSpPr>
          <p:nvPr/>
        </p:nvSpPr>
        <p:spPr>
          <a:xfrm xmlns:a="http://schemas.openxmlformats.org/drawingml/2006/main">
            <a:off x="571500" y="285750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02A43"/>
                </a:solidFill>
                <a:latin typeface="Arial"/>
                <a:ea typeface="Arial"/>
                <a:cs typeface="Arial"/>
              </a:defRPr>
            </a:defPPr>
          </a:lstStyle>
          <a:p xmlns:a="http://schemas.openxmlformats.org/drawingml/2006/main">
            <a:pPr>
              <a:defRPr sz="2325" b="1">
                <a:solidFill>
                  <a:srgbClr val="102A43"/>
                </a:solidFill>
                <a:latin typeface="Arial"/>
                <a:ea typeface="Arial"/>
                <a:cs typeface="Arial"/>
              </a:defRPr>
            </a:pPr>
            <a:r>
              <a:rPr sz="2325" b="1">
                <a:solidFill>
                  <a:srgbClr val="102A43"/>
                </a:solidFill>
                <a:latin typeface="Arial"/>
                <a:ea typeface="Arial"/>
                <a:cs typeface="Arial"/>
              </a:rPr>
              <a:t>Fuentes y caché</a:t>
            </a:r>
          </a:p>
        </p:txBody>
      </p:sp>
      <p:sp>
        <p:nvSpPr>
          <p:cNvPr id="5" name="">
            <a:extLst xmlns:a="http://schemas.openxmlformats.org/drawingml/2006/main">
              <a:ext uri="{FF2B5EF4-FFF2-40B4-BE49-F238E27FC236}">
                <a16:creationId xmlns:a16="http://schemas.microsoft.com/office/drawing/2014/main" id="{C90E4586-02A1-4793-9539-7A517B7267C7}"/>
              </a:ext>
            </a:extLst>
          </p:cNvPr>
          <p:cNvSpPr>
            <a:spLocks xmlns:a="http://schemas.openxmlformats.org/drawingml/2006/main" noGrp="1"/>
          </p:cNvSpPr>
          <p:nvPr/>
        </p:nvSpPr>
        <p:spPr>
          <a:xfrm xmlns:a="http://schemas.openxmlformats.org/drawingml/2006/main">
            <a:off x="571500" y="4000500"/>
            <a:ext cx="2400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183B4E"/>
                </a:solidFill>
                <a:latin typeface="Arial"/>
                <a:ea typeface="Arial"/>
                <a:cs typeface="Arial"/>
              </a:defRPr>
            </a:defPPr>
          </a:lstStyle>
          <a:p xmlns:a="http://schemas.openxmlformats.org/drawingml/2006/main">
            <a:pPr>
              <a:defRPr sz="1875" b="0">
                <a:solidFill>
                  <a:srgbClr val="183B4E"/>
                </a:solidFill>
                <a:latin typeface="Arial"/>
                <a:ea typeface="Arial"/>
                <a:cs typeface="Arial"/>
              </a:defRPr>
            </a:pPr>
            <a:r>
              <a:rPr sz="1875" b="0">
                <a:solidFill>
                  <a:srgbClr val="183B4E"/>
                </a:solidFill>
                <a:latin typeface="Arial"/>
                <a:ea typeface="Arial"/>
                <a:cs typeface="Arial"/>
              </a:rPr>
              <a:t>Capas vectoriales en disco</a:t>
            </a:r>
          </a:p>
          <a:p xmlns:a="http://schemas.openxmlformats.org/drawingml/2006/main">
            <a:pPr>
              <a:defRPr sz="1875" b="0">
                <a:solidFill>
                  <a:srgbClr val="183B4E"/>
                </a:solidFill>
                <a:latin typeface="Arial"/>
                <a:ea typeface="Arial"/>
                <a:cs typeface="Arial"/>
              </a:defRPr>
            </a:pPr>
            <a:r>
              <a:rPr sz="1875" b="0">
                <a:solidFill>
                  <a:srgbClr val="183B4E"/>
                </a:solidFill>
                <a:latin typeface="Arial"/>
                <a:ea typeface="Arial"/>
                <a:cs typeface="Arial"/>
              </a:rPr>
              <a:t>Bloques climáticos NPZ</a:t>
            </a:r>
          </a:p>
        </p:txBody>
      </p:sp>
      <p:sp>
        <p:nvSpPr>
          <p:cNvPr id="6" name="">
            <a:extLst xmlns:a="http://schemas.openxmlformats.org/drawingml/2006/main">
              <a:ext uri="{FF2B5EF4-FFF2-40B4-BE49-F238E27FC236}">
                <a16:creationId xmlns:a16="http://schemas.microsoft.com/office/drawing/2014/main" id="{60E0D06F-E5E6-482A-9B27-DACDA0B5C433}"/>
              </a:ext>
            </a:extLst>
          </p:cNvPr>
          <p:cNvSpPr>
            <a:spLocks xmlns:a="http://schemas.openxmlformats.org/drawingml/2006/main" noGrp="1"/>
          </p:cNvSpPr>
          <p:nvPr/>
        </p:nvSpPr>
        <p:spPr>
          <a:xfrm xmlns:a="http://schemas.openxmlformats.org/drawingml/2006/main">
            <a:off x="3429000" y="1752600"/>
            <a:ext cx="228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650" b="1">
                <a:solidFill>
                  <a:srgbClr val="C7902C"/>
                </a:solidFill>
                <a:latin typeface="Arial"/>
                <a:ea typeface="Arial"/>
                <a:cs typeface="Arial"/>
              </a:defRPr>
            </a:defPPr>
          </a:lstStyle>
          <a:p xmlns:a="http://schemas.openxmlformats.org/drawingml/2006/main">
            <a:pPr>
              <a:defRPr sz="4650" b="1">
                <a:solidFill>
                  <a:srgbClr val="C7902C"/>
                </a:solidFill>
                <a:latin typeface="Arial"/>
                <a:ea typeface="Arial"/>
                <a:cs typeface="Arial"/>
              </a:defRPr>
            </a:pPr>
            <a:r>
              <a:rPr sz="4650" b="1">
                <a:solidFill>
                  <a:srgbClr val="C7902C"/>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71F7A96B-DC66-42B5-ADA8-B758C2D81CD3}"/>
              </a:ext>
            </a:extLst>
          </p:cNvPr>
          <p:cNvSpPr>
            <a:spLocks xmlns:a="http://schemas.openxmlformats.org/drawingml/2006/main" noGrp="1"/>
          </p:cNvSpPr>
          <p:nvPr/>
        </p:nvSpPr>
        <p:spPr>
          <a:xfrm xmlns:a="http://schemas.openxmlformats.org/drawingml/2006/main">
            <a:off x="3429000" y="285750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02A43"/>
                </a:solidFill>
                <a:latin typeface="Arial"/>
                <a:ea typeface="Arial"/>
                <a:cs typeface="Arial"/>
              </a:defRPr>
            </a:defPPr>
          </a:lstStyle>
          <a:p xmlns:a="http://schemas.openxmlformats.org/drawingml/2006/main">
            <a:pPr>
              <a:defRPr sz="2325" b="1">
                <a:solidFill>
                  <a:srgbClr val="102A43"/>
                </a:solidFill>
                <a:latin typeface="Arial"/>
                <a:ea typeface="Arial"/>
                <a:cs typeface="Arial"/>
              </a:defRPr>
            </a:pPr>
            <a:r>
              <a:rPr sz="2325" b="1">
                <a:solidFill>
                  <a:srgbClr val="102A43"/>
                </a:solidFill>
                <a:latin typeface="Arial"/>
                <a:ea typeface="Arial"/>
                <a:cs typeface="Arial"/>
              </a:rPr>
              <a:t>Procesamiento</a:t>
            </a:r>
          </a:p>
        </p:txBody>
      </p:sp>
      <p:sp>
        <p:nvSpPr>
          <p:cNvPr id="8" name="">
            <a:extLst xmlns:a="http://schemas.openxmlformats.org/drawingml/2006/main">
              <a:ext uri="{FF2B5EF4-FFF2-40B4-BE49-F238E27FC236}">
                <a16:creationId xmlns:a16="http://schemas.microsoft.com/office/drawing/2014/main" id="{7B650ED7-7500-4EF3-82DF-543167A7E109}"/>
              </a:ext>
            </a:extLst>
          </p:cNvPr>
          <p:cNvSpPr>
            <a:spLocks xmlns:a="http://schemas.openxmlformats.org/drawingml/2006/main" noGrp="1"/>
          </p:cNvSpPr>
          <p:nvPr/>
        </p:nvSpPr>
        <p:spPr>
          <a:xfrm xmlns:a="http://schemas.openxmlformats.org/drawingml/2006/main">
            <a:off x="3429000" y="4000500"/>
            <a:ext cx="2400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183B4E"/>
                </a:solidFill>
                <a:latin typeface="Arial"/>
                <a:ea typeface="Arial"/>
                <a:cs typeface="Arial"/>
              </a:defRPr>
            </a:defPPr>
          </a:lstStyle>
          <a:p xmlns:a="http://schemas.openxmlformats.org/drawingml/2006/main">
            <a:pPr>
              <a:defRPr sz="1875" b="0">
                <a:solidFill>
                  <a:srgbClr val="183B4E"/>
                </a:solidFill>
                <a:latin typeface="Arial"/>
                <a:ea typeface="Arial"/>
                <a:cs typeface="Arial"/>
              </a:defRPr>
            </a:pPr>
            <a:r>
              <a:rPr sz="1875" b="0">
                <a:solidFill>
                  <a:srgbClr val="183B4E"/>
                </a:solidFill>
                <a:latin typeface="Arial"/>
                <a:ea typeface="Arial"/>
                <a:cs typeface="Arial"/>
              </a:rPr>
              <a:t>Grilla, máscara urbana</a:t>
            </a:r>
          </a:p>
          <a:p xmlns:a="http://schemas.openxmlformats.org/drawingml/2006/main">
            <a:pPr>
              <a:defRPr sz="1875" b="0">
                <a:solidFill>
                  <a:srgbClr val="183B4E"/>
                </a:solidFill>
                <a:latin typeface="Arial"/>
                <a:ea typeface="Arial"/>
                <a:cs typeface="Arial"/>
              </a:defRPr>
            </a:pPr>
            <a:r>
              <a:rPr sz="1875" b="0">
                <a:solidFill>
                  <a:srgbClr val="183B4E"/>
                </a:solidFill>
                <a:latin typeface="Arial"/>
                <a:ea typeface="Arial"/>
                <a:cs typeface="Arial"/>
              </a:rPr>
              <a:t>Clima y vecinos por borde</a:t>
            </a:r>
          </a:p>
        </p:txBody>
      </p:sp>
      <p:sp>
        <p:nvSpPr>
          <p:cNvPr id="9" name="">
            <a:extLst xmlns:a="http://schemas.openxmlformats.org/drawingml/2006/main">
              <a:ext uri="{FF2B5EF4-FFF2-40B4-BE49-F238E27FC236}">
                <a16:creationId xmlns:a16="http://schemas.microsoft.com/office/drawing/2014/main" id="{4DF59C3E-2E34-48A1-88C7-BD6A26919164}"/>
              </a:ext>
            </a:extLst>
          </p:cNvPr>
          <p:cNvSpPr>
            <a:spLocks xmlns:a="http://schemas.openxmlformats.org/drawingml/2006/main" noGrp="1"/>
          </p:cNvSpPr>
          <p:nvPr/>
        </p:nvSpPr>
        <p:spPr>
          <a:xfrm xmlns:a="http://schemas.openxmlformats.org/drawingml/2006/main">
            <a:off x="6286500" y="1752600"/>
            <a:ext cx="228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650" b="1">
                <a:solidFill>
                  <a:srgbClr val="C7902C"/>
                </a:solidFill>
                <a:latin typeface="Arial"/>
                <a:ea typeface="Arial"/>
                <a:cs typeface="Arial"/>
              </a:defRPr>
            </a:defPPr>
          </a:lstStyle>
          <a:p xmlns:a="http://schemas.openxmlformats.org/drawingml/2006/main">
            <a:pPr>
              <a:defRPr sz="4650" b="1">
                <a:solidFill>
                  <a:srgbClr val="C7902C"/>
                </a:solidFill>
                <a:latin typeface="Arial"/>
                <a:ea typeface="Arial"/>
                <a:cs typeface="Arial"/>
              </a:defRPr>
            </a:pPr>
            <a:r>
              <a:rPr sz="4650" b="1">
                <a:solidFill>
                  <a:srgbClr val="C7902C"/>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8B83934A-622D-4990-852C-63593A7ABE74}"/>
              </a:ext>
            </a:extLst>
          </p:cNvPr>
          <p:cNvSpPr>
            <a:spLocks xmlns:a="http://schemas.openxmlformats.org/drawingml/2006/main" noGrp="1"/>
          </p:cNvSpPr>
          <p:nvPr/>
        </p:nvSpPr>
        <p:spPr>
          <a:xfrm xmlns:a="http://schemas.openxmlformats.org/drawingml/2006/main">
            <a:off x="6286500" y="285750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02A43"/>
                </a:solidFill>
                <a:latin typeface="Arial"/>
                <a:ea typeface="Arial"/>
                <a:cs typeface="Arial"/>
              </a:defRPr>
            </a:defPPr>
          </a:lstStyle>
          <a:p xmlns:a="http://schemas.openxmlformats.org/drawingml/2006/main">
            <a:pPr>
              <a:defRPr sz="2325" b="1">
                <a:solidFill>
                  <a:srgbClr val="102A43"/>
                </a:solidFill>
                <a:latin typeface="Arial"/>
                <a:ea typeface="Arial"/>
                <a:cs typeface="Arial"/>
              </a:defRPr>
            </a:pPr>
            <a:r>
              <a:rPr sz="2325" b="1">
                <a:solidFill>
                  <a:srgbClr val="102A43"/>
                </a:solidFill>
                <a:latin typeface="Arial"/>
                <a:ea typeface="Arial"/>
                <a:cs typeface="Arial"/>
              </a:rPr>
              <a:t>Snapshot SQLite</a:t>
            </a:r>
          </a:p>
        </p:txBody>
      </p:sp>
      <p:sp>
        <p:nvSpPr>
          <p:cNvPr id="11" name="">
            <a:extLst xmlns:a="http://schemas.openxmlformats.org/drawingml/2006/main">
              <a:ext uri="{FF2B5EF4-FFF2-40B4-BE49-F238E27FC236}">
                <a16:creationId xmlns:a16="http://schemas.microsoft.com/office/drawing/2014/main" id="{84D07940-AE3A-4B53-8D32-07FB7EFF5B2E}"/>
              </a:ext>
            </a:extLst>
          </p:cNvPr>
          <p:cNvSpPr>
            <a:spLocks xmlns:a="http://schemas.openxmlformats.org/drawingml/2006/main" noGrp="1"/>
          </p:cNvSpPr>
          <p:nvPr/>
        </p:nvSpPr>
        <p:spPr>
          <a:xfrm xmlns:a="http://schemas.openxmlformats.org/drawingml/2006/main">
            <a:off x="6286500" y="4000500"/>
            <a:ext cx="2400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183B4E"/>
                </a:solidFill>
                <a:latin typeface="Arial"/>
                <a:ea typeface="Arial"/>
                <a:cs typeface="Arial"/>
              </a:defRPr>
            </a:defPPr>
          </a:lstStyle>
          <a:p xmlns:a="http://schemas.openxmlformats.org/drawingml/2006/main">
            <a:pPr>
              <a:defRPr sz="1875" b="0">
                <a:solidFill>
                  <a:srgbClr val="183B4E"/>
                </a:solidFill>
                <a:latin typeface="Arial"/>
                <a:ea typeface="Arial"/>
                <a:cs typeface="Arial"/>
              </a:defRPr>
            </a:pPr>
            <a:r>
              <a:rPr sz="1875" b="0">
                <a:solidFill>
                  <a:srgbClr val="183B4E"/>
                </a:solidFill>
                <a:latin typeface="Arial"/>
                <a:ea typeface="Arial"/>
                <a:cs typeface="Arial"/>
              </a:rPr>
              <a:t>Celdas y geometrías</a:t>
            </a:r>
          </a:p>
          <a:p xmlns:a="http://schemas.openxmlformats.org/drawingml/2006/main">
            <a:pPr>
              <a:defRPr sz="1875" b="0">
                <a:solidFill>
                  <a:srgbClr val="183B4E"/>
                </a:solidFill>
                <a:latin typeface="Arial"/>
                <a:ea typeface="Arial"/>
                <a:cs typeface="Arial"/>
              </a:defRPr>
            </a:pPr>
            <a:r>
              <a:rPr sz="1875" b="0">
                <a:solidFill>
                  <a:srgbClr val="183B4E"/>
                </a:solidFill>
                <a:latin typeface="Arial"/>
                <a:ea typeface="Arial"/>
                <a:cs typeface="Arial"/>
              </a:rPr>
              <a:t>ID basado en contenido</a:t>
            </a:r>
          </a:p>
        </p:txBody>
      </p:sp>
      <p:sp>
        <p:nvSpPr>
          <p:cNvPr id="12" name="">
            <a:extLst xmlns:a="http://schemas.openxmlformats.org/drawingml/2006/main">
              <a:ext uri="{FF2B5EF4-FFF2-40B4-BE49-F238E27FC236}">
                <a16:creationId xmlns:a16="http://schemas.microsoft.com/office/drawing/2014/main" id="{DA58E118-49E8-44F7-A41B-846AE2089F95}"/>
              </a:ext>
            </a:extLst>
          </p:cNvPr>
          <p:cNvSpPr>
            <a:spLocks xmlns:a="http://schemas.openxmlformats.org/drawingml/2006/main" noGrp="1"/>
          </p:cNvSpPr>
          <p:nvPr/>
        </p:nvSpPr>
        <p:spPr>
          <a:xfrm xmlns:a="http://schemas.openxmlformats.org/drawingml/2006/main">
            <a:off x="9144000" y="1752600"/>
            <a:ext cx="228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650" b="1">
                <a:solidFill>
                  <a:srgbClr val="C7902C"/>
                </a:solidFill>
                <a:latin typeface="Arial"/>
                <a:ea typeface="Arial"/>
                <a:cs typeface="Arial"/>
              </a:defRPr>
            </a:defPPr>
          </a:lstStyle>
          <a:p xmlns:a="http://schemas.openxmlformats.org/drawingml/2006/main">
            <a:pPr>
              <a:defRPr sz="4650" b="1">
                <a:solidFill>
                  <a:srgbClr val="C7902C"/>
                </a:solidFill>
                <a:latin typeface="Arial"/>
                <a:ea typeface="Arial"/>
                <a:cs typeface="Arial"/>
              </a:defRPr>
            </a:pPr>
            <a:r>
              <a:rPr sz="4650" b="1">
                <a:solidFill>
                  <a:srgbClr val="C7902C"/>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D2A1C233-23FF-4F35-AED7-92D3D1E87BCA}"/>
              </a:ext>
            </a:extLst>
          </p:cNvPr>
          <p:cNvSpPr>
            <a:spLocks xmlns:a="http://schemas.openxmlformats.org/drawingml/2006/main" noGrp="1"/>
          </p:cNvSpPr>
          <p:nvPr/>
        </p:nvSpPr>
        <p:spPr>
          <a:xfrm xmlns:a="http://schemas.openxmlformats.org/drawingml/2006/main">
            <a:off x="9144000" y="285750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02A43"/>
                </a:solidFill>
                <a:latin typeface="Arial"/>
                <a:ea typeface="Arial"/>
                <a:cs typeface="Arial"/>
              </a:defRPr>
            </a:defPPr>
          </a:lstStyle>
          <a:p xmlns:a="http://schemas.openxmlformats.org/drawingml/2006/main">
            <a:pPr>
              <a:defRPr sz="2325" b="1">
                <a:solidFill>
                  <a:srgbClr val="102A43"/>
                </a:solidFill>
                <a:latin typeface="Arial"/>
                <a:ea typeface="Arial"/>
                <a:cs typeface="Arial"/>
              </a:defRPr>
            </a:pPr>
            <a:r>
              <a:rPr sz="2325" b="1">
                <a:solidFill>
                  <a:srgbClr val="102A43"/>
                </a:solidFill>
                <a:latin typeface="Arial"/>
                <a:ea typeface="Arial"/>
                <a:cs typeface="Arial"/>
              </a:rPr>
              <a:t>Optimización local</a:t>
            </a:r>
          </a:p>
        </p:txBody>
      </p:sp>
      <p:sp>
        <p:nvSpPr>
          <p:cNvPr id="14" name="">
            <a:extLst xmlns:a="http://schemas.openxmlformats.org/drawingml/2006/main">
              <a:ext uri="{FF2B5EF4-FFF2-40B4-BE49-F238E27FC236}">
                <a16:creationId xmlns:a16="http://schemas.microsoft.com/office/drawing/2014/main" id="{B4C4FA9A-78EB-4E32-9A7B-1B5C2CB00855}"/>
              </a:ext>
            </a:extLst>
          </p:cNvPr>
          <p:cNvSpPr>
            <a:spLocks xmlns:a="http://schemas.openxmlformats.org/drawingml/2006/main" noGrp="1"/>
          </p:cNvSpPr>
          <p:nvPr/>
        </p:nvSpPr>
        <p:spPr>
          <a:xfrm xmlns:a="http://schemas.openxmlformats.org/drawingml/2006/main">
            <a:off x="9144000" y="4000500"/>
            <a:ext cx="2400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183B4E"/>
                </a:solidFill>
                <a:latin typeface="Arial"/>
                <a:ea typeface="Arial"/>
                <a:cs typeface="Arial"/>
              </a:defRPr>
            </a:defPPr>
          </a:lstStyle>
          <a:p xmlns:a="http://schemas.openxmlformats.org/drawingml/2006/main">
            <a:pPr>
              <a:defRPr sz="1875" b="0">
                <a:solidFill>
                  <a:srgbClr val="183B4E"/>
                </a:solidFill>
                <a:latin typeface="Arial"/>
                <a:ea typeface="Arial"/>
                <a:cs typeface="Arial"/>
              </a:defRPr>
            </a:pPr>
            <a:r>
              <a:rPr sz="1875" b="0">
                <a:solidFill>
                  <a:srgbClr val="183B4E"/>
                </a:solidFill>
                <a:latin typeface="Arial"/>
                <a:ea typeface="Arial"/>
                <a:cs typeface="Arial"/>
              </a:rPr>
              <a:t>Población y fitness</a:t>
            </a:r>
          </a:p>
          <a:p xmlns:a="http://schemas.openxmlformats.org/drawingml/2006/main">
            <a:pPr>
              <a:defRPr sz="1875" b="0">
                <a:solidFill>
                  <a:srgbClr val="183B4E"/>
                </a:solidFill>
                <a:latin typeface="Arial"/>
                <a:ea typeface="Arial"/>
                <a:cs typeface="Arial"/>
              </a:defRPr>
            </a:pPr>
            <a:r>
              <a:rPr sz="1875" b="0">
                <a:solidFill>
                  <a:srgbClr val="183B4E"/>
                </a:solidFill>
                <a:latin typeface="Arial"/>
                <a:ea typeface="Arial"/>
                <a:cs typeface="Arial"/>
              </a:rPr>
              <a:t>CSV, GeoJSON y HTML</a:t>
            </a:r>
          </a:p>
        </p:txBody>
      </p:sp>
      <p:sp>
        <p:nvSpPr>
          <p:cNvPr id="15" name="">
            <a:extLst xmlns:a="http://schemas.openxmlformats.org/drawingml/2006/main">
              <a:ext uri="{FF2B5EF4-FFF2-40B4-BE49-F238E27FC236}">
                <a16:creationId xmlns:a16="http://schemas.microsoft.com/office/drawing/2014/main" id="{EF0B51BC-9602-4443-A8AB-2386125489C4}"/>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defRPr sz="1575" b="0">
                <a:solidFill>
                  <a:srgbClr val="526778"/>
                </a:solidFill>
                <a:latin typeface="Arial"/>
                <a:ea typeface="Arial"/>
                <a:cs typeface="Arial"/>
              </a:defRPr>
            </a:pPr>
            <a:r>
              <a:rPr sz="1575" b="0">
                <a:solidFill>
                  <a:srgbClr val="526778"/>
                </a:solidFill>
                <a:latin typeface="Arial"/>
                <a:ea typeface="Arial"/>
                <a:cs typeface="Arial"/>
              </a:rPr>
              <a:t>Las consultas externas terminan antes del bucle de generaciones</a:t>
            </a:r>
          </a:p>
        </p:txBody>
      </p:sp>
    </p:spTree>
    <p:extLst>
      <p:ext uri="{BB962C8B-B14F-4D97-AF65-F5344CB8AC3E}">
        <p14:creationId xmlns:p14="http://schemas.microsoft.com/office/powerpoint/2010/main" val="16699423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59E06B0-E921-49AD-AD63-F782DDE35EFD}"/>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Caché, validación y trazabilidad</a:t>
            </a:r>
          </a:p>
        </p:txBody>
      </p:sp>
      <p:sp>
        <p:nvSpPr>
          <p:cNvPr id="2" name="">
            <a:extLst xmlns:a="http://schemas.openxmlformats.org/drawingml/2006/main">
              <a:ext uri="{FF2B5EF4-FFF2-40B4-BE49-F238E27FC236}">
                <a16:creationId xmlns:a16="http://schemas.microsoft.com/office/drawing/2014/main" id="{26482317-7447-4501-9A27-F489E9D001F0}"/>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6BFC6BBE-DF29-4FC1-A4D6-843686BF325A}"/>
              </a:ext>
            </a:extLst>
          </p:cNvPr>
          <p:cNvGraphicFramePr/>
          <p:nvPr/>
        </p:nvGraphicFramePr>
        <p:xfrm>
          <a:off xmlns:a="http://schemas.openxmlformats.org/drawingml/2006/main" x="571500" y="1724025"/>
          <a:ext xmlns:a="http://schemas.openxmlformats.org/drawingml/2006/main" cx="11049000" cy="3381375"/>
        </p:xfrm>
        <a:graphic xmlns:a="http://schemas.openxmlformats.org/drawingml/2006/main">
          <a:graphicData uri="http://schemas.openxmlformats.org/drawingml/2006/table">
            <a:tbl>
              <a:tblPr/>
              <a:tblGrid>
                <a:gridCol w="2762250"/>
                <a:gridCol w="3714750"/>
                <a:gridCol w="4572000"/>
              </a:tblGrid>
              <a:tr h="676275">
                <a:tc>
                  <a:txBody>
                    <a:bodyPr/>
                    <a:lstStyle/>
                    <a:p>
                      <a:r>
                        <a:rPr sz="1800" b="1">
                          <a:solidFill>
                            <a:srgbClr val="FFFFFF"/>
                          </a:solidFill>
                          <a:latin typeface="Arial"/>
                          <a:ea typeface="Arial"/>
                          <a:cs typeface="Arial"/>
                        </a:rPr>
                        <a:t>Mecanismo</a:t>
                      </a:r>
                    </a:p>
                  </a:txBody>
                  <a:tcPr marL="91440" marR="91440" marT="45720" marB="45720">
                    <a:solidFill>
                      <a:srgbClr val="102A43"/>
                    </a:solidFill>
                  </a:tcPr>
                </a:tc>
                <a:tc>
                  <a:txBody>
                    <a:bodyPr/>
                    <a:lstStyle/>
                    <a:p>
                      <a:r>
                        <a:rPr sz="1800" b="1">
                          <a:solidFill>
                            <a:srgbClr val="FFFFFF"/>
                          </a:solidFill>
                          <a:latin typeface="Arial"/>
                          <a:ea typeface="Arial"/>
                          <a:cs typeface="Arial"/>
                        </a:rPr>
                        <a:t>Qué reutiliza</a:t>
                      </a:r>
                    </a:p>
                  </a:txBody>
                  <a:tcPr marL="91440" marR="91440" marT="45720" marB="45720">
                    <a:solidFill>
                      <a:srgbClr val="102A43"/>
                    </a:solidFill>
                  </a:tcPr>
                </a:tc>
                <a:tc>
                  <a:txBody>
                    <a:bodyPr/>
                    <a:lstStyle/>
                    <a:p>
                      <a:r>
                        <a:rPr sz="1800" b="1">
                          <a:solidFill>
                            <a:srgbClr val="FFFFFF"/>
                          </a:solidFill>
                          <a:latin typeface="Arial"/>
                          <a:ea typeface="Arial"/>
                          <a:cs typeface="Arial"/>
                        </a:rPr>
                        <a:t>Cómo mantiene coherencia</a:t>
                      </a:r>
                    </a:p>
                  </a:txBody>
                  <a:tcPr marL="91440" marR="91440" marT="45720" marB="45720">
                    <a:solidFill>
                      <a:srgbClr val="102A43"/>
                    </a:solidFill>
                  </a:tcPr>
                </a:tc>
              </a:tr>
              <a:tr h="676275">
                <a:tc>
                  <a:txBody>
                    <a:bodyPr/>
                    <a:lstStyle/>
                    <a:p>
                      <a:r>
                        <a:rPr sz="1800" b="0">
                          <a:solidFill>
                            <a:srgbClr val="183B4E"/>
                          </a:solidFill>
                          <a:latin typeface="Arial"/>
                          <a:ea typeface="Arial"/>
                          <a:cs typeface="Arial"/>
                        </a:rPr>
                        <a:t>Caché de capas</a:t>
                      </a:r>
                    </a:p>
                  </a:txBody>
                  <a:tcPr marL="91440" marR="91440" marT="45720" marB="45720">
                    <a:solidFill>
                      <a:srgbClr val="FFFFFF"/>
                    </a:solidFill>
                  </a:tcPr>
                </a:tc>
                <a:tc>
                  <a:txBody>
                    <a:bodyPr/>
                    <a:lstStyle/>
                    <a:p>
                      <a:r>
                        <a:rPr sz="1800" b="0">
                          <a:solidFill>
                            <a:srgbClr val="183B4E"/>
                          </a:solidFill>
                          <a:latin typeface="Arial"/>
                          <a:ea typeface="Arial"/>
                          <a:cs typeface="Arial"/>
                        </a:rPr>
                        <a:t>Descargas vectoriales</a:t>
                      </a:r>
                    </a:p>
                  </a:txBody>
                  <a:tcPr marL="91440" marR="91440" marT="45720" marB="45720">
                    <a:solidFill>
                      <a:srgbClr val="FFFFFF"/>
                    </a:solidFill>
                  </a:tcPr>
                </a:tc>
                <a:tc>
                  <a:txBody>
                    <a:bodyPr/>
                    <a:lstStyle/>
                    <a:p>
                      <a:r>
                        <a:rPr sz="1800" b="0">
                          <a:solidFill>
                            <a:srgbClr val="183B4E"/>
                          </a:solidFill>
                          <a:latin typeface="Arial"/>
                          <a:ea typeface="Arial"/>
                          <a:cs typeface="Arial"/>
                        </a:rPr>
                        <a:t>Fuente, fecha y huella INDEC</a:t>
                      </a:r>
                    </a:p>
                  </a:txBody>
                  <a:tcPr marL="91440" marR="91440" marT="45720" marB="45720">
                    <a:solidFill>
                      <a:srgbClr val="FFFFFF"/>
                    </a:solidFill>
                  </a:tcPr>
                </a:tc>
              </a:tr>
              <a:tr h="676275">
                <a:tc>
                  <a:txBody>
                    <a:bodyPr/>
                    <a:lstStyle/>
                    <a:p>
                      <a:r>
                        <a:rPr sz="1800" b="0">
                          <a:solidFill>
                            <a:srgbClr val="183B4E"/>
                          </a:solidFill>
                          <a:latin typeface="Arial"/>
                          <a:ea typeface="Arial"/>
                          <a:cs typeface="Arial"/>
                        </a:rPr>
                        <a:t>Caché ARCO</a:t>
                      </a:r>
                    </a:p>
                  </a:txBody>
                  <a:tcPr marL="91440" marR="91440" marT="45720" marB="45720">
                    <a:solidFill>
                      <a:srgbClr val="EEF5F5"/>
                    </a:solidFill>
                  </a:tcPr>
                </a:tc>
                <a:tc>
                  <a:txBody>
                    <a:bodyPr/>
                    <a:lstStyle/>
                    <a:p>
                      <a:r>
                        <a:rPr sz="1800" b="0">
                          <a:solidFill>
                            <a:srgbClr val="183B4E"/>
                          </a:solidFill>
                          <a:latin typeface="Arial"/>
                          <a:ea typeface="Arial"/>
                          <a:cs typeface="Arial"/>
                        </a:rPr>
                        <a:t>Bloques y meses climáticos</a:t>
                      </a:r>
                    </a:p>
                  </a:txBody>
                  <a:tcPr marL="91440" marR="91440" marT="45720" marB="45720">
                    <a:solidFill>
                      <a:srgbClr val="EEF5F5"/>
                    </a:solidFill>
                  </a:tcPr>
                </a:tc>
                <a:tc>
                  <a:txBody>
                    <a:bodyPr/>
                    <a:lstStyle/>
                    <a:p>
                      <a:r>
                        <a:rPr sz="1800" b="0">
                          <a:solidFill>
                            <a:srgbClr val="183B4E"/>
                          </a:solidFill>
                          <a:latin typeface="Arial"/>
                          <a:ea typeface="Arial"/>
                          <a:cs typeface="Arial"/>
                        </a:rPr>
                        <a:t>Consulta períodos faltantes</a:t>
                      </a:r>
                    </a:p>
                  </a:txBody>
                  <a:tcPr marL="91440" marR="91440" marT="45720" marB="45720">
                    <a:solidFill>
                      <a:srgbClr val="EEF5F5"/>
                    </a:solidFill>
                  </a:tcPr>
                </a:tc>
              </a:tr>
              <a:tr h="676275">
                <a:tc>
                  <a:txBody>
                    <a:bodyPr/>
                    <a:lstStyle/>
                    <a:p>
                      <a:r>
                        <a:rPr sz="1800" b="0">
                          <a:solidFill>
                            <a:srgbClr val="183B4E"/>
                          </a:solidFill>
                          <a:latin typeface="Arial"/>
                          <a:ea typeface="Arial"/>
                          <a:cs typeface="Arial"/>
                        </a:rPr>
                        <a:t>Snapshot SQLite</a:t>
                      </a:r>
                    </a:p>
                  </a:txBody>
                  <a:tcPr marL="91440" marR="91440" marT="45720" marB="45720">
                    <a:solidFill>
                      <a:srgbClr val="FFFFFF"/>
                    </a:solidFill>
                  </a:tcPr>
                </a:tc>
                <a:tc>
                  <a:txBody>
                    <a:bodyPr/>
                    <a:lstStyle/>
                    <a:p>
                      <a:r>
                        <a:rPr sz="1800" b="0">
                          <a:solidFill>
                            <a:srgbClr val="183B4E"/>
                          </a:solidFill>
                          <a:latin typeface="Arial"/>
                          <a:ea typeface="Arial"/>
                          <a:cs typeface="Arial"/>
                        </a:rPr>
                        <a:t>Dataset preparado</a:t>
                      </a:r>
                    </a:p>
                  </a:txBody>
                  <a:tcPr marL="91440" marR="91440" marT="45720" marB="45720">
                    <a:solidFill>
                      <a:srgbClr val="FFFFFF"/>
                    </a:solidFill>
                  </a:tcPr>
                </a:tc>
                <a:tc>
                  <a:txBody>
                    <a:bodyPr/>
                    <a:lstStyle/>
                    <a:p>
                      <a:r>
                        <a:rPr sz="1800" b="0">
                          <a:solidFill>
                            <a:srgbClr val="183B4E"/>
                          </a:solidFill>
                          <a:latin typeface="Arial"/>
                          <a:ea typeface="Arial"/>
                          <a:cs typeface="Arial"/>
                        </a:rPr>
                        <a:t>Identificador de contenido</a:t>
                      </a:r>
                    </a:p>
                  </a:txBody>
                  <a:tcPr marL="91440" marR="91440" marT="45720" marB="45720">
                    <a:solidFill>
                      <a:srgbClr val="FFFFFF"/>
                    </a:solidFill>
                  </a:tcPr>
                </a:tc>
              </a:tr>
              <a:tr h="676275">
                <a:tc>
                  <a:txBody>
                    <a:bodyPr/>
                    <a:lstStyle/>
                    <a:p>
                      <a:r>
                        <a:rPr sz="1800" b="0">
                          <a:solidFill>
                            <a:srgbClr val="183B4E"/>
                          </a:solidFill>
                          <a:latin typeface="Arial"/>
                          <a:ea typeface="Arial"/>
                          <a:cs typeface="Arial"/>
                        </a:rPr>
                        <a:t>Caché del evaluador</a:t>
                      </a:r>
                    </a:p>
                  </a:txBody>
                  <a:tcPr marL="91440" marR="91440" marT="45720" marB="45720">
                    <a:solidFill>
                      <a:srgbClr val="EEF5F5"/>
                    </a:solidFill>
                  </a:tcPr>
                </a:tc>
                <a:tc>
                  <a:txBody>
                    <a:bodyPr/>
                    <a:lstStyle/>
                    <a:p>
                      <a:r>
                        <a:rPr sz="1800" b="0">
                          <a:solidFill>
                            <a:srgbClr val="183B4E"/>
                          </a:solidFill>
                          <a:latin typeface="Arial"/>
                          <a:ea typeface="Arial"/>
                          <a:cs typeface="Arial"/>
                        </a:rPr>
                        <a:t>Parque de un genotipo</a:t>
                      </a:r>
                    </a:p>
                  </a:txBody>
                  <a:tcPr marL="91440" marR="91440" marT="45720" marB="45720">
                    <a:solidFill>
                      <a:srgbClr val="EEF5F5"/>
                    </a:solidFill>
                  </a:tcPr>
                </a:tc>
                <a:tc>
                  <a:txBody>
                    <a:bodyPr/>
                    <a:lstStyle/>
                    <a:p>
                      <a:r>
                        <a:rPr sz="1800" b="0">
                          <a:solidFill>
                            <a:srgbClr val="183B4E"/>
                          </a:solidFill>
                          <a:latin typeface="Arial"/>
                          <a:ea typeface="Arial"/>
                          <a:cs typeface="Arial"/>
                        </a:rPr>
                        <a:t>Ligada a dataset y configuración</a:t>
                      </a:r>
                    </a:p>
                  </a:txBody>
                  <a:tcPr marL="91440" marR="91440" marT="45720" marB="45720">
                    <a:solidFill>
                      <a:srgbClr val="EEF5F5"/>
                    </a:solidFill>
                  </a:tcPr>
                </a:tc>
              </a:tr>
            </a:tbl>
          </a:graphicData>
        </a:graphic>
      </p:graphicFrame>
      <p:sp>
        <p:nvSpPr>
          <p:cNvPr id="4" name="">
            <a:extLst xmlns:a="http://schemas.openxmlformats.org/drawingml/2006/main">
              <a:ext uri="{FF2B5EF4-FFF2-40B4-BE49-F238E27FC236}">
                <a16:creationId xmlns:a16="http://schemas.microsoft.com/office/drawing/2014/main" id="{C7C8D2C3-39B9-4726-936C-F120E29216F0}"/>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defRPr sz="1575" b="0">
                <a:solidFill>
                  <a:srgbClr val="526778"/>
                </a:solidFill>
                <a:latin typeface="Arial"/>
                <a:ea typeface="Arial"/>
                <a:cs typeface="Arial"/>
              </a:defRPr>
            </a:pPr>
            <a:r>
              <a:rPr sz="1575" b="0">
                <a:solidFill>
                  <a:srgbClr val="526778"/>
                </a:solidFill>
                <a:latin typeface="Arial"/>
                <a:ea typeface="Arial"/>
                <a:cs typeface="Arial"/>
              </a:rPr>
              <a:t>La misma semilla y el mismo snapshot permiten repetir el experimento</a:t>
            </a:r>
          </a:p>
        </p:txBody>
      </p:sp>
    </p:spTree>
    <p:extLst>
      <p:ext uri="{BB962C8B-B14F-4D97-AF65-F5344CB8AC3E}">
        <p14:creationId xmlns:p14="http://schemas.microsoft.com/office/powerpoint/2010/main" val="19822742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4A5FF3-456E-417B-ACBA-70EE9FC7C324}"/>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Restricciones del parque</a:t>
            </a:r>
          </a:p>
        </p:txBody>
      </p:sp>
      <p:sp>
        <p:nvSpPr>
          <p:cNvPr id="2" name="">
            <a:extLst xmlns:a="http://schemas.openxmlformats.org/drawingml/2006/main">
              <a:ext uri="{FF2B5EF4-FFF2-40B4-BE49-F238E27FC236}">
                <a16:creationId xmlns:a16="http://schemas.microsoft.com/office/drawing/2014/main" id="{2433F1A1-3665-498D-882F-9DF18DC347CA}"/>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74130EC5-E4E3-4172-B1D7-7B1DAEF63BE6}"/>
              </a:ext>
            </a:extLst>
          </p:cNvPr>
          <p:cNvSpPr>
            <a:spLocks xmlns:a="http://schemas.openxmlformats.org/drawingml/2006/main" noGrp="1"/>
          </p:cNvSpPr>
          <p:nvPr/>
        </p:nvSpPr>
        <p:spPr>
          <a:xfrm xmlns:a="http://schemas.openxmlformats.org/drawingml/2006/main">
            <a:off x="571500" y="1533525"/>
            <a:ext cx="552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087F8C"/>
                </a:solidFill>
                <a:latin typeface="Arial"/>
                <a:ea typeface="Arial"/>
                <a:cs typeface="Arial"/>
              </a:defRPr>
            </a:defPPr>
          </a:lstStyle>
          <a:p xmlns:a="http://schemas.openxmlformats.org/drawingml/2006/main">
            <a:pPr>
              <a:defRPr sz="2475" b="1">
                <a:solidFill>
                  <a:srgbClr val="087F8C"/>
                </a:solidFill>
                <a:latin typeface="Arial"/>
                <a:ea typeface="Arial"/>
                <a:cs typeface="Arial"/>
              </a:defRPr>
            </a:pPr>
            <a:r>
              <a:rPr sz="2475" b="1">
                <a:solidFill>
                  <a:srgbClr val="087F8C"/>
                </a:solidFill>
                <a:latin typeface="Arial"/>
                <a:ea typeface="Arial"/>
                <a:cs typeface="Arial"/>
              </a:rPr>
              <a:t>Una celda completa</a:t>
            </a:r>
          </a:p>
        </p:txBody>
      </p:sp>
      <p:sp>
        <p:nvSpPr>
          <p:cNvPr id="4" name="">
            <a:extLst xmlns:a="http://schemas.openxmlformats.org/drawingml/2006/main">
              <a:ext uri="{FF2B5EF4-FFF2-40B4-BE49-F238E27FC236}">
                <a16:creationId xmlns:a16="http://schemas.microsoft.com/office/drawing/2014/main" id="{12F1033D-DEF7-4B53-A6B0-234879BF4A6C}"/>
              </a:ext>
            </a:extLst>
          </p:cNvPr>
          <p:cNvSpPr>
            <a:spLocks xmlns:a="http://schemas.openxmlformats.org/drawingml/2006/main" noGrp="1"/>
          </p:cNvSpPr>
          <p:nvPr/>
        </p:nvSpPr>
        <p:spPr>
          <a:xfrm xmlns:a="http://schemas.openxmlformats.org/drawingml/2006/main">
            <a:off x="571500" y="2276475"/>
            <a:ext cx="5238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350" b="1">
                <a:solidFill>
                  <a:srgbClr val="102A43"/>
                </a:solidFill>
                <a:latin typeface="Arial"/>
                <a:ea typeface="Arial"/>
                <a:cs typeface="Arial"/>
              </a:defRPr>
            </a:defPPr>
          </a:lstStyle>
          <a:p xmlns:a="http://schemas.openxmlformats.org/drawingml/2006/main">
            <a:pPr>
              <a:defRPr sz="4350" b="1">
                <a:solidFill>
                  <a:srgbClr val="102A43"/>
                </a:solidFill>
                <a:latin typeface="Arial"/>
                <a:ea typeface="Arial"/>
                <a:cs typeface="Arial"/>
              </a:defRPr>
            </a:pPr>
            <a:r>
              <a:rPr sz="4350" b="1">
                <a:solidFill>
                  <a:srgbClr val="102A43"/>
                </a:solidFill>
                <a:latin typeface="Arial"/>
                <a:ea typeface="Arial"/>
                <a:cs typeface="Arial"/>
              </a:rPr>
              <a:t>25 ha</a:t>
            </a:r>
          </a:p>
          <a:p xmlns:a="http://schemas.openxmlformats.org/drawingml/2006/main">
            <a:pPr>
              <a:defRPr sz="4350" b="1">
                <a:solidFill>
                  <a:srgbClr val="102A43"/>
                </a:solidFill>
                <a:latin typeface="Arial"/>
                <a:ea typeface="Arial"/>
                <a:cs typeface="Arial"/>
              </a:defRPr>
            </a:pPr>
            <a:r>
              <a:rPr sz="4350" b="1">
                <a:solidFill>
                  <a:srgbClr val="102A43"/>
                </a:solidFill>
                <a:latin typeface="Arial"/>
                <a:ea typeface="Arial"/>
                <a:cs typeface="Arial"/>
              </a:rPr>
              <a:t>7,825 MW</a:t>
            </a:r>
          </a:p>
        </p:txBody>
      </p:sp>
      <p:sp>
        <p:nvSpPr>
          <p:cNvPr id="5" name="">
            <a:extLst xmlns:a="http://schemas.openxmlformats.org/drawingml/2006/main">
              <a:ext uri="{FF2B5EF4-FFF2-40B4-BE49-F238E27FC236}">
                <a16:creationId xmlns:a16="http://schemas.microsoft.com/office/drawing/2014/main" id="{C3C8742E-3124-4D12-BB70-A158B1054F3F}"/>
              </a:ext>
            </a:extLst>
          </p:cNvPr>
          <p:cNvSpPr>
            <a:spLocks xmlns:a="http://schemas.openxmlformats.org/drawingml/2006/main" noGrp="1"/>
          </p:cNvSpPr>
          <p:nvPr/>
        </p:nvSpPr>
        <p:spPr>
          <a:xfrm xmlns:a="http://schemas.openxmlformats.org/drawingml/2006/main">
            <a:off x="571500" y="4638675"/>
            <a:ext cx="5238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83B4E"/>
                </a:solidFill>
                <a:latin typeface="Arial"/>
                <a:ea typeface="Arial"/>
                <a:cs typeface="Arial"/>
              </a:defRPr>
            </a:defPPr>
          </a:lstStyle>
          <a:p xmlns:a="http://schemas.openxmlformats.org/drawingml/2006/main">
            <a:pPr>
              <a:defRPr sz="2325" b="1">
                <a:solidFill>
                  <a:srgbClr val="183B4E"/>
                </a:solidFill>
                <a:latin typeface="Arial"/>
                <a:ea typeface="Arial"/>
                <a:cs typeface="Arial"/>
              </a:defRPr>
            </a:pPr>
            <a:r>
              <a:rPr sz="2325" b="1">
                <a:solidFill>
                  <a:srgbClr val="183B4E"/>
                </a:solidFill>
                <a:latin typeface="Arial"/>
                <a:ea typeface="Arial"/>
                <a:cs typeface="Arial"/>
              </a:rPr>
              <a:t>10 celdas completas = 78,25 MW</a:t>
            </a:r>
          </a:p>
        </p:txBody>
      </p:sp>
      <p:graphicFrame>
        <p:nvGraphicFramePr>
          <p:cNvPr id="6" name="">
            <a:extLst xmlns:a="http://schemas.openxmlformats.org/drawingml/2006/main">
              <a:ext uri="{FF2B5EF4-FFF2-40B4-BE49-F238E27FC236}">
                <a16:creationId xmlns:a16="http://schemas.microsoft.com/office/drawing/2014/main" id="{3880405B-93AC-4191-95E9-F2B72B67A542}"/>
              </a:ext>
            </a:extLst>
          </p:cNvPr>
          <p:cNvGraphicFramePr/>
          <p:nvPr/>
        </p:nvGraphicFramePr>
        <p:xfrm>
          <a:off xmlns:a="http://schemas.openxmlformats.org/drawingml/2006/main" x="6238875" y="1714500"/>
          <a:ext xmlns:a="http://schemas.openxmlformats.org/drawingml/2006/main" cx="5286375" cy="3343275"/>
        </p:xfrm>
        <a:graphic xmlns:a="http://schemas.openxmlformats.org/drawingml/2006/main">
          <a:graphicData uri="http://schemas.openxmlformats.org/drawingml/2006/table">
            <a:tbl>
              <a:tblPr/>
              <a:tblGrid>
                <a:gridCol w="2095500"/>
                <a:gridCol w="3190875"/>
              </a:tblGrid>
              <a:tr h="668655">
                <a:tc>
                  <a:txBody>
                    <a:bodyPr/>
                    <a:lstStyle/>
                    <a:p>
                      <a:r>
                        <a:rPr sz="1725" b="1">
                          <a:solidFill>
                            <a:srgbClr val="FFFFFF"/>
                          </a:solidFill>
                          <a:latin typeface="Arial"/>
                          <a:ea typeface="Arial"/>
                          <a:cs typeface="Arial"/>
                        </a:rPr>
                        <a:t>Regla</a:t>
                      </a:r>
                    </a:p>
                  </a:txBody>
                  <a:tcPr marL="91440" marR="91440" marT="45720" marB="45720">
                    <a:solidFill>
                      <a:srgbClr val="102A43"/>
                    </a:solidFill>
                  </a:tcPr>
                </a:tc>
                <a:tc>
                  <a:txBody>
                    <a:bodyPr/>
                    <a:lstStyle/>
                    <a:p>
                      <a:r>
                        <a:rPr sz="1725" b="1">
                          <a:solidFill>
                            <a:srgbClr val="FFFFFF"/>
                          </a:solidFill>
                          <a:latin typeface="Arial"/>
                          <a:ea typeface="Arial"/>
                          <a:cs typeface="Arial"/>
                        </a:rPr>
                        <a:t>Efecto</a:t>
                      </a:r>
                    </a:p>
                  </a:txBody>
                  <a:tcPr marL="91440" marR="91440" marT="45720" marB="45720">
                    <a:solidFill>
                      <a:srgbClr val="102A43"/>
                    </a:solidFill>
                  </a:tcPr>
                </a:tc>
              </a:tr>
              <a:tr h="668655">
                <a:tc>
                  <a:txBody>
                    <a:bodyPr/>
                    <a:lstStyle/>
                    <a:p>
                      <a:r>
                        <a:rPr sz="1725" b="0">
                          <a:solidFill>
                            <a:srgbClr val="183B4E"/>
                          </a:solidFill>
                          <a:latin typeface="Arial"/>
                          <a:ea typeface="Arial"/>
                          <a:cs typeface="Arial"/>
                        </a:rPr>
                        <a:t>Vecinos por borde</a:t>
                      </a:r>
                    </a:p>
                  </a:txBody>
                  <a:tcPr marL="91440" marR="91440" marT="45720" marB="45720">
                    <a:solidFill>
                      <a:srgbClr val="FFFFFF"/>
                    </a:solidFill>
                  </a:tcPr>
                </a:tc>
                <a:tc>
                  <a:txBody>
                    <a:bodyPr/>
                    <a:lstStyle/>
                    <a:p>
                      <a:r>
                        <a:rPr sz="1725" b="0">
                          <a:solidFill>
                            <a:srgbClr val="183B4E"/>
                          </a:solidFill>
                          <a:latin typeface="Arial"/>
                          <a:ea typeface="Arial"/>
                          <a:cs typeface="Arial"/>
                        </a:rPr>
                        <a:t>Mantiene el parque contiguo</a:t>
                      </a:r>
                    </a:p>
                  </a:txBody>
                  <a:tcPr marL="91440" marR="91440" marT="45720" marB="45720">
                    <a:solidFill>
                      <a:srgbClr val="FFFFFF"/>
                    </a:solidFill>
                  </a:tcPr>
                </a:tc>
              </a:tr>
              <a:tr h="668655">
                <a:tc>
                  <a:txBody>
                    <a:bodyPr/>
                    <a:lstStyle/>
                    <a:p>
                      <a:r>
                        <a:rPr sz="1725" b="0">
                          <a:solidFill>
                            <a:srgbClr val="183B4E"/>
                          </a:solidFill>
                          <a:latin typeface="Arial"/>
                          <a:ea typeface="Arial"/>
                          <a:cs typeface="Arial"/>
                        </a:rPr>
                        <a:t>Máscara urbana</a:t>
                      </a:r>
                    </a:p>
                  </a:txBody>
                  <a:tcPr marL="91440" marR="91440" marT="45720" marB="45720">
                    <a:solidFill>
                      <a:srgbClr val="EEF5F5"/>
                    </a:solidFill>
                  </a:tcPr>
                </a:tc>
                <a:tc>
                  <a:txBody>
                    <a:bodyPr/>
                    <a:lstStyle/>
                    <a:p>
                      <a:r>
                        <a:rPr sz="1725" b="0">
                          <a:solidFill>
                            <a:srgbClr val="183B4E"/>
                          </a:solidFill>
                          <a:latin typeface="Arial"/>
                          <a:ea typeface="Arial"/>
                          <a:cs typeface="Arial"/>
                        </a:rPr>
                        <a:t>Impide usar celdas excluidas</a:t>
                      </a:r>
                    </a:p>
                  </a:txBody>
                  <a:tcPr marL="91440" marR="91440" marT="45720" marB="45720">
                    <a:solidFill>
                      <a:srgbClr val="EEF5F5"/>
                    </a:solidFill>
                  </a:tcPr>
                </a:tc>
              </a:tr>
              <a:tr h="668655">
                <a:tc>
                  <a:txBody>
                    <a:bodyPr/>
                    <a:lstStyle/>
                    <a:p>
                      <a:r>
                        <a:rPr sz="1725" b="0">
                          <a:solidFill>
                            <a:srgbClr val="183B4E"/>
                          </a:solidFill>
                          <a:latin typeface="Arial"/>
                          <a:ea typeface="Arial"/>
                          <a:cs typeface="Arial"/>
                        </a:rPr>
                        <a:t>Área × 31,3 MW/km²</a:t>
                      </a:r>
                    </a:p>
                  </a:txBody>
                  <a:tcPr marL="91440" marR="91440" marT="45720" marB="45720">
                    <a:solidFill>
                      <a:srgbClr val="FFFFFF"/>
                    </a:solidFill>
                  </a:tcPr>
                </a:tc>
                <a:tc>
                  <a:txBody>
                    <a:bodyPr/>
                    <a:lstStyle/>
                    <a:p>
                      <a:r>
                        <a:rPr sz="1725" b="0">
                          <a:solidFill>
                            <a:srgbClr val="183B4E"/>
                          </a:solidFill>
                          <a:latin typeface="Arial"/>
                          <a:ea typeface="Arial"/>
                          <a:cs typeface="Arial"/>
                        </a:rPr>
                        <a:t>Calcula la potencia instalada</a:t>
                      </a:r>
                    </a:p>
                  </a:txBody>
                  <a:tcPr marL="91440" marR="91440" marT="45720" marB="45720">
                    <a:solidFill>
                      <a:srgbClr val="FFFFFF"/>
                    </a:solidFill>
                  </a:tcPr>
                </a:tc>
              </a:tr>
              <a:tr h="668655">
                <a:tc>
                  <a:txBody>
                    <a:bodyPr/>
                    <a:lstStyle/>
                    <a:p>
                      <a:r>
                        <a:rPr sz="1725" b="0">
                          <a:solidFill>
                            <a:srgbClr val="183B4E"/>
                          </a:solidFill>
                          <a:latin typeface="Arial"/>
                          <a:ea typeface="Arial"/>
                          <a:cs typeface="Arial"/>
                        </a:rPr>
                        <a:t>Potencia ≤ 80 MW</a:t>
                      </a:r>
                    </a:p>
                  </a:txBody>
                  <a:tcPr marL="91440" marR="91440" marT="45720" marB="45720">
                    <a:solidFill>
                      <a:srgbClr val="EEF5F5"/>
                    </a:solidFill>
                  </a:tcPr>
                </a:tc>
                <a:tc>
                  <a:txBody>
                    <a:bodyPr/>
                    <a:lstStyle/>
                    <a:p>
                      <a:r>
                        <a:rPr sz="1725" b="0">
                          <a:solidFill>
                            <a:srgbClr val="183B4E"/>
                          </a:solidFill>
                          <a:latin typeface="Arial"/>
                          <a:ea typeface="Arial"/>
                          <a:cs typeface="Arial"/>
                        </a:rPr>
                        <a:t>Limita el crecimiento</a:t>
                      </a:r>
                    </a:p>
                  </a:txBody>
                  <a:tcPr marL="91440" marR="91440" marT="45720" marB="45720">
                    <a:solidFill>
                      <a:srgbClr val="EEF5F5"/>
                    </a:solidFill>
                  </a:tcPr>
                </a:tc>
              </a:tr>
            </a:tbl>
          </a:graphicData>
        </a:graphic>
      </p:graphicFrame>
      <p:sp>
        <p:nvSpPr>
          <p:cNvPr id="7" name="">
            <a:extLst xmlns:a="http://schemas.openxmlformats.org/drawingml/2006/main">
              <a:ext uri="{FF2B5EF4-FFF2-40B4-BE49-F238E27FC236}">
                <a16:creationId xmlns:a16="http://schemas.microsoft.com/office/drawing/2014/main" id="{B88B28B2-CF0D-4391-81EB-A5B9E3B0C73A}"/>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defRPr sz="1575" b="0">
                <a:solidFill>
                  <a:srgbClr val="526778"/>
                </a:solidFill>
                <a:latin typeface="Arial"/>
                <a:ea typeface="Arial"/>
                <a:cs typeface="Arial"/>
              </a:defRPr>
            </a:pPr>
            <a:r>
              <a:rPr sz="1575" b="0">
                <a:solidFill>
                  <a:srgbClr val="526778"/>
                </a:solidFill>
                <a:latin typeface="Arial"/>
                <a:ea typeface="Arial"/>
                <a:cs typeface="Arial"/>
              </a:rPr>
              <a:t>Las celdas recortadas en el límite provincial conservan su área real</a:t>
            </a:r>
          </a:p>
        </p:txBody>
      </p:sp>
    </p:spTree>
    <p:extLst>
      <p:ext uri="{BB962C8B-B14F-4D97-AF65-F5344CB8AC3E}">
        <p14:creationId xmlns:p14="http://schemas.microsoft.com/office/powerpoint/2010/main" val="6613131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DA228DA-FC04-4B51-87CB-2AB245FBE91E}"/>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Un cromosoma del proyecto</a:t>
            </a:r>
          </a:p>
        </p:txBody>
      </p:sp>
      <p:sp>
        <p:nvSpPr>
          <p:cNvPr id="2" name="">
            <a:extLst xmlns:a="http://schemas.openxmlformats.org/drawingml/2006/main">
              <a:ext uri="{FF2B5EF4-FFF2-40B4-BE49-F238E27FC236}">
                <a16:creationId xmlns:a16="http://schemas.microsoft.com/office/drawing/2014/main" id="{EFDAD3C6-E780-4F24-808F-E090ECD1B482}"/>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B759CAB4-A0A4-4063-9EF0-A32582304C45}"/>
              </a:ext>
            </a:extLst>
          </p:cNvPr>
          <p:cNvGraphicFramePr/>
          <p:nvPr/>
        </p:nvGraphicFramePr>
        <p:xfrm>
          <a:off xmlns:a="http://schemas.openxmlformats.org/drawingml/2006/main" x="571500" y="1724025"/>
          <a:ext xmlns:a="http://schemas.openxmlformats.org/drawingml/2006/main" cx="11049000" cy="1152525"/>
        </p:xfrm>
        <a:graphic xmlns:a="http://schemas.openxmlformats.org/drawingml/2006/main">
          <a:graphicData uri="http://schemas.openxmlformats.org/drawingml/2006/table">
            <a:tbl>
              <a:tblPr/>
              <a:tblGrid>
                <a:gridCol w="1905000"/>
                <a:gridCol w="2286000"/>
                <a:gridCol w="2286000"/>
                <a:gridCol w="2286000"/>
                <a:gridCol w="2286000"/>
              </a:tblGrid>
              <a:tr h="576263">
                <a:tc>
                  <a:txBody>
                    <a:bodyPr/>
                    <a:lstStyle/>
                    <a:p>
                      <a:r>
                        <a:rPr sz="1725" b="1">
                          <a:solidFill>
                            <a:srgbClr val="FFFFFF"/>
                          </a:solidFill>
                          <a:latin typeface="Arial"/>
                          <a:ea typeface="Arial"/>
                          <a:cs typeface="Arial"/>
                        </a:rPr>
                        <a:t>Semilla</a:t>
                      </a:r>
                    </a:p>
                  </a:txBody>
                  <a:tcPr marL="91440" marR="91440" marT="45720" marB="45720">
                    <a:solidFill>
                      <a:srgbClr val="102A43"/>
                    </a:solidFill>
                  </a:tcPr>
                </a:tc>
                <a:tc>
                  <a:txBody>
                    <a:bodyPr/>
                    <a:lstStyle/>
                    <a:p>
                      <a:r>
                        <a:rPr sz="1725" b="1">
                          <a:solidFill>
                            <a:srgbClr val="FFFFFF"/>
                          </a:solidFill>
                          <a:latin typeface="Arial"/>
                          <a:ea typeface="Arial"/>
                          <a:cs typeface="Arial"/>
                        </a:rPr>
                        <a:t>g1</a:t>
                      </a:r>
                    </a:p>
                  </a:txBody>
                  <a:tcPr marL="91440" marR="91440" marT="45720" marB="45720">
                    <a:solidFill>
                      <a:srgbClr val="102A43"/>
                    </a:solidFill>
                  </a:tcPr>
                </a:tc>
                <a:tc>
                  <a:txBody>
                    <a:bodyPr/>
                    <a:lstStyle/>
                    <a:p>
                      <a:r>
                        <a:rPr sz="1725" b="1">
                          <a:solidFill>
                            <a:srgbClr val="FFFFFF"/>
                          </a:solidFill>
                          <a:latin typeface="Arial"/>
                          <a:ea typeface="Arial"/>
                          <a:cs typeface="Arial"/>
                        </a:rPr>
                        <a:t>g2</a:t>
                      </a:r>
                    </a:p>
                  </a:txBody>
                  <a:tcPr marL="91440" marR="91440" marT="45720" marB="45720">
                    <a:solidFill>
                      <a:srgbClr val="102A43"/>
                    </a:solidFill>
                  </a:tcPr>
                </a:tc>
                <a:tc>
                  <a:txBody>
                    <a:bodyPr/>
                    <a:lstStyle/>
                    <a:p>
                      <a:r>
                        <a:rPr sz="1725" b="1">
                          <a:solidFill>
                            <a:srgbClr val="FFFFFF"/>
                          </a:solidFill>
                          <a:latin typeface="Arial"/>
                          <a:ea typeface="Arial"/>
                          <a:cs typeface="Arial"/>
                        </a:rPr>
                        <a:t>g3</a:t>
                      </a:r>
                    </a:p>
                  </a:txBody>
                  <a:tcPr marL="91440" marR="91440" marT="45720" marB="45720">
                    <a:solidFill>
                      <a:srgbClr val="102A43"/>
                    </a:solidFill>
                  </a:tcPr>
                </a:tc>
                <a:tc>
                  <a:txBody>
                    <a:bodyPr/>
                    <a:lstStyle/>
                    <a:p>
                      <a:r>
                        <a:rPr sz="1725" b="1">
                          <a:solidFill>
                            <a:srgbClr val="FFFFFF"/>
                          </a:solidFill>
                          <a:latin typeface="Arial"/>
                          <a:ea typeface="Arial"/>
                          <a:cs typeface="Arial"/>
                        </a:rPr>
                        <a:t>g4</a:t>
                      </a:r>
                    </a:p>
                  </a:txBody>
                  <a:tcPr marL="91440" marR="91440" marT="45720" marB="45720">
                    <a:solidFill>
                      <a:srgbClr val="102A43"/>
                    </a:solidFill>
                  </a:tcPr>
                </a:tc>
              </a:tr>
              <a:tr h="576263">
                <a:tc>
                  <a:txBody>
                    <a:bodyPr/>
                    <a:lstStyle/>
                    <a:p>
                      <a:r>
                        <a:rPr sz="1725" b="0">
                          <a:solidFill>
                            <a:srgbClr val="183B4E"/>
                          </a:solidFill>
                          <a:latin typeface="Arial"/>
                          <a:ea typeface="Arial"/>
                          <a:cs typeface="Arial"/>
                        </a:rPr>
                        <a:t>46.504</a:t>
                      </a:r>
                    </a:p>
                  </a:txBody>
                  <a:tcPr marL="91440" marR="91440" marT="45720" marB="45720">
                    <a:solidFill>
                      <a:srgbClr val="FFFFFF"/>
                    </a:solidFill>
                  </a:tcPr>
                </a:tc>
                <a:tc>
                  <a:txBody>
                    <a:bodyPr/>
                    <a:lstStyle/>
                    <a:p>
                      <a:r>
                        <a:rPr sz="1725" b="0">
                          <a:solidFill>
                            <a:srgbClr val="183B4E"/>
                          </a:solidFill>
                          <a:latin typeface="Arial"/>
                          <a:ea typeface="Arial"/>
                          <a:cs typeface="Arial"/>
                        </a:rPr>
                        <a:t>429014945</a:t>
                      </a:r>
                    </a:p>
                  </a:txBody>
                  <a:tcPr marL="91440" marR="91440" marT="45720" marB="45720">
                    <a:solidFill>
                      <a:srgbClr val="FFFFFF"/>
                    </a:solidFill>
                  </a:tcPr>
                </a:tc>
                <a:tc>
                  <a:txBody>
                    <a:bodyPr/>
                    <a:lstStyle/>
                    <a:p>
                      <a:r>
                        <a:rPr sz="1725" b="0">
                          <a:solidFill>
                            <a:srgbClr val="183B4E"/>
                          </a:solidFill>
                          <a:latin typeface="Arial"/>
                          <a:ea typeface="Arial"/>
                          <a:cs typeface="Arial"/>
                        </a:rPr>
                        <a:t>1856101005</a:t>
                      </a:r>
                    </a:p>
                  </a:txBody>
                  <a:tcPr marL="91440" marR="91440" marT="45720" marB="45720">
                    <a:solidFill>
                      <a:srgbClr val="FFFFFF"/>
                    </a:solidFill>
                  </a:tcPr>
                </a:tc>
                <a:tc>
                  <a:txBody>
                    <a:bodyPr/>
                    <a:lstStyle/>
                    <a:p>
                      <a:r>
                        <a:rPr sz="1725" b="0">
                          <a:solidFill>
                            <a:srgbClr val="183B4E"/>
                          </a:solidFill>
                          <a:latin typeface="Arial"/>
                          <a:ea typeface="Arial"/>
                          <a:cs typeface="Arial"/>
                        </a:rPr>
                        <a:t>1726844270</a:t>
                      </a:r>
                    </a:p>
                  </a:txBody>
                  <a:tcPr marL="91440" marR="91440" marT="45720" marB="45720">
                    <a:solidFill>
                      <a:srgbClr val="FFFFFF"/>
                    </a:solidFill>
                  </a:tcPr>
                </a:tc>
                <a:tc>
                  <a:txBody>
                    <a:bodyPr/>
                    <a:lstStyle/>
                    <a:p>
                      <a:r>
                        <a:rPr sz="1725" b="0">
                          <a:solidFill>
                            <a:srgbClr val="183B4E"/>
                          </a:solidFill>
                          <a:latin typeface="Arial"/>
                          <a:ea typeface="Arial"/>
                          <a:cs typeface="Arial"/>
                        </a:rPr>
                        <a:t>53904684</a:t>
                      </a:r>
                    </a:p>
                  </a:txBody>
                  <a:tcPr marL="91440" marR="91440" marT="45720" marB="45720">
                    <a:solidFill>
                      <a:srgbClr val="FFFFFF"/>
                    </a:solidFill>
                  </a:tcPr>
                </a:tc>
              </a:tr>
            </a:tbl>
          </a:graphicData>
        </a:graphic>
      </p:graphicFrame>
      <p:graphicFrame>
        <p:nvGraphicFramePr>
          <p:cNvPr id="4" name="">
            <a:extLst xmlns:a="http://schemas.openxmlformats.org/drawingml/2006/main">
              <a:ext uri="{FF2B5EF4-FFF2-40B4-BE49-F238E27FC236}">
                <a16:creationId xmlns:a16="http://schemas.microsoft.com/office/drawing/2014/main" id="{F05B81B1-B0BD-4378-9BD7-FDF3E20502C0}"/>
              </a:ext>
            </a:extLst>
          </p:cNvPr>
          <p:cNvGraphicFramePr/>
          <p:nvPr/>
        </p:nvGraphicFramePr>
        <p:xfrm>
          <a:off xmlns:a="http://schemas.openxmlformats.org/drawingml/2006/main" x="571500" y="3438525"/>
          <a:ext xmlns:a="http://schemas.openxmlformats.org/drawingml/2006/main" cx="5334000" cy="2133600"/>
        </p:xfrm>
        <a:graphic xmlns:a="http://schemas.openxmlformats.org/drawingml/2006/main">
          <a:graphicData uri="http://schemas.openxmlformats.org/drawingml/2006/table">
            <a:tbl>
              <a:tblPr/>
              <a:tblGrid>
                <a:gridCol w="889000"/>
                <a:gridCol w="889000"/>
                <a:gridCol w="889000"/>
                <a:gridCol w="889000"/>
                <a:gridCol w="889000"/>
                <a:gridCol w="889000"/>
              </a:tblGrid>
              <a:tr h="533400">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33400">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46843</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33400">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46503</a:t>
                      </a:r>
                    </a:p>
                  </a:txBody>
                  <a:tcPr marL="91440" marR="91440" marT="45720" marB="45720">
                    <a:solidFill>
                      <a:srgbClr val="087F8C"/>
                    </a:solidFill>
                  </a:tcPr>
                </a:tc>
                <a:tc>
                  <a:txBody>
                    <a:bodyPr/>
                    <a:lstStyle/>
                    <a:p>
                      <a:r>
                        <a:rPr sz="1500" b="1">
                          <a:solidFill>
                            <a:srgbClr val="FFFFFF"/>
                          </a:solidFill>
                          <a:latin typeface="Arial"/>
                          <a:ea typeface="Arial"/>
                          <a:cs typeface="Arial"/>
                        </a:rPr>
                        <a:t>46504</a:t>
                      </a:r>
                    </a:p>
                  </a:txBody>
                  <a:tcPr marL="91440" marR="91440" marT="45720" marB="45720">
                    <a:solidFill>
                      <a:srgbClr val="C7902C"/>
                    </a:solidFill>
                  </a:tcPr>
                </a:tc>
                <a:tc>
                  <a:txBody>
                    <a:bodyPr/>
                    <a:lstStyle/>
                    <a:p>
                      <a:r>
                        <a:rPr sz="1500" b="1">
                          <a:solidFill>
                            <a:srgbClr val="FFFFFF"/>
                          </a:solidFill>
                          <a:latin typeface="Arial"/>
                          <a:ea typeface="Arial"/>
                          <a:cs typeface="Arial"/>
                        </a:rPr>
                        <a:t>46505</a:t>
                      </a:r>
                    </a:p>
                  </a:txBody>
                  <a:tcPr marL="91440" marR="91440" marT="45720" marB="45720">
                    <a:solidFill>
                      <a:srgbClr val="087F8C"/>
                    </a:solidFill>
                  </a:tcPr>
                </a:tc>
                <a:tc>
                  <a:txBody>
                    <a:bodyPr/>
                    <a:lstStyle/>
                    <a:p>
                      <a:r>
                        <a:rPr sz="1500" b="1">
                          <a:solidFill>
                            <a:srgbClr val="FFFFFF"/>
                          </a:solidFill>
                          <a:latin typeface="Arial"/>
                          <a:ea typeface="Arial"/>
                          <a:cs typeface="Arial"/>
                        </a:rPr>
                        <a:t>46506</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33400">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5" name="">
            <a:extLst xmlns:a="http://schemas.openxmlformats.org/drawingml/2006/main">
              <a:ext uri="{FF2B5EF4-FFF2-40B4-BE49-F238E27FC236}">
                <a16:creationId xmlns:a16="http://schemas.microsoft.com/office/drawing/2014/main" id="{7B5B8B12-FF33-48F0-BEB4-57AC935BE04C}"/>
              </a:ext>
            </a:extLst>
          </p:cNvPr>
          <p:cNvSpPr>
            <a:spLocks xmlns:a="http://schemas.openxmlformats.org/drawingml/2006/main" noGrp="1"/>
          </p:cNvSpPr>
          <p:nvPr/>
        </p:nvSpPr>
        <p:spPr>
          <a:xfrm xmlns:a="http://schemas.openxmlformats.org/drawingml/2006/main">
            <a:off x="6667500" y="3419475"/>
            <a:ext cx="457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Genotipo</a:t>
            </a:r>
          </a:p>
        </p:txBody>
      </p:sp>
      <p:sp>
        <p:nvSpPr>
          <p:cNvPr id="6" name="">
            <a:extLst xmlns:a="http://schemas.openxmlformats.org/drawingml/2006/main">
              <a:ext uri="{FF2B5EF4-FFF2-40B4-BE49-F238E27FC236}">
                <a16:creationId xmlns:a16="http://schemas.microsoft.com/office/drawing/2014/main" id="{3EE191AF-EADE-4619-9145-312FBEF9306B}"/>
              </a:ext>
            </a:extLst>
          </p:cNvPr>
          <p:cNvSpPr>
            <a:spLocks xmlns:a="http://schemas.openxmlformats.org/drawingml/2006/main" noGrp="1"/>
          </p:cNvSpPr>
          <p:nvPr/>
        </p:nvSpPr>
        <p:spPr>
          <a:xfrm xmlns:a="http://schemas.openxmlformats.org/drawingml/2006/main">
            <a:off x="6667500" y="39433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83B4E"/>
                </a:solidFill>
                <a:latin typeface="Arial"/>
                <a:ea typeface="Arial"/>
                <a:cs typeface="Arial"/>
              </a:defRPr>
            </a:defPPr>
          </a:lstStyle>
          <a:p xmlns:a="http://schemas.openxmlformats.org/drawingml/2006/main">
            <a:pPr>
              <a:defRPr sz="2025" b="0">
                <a:solidFill>
                  <a:srgbClr val="183B4E"/>
                </a:solidFill>
                <a:latin typeface="Arial"/>
                <a:ea typeface="Arial"/>
                <a:cs typeface="Arial"/>
              </a:defRPr>
            </a:pPr>
            <a:r>
              <a:rPr sz="2025" b="0">
                <a:solidFill>
                  <a:srgbClr val="183B4E"/>
                </a:solidFill>
                <a:latin typeface="Arial"/>
                <a:ea typeface="Arial"/>
                <a:cs typeface="Arial"/>
              </a:rPr>
              <a:t>Semilla + secuencia de enteros</a:t>
            </a:r>
          </a:p>
        </p:txBody>
      </p:sp>
      <p:sp>
        <p:nvSpPr>
          <p:cNvPr id="7" name="">
            <a:extLst xmlns:a="http://schemas.openxmlformats.org/drawingml/2006/main">
              <a:ext uri="{FF2B5EF4-FFF2-40B4-BE49-F238E27FC236}">
                <a16:creationId xmlns:a16="http://schemas.microsoft.com/office/drawing/2014/main" id="{18D85A00-A859-48D3-A5DA-572C1CBAA06F}"/>
              </a:ext>
            </a:extLst>
          </p:cNvPr>
          <p:cNvSpPr>
            <a:spLocks xmlns:a="http://schemas.openxmlformats.org/drawingml/2006/main" noGrp="1"/>
          </p:cNvSpPr>
          <p:nvPr/>
        </p:nvSpPr>
        <p:spPr>
          <a:xfrm xmlns:a="http://schemas.openxmlformats.org/drawingml/2006/main">
            <a:off x="6667500" y="4714875"/>
            <a:ext cx="457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Fenotipo</a:t>
            </a:r>
          </a:p>
        </p:txBody>
      </p:sp>
      <p:sp>
        <p:nvSpPr>
          <p:cNvPr id="8" name="">
            <a:extLst xmlns:a="http://schemas.openxmlformats.org/drawingml/2006/main">
              <a:ext uri="{FF2B5EF4-FFF2-40B4-BE49-F238E27FC236}">
                <a16:creationId xmlns:a16="http://schemas.microsoft.com/office/drawing/2014/main" id="{D403FAA0-921C-4E4A-B6CF-C3A2012C387B}"/>
              </a:ext>
            </a:extLst>
          </p:cNvPr>
          <p:cNvSpPr>
            <a:spLocks xmlns:a="http://schemas.openxmlformats.org/drawingml/2006/main" noGrp="1"/>
          </p:cNvSpPr>
          <p:nvPr/>
        </p:nvSpPr>
        <p:spPr>
          <a:xfrm xmlns:a="http://schemas.openxmlformats.org/drawingml/2006/main">
            <a:off x="6667500" y="5229225"/>
            <a:ext cx="4762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83B4E"/>
                </a:solidFill>
                <a:latin typeface="Arial"/>
                <a:ea typeface="Arial"/>
                <a:cs typeface="Arial"/>
              </a:defRPr>
            </a:defPPr>
          </a:lstStyle>
          <a:p xmlns:a="http://schemas.openxmlformats.org/drawingml/2006/main">
            <a:pPr>
              <a:defRPr sz="2025" b="0">
                <a:solidFill>
                  <a:srgbClr val="183B4E"/>
                </a:solidFill>
                <a:latin typeface="Arial"/>
                <a:ea typeface="Arial"/>
                <a:cs typeface="Arial"/>
              </a:defRPr>
            </a:pPr>
            <a:r>
              <a:rPr sz="2025" b="0">
                <a:solidFill>
                  <a:srgbClr val="183B4E"/>
                </a:solidFill>
                <a:latin typeface="Arial"/>
                <a:ea typeface="Arial"/>
                <a:cs typeface="Arial"/>
              </a:rPr>
              <a:t>5 celdas contiguas</a:t>
            </a:r>
          </a:p>
          <a:p xmlns:a="http://schemas.openxmlformats.org/drawingml/2006/main">
            <a:pPr>
              <a:defRPr sz="2025" b="0">
                <a:solidFill>
                  <a:srgbClr val="183B4E"/>
                </a:solidFill>
                <a:latin typeface="Arial"/>
                <a:ea typeface="Arial"/>
                <a:cs typeface="Arial"/>
              </a:defRPr>
            </a:pPr>
            <a:r>
              <a:rPr sz="2025" b="0">
                <a:solidFill>
                  <a:srgbClr val="183B4E"/>
                </a:solidFill>
                <a:latin typeface="Arial"/>
                <a:ea typeface="Arial"/>
                <a:cs typeface="Arial"/>
              </a:rPr>
              <a:t>125 ha y 39,125 MW</a:t>
            </a:r>
          </a:p>
        </p:txBody>
      </p:sp>
      <p:sp>
        <p:nvSpPr>
          <p:cNvPr id="9" name="">
            <a:extLst xmlns:a="http://schemas.openxmlformats.org/drawingml/2006/main">
              <a:ext uri="{FF2B5EF4-FFF2-40B4-BE49-F238E27FC236}">
                <a16:creationId xmlns:a16="http://schemas.microsoft.com/office/drawing/2014/main" id="{93AE8FA3-A06F-4F7A-9536-95983E428FAE}"/>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defRPr sz="1575" b="0">
                <a:solidFill>
                  <a:srgbClr val="526778"/>
                </a:solidFill>
                <a:latin typeface="Arial"/>
                <a:ea typeface="Arial"/>
                <a:cs typeface="Arial"/>
              </a:defRPr>
            </a:pPr>
            <a:r>
              <a:rPr sz="1575" b="0">
                <a:solidFill>
                  <a:srgbClr val="526778"/>
                </a:solidFill>
                <a:latin typeface="Arial"/>
                <a:ea typeface="Arial"/>
                <a:cs typeface="Arial"/>
              </a:rPr>
              <a:t>Oro: celda semilla. Verde: celdas del parque. Los números son IDs de celda</a:t>
            </a:r>
          </a:p>
        </p:txBody>
      </p:sp>
    </p:spTree>
    <p:extLst>
      <p:ext uri="{BB962C8B-B14F-4D97-AF65-F5344CB8AC3E}">
        <p14:creationId xmlns:p14="http://schemas.microsoft.com/office/powerpoint/2010/main" val="99268885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A87E6E-7D19-447B-BBAE-6248F6E2FCF4}"/>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Decodificación: cómo actúa un gen</a:t>
            </a:r>
          </a:p>
        </p:txBody>
      </p:sp>
      <p:sp>
        <p:nvSpPr>
          <p:cNvPr id="2" name="">
            <a:extLst xmlns:a="http://schemas.openxmlformats.org/drawingml/2006/main">
              <a:ext uri="{FF2B5EF4-FFF2-40B4-BE49-F238E27FC236}">
                <a16:creationId xmlns:a16="http://schemas.microsoft.com/office/drawing/2014/main" id="{BF54942F-5FB5-4A1A-9F4A-55441A370386}"/>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11</a:t>
            </a:r>
          </a:p>
        </p:txBody>
      </p:sp>
      <p:graphicFrame>
        <p:nvGraphicFramePr>
          <p:cNvPr id="3" name="">
            <a:extLst xmlns:a="http://schemas.openxmlformats.org/drawingml/2006/main">
              <a:ext uri="{FF2B5EF4-FFF2-40B4-BE49-F238E27FC236}">
                <a16:creationId xmlns:a16="http://schemas.microsoft.com/office/drawing/2014/main" id="{0BBD6FF6-6356-47BF-BDE6-AEF7C3DE84C7}"/>
              </a:ext>
            </a:extLst>
          </p:cNvPr>
          <p:cNvGraphicFramePr/>
          <p:nvPr/>
        </p:nvGraphicFramePr>
        <p:xfrm>
          <a:off xmlns:a="http://schemas.openxmlformats.org/drawingml/2006/main" x="571500" y="1714500"/>
          <a:ext xmlns:a="http://schemas.openxmlformats.org/drawingml/2006/main" cx="4572000" cy="2857500"/>
        </p:xfrm>
        <a:graphic xmlns:a="http://schemas.openxmlformats.org/drawingml/2006/main">
          <a:graphicData uri="http://schemas.openxmlformats.org/drawingml/2006/table">
            <a:tbl>
              <a:tblPr/>
              <a:tblGrid>
                <a:gridCol w="3048000"/>
                <a:gridCol w="1524000"/>
              </a:tblGrid>
              <a:tr h="571500">
                <a:tc>
                  <a:txBody>
                    <a:bodyPr/>
                    <a:lstStyle/>
                    <a:p>
                      <a:r>
                        <a:rPr sz="1875" b="1">
                          <a:solidFill>
                            <a:srgbClr val="FFFFFF"/>
                          </a:solidFill>
                          <a:latin typeface="Arial"/>
                          <a:ea typeface="Arial"/>
                          <a:cs typeface="Arial"/>
                        </a:rPr>
                        <a:t>Frontera ordenada</a:t>
                      </a:r>
                    </a:p>
                  </a:txBody>
                  <a:tcPr marL="91440" marR="91440" marT="45720" marB="45720">
                    <a:solidFill>
                      <a:srgbClr val="102A43"/>
                    </a:solidFill>
                  </a:tcPr>
                </a:tc>
                <a:tc>
                  <a:txBody>
                    <a:bodyPr/>
                    <a:lstStyle/>
                    <a:p>
                      <a:r>
                        <a:rPr sz="1875" b="1">
                          <a:solidFill>
                            <a:srgbClr val="FFFFFF"/>
                          </a:solidFill>
                          <a:latin typeface="Arial"/>
                          <a:ea typeface="Arial"/>
                          <a:cs typeface="Arial"/>
                        </a:rPr>
                        <a:t>Índice</a:t>
                      </a:r>
                    </a:p>
                  </a:txBody>
                  <a:tcPr marL="91440" marR="91440" marT="45720" marB="45720">
                    <a:solidFill>
                      <a:srgbClr val="102A43"/>
                    </a:solidFill>
                  </a:tcPr>
                </a:tc>
              </a:tr>
              <a:tr h="571500">
                <a:tc>
                  <a:txBody>
                    <a:bodyPr/>
                    <a:lstStyle/>
                    <a:p>
                      <a:r>
                        <a:rPr sz="1875" b="0">
                          <a:solidFill>
                            <a:srgbClr val="183B4E"/>
                          </a:solidFill>
                          <a:latin typeface="Arial"/>
                          <a:ea typeface="Arial"/>
                          <a:cs typeface="Arial"/>
                        </a:rPr>
                        <a:t>46.165</a:t>
                      </a:r>
                    </a:p>
                  </a:txBody>
                  <a:tcPr marL="91440" marR="91440" marT="45720" marB="45720">
                    <a:solidFill>
                      <a:srgbClr val="FFFFFF"/>
                    </a:solidFill>
                  </a:tcPr>
                </a:tc>
                <a:tc>
                  <a:txBody>
                    <a:bodyPr/>
                    <a:lstStyle/>
                    <a:p>
                      <a:r>
                        <a:rPr sz="1875" b="0">
                          <a:solidFill>
                            <a:srgbClr val="183B4E"/>
                          </a:solidFill>
                          <a:latin typeface="Arial"/>
                          <a:ea typeface="Arial"/>
                          <a:cs typeface="Arial"/>
                        </a:rPr>
                        <a:t>0</a:t>
                      </a:r>
                    </a:p>
                  </a:txBody>
                  <a:tcPr marL="91440" marR="91440" marT="45720" marB="45720">
                    <a:solidFill>
                      <a:srgbClr val="FFFFFF"/>
                    </a:solidFill>
                  </a:tcPr>
                </a:tc>
              </a:tr>
              <a:tr h="571500">
                <a:tc>
                  <a:txBody>
                    <a:bodyPr/>
                    <a:lstStyle/>
                    <a:p>
                      <a:r>
                        <a:rPr sz="1875" b="0">
                          <a:solidFill>
                            <a:srgbClr val="183B4E"/>
                          </a:solidFill>
                          <a:latin typeface="Arial"/>
                          <a:ea typeface="Arial"/>
                          <a:cs typeface="Arial"/>
                        </a:rPr>
                        <a:t>46.503</a:t>
                      </a:r>
                    </a:p>
                  </a:txBody>
                  <a:tcPr marL="91440" marR="91440" marT="45720" marB="45720">
                    <a:solidFill>
                      <a:srgbClr val="EEF5F5"/>
                    </a:solidFill>
                  </a:tcPr>
                </a:tc>
                <a:tc>
                  <a:txBody>
                    <a:bodyPr/>
                    <a:lstStyle/>
                    <a:p>
                      <a:r>
                        <a:rPr sz="1875" b="0">
                          <a:solidFill>
                            <a:srgbClr val="183B4E"/>
                          </a:solidFill>
                          <a:latin typeface="Arial"/>
                          <a:ea typeface="Arial"/>
                          <a:cs typeface="Arial"/>
                        </a:rPr>
                        <a:t>1   ← elegida</a:t>
                      </a:r>
                    </a:p>
                  </a:txBody>
                  <a:tcPr marL="91440" marR="91440" marT="45720" marB="45720">
                    <a:solidFill>
                      <a:srgbClr val="EEF5F5"/>
                    </a:solidFill>
                  </a:tcPr>
                </a:tc>
              </a:tr>
              <a:tr h="571500">
                <a:tc>
                  <a:txBody>
                    <a:bodyPr/>
                    <a:lstStyle/>
                    <a:p>
                      <a:r>
                        <a:rPr sz="1875" b="0">
                          <a:solidFill>
                            <a:srgbClr val="183B4E"/>
                          </a:solidFill>
                          <a:latin typeface="Arial"/>
                          <a:ea typeface="Arial"/>
                          <a:cs typeface="Arial"/>
                        </a:rPr>
                        <a:t>46.505</a:t>
                      </a:r>
                    </a:p>
                  </a:txBody>
                  <a:tcPr marL="91440" marR="91440" marT="45720" marB="45720">
                    <a:solidFill>
                      <a:srgbClr val="FFFFFF"/>
                    </a:solidFill>
                  </a:tcPr>
                </a:tc>
                <a:tc>
                  <a:txBody>
                    <a:bodyPr/>
                    <a:lstStyle/>
                    <a:p>
                      <a:r>
                        <a:rPr sz="1875" b="0">
                          <a:solidFill>
                            <a:srgbClr val="183B4E"/>
                          </a:solidFill>
                          <a:latin typeface="Arial"/>
                          <a:ea typeface="Arial"/>
                          <a:cs typeface="Arial"/>
                        </a:rPr>
                        <a:t>2</a:t>
                      </a:r>
                    </a:p>
                  </a:txBody>
                  <a:tcPr marL="91440" marR="91440" marT="45720" marB="45720">
                    <a:solidFill>
                      <a:srgbClr val="FFFFFF"/>
                    </a:solidFill>
                  </a:tcPr>
                </a:tc>
              </a:tr>
              <a:tr h="571500">
                <a:tc>
                  <a:txBody>
                    <a:bodyPr/>
                    <a:lstStyle/>
                    <a:p>
                      <a:r>
                        <a:rPr sz="1875" b="0">
                          <a:solidFill>
                            <a:srgbClr val="183B4E"/>
                          </a:solidFill>
                          <a:latin typeface="Arial"/>
                          <a:ea typeface="Arial"/>
                          <a:cs typeface="Arial"/>
                        </a:rPr>
                        <a:t>46.843</a:t>
                      </a:r>
                    </a:p>
                  </a:txBody>
                  <a:tcPr marL="91440" marR="91440" marT="45720" marB="45720">
                    <a:solidFill>
                      <a:srgbClr val="EEF5F5"/>
                    </a:solidFill>
                  </a:tcPr>
                </a:tc>
                <a:tc>
                  <a:txBody>
                    <a:bodyPr/>
                    <a:lstStyle/>
                    <a:p>
                      <a:r>
                        <a:rPr sz="1875" b="0">
                          <a:solidFill>
                            <a:srgbClr val="183B4E"/>
                          </a:solidFill>
                          <a:latin typeface="Arial"/>
                          <a:ea typeface="Arial"/>
                          <a:cs typeface="Arial"/>
                        </a:rPr>
                        <a:t>3</a:t>
                      </a:r>
                    </a:p>
                  </a:txBody>
                  <a:tcPr marL="91440" marR="91440" marT="45720" marB="45720">
                    <a:solidFill>
                      <a:srgbClr val="EEF5F5"/>
                    </a:solidFill>
                  </a:tcPr>
                </a:tc>
              </a:tr>
            </a:tbl>
          </a:graphicData>
        </a:graphic>
      </p:graphicFrame>
      <p:sp>
        <p:nvSpPr>
          <p:cNvPr id="4" name="">
            <a:extLst xmlns:a="http://schemas.openxmlformats.org/drawingml/2006/main">
              <a:ext uri="{FF2B5EF4-FFF2-40B4-BE49-F238E27FC236}">
                <a16:creationId xmlns:a16="http://schemas.microsoft.com/office/drawing/2014/main" id="{1D0428C8-1183-4E5A-889A-1D016CAECA5B}"/>
              </a:ext>
            </a:extLst>
          </p:cNvPr>
          <p:cNvSpPr>
            <a:spLocks xmlns:a="http://schemas.openxmlformats.org/drawingml/2006/main" noGrp="1"/>
          </p:cNvSpPr>
          <p:nvPr/>
        </p:nvSpPr>
        <p:spPr>
          <a:xfrm xmlns:a="http://schemas.openxmlformats.org/drawingml/2006/main">
            <a:off x="5810250" y="1876425"/>
            <a:ext cx="5715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a:solidFill>
                  <a:srgbClr val="087F8C"/>
                </a:solidFill>
                <a:latin typeface="Arial"/>
                <a:ea typeface="Arial"/>
                <a:cs typeface="Arial"/>
              </a:defRPr>
            </a:defPPr>
          </a:lstStyle>
          <a:p xmlns:a="http://schemas.openxmlformats.org/drawingml/2006/main">
            <a:pPr>
              <a:defRPr sz="3000" b="1">
                <a:solidFill>
                  <a:srgbClr val="087F8C"/>
                </a:solidFill>
                <a:latin typeface="Arial"/>
                <a:ea typeface="Arial"/>
                <a:cs typeface="Arial"/>
              </a:defRPr>
            </a:pPr>
            <a:r>
              <a:rPr sz="3000" b="1">
                <a:solidFill>
                  <a:srgbClr val="087F8C"/>
                </a:solidFill>
                <a:latin typeface="Arial"/>
                <a:ea typeface="Arial"/>
                <a:cs typeface="Arial"/>
              </a:rPr>
              <a:t>429014945 mod 4 = 1</a:t>
            </a:r>
          </a:p>
        </p:txBody>
      </p:sp>
      <p:sp>
        <p:nvSpPr>
          <p:cNvPr id="5" name="">
            <a:extLst xmlns:a="http://schemas.openxmlformats.org/drawingml/2006/main">
              <a:ext uri="{FF2B5EF4-FFF2-40B4-BE49-F238E27FC236}">
                <a16:creationId xmlns:a16="http://schemas.microsoft.com/office/drawing/2014/main" id="{263CBF00-D908-4171-91FA-0512883F7137}"/>
              </a:ext>
            </a:extLst>
          </p:cNvPr>
          <p:cNvSpPr>
            <a:spLocks xmlns:a="http://schemas.openxmlformats.org/drawingml/2006/main" noGrp="1"/>
          </p:cNvSpPr>
          <p:nvPr/>
        </p:nvSpPr>
        <p:spPr>
          <a:xfrm xmlns:a="http://schemas.openxmlformats.org/drawingml/2006/main">
            <a:off x="5810250" y="2943225"/>
            <a:ext cx="571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0">
                <a:solidFill>
                  <a:srgbClr val="183B4E"/>
                </a:solidFill>
                <a:latin typeface="Arial"/>
                <a:ea typeface="Arial"/>
                <a:cs typeface="Arial"/>
              </a:defRPr>
            </a:defPPr>
          </a:lstStyle>
          <a:p xmlns:a="http://schemas.openxmlformats.org/drawingml/2006/main">
            <a:pPr>
              <a:defRPr sz="2400" b="0">
                <a:solidFill>
                  <a:srgbClr val="183B4E"/>
                </a:solidFill>
                <a:latin typeface="Arial"/>
                <a:ea typeface="Arial"/>
                <a:cs typeface="Arial"/>
              </a:defRPr>
            </a:pPr>
            <a:r>
              <a:rPr sz="2400" b="0">
                <a:solidFill>
                  <a:srgbClr val="183B4E"/>
                </a:solidFill>
                <a:latin typeface="Arial"/>
                <a:ea typeface="Arial"/>
                <a:cs typeface="Arial"/>
              </a:rPr>
              <a:t>El gen elige la posición 1</a:t>
            </a:r>
          </a:p>
          <a:p xmlns:a="http://schemas.openxmlformats.org/drawingml/2006/main">
            <a:pPr>
              <a:defRPr sz="2400" b="0">
                <a:solidFill>
                  <a:srgbClr val="183B4E"/>
                </a:solidFill>
                <a:latin typeface="Arial"/>
                <a:ea typeface="Arial"/>
                <a:cs typeface="Arial"/>
              </a:defRPr>
            </a:pPr>
            <a:r>
              <a:rPr sz="2400" b="0">
                <a:solidFill>
                  <a:srgbClr val="183B4E"/>
                </a:solidFill>
                <a:latin typeface="Arial"/>
                <a:ea typeface="Arial"/>
                <a:cs typeface="Arial"/>
              </a:rPr>
              <a:t>de la frontera actual</a:t>
            </a:r>
          </a:p>
        </p:txBody>
      </p:sp>
      <p:sp>
        <p:nvSpPr>
          <p:cNvPr id="6" name="">
            <a:extLst xmlns:a="http://schemas.openxmlformats.org/drawingml/2006/main">
              <a:ext uri="{FF2B5EF4-FFF2-40B4-BE49-F238E27FC236}">
                <a16:creationId xmlns:a16="http://schemas.microsoft.com/office/drawing/2014/main" id="{A2AC5380-CB21-4971-8DA4-CF2279E1A69B}"/>
              </a:ext>
            </a:extLst>
          </p:cNvPr>
          <p:cNvSpPr>
            <a:spLocks xmlns:a="http://schemas.openxmlformats.org/drawingml/2006/main" noGrp="1"/>
          </p:cNvSpPr>
          <p:nvPr/>
        </p:nvSpPr>
        <p:spPr>
          <a:xfrm xmlns:a="http://schemas.openxmlformats.org/drawingml/2006/main">
            <a:off x="5810250" y="4562475"/>
            <a:ext cx="571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775" b="1">
                <a:solidFill>
                  <a:srgbClr val="102A43"/>
                </a:solidFill>
                <a:latin typeface="Arial"/>
                <a:ea typeface="Arial"/>
                <a:cs typeface="Arial"/>
              </a:defRPr>
            </a:defPPr>
          </a:lstStyle>
          <a:p xmlns:a="http://schemas.openxmlformats.org/drawingml/2006/main">
            <a:pPr>
              <a:defRPr sz="2775" b="1">
                <a:solidFill>
                  <a:srgbClr val="102A43"/>
                </a:solidFill>
                <a:latin typeface="Arial"/>
                <a:ea typeface="Arial"/>
                <a:cs typeface="Arial"/>
              </a:defRPr>
            </a:pPr>
            <a:r>
              <a:rPr sz="2775" b="1">
                <a:solidFill>
                  <a:srgbClr val="102A43"/>
                </a:solidFill>
                <a:latin typeface="Arial"/>
                <a:ea typeface="Arial"/>
                <a:cs typeface="Arial"/>
              </a:rPr>
              <a:t>Nueva celda: 46.503</a:t>
            </a:r>
          </a:p>
        </p:txBody>
      </p:sp>
      <p:sp>
        <p:nvSpPr>
          <p:cNvPr id="7" name="">
            <a:extLst xmlns:a="http://schemas.openxmlformats.org/drawingml/2006/main">
              <a:ext uri="{FF2B5EF4-FFF2-40B4-BE49-F238E27FC236}">
                <a16:creationId xmlns:a16="http://schemas.microsoft.com/office/drawing/2014/main" id="{5303D138-DF75-4E5F-AEDA-3F840ABF3770}"/>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defRPr sz="1575" b="0">
                <a:solidFill>
                  <a:srgbClr val="526778"/>
                </a:solidFill>
                <a:latin typeface="Arial"/>
                <a:ea typeface="Arial"/>
                <a:cs typeface="Arial"/>
              </a:defRPr>
            </a:pPr>
            <a:r>
              <a:rPr sz="1575" b="0">
                <a:solidFill>
                  <a:srgbClr val="526778"/>
                </a:solidFill>
                <a:latin typeface="Arial"/>
                <a:ea typeface="Arial"/>
                <a:cs typeface="Arial"/>
              </a:rPr>
              <a:t>Después de cada adición cambia la frontera sobre la que actúa el siguiente gen</a:t>
            </a:r>
          </a:p>
        </p:txBody>
      </p:sp>
    </p:spTree>
    <p:extLst>
      <p:ext uri="{BB962C8B-B14F-4D97-AF65-F5344CB8AC3E}">
        <p14:creationId xmlns:p14="http://schemas.microsoft.com/office/powerpoint/2010/main" val="20821255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EFBC985-30A7-4512-9420-5CAD0523984D}"/>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Crecimiento del mismo cromosoma</a:t>
            </a:r>
          </a:p>
        </p:txBody>
      </p:sp>
      <p:sp>
        <p:nvSpPr>
          <p:cNvPr id="2" name="">
            <a:extLst xmlns:a="http://schemas.openxmlformats.org/drawingml/2006/main">
              <a:ext uri="{FF2B5EF4-FFF2-40B4-BE49-F238E27FC236}">
                <a16:creationId xmlns:a16="http://schemas.microsoft.com/office/drawing/2014/main" id="{00D2F51E-2D75-48BF-B45C-FC98E89874FD}"/>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CF728C10-8752-4165-8B63-0777462F585D}"/>
              </a:ext>
            </a:extLst>
          </p:cNvPr>
          <p:cNvSpPr>
            <a:spLocks xmlns:a="http://schemas.openxmlformats.org/drawingml/2006/main" noGrp="1"/>
          </p:cNvSpPr>
          <p:nvPr/>
        </p:nvSpPr>
        <p:spPr>
          <a:xfrm xmlns:a="http://schemas.openxmlformats.org/drawingml/2006/main">
            <a:off x="571500" y="1600200"/>
            <a:ext cx="2124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Semilla</a:t>
            </a:r>
          </a:p>
        </p:txBody>
      </p:sp>
      <p:graphicFrame>
        <p:nvGraphicFramePr>
          <p:cNvPr id="4" name="">
            <a:extLst xmlns:a="http://schemas.openxmlformats.org/drawingml/2006/main">
              <a:ext uri="{FF2B5EF4-FFF2-40B4-BE49-F238E27FC236}">
                <a16:creationId xmlns:a16="http://schemas.microsoft.com/office/drawing/2014/main" id="{34EEEDA7-55B4-4FEB-9CD0-31A89ACEF6B5}"/>
              </a:ext>
            </a:extLst>
          </p:cNvPr>
          <p:cNvGraphicFramePr/>
          <p:nvPr/>
        </p:nvGraphicFramePr>
        <p:xfrm>
          <a:off xmlns:a="http://schemas.openxmlformats.org/drawingml/2006/main" x="571500" y="2228850"/>
          <a:ext xmlns:a="http://schemas.openxmlformats.org/drawingml/2006/main" cx="2009775" cy="1714500"/>
        </p:xfrm>
        <a:graphic xmlns:a="http://schemas.openxmlformats.org/drawingml/2006/main">
          <a:graphicData uri="http://schemas.openxmlformats.org/drawingml/2006/table">
            <a:tbl>
              <a:tblPr/>
              <a:tblGrid>
                <a:gridCol w="334963"/>
                <a:gridCol w="334963"/>
                <a:gridCol w="334963"/>
                <a:gridCol w="334963"/>
                <a:gridCol w="334963"/>
                <a:gridCol w="334963"/>
              </a:tblGrid>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C7902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5" name="">
            <a:extLst xmlns:a="http://schemas.openxmlformats.org/drawingml/2006/main">
              <a:ext uri="{FF2B5EF4-FFF2-40B4-BE49-F238E27FC236}">
                <a16:creationId xmlns:a16="http://schemas.microsoft.com/office/drawing/2014/main" id="{C5041558-3B97-40AE-A111-D032973BDD8D}"/>
              </a:ext>
            </a:extLst>
          </p:cNvPr>
          <p:cNvSpPr>
            <a:spLocks xmlns:a="http://schemas.openxmlformats.org/drawingml/2006/main" noGrp="1"/>
          </p:cNvSpPr>
          <p:nvPr/>
        </p:nvSpPr>
        <p:spPr>
          <a:xfrm xmlns:a="http://schemas.openxmlformats.org/drawingml/2006/main">
            <a:off x="571500" y="4162425"/>
            <a:ext cx="2085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183B4E"/>
                </a:solidFill>
                <a:latin typeface="Arial"/>
                <a:ea typeface="Arial"/>
                <a:cs typeface="Arial"/>
              </a:defRPr>
            </a:defPPr>
          </a:lstStyle>
          <a:p xmlns:a="http://schemas.openxmlformats.org/drawingml/2006/main">
            <a:pPr>
              <a:defRPr sz="1950" b="1">
                <a:solidFill>
                  <a:srgbClr val="183B4E"/>
                </a:solidFill>
                <a:latin typeface="Arial"/>
                <a:ea typeface="Arial"/>
                <a:cs typeface="Arial"/>
              </a:defRPr>
            </a:pPr>
            <a:r>
              <a:rPr sz="1950" b="1">
                <a:solidFill>
                  <a:srgbClr val="183B4E"/>
                </a:solidFill>
                <a:latin typeface="Arial"/>
                <a:ea typeface="Arial"/>
                <a:cs typeface="Arial"/>
              </a:rPr>
              <a:t>1 celda</a:t>
            </a:r>
          </a:p>
        </p:txBody>
      </p:sp>
      <p:sp>
        <p:nvSpPr>
          <p:cNvPr id="6" name="">
            <a:extLst xmlns:a="http://schemas.openxmlformats.org/drawingml/2006/main">
              <a:ext uri="{FF2B5EF4-FFF2-40B4-BE49-F238E27FC236}">
                <a16:creationId xmlns:a16="http://schemas.microsoft.com/office/drawing/2014/main" id="{1A318D10-9A2C-4480-A9FD-9DBF2B3B4DAE}"/>
              </a:ext>
            </a:extLst>
          </p:cNvPr>
          <p:cNvSpPr>
            <a:spLocks xmlns:a="http://schemas.openxmlformats.org/drawingml/2006/main" noGrp="1"/>
          </p:cNvSpPr>
          <p:nvPr/>
        </p:nvSpPr>
        <p:spPr>
          <a:xfrm xmlns:a="http://schemas.openxmlformats.org/drawingml/2006/main">
            <a:off x="2828925" y="1600200"/>
            <a:ext cx="2124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Hasta g1</a:t>
            </a:r>
          </a:p>
        </p:txBody>
      </p:sp>
      <p:graphicFrame>
        <p:nvGraphicFramePr>
          <p:cNvPr id="7" name="">
            <a:extLst xmlns:a="http://schemas.openxmlformats.org/drawingml/2006/main">
              <a:ext uri="{FF2B5EF4-FFF2-40B4-BE49-F238E27FC236}">
                <a16:creationId xmlns:a16="http://schemas.microsoft.com/office/drawing/2014/main" id="{DED4A5A8-09D5-4FE0-BA50-D686498533B2}"/>
              </a:ext>
            </a:extLst>
          </p:cNvPr>
          <p:cNvGraphicFramePr/>
          <p:nvPr/>
        </p:nvGraphicFramePr>
        <p:xfrm>
          <a:off xmlns:a="http://schemas.openxmlformats.org/drawingml/2006/main" x="2828925" y="2228850"/>
          <a:ext xmlns:a="http://schemas.openxmlformats.org/drawingml/2006/main" cx="2009775" cy="1714500"/>
        </p:xfrm>
        <a:graphic xmlns:a="http://schemas.openxmlformats.org/drawingml/2006/main">
          <a:graphicData uri="http://schemas.openxmlformats.org/drawingml/2006/table">
            <a:tbl>
              <a:tblPr/>
              <a:tblGrid>
                <a:gridCol w="334963"/>
                <a:gridCol w="334963"/>
                <a:gridCol w="334963"/>
                <a:gridCol w="334963"/>
                <a:gridCol w="334963"/>
                <a:gridCol w="334963"/>
              </a:tblGrid>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C7902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8" name="">
            <a:extLst xmlns:a="http://schemas.openxmlformats.org/drawingml/2006/main">
              <a:ext uri="{FF2B5EF4-FFF2-40B4-BE49-F238E27FC236}">
                <a16:creationId xmlns:a16="http://schemas.microsoft.com/office/drawing/2014/main" id="{A69D77D0-9EFC-4FF8-9A68-B4AC29A5C333}"/>
              </a:ext>
            </a:extLst>
          </p:cNvPr>
          <p:cNvSpPr>
            <a:spLocks xmlns:a="http://schemas.openxmlformats.org/drawingml/2006/main" noGrp="1"/>
          </p:cNvSpPr>
          <p:nvPr/>
        </p:nvSpPr>
        <p:spPr>
          <a:xfrm xmlns:a="http://schemas.openxmlformats.org/drawingml/2006/main">
            <a:off x="2828925" y="4162425"/>
            <a:ext cx="2085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183B4E"/>
                </a:solidFill>
                <a:latin typeface="Arial"/>
                <a:ea typeface="Arial"/>
                <a:cs typeface="Arial"/>
              </a:defRPr>
            </a:defPPr>
          </a:lstStyle>
          <a:p xmlns:a="http://schemas.openxmlformats.org/drawingml/2006/main">
            <a:pPr>
              <a:defRPr sz="1950" b="1">
                <a:solidFill>
                  <a:srgbClr val="183B4E"/>
                </a:solidFill>
                <a:latin typeface="Arial"/>
                <a:ea typeface="Arial"/>
                <a:cs typeface="Arial"/>
              </a:defRPr>
            </a:pPr>
            <a:r>
              <a:rPr sz="1950" b="1">
                <a:solidFill>
                  <a:srgbClr val="183B4E"/>
                </a:solidFill>
                <a:latin typeface="Arial"/>
                <a:ea typeface="Arial"/>
                <a:cs typeface="Arial"/>
              </a:rPr>
              <a:t>2 celdas</a:t>
            </a:r>
          </a:p>
        </p:txBody>
      </p:sp>
      <p:sp>
        <p:nvSpPr>
          <p:cNvPr id="9" name="">
            <a:extLst xmlns:a="http://schemas.openxmlformats.org/drawingml/2006/main">
              <a:ext uri="{FF2B5EF4-FFF2-40B4-BE49-F238E27FC236}">
                <a16:creationId xmlns:a16="http://schemas.microsoft.com/office/drawing/2014/main" id="{23EE3CC1-DD5C-4A77-9749-8BF6A09F6986}"/>
              </a:ext>
            </a:extLst>
          </p:cNvPr>
          <p:cNvSpPr>
            <a:spLocks xmlns:a="http://schemas.openxmlformats.org/drawingml/2006/main" noGrp="1"/>
          </p:cNvSpPr>
          <p:nvPr/>
        </p:nvSpPr>
        <p:spPr>
          <a:xfrm xmlns:a="http://schemas.openxmlformats.org/drawingml/2006/main">
            <a:off x="5086350" y="1600200"/>
            <a:ext cx="2124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Hasta g2</a:t>
            </a:r>
          </a:p>
        </p:txBody>
      </p:sp>
      <p:graphicFrame>
        <p:nvGraphicFramePr>
          <p:cNvPr id="10" name="">
            <a:extLst xmlns:a="http://schemas.openxmlformats.org/drawingml/2006/main">
              <a:ext uri="{FF2B5EF4-FFF2-40B4-BE49-F238E27FC236}">
                <a16:creationId xmlns:a16="http://schemas.microsoft.com/office/drawing/2014/main" id="{7848ACD0-6BDE-46E4-A5EA-27D9CCB94CE3}"/>
              </a:ext>
            </a:extLst>
          </p:cNvPr>
          <p:cNvGraphicFramePr/>
          <p:nvPr/>
        </p:nvGraphicFramePr>
        <p:xfrm>
          <a:off xmlns:a="http://schemas.openxmlformats.org/drawingml/2006/main" x="5086350" y="2228850"/>
          <a:ext xmlns:a="http://schemas.openxmlformats.org/drawingml/2006/main" cx="2009775" cy="1714500"/>
        </p:xfrm>
        <a:graphic xmlns:a="http://schemas.openxmlformats.org/drawingml/2006/main">
          <a:graphicData uri="http://schemas.openxmlformats.org/drawingml/2006/table">
            <a:tbl>
              <a:tblPr/>
              <a:tblGrid>
                <a:gridCol w="334963"/>
                <a:gridCol w="334963"/>
                <a:gridCol w="334963"/>
                <a:gridCol w="334963"/>
                <a:gridCol w="334963"/>
                <a:gridCol w="334963"/>
              </a:tblGrid>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C7902C"/>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11" name="">
            <a:extLst xmlns:a="http://schemas.openxmlformats.org/drawingml/2006/main">
              <a:ext uri="{FF2B5EF4-FFF2-40B4-BE49-F238E27FC236}">
                <a16:creationId xmlns:a16="http://schemas.microsoft.com/office/drawing/2014/main" id="{CBA51524-D61D-4ED3-AF04-2DF2B3606E68}"/>
              </a:ext>
            </a:extLst>
          </p:cNvPr>
          <p:cNvSpPr>
            <a:spLocks xmlns:a="http://schemas.openxmlformats.org/drawingml/2006/main" noGrp="1"/>
          </p:cNvSpPr>
          <p:nvPr/>
        </p:nvSpPr>
        <p:spPr>
          <a:xfrm xmlns:a="http://schemas.openxmlformats.org/drawingml/2006/main">
            <a:off x="5086350" y="4162425"/>
            <a:ext cx="2085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183B4E"/>
                </a:solidFill>
                <a:latin typeface="Arial"/>
                <a:ea typeface="Arial"/>
                <a:cs typeface="Arial"/>
              </a:defRPr>
            </a:defPPr>
          </a:lstStyle>
          <a:p xmlns:a="http://schemas.openxmlformats.org/drawingml/2006/main">
            <a:pPr>
              <a:defRPr sz="1950" b="1">
                <a:solidFill>
                  <a:srgbClr val="183B4E"/>
                </a:solidFill>
                <a:latin typeface="Arial"/>
                <a:ea typeface="Arial"/>
                <a:cs typeface="Arial"/>
              </a:defRPr>
            </a:pPr>
            <a:r>
              <a:rPr sz="1950" b="1">
                <a:solidFill>
                  <a:srgbClr val="183B4E"/>
                </a:solidFill>
                <a:latin typeface="Arial"/>
                <a:ea typeface="Arial"/>
                <a:cs typeface="Arial"/>
              </a:rPr>
              <a:t>3 celdas</a:t>
            </a:r>
          </a:p>
        </p:txBody>
      </p:sp>
      <p:sp>
        <p:nvSpPr>
          <p:cNvPr id="12" name="">
            <a:extLst xmlns:a="http://schemas.openxmlformats.org/drawingml/2006/main">
              <a:ext uri="{FF2B5EF4-FFF2-40B4-BE49-F238E27FC236}">
                <a16:creationId xmlns:a16="http://schemas.microsoft.com/office/drawing/2014/main" id="{F4521E80-0B04-4844-A0C5-20EC41187782}"/>
              </a:ext>
            </a:extLst>
          </p:cNvPr>
          <p:cNvSpPr>
            <a:spLocks xmlns:a="http://schemas.openxmlformats.org/drawingml/2006/main" noGrp="1"/>
          </p:cNvSpPr>
          <p:nvPr/>
        </p:nvSpPr>
        <p:spPr>
          <a:xfrm xmlns:a="http://schemas.openxmlformats.org/drawingml/2006/main">
            <a:off x="7343775" y="1600200"/>
            <a:ext cx="2124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Hasta g3</a:t>
            </a:r>
          </a:p>
        </p:txBody>
      </p:sp>
      <p:graphicFrame>
        <p:nvGraphicFramePr>
          <p:cNvPr id="13" name="">
            <a:extLst xmlns:a="http://schemas.openxmlformats.org/drawingml/2006/main">
              <a:ext uri="{FF2B5EF4-FFF2-40B4-BE49-F238E27FC236}">
                <a16:creationId xmlns:a16="http://schemas.microsoft.com/office/drawing/2014/main" id="{790827A3-74F2-461A-B01D-DEB61124DED7}"/>
              </a:ext>
            </a:extLst>
          </p:cNvPr>
          <p:cNvGraphicFramePr/>
          <p:nvPr/>
        </p:nvGraphicFramePr>
        <p:xfrm>
          <a:off xmlns:a="http://schemas.openxmlformats.org/drawingml/2006/main" x="7343775" y="2228850"/>
          <a:ext xmlns:a="http://schemas.openxmlformats.org/drawingml/2006/main" cx="2009775" cy="1714500"/>
        </p:xfrm>
        <a:graphic xmlns:a="http://schemas.openxmlformats.org/drawingml/2006/main">
          <a:graphicData uri="http://schemas.openxmlformats.org/drawingml/2006/table">
            <a:tbl>
              <a:tblPr/>
              <a:tblGrid>
                <a:gridCol w="334963"/>
                <a:gridCol w="334963"/>
                <a:gridCol w="334963"/>
                <a:gridCol w="334963"/>
                <a:gridCol w="334963"/>
                <a:gridCol w="334963"/>
              </a:tblGrid>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C7902C"/>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14" name="">
            <a:extLst xmlns:a="http://schemas.openxmlformats.org/drawingml/2006/main">
              <a:ext uri="{FF2B5EF4-FFF2-40B4-BE49-F238E27FC236}">
                <a16:creationId xmlns:a16="http://schemas.microsoft.com/office/drawing/2014/main" id="{7E3F874E-865E-4938-8823-697963D47480}"/>
              </a:ext>
            </a:extLst>
          </p:cNvPr>
          <p:cNvSpPr>
            <a:spLocks xmlns:a="http://schemas.openxmlformats.org/drawingml/2006/main" noGrp="1"/>
          </p:cNvSpPr>
          <p:nvPr/>
        </p:nvSpPr>
        <p:spPr>
          <a:xfrm xmlns:a="http://schemas.openxmlformats.org/drawingml/2006/main">
            <a:off x="7343775" y="4162425"/>
            <a:ext cx="2085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183B4E"/>
                </a:solidFill>
                <a:latin typeface="Arial"/>
                <a:ea typeface="Arial"/>
                <a:cs typeface="Arial"/>
              </a:defRPr>
            </a:defPPr>
          </a:lstStyle>
          <a:p xmlns:a="http://schemas.openxmlformats.org/drawingml/2006/main">
            <a:pPr>
              <a:defRPr sz="1950" b="1">
                <a:solidFill>
                  <a:srgbClr val="183B4E"/>
                </a:solidFill>
                <a:latin typeface="Arial"/>
                <a:ea typeface="Arial"/>
                <a:cs typeface="Arial"/>
              </a:defRPr>
            </a:pPr>
            <a:r>
              <a:rPr sz="1950" b="1">
                <a:solidFill>
                  <a:srgbClr val="183B4E"/>
                </a:solidFill>
                <a:latin typeface="Arial"/>
                <a:ea typeface="Arial"/>
                <a:cs typeface="Arial"/>
              </a:rPr>
              <a:t>4 celdas</a:t>
            </a:r>
          </a:p>
        </p:txBody>
      </p:sp>
      <p:sp>
        <p:nvSpPr>
          <p:cNvPr id="15" name="">
            <a:extLst xmlns:a="http://schemas.openxmlformats.org/drawingml/2006/main">
              <a:ext uri="{FF2B5EF4-FFF2-40B4-BE49-F238E27FC236}">
                <a16:creationId xmlns:a16="http://schemas.microsoft.com/office/drawing/2014/main" id="{995B60E7-F07E-4681-A225-8EEAF7E504FE}"/>
              </a:ext>
            </a:extLst>
          </p:cNvPr>
          <p:cNvSpPr>
            <a:spLocks xmlns:a="http://schemas.openxmlformats.org/drawingml/2006/main" noGrp="1"/>
          </p:cNvSpPr>
          <p:nvPr/>
        </p:nvSpPr>
        <p:spPr>
          <a:xfrm xmlns:a="http://schemas.openxmlformats.org/drawingml/2006/main">
            <a:off x="9601200" y="1600200"/>
            <a:ext cx="2124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Hasta g4</a:t>
            </a:r>
          </a:p>
        </p:txBody>
      </p:sp>
      <p:graphicFrame>
        <p:nvGraphicFramePr>
          <p:cNvPr id="16" name="">
            <a:extLst xmlns:a="http://schemas.openxmlformats.org/drawingml/2006/main">
              <a:ext uri="{FF2B5EF4-FFF2-40B4-BE49-F238E27FC236}">
                <a16:creationId xmlns:a16="http://schemas.microsoft.com/office/drawing/2014/main" id="{5B69E4DC-0A18-4985-9849-02147BFE1F8C}"/>
              </a:ext>
            </a:extLst>
          </p:cNvPr>
          <p:cNvGraphicFramePr/>
          <p:nvPr/>
        </p:nvGraphicFramePr>
        <p:xfrm>
          <a:off xmlns:a="http://schemas.openxmlformats.org/drawingml/2006/main" x="9601200" y="2228850"/>
          <a:ext xmlns:a="http://schemas.openxmlformats.org/drawingml/2006/main" cx="2009775" cy="1714500"/>
        </p:xfrm>
        <a:graphic xmlns:a="http://schemas.openxmlformats.org/drawingml/2006/main">
          <a:graphicData uri="http://schemas.openxmlformats.org/drawingml/2006/table">
            <a:tbl>
              <a:tblPr/>
              <a:tblGrid>
                <a:gridCol w="334963"/>
                <a:gridCol w="334963"/>
                <a:gridCol w="334963"/>
                <a:gridCol w="334963"/>
                <a:gridCol w="334963"/>
                <a:gridCol w="334963"/>
              </a:tblGrid>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C7902C"/>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17" name="">
            <a:extLst xmlns:a="http://schemas.openxmlformats.org/drawingml/2006/main">
              <a:ext uri="{FF2B5EF4-FFF2-40B4-BE49-F238E27FC236}">
                <a16:creationId xmlns:a16="http://schemas.microsoft.com/office/drawing/2014/main" id="{D1B7ED99-117D-455F-A039-6DEDD584BD7B}"/>
              </a:ext>
            </a:extLst>
          </p:cNvPr>
          <p:cNvSpPr>
            <a:spLocks xmlns:a="http://schemas.openxmlformats.org/drawingml/2006/main" noGrp="1"/>
          </p:cNvSpPr>
          <p:nvPr/>
        </p:nvSpPr>
        <p:spPr>
          <a:xfrm xmlns:a="http://schemas.openxmlformats.org/drawingml/2006/main">
            <a:off x="9601200" y="4162425"/>
            <a:ext cx="2085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183B4E"/>
                </a:solidFill>
                <a:latin typeface="Arial"/>
                <a:ea typeface="Arial"/>
                <a:cs typeface="Arial"/>
              </a:defRPr>
            </a:defPPr>
          </a:lstStyle>
          <a:p xmlns:a="http://schemas.openxmlformats.org/drawingml/2006/main">
            <a:pPr>
              <a:defRPr sz="1950" b="1">
                <a:solidFill>
                  <a:srgbClr val="183B4E"/>
                </a:solidFill>
                <a:latin typeface="Arial"/>
                <a:ea typeface="Arial"/>
                <a:cs typeface="Arial"/>
              </a:defRPr>
            </a:pPr>
            <a:r>
              <a:rPr sz="1950" b="1">
                <a:solidFill>
                  <a:srgbClr val="183B4E"/>
                </a:solidFill>
                <a:latin typeface="Arial"/>
                <a:ea typeface="Arial"/>
                <a:cs typeface="Arial"/>
              </a:rPr>
              <a:t>5 celdas</a:t>
            </a:r>
          </a:p>
        </p:txBody>
      </p:sp>
      <p:graphicFrame>
        <p:nvGraphicFramePr>
          <p:cNvPr id="18" name="">
            <a:extLst xmlns:a="http://schemas.openxmlformats.org/drawingml/2006/main">
              <a:ext uri="{FF2B5EF4-FFF2-40B4-BE49-F238E27FC236}">
                <a16:creationId xmlns:a16="http://schemas.microsoft.com/office/drawing/2014/main" id="{C8EEAFFA-8C2D-4349-A51B-148F10F7971A}"/>
              </a:ext>
            </a:extLst>
          </p:cNvPr>
          <p:cNvGraphicFramePr/>
          <p:nvPr/>
        </p:nvGraphicFramePr>
        <p:xfrm>
          <a:off xmlns:a="http://schemas.openxmlformats.org/drawingml/2006/main" x="571500" y="4943475"/>
          <a:ext xmlns:a="http://schemas.openxmlformats.org/drawingml/2006/main" cx="11049000" cy="885825"/>
        </p:xfrm>
        <a:graphic xmlns:a="http://schemas.openxmlformats.org/drawingml/2006/main">
          <a:graphicData uri="http://schemas.openxmlformats.org/drawingml/2006/table">
            <a:tbl>
              <a:tblPr/>
              <a:tblGrid>
                <a:gridCol w="2286000"/>
                <a:gridCol w="1752600"/>
                <a:gridCol w="1752600"/>
                <a:gridCol w="1752600"/>
                <a:gridCol w="1752600"/>
                <a:gridCol w="1752600"/>
              </a:tblGrid>
              <a:tr h="442913">
                <a:tc>
                  <a:txBody>
                    <a:bodyPr/>
                    <a:lstStyle/>
                    <a:p>
                      <a:r>
                        <a:rPr sz="1650" b="1">
                          <a:solidFill>
                            <a:srgbClr val="FFFFFF"/>
                          </a:solidFill>
                          <a:latin typeface="Arial"/>
                          <a:ea typeface="Arial"/>
                          <a:cs typeface="Arial"/>
                        </a:rPr>
                        <a:t>Paso</a:t>
                      </a:r>
                    </a:p>
                  </a:txBody>
                  <a:tcPr marL="91440" marR="91440" marT="45720" marB="45720">
                    <a:solidFill>
                      <a:srgbClr val="102A43"/>
                    </a:solidFill>
                  </a:tcPr>
                </a:tc>
                <a:tc>
                  <a:txBody>
                    <a:bodyPr/>
                    <a:lstStyle/>
                    <a:p>
                      <a:r>
                        <a:rPr sz="1650" b="1">
                          <a:solidFill>
                            <a:srgbClr val="FFFFFF"/>
                          </a:solidFill>
                          <a:latin typeface="Arial"/>
                          <a:ea typeface="Arial"/>
                          <a:cs typeface="Arial"/>
                        </a:rPr>
                        <a:t>Semilla</a:t>
                      </a:r>
                    </a:p>
                  </a:txBody>
                  <a:tcPr marL="91440" marR="91440" marT="45720" marB="45720">
                    <a:solidFill>
                      <a:srgbClr val="102A43"/>
                    </a:solidFill>
                  </a:tcPr>
                </a:tc>
                <a:tc>
                  <a:txBody>
                    <a:bodyPr/>
                    <a:lstStyle/>
                    <a:p>
                      <a:r>
                        <a:rPr sz="1650" b="1">
                          <a:solidFill>
                            <a:srgbClr val="FFFFFF"/>
                          </a:solidFill>
                          <a:latin typeface="Arial"/>
                          <a:ea typeface="Arial"/>
                          <a:cs typeface="Arial"/>
                        </a:rPr>
                        <a:t>g1</a:t>
                      </a:r>
                    </a:p>
                  </a:txBody>
                  <a:tcPr marL="91440" marR="91440" marT="45720" marB="45720">
                    <a:solidFill>
                      <a:srgbClr val="102A43"/>
                    </a:solidFill>
                  </a:tcPr>
                </a:tc>
                <a:tc>
                  <a:txBody>
                    <a:bodyPr/>
                    <a:lstStyle/>
                    <a:p>
                      <a:r>
                        <a:rPr sz="1650" b="1">
                          <a:solidFill>
                            <a:srgbClr val="FFFFFF"/>
                          </a:solidFill>
                          <a:latin typeface="Arial"/>
                          <a:ea typeface="Arial"/>
                          <a:cs typeface="Arial"/>
                        </a:rPr>
                        <a:t>g2</a:t>
                      </a:r>
                    </a:p>
                  </a:txBody>
                  <a:tcPr marL="91440" marR="91440" marT="45720" marB="45720">
                    <a:solidFill>
                      <a:srgbClr val="102A43"/>
                    </a:solidFill>
                  </a:tcPr>
                </a:tc>
                <a:tc>
                  <a:txBody>
                    <a:bodyPr/>
                    <a:lstStyle/>
                    <a:p>
                      <a:r>
                        <a:rPr sz="1650" b="1">
                          <a:solidFill>
                            <a:srgbClr val="FFFFFF"/>
                          </a:solidFill>
                          <a:latin typeface="Arial"/>
                          <a:ea typeface="Arial"/>
                          <a:cs typeface="Arial"/>
                        </a:rPr>
                        <a:t>g3</a:t>
                      </a:r>
                    </a:p>
                  </a:txBody>
                  <a:tcPr marL="91440" marR="91440" marT="45720" marB="45720">
                    <a:solidFill>
                      <a:srgbClr val="102A43"/>
                    </a:solidFill>
                  </a:tcPr>
                </a:tc>
                <a:tc>
                  <a:txBody>
                    <a:bodyPr/>
                    <a:lstStyle/>
                    <a:p>
                      <a:r>
                        <a:rPr sz="1650" b="1">
                          <a:solidFill>
                            <a:srgbClr val="FFFFFF"/>
                          </a:solidFill>
                          <a:latin typeface="Arial"/>
                          <a:ea typeface="Arial"/>
                          <a:cs typeface="Arial"/>
                        </a:rPr>
                        <a:t>g4</a:t>
                      </a:r>
                    </a:p>
                  </a:txBody>
                  <a:tcPr marL="91440" marR="91440" marT="45720" marB="45720">
                    <a:solidFill>
                      <a:srgbClr val="102A43"/>
                    </a:solidFill>
                  </a:tcPr>
                </a:tc>
              </a:tr>
              <a:tr h="442913">
                <a:tc>
                  <a:txBody>
                    <a:bodyPr/>
                    <a:lstStyle/>
                    <a:p>
                      <a:r>
                        <a:rPr sz="1650" b="0">
                          <a:solidFill>
                            <a:srgbClr val="183B4E"/>
                          </a:solidFill>
                          <a:latin typeface="Arial"/>
                          <a:ea typeface="Arial"/>
                          <a:cs typeface="Arial"/>
                        </a:rPr>
                        <a:t>Celda incorporada</a:t>
                      </a:r>
                    </a:p>
                  </a:txBody>
                  <a:tcPr marL="91440" marR="91440" marT="45720" marB="45720">
                    <a:solidFill>
                      <a:srgbClr val="FFFFFF"/>
                    </a:solidFill>
                  </a:tcPr>
                </a:tc>
                <a:tc>
                  <a:txBody>
                    <a:bodyPr/>
                    <a:lstStyle/>
                    <a:p>
                      <a:r>
                        <a:rPr sz="1650" b="0">
                          <a:solidFill>
                            <a:srgbClr val="183B4E"/>
                          </a:solidFill>
                          <a:latin typeface="Arial"/>
                          <a:ea typeface="Arial"/>
                          <a:cs typeface="Arial"/>
                        </a:rPr>
                        <a:t>46.504</a:t>
                      </a:r>
                    </a:p>
                  </a:txBody>
                  <a:tcPr marL="91440" marR="91440" marT="45720" marB="45720">
                    <a:solidFill>
                      <a:srgbClr val="FFFFFF"/>
                    </a:solidFill>
                  </a:tcPr>
                </a:tc>
                <a:tc>
                  <a:txBody>
                    <a:bodyPr/>
                    <a:lstStyle/>
                    <a:p>
                      <a:r>
                        <a:rPr sz="1650" b="0">
                          <a:solidFill>
                            <a:srgbClr val="183B4E"/>
                          </a:solidFill>
                          <a:latin typeface="Arial"/>
                          <a:ea typeface="Arial"/>
                          <a:cs typeface="Arial"/>
                        </a:rPr>
                        <a:t>46.503</a:t>
                      </a:r>
                    </a:p>
                  </a:txBody>
                  <a:tcPr marL="91440" marR="91440" marT="45720" marB="45720">
                    <a:solidFill>
                      <a:srgbClr val="FFFFFF"/>
                    </a:solidFill>
                  </a:tcPr>
                </a:tc>
                <a:tc>
                  <a:txBody>
                    <a:bodyPr/>
                    <a:lstStyle/>
                    <a:p>
                      <a:r>
                        <a:rPr sz="1650" b="0">
                          <a:solidFill>
                            <a:srgbClr val="183B4E"/>
                          </a:solidFill>
                          <a:latin typeface="Arial"/>
                          <a:ea typeface="Arial"/>
                          <a:cs typeface="Arial"/>
                        </a:rPr>
                        <a:t>46.505</a:t>
                      </a:r>
                    </a:p>
                  </a:txBody>
                  <a:tcPr marL="91440" marR="91440" marT="45720" marB="45720">
                    <a:solidFill>
                      <a:srgbClr val="FFFFFF"/>
                    </a:solidFill>
                  </a:tcPr>
                </a:tc>
                <a:tc>
                  <a:txBody>
                    <a:bodyPr/>
                    <a:lstStyle/>
                    <a:p>
                      <a:r>
                        <a:rPr sz="1650" b="0">
                          <a:solidFill>
                            <a:srgbClr val="183B4E"/>
                          </a:solidFill>
                          <a:latin typeface="Arial"/>
                          <a:ea typeface="Arial"/>
                          <a:cs typeface="Arial"/>
                        </a:rPr>
                        <a:t>46.843</a:t>
                      </a:r>
                    </a:p>
                  </a:txBody>
                  <a:tcPr marL="91440" marR="91440" marT="45720" marB="45720">
                    <a:solidFill>
                      <a:srgbClr val="FFFFFF"/>
                    </a:solidFill>
                  </a:tcPr>
                </a:tc>
                <a:tc>
                  <a:txBody>
                    <a:bodyPr/>
                    <a:lstStyle/>
                    <a:p>
                      <a:r>
                        <a:rPr sz="1650" b="0">
                          <a:solidFill>
                            <a:srgbClr val="183B4E"/>
                          </a:solidFill>
                          <a:latin typeface="Arial"/>
                          <a:ea typeface="Arial"/>
                          <a:cs typeface="Arial"/>
                        </a:rPr>
                        <a:t>46.506</a:t>
                      </a:r>
                    </a:p>
                  </a:txBody>
                  <a:tcPr marL="91440" marR="91440" marT="45720" marB="45720">
                    <a:solidFill>
                      <a:srgbClr val="FFFFFF"/>
                    </a:solidFill>
                  </a:tcPr>
                </a:tc>
              </a:tr>
            </a:tbl>
          </a:graphicData>
        </a:graphic>
      </p:graphicFrame>
      <p:sp>
        <p:nvSpPr>
          <p:cNvPr id="19" name="">
            <a:extLst xmlns:a="http://schemas.openxmlformats.org/drawingml/2006/main">
              <a:ext uri="{FF2B5EF4-FFF2-40B4-BE49-F238E27FC236}">
                <a16:creationId xmlns:a16="http://schemas.microsoft.com/office/drawing/2014/main" id="{70084A5F-30AE-4D80-B13E-3C6FB75AD306}"/>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defRPr sz="1575" b="0">
                <a:solidFill>
                  <a:srgbClr val="526778"/>
                </a:solidFill>
                <a:latin typeface="Arial"/>
                <a:ea typeface="Arial"/>
                <a:cs typeface="Arial"/>
              </a:defRPr>
            </a:pPr>
            <a:r>
              <a:rPr sz="1575" b="0">
                <a:solidFill>
                  <a:srgbClr val="526778"/>
                </a:solidFill>
                <a:latin typeface="Arial"/>
                <a:ea typeface="Arial"/>
                <a:cs typeface="Arial"/>
              </a:rPr>
              <a:t>Lectura del genotipo: 1 celda inicial + 4 adiciones = 5 celdas contiguas</a:t>
            </a:r>
          </a:p>
        </p:txBody>
      </p:sp>
    </p:spTree>
    <p:extLst>
      <p:ext uri="{BB962C8B-B14F-4D97-AF65-F5344CB8AC3E}">
        <p14:creationId xmlns:p14="http://schemas.microsoft.com/office/powerpoint/2010/main" val="110562279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9377CF-B38F-49A6-AFBD-F6531D9DB409}"/>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Fitness: cómo comparamos propuestas</a:t>
            </a:r>
          </a:p>
        </p:txBody>
      </p:sp>
      <p:sp>
        <p:nvSpPr>
          <p:cNvPr id="2" name="">
            <a:extLst xmlns:a="http://schemas.openxmlformats.org/drawingml/2006/main">
              <a:ext uri="{FF2B5EF4-FFF2-40B4-BE49-F238E27FC236}">
                <a16:creationId xmlns:a16="http://schemas.microsoft.com/office/drawing/2014/main" id="{04E00229-D96D-430F-83FA-ABDD5DC0FFC6}"/>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84827FAE-F8B3-4E64-B5CD-805C64163890}"/>
              </a:ext>
            </a:extLst>
          </p:cNvPr>
          <p:cNvGraphicFramePr/>
          <p:nvPr/>
        </p:nvGraphicFramePr>
        <p:xfrm>
          <a:off xmlns:a="http://schemas.openxmlformats.org/drawingml/2006/main" x="571500" y="1685925"/>
          <a:ext xmlns:a="http://schemas.openxmlformats.org/drawingml/2006/main" cx="11049000" cy="2981325"/>
        </p:xfrm>
        <a:graphic xmlns:a="http://schemas.openxmlformats.org/drawingml/2006/main">
          <a:graphicData uri="http://schemas.openxmlformats.org/drawingml/2006/table">
            <a:tbl>
              <a:tblPr/>
              <a:tblGrid>
                <a:gridCol w="3810000"/>
                <a:gridCol w="2095500"/>
                <a:gridCol w="2095500"/>
                <a:gridCol w="3048000"/>
              </a:tblGrid>
              <a:tr h="596265">
                <a:tc>
                  <a:txBody>
                    <a:bodyPr/>
                    <a:lstStyle/>
                    <a:p>
                      <a:r>
                        <a:rPr sz="2025" b="1">
                          <a:solidFill>
                            <a:srgbClr val="FFFFFF"/>
                          </a:solidFill>
                          <a:latin typeface="Arial"/>
                          <a:ea typeface="Arial"/>
                          <a:cs typeface="Arial"/>
                        </a:rPr>
                        <a:t>Criterio</a:t>
                      </a:r>
                    </a:p>
                  </a:txBody>
                  <a:tcPr marL="91440" marR="91440" marT="45720" marB="45720">
                    <a:solidFill>
                      <a:srgbClr val="102A43"/>
                    </a:solidFill>
                  </a:tcPr>
                </a:tc>
                <a:tc>
                  <a:txBody>
                    <a:bodyPr/>
                    <a:lstStyle/>
                    <a:p>
                      <a:r>
                        <a:rPr sz="2025" b="1">
                          <a:solidFill>
                            <a:srgbClr val="FFFFFF"/>
                          </a:solidFill>
                          <a:latin typeface="Arial"/>
                          <a:ea typeface="Arial"/>
                          <a:cs typeface="Arial"/>
                        </a:rPr>
                        <a:t>Score</a:t>
                      </a:r>
                    </a:p>
                  </a:txBody>
                  <a:tcPr marL="91440" marR="91440" marT="45720" marB="45720">
                    <a:solidFill>
                      <a:srgbClr val="102A43"/>
                    </a:solidFill>
                  </a:tcPr>
                </a:tc>
                <a:tc>
                  <a:txBody>
                    <a:bodyPr/>
                    <a:lstStyle/>
                    <a:p>
                      <a:r>
                        <a:rPr sz="2025" b="1">
                          <a:solidFill>
                            <a:srgbClr val="FFFFFF"/>
                          </a:solidFill>
                          <a:latin typeface="Arial"/>
                          <a:ea typeface="Arial"/>
                          <a:cs typeface="Arial"/>
                        </a:rPr>
                        <a:t>Peso</a:t>
                      </a:r>
                    </a:p>
                  </a:txBody>
                  <a:tcPr marL="91440" marR="91440" marT="45720" marB="45720">
                    <a:solidFill>
                      <a:srgbClr val="102A43"/>
                    </a:solidFill>
                  </a:tcPr>
                </a:tc>
                <a:tc>
                  <a:txBody>
                    <a:bodyPr/>
                    <a:lstStyle/>
                    <a:p>
                      <a:r>
                        <a:rPr sz="2025" b="1">
                          <a:solidFill>
                            <a:srgbClr val="FFFFFF"/>
                          </a:solidFill>
                          <a:latin typeface="Arial"/>
                          <a:ea typeface="Arial"/>
                          <a:cs typeface="Arial"/>
                        </a:rPr>
                        <a:t>Aporte al fitness</a:t>
                      </a:r>
                    </a:p>
                  </a:txBody>
                  <a:tcPr marL="91440" marR="91440" marT="45720" marB="45720">
                    <a:solidFill>
                      <a:srgbClr val="102A43"/>
                    </a:solidFill>
                  </a:tcPr>
                </a:tc>
              </a:tr>
              <a:tr h="596265">
                <a:tc>
                  <a:txBody>
                    <a:bodyPr/>
                    <a:lstStyle/>
                    <a:p>
                      <a:r>
                        <a:rPr sz="2025" b="0">
                          <a:solidFill>
                            <a:srgbClr val="183B4E"/>
                          </a:solidFill>
                          <a:latin typeface="Arial"/>
                          <a:ea typeface="Arial"/>
                          <a:cs typeface="Arial"/>
                        </a:rPr>
                        <a:t>Radiación solar</a:t>
                      </a:r>
                    </a:p>
                  </a:txBody>
                  <a:tcPr marL="91440" marR="91440" marT="45720" marB="45720">
                    <a:solidFill>
                      <a:srgbClr val="FFFFFF"/>
                    </a:solidFill>
                  </a:tcPr>
                </a:tc>
                <a:tc>
                  <a:txBody>
                    <a:bodyPr/>
                    <a:lstStyle/>
                    <a:p>
                      <a:r>
                        <a:rPr sz="2025" b="0">
                          <a:solidFill>
                            <a:srgbClr val="183B4E"/>
                          </a:solidFill>
                          <a:latin typeface="Arial"/>
                          <a:ea typeface="Arial"/>
                          <a:cs typeface="Arial"/>
                        </a:rPr>
                        <a:t>0,344</a:t>
                      </a:r>
                    </a:p>
                  </a:txBody>
                  <a:tcPr marL="91440" marR="91440" marT="45720" marB="45720">
                    <a:solidFill>
                      <a:srgbClr val="FFFFFF"/>
                    </a:solidFill>
                  </a:tcPr>
                </a:tc>
                <a:tc>
                  <a:txBody>
                    <a:bodyPr/>
                    <a:lstStyle/>
                    <a:p>
                      <a:r>
                        <a:rPr sz="2025" b="0">
                          <a:solidFill>
                            <a:srgbClr val="183B4E"/>
                          </a:solidFill>
                          <a:latin typeface="Arial"/>
                          <a:ea typeface="Arial"/>
                          <a:cs typeface="Arial"/>
                        </a:rPr>
                        <a:t>0,40</a:t>
                      </a:r>
                    </a:p>
                  </a:txBody>
                  <a:tcPr marL="91440" marR="91440" marT="45720" marB="45720">
                    <a:solidFill>
                      <a:srgbClr val="FFFFFF"/>
                    </a:solidFill>
                  </a:tcPr>
                </a:tc>
                <a:tc>
                  <a:txBody>
                    <a:bodyPr/>
                    <a:lstStyle/>
                    <a:p>
                      <a:r>
                        <a:rPr sz="2025" b="0">
                          <a:solidFill>
                            <a:srgbClr val="183B4E"/>
                          </a:solidFill>
                          <a:latin typeface="Arial"/>
                          <a:ea typeface="Arial"/>
                          <a:cs typeface="Arial"/>
                        </a:rPr>
                        <a:t>0,1377</a:t>
                      </a:r>
                    </a:p>
                  </a:txBody>
                  <a:tcPr marL="91440" marR="91440" marT="45720" marB="45720">
                    <a:solidFill>
                      <a:srgbClr val="FFFFFF"/>
                    </a:solidFill>
                  </a:tcPr>
                </a:tc>
              </a:tr>
              <a:tr h="596265">
                <a:tc>
                  <a:txBody>
                    <a:bodyPr/>
                    <a:lstStyle/>
                    <a:p>
                      <a:r>
                        <a:rPr sz="2025" b="0">
                          <a:solidFill>
                            <a:srgbClr val="183B4E"/>
                          </a:solidFill>
                          <a:latin typeface="Arial"/>
                          <a:ea typeface="Arial"/>
                          <a:cs typeface="Arial"/>
                        </a:rPr>
                        <a:t>Proximidad a líneas</a:t>
                      </a:r>
                    </a:p>
                  </a:txBody>
                  <a:tcPr marL="91440" marR="91440" marT="45720" marB="45720">
                    <a:solidFill>
                      <a:srgbClr val="EEF5F5"/>
                    </a:solidFill>
                  </a:tcPr>
                </a:tc>
                <a:tc>
                  <a:txBody>
                    <a:bodyPr/>
                    <a:lstStyle/>
                    <a:p>
                      <a:r>
                        <a:rPr sz="2025" b="0">
                          <a:solidFill>
                            <a:srgbClr val="183B4E"/>
                          </a:solidFill>
                          <a:latin typeface="Arial"/>
                          <a:ea typeface="Arial"/>
                          <a:cs typeface="Arial"/>
                        </a:rPr>
                        <a:t>0,977</a:t>
                      </a:r>
                    </a:p>
                  </a:txBody>
                  <a:tcPr marL="91440" marR="91440" marT="45720" marB="45720">
                    <a:solidFill>
                      <a:srgbClr val="EEF5F5"/>
                    </a:solidFill>
                  </a:tcPr>
                </a:tc>
                <a:tc>
                  <a:txBody>
                    <a:bodyPr/>
                    <a:lstStyle/>
                    <a:p>
                      <a:r>
                        <a:rPr sz="2025" b="0">
                          <a:solidFill>
                            <a:srgbClr val="183B4E"/>
                          </a:solidFill>
                          <a:latin typeface="Arial"/>
                          <a:ea typeface="Arial"/>
                          <a:cs typeface="Arial"/>
                        </a:rPr>
                        <a:t>0,10</a:t>
                      </a:r>
                    </a:p>
                  </a:txBody>
                  <a:tcPr marL="91440" marR="91440" marT="45720" marB="45720">
                    <a:solidFill>
                      <a:srgbClr val="EEF5F5"/>
                    </a:solidFill>
                  </a:tcPr>
                </a:tc>
                <a:tc>
                  <a:txBody>
                    <a:bodyPr/>
                    <a:lstStyle/>
                    <a:p>
                      <a:r>
                        <a:rPr sz="2025" b="0">
                          <a:solidFill>
                            <a:srgbClr val="183B4E"/>
                          </a:solidFill>
                          <a:latin typeface="Arial"/>
                          <a:ea typeface="Arial"/>
                          <a:cs typeface="Arial"/>
                        </a:rPr>
                        <a:t>0,0977</a:t>
                      </a:r>
                    </a:p>
                  </a:txBody>
                  <a:tcPr marL="91440" marR="91440" marT="45720" marB="45720">
                    <a:solidFill>
                      <a:srgbClr val="EEF5F5"/>
                    </a:solidFill>
                  </a:tcPr>
                </a:tc>
              </a:tr>
              <a:tr h="596265">
                <a:tc>
                  <a:txBody>
                    <a:bodyPr/>
                    <a:lstStyle/>
                    <a:p>
                      <a:r>
                        <a:rPr sz="2025" b="0">
                          <a:solidFill>
                            <a:srgbClr val="183B4E"/>
                          </a:solidFill>
                          <a:latin typeface="Arial"/>
                          <a:ea typeface="Arial"/>
                          <a:cs typeface="Arial"/>
                        </a:rPr>
                        <a:t>Proximidad a ET</a:t>
                      </a:r>
                    </a:p>
                  </a:txBody>
                  <a:tcPr marL="91440" marR="91440" marT="45720" marB="45720">
                    <a:solidFill>
                      <a:srgbClr val="FFFFFF"/>
                    </a:solidFill>
                  </a:tcPr>
                </a:tc>
                <a:tc>
                  <a:txBody>
                    <a:bodyPr/>
                    <a:lstStyle/>
                    <a:p>
                      <a:r>
                        <a:rPr sz="2025" b="0">
                          <a:solidFill>
                            <a:srgbClr val="183B4E"/>
                          </a:solidFill>
                          <a:latin typeface="Arial"/>
                          <a:ea typeface="Arial"/>
                          <a:cs typeface="Arial"/>
                        </a:rPr>
                        <a:t>0,749</a:t>
                      </a:r>
                    </a:p>
                  </a:txBody>
                  <a:tcPr marL="91440" marR="91440" marT="45720" marB="45720">
                    <a:solidFill>
                      <a:srgbClr val="FFFFFF"/>
                    </a:solidFill>
                  </a:tcPr>
                </a:tc>
                <a:tc>
                  <a:txBody>
                    <a:bodyPr/>
                    <a:lstStyle/>
                    <a:p>
                      <a:r>
                        <a:rPr sz="2025" b="0">
                          <a:solidFill>
                            <a:srgbClr val="183B4E"/>
                          </a:solidFill>
                          <a:latin typeface="Arial"/>
                          <a:ea typeface="Arial"/>
                          <a:cs typeface="Arial"/>
                        </a:rPr>
                        <a:t>0,40</a:t>
                      </a:r>
                    </a:p>
                  </a:txBody>
                  <a:tcPr marL="91440" marR="91440" marT="45720" marB="45720">
                    <a:solidFill>
                      <a:srgbClr val="FFFFFF"/>
                    </a:solidFill>
                  </a:tcPr>
                </a:tc>
                <a:tc>
                  <a:txBody>
                    <a:bodyPr/>
                    <a:lstStyle/>
                    <a:p>
                      <a:r>
                        <a:rPr sz="2025" b="0">
                          <a:solidFill>
                            <a:srgbClr val="183B4E"/>
                          </a:solidFill>
                          <a:latin typeface="Arial"/>
                          <a:ea typeface="Arial"/>
                          <a:cs typeface="Arial"/>
                        </a:rPr>
                        <a:t>0,2996</a:t>
                      </a:r>
                    </a:p>
                  </a:txBody>
                  <a:tcPr marL="91440" marR="91440" marT="45720" marB="45720">
                    <a:solidFill>
                      <a:srgbClr val="FFFFFF"/>
                    </a:solidFill>
                  </a:tcPr>
                </a:tc>
              </a:tr>
              <a:tr h="596265">
                <a:tc>
                  <a:txBody>
                    <a:bodyPr/>
                    <a:lstStyle/>
                    <a:p>
                      <a:r>
                        <a:rPr sz="2025" b="0">
                          <a:solidFill>
                            <a:srgbClr val="183B4E"/>
                          </a:solidFill>
                          <a:latin typeface="Arial"/>
                          <a:ea typeface="Arial"/>
                          <a:cs typeface="Arial"/>
                        </a:rPr>
                        <a:t>Potencia / 80 MW</a:t>
                      </a:r>
                    </a:p>
                  </a:txBody>
                  <a:tcPr marL="91440" marR="91440" marT="45720" marB="45720">
                    <a:solidFill>
                      <a:srgbClr val="EEF5F5"/>
                    </a:solidFill>
                  </a:tcPr>
                </a:tc>
                <a:tc>
                  <a:txBody>
                    <a:bodyPr/>
                    <a:lstStyle/>
                    <a:p>
                      <a:r>
                        <a:rPr sz="2025" b="0">
                          <a:solidFill>
                            <a:srgbClr val="183B4E"/>
                          </a:solidFill>
                          <a:latin typeface="Arial"/>
                          <a:ea typeface="Arial"/>
                          <a:cs typeface="Arial"/>
                        </a:rPr>
                        <a:t>0,489</a:t>
                      </a:r>
                    </a:p>
                  </a:txBody>
                  <a:tcPr marL="91440" marR="91440" marT="45720" marB="45720">
                    <a:solidFill>
                      <a:srgbClr val="EEF5F5"/>
                    </a:solidFill>
                  </a:tcPr>
                </a:tc>
                <a:tc>
                  <a:txBody>
                    <a:bodyPr/>
                    <a:lstStyle/>
                    <a:p>
                      <a:r>
                        <a:rPr sz="2025" b="0">
                          <a:solidFill>
                            <a:srgbClr val="183B4E"/>
                          </a:solidFill>
                          <a:latin typeface="Arial"/>
                          <a:ea typeface="Arial"/>
                          <a:cs typeface="Arial"/>
                        </a:rPr>
                        <a:t>0,10</a:t>
                      </a:r>
                    </a:p>
                  </a:txBody>
                  <a:tcPr marL="91440" marR="91440" marT="45720" marB="45720">
                    <a:solidFill>
                      <a:srgbClr val="EEF5F5"/>
                    </a:solidFill>
                  </a:tcPr>
                </a:tc>
                <a:tc>
                  <a:txBody>
                    <a:bodyPr/>
                    <a:lstStyle/>
                    <a:p>
                      <a:r>
                        <a:rPr sz="2025" b="0">
                          <a:solidFill>
                            <a:srgbClr val="183B4E"/>
                          </a:solidFill>
                          <a:latin typeface="Arial"/>
                          <a:ea typeface="Arial"/>
                          <a:cs typeface="Arial"/>
                        </a:rPr>
                        <a:t>0,0489</a:t>
                      </a:r>
                    </a:p>
                  </a:txBody>
                  <a:tcPr marL="91440" marR="91440" marT="45720" marB="45720">
                    <a:solidFill>
                      <a:srgbClr val="EEF5F5"/>
                    </a:solidFill>
                  </a:tcPr>
                </a:tc>
              </a:tr>
            </a:tbl>
          </a:graphicData>
        </a:graphic>
      </p:graphicFrame>
      <p:sp>
        <p:nvSpPr>
          <p:cNvPr id="4" name="">
            <a:extLst xmlns:a="http://schemas.openxmlformats.org/drawingml/2006/main">
              <a:ext uri="{FF2B5EF4-FFF2-40B4-BE49-F238E27FC236}">
                <a16:creationId xmlns:a16="http://schemas.microsoft.com/office/drawing/2014/main" id="{3BAAD62B-7CB5-4D87-B505-39CCE05C3D92}"/>
              </a:ext>
            </a:extLst>
          </p:cNvPr>
          <p:cNvSpPr>
            <a:spLocks xmlns:a="http://schemas.openxmlformats.org/drawingml/2006/main" noGrp="1"/>
          </p:cNvSpPr>
          <p:nvPr/>
        </p:nvSpPr>
        <p:spPr>
          <a:xfrm xmlns:a="http://schemas.openxmlformats.org/drawingml/2006/main">
            <a:off x="571500" y="506730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102A43"/>
                </a:solidFill>
                <a:latin typeface="Arial"/>
                <a:ea typeface="Arial"/>
                <a:cs typeface="Arial"/>
              </a:defRPr>
            </a:defPPr>
          </a:lstStyle>
          <a:p xmlns:a="http://schemas.openxmlformats.org/drawingml/2006/main">
            <a:pPr>
              <a:defRPr sz="2475" b="1">
                <a:solidFill>
                  <a:srgbClr val="102A43"/>
                </a:solidFill>
                <a:latin typeface="Arial"/>
                <a:ea typeface="Arial"/>
                <a:cs typeface="Arial"/>
              </a:defRPr>
            </a:pPr>
            <a:r>
              <a:rPr sz="2475" b="1">
                <a:solidFill>
                  <a:srgbClr val="102A43"/>
                </a:solidFill>
                <a:latin typeface="Arial"/>
                <a:ea typeface="Arial"/>
                <a:cs typeface="Arial"/>
              </a:rPr>
              <a:t>F = 0,40 S + 0,10 L + 0,40 T + 0,10 P</a:t>
            </a:r>
          </a:p>
        </p:txBody>
      </p:sp>
      <p:sp>
        <p:nvSpPr>
          <p:cNvPr id="5" name="">
            <a:extLst xmlns:a="http://schemas.openxmlformats.org/drawingml/2006/main">
              <a:ext uri="{FF2B5EF4-FFF2-40B4-BE49-F238E27FC236}">
                <a16:creationId xmlns:a16="http://schemas.microsoft.com/office/drawing/2014/main" id="{4A1C57C5-3531-4757-9C9A-2C450BC2F960}"/>
              </a:ext>
            </a:extLst>
          </p:cNvPr>
          <p:cNvSpPr>
            <a:spLocks xmlns:a="http://schemas.openxmlformats.org/drawingml/2006/main" noGrp="1"/>
          </p:cNvSpPr>
          <p:nvPr/>
        </p:nvSpPr>
        <p:spPr>
          <a:xfrm xmlns:a="http://schemas.openxmlformats.org/drawingml/2006/main">
            <a:off x="9010650" y="4895850"/>
            <a:ext cx="2543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050" b="1">
                <a:solidFill>
                  <a:srgbClr val="087F8C"/>
                </a:solidFill>
                <a:latin typeface="Arial"/>
                <a:ea typeface="Arial"/>
                <a:cs typeface="Arial"/>
              </a:defRPr>
            </a:defPPr>
          </a:lstStyle>
          <a:p xmlns:a="http://schemas.openxmlformats.org/drawingml/2006/main">
            <a:pPr>
              <a:defRPr sz="4050" b="1">
                <a:solidFill>
                  <a:srgbClr val="087F8C"/>
                </a:solidFill>
                <a:latin typeface="Arial"/>
                <a:ea typeface="Arial"/>
                <a:cs typeface="Arial"/>
              </a:defRPr>
            </a:pPr>
            <a:r>
              <a:rPr sz="4050" b="1">
                <a:solidFill>
                  <a:srgbClr val="087F8C"/>
                </a:solidFill>
                <a:latin typeface="Arial"/>
                <a:ea typeface="Arial"/>
                <a:cs typeface="Arial"/>
              </a:rPr>
              <a:t>0,5839</a:t>
            </a:r>
          </a:p>
        </p:txBody>
      </p:sp>
      <p:sp>
        <p:nvSpPr>
          <p:cNvPr id="6" name="">
            <a:extLst xmlns:a="http://schemas.openxmlformats.org/drawingml/2006/main">
              <a:ext uri="{FF2B5EF4-FFF2-40B4-BE49-F238E27FC236}">
                <a16:creationId xmlns:a16="http://schemas.microsoft.com/office/drawing/2014/main" id="{2ABD80CA-7852-4686-8AEF-59510BD62B1F}"/>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defRPr sz="1575" b="0">
                <a:solidFill>
                  <a:srgbClr val="526778"/>
                </a:solidFill>
                <a:latin typeface="Arial"/>
                <a:ea typeface="Arial"/>
                <a:cs typeface="Arial"/>
              </a:defRPr>
            </a:pPr>
            <a:r>
              <a:rPr sz="1575" b="0">
                <a:solidFill>
                  <a:srgbClr val="526778"/>
                </a:solidFill>
                <a:latin typeface="Arial"/>
                <a:ea typeface="Arial"/>
                <a:cs typeface="Arial"/>
              </a:rPr>
              <a:t>Los pesos permiten expresar prioridades. Requieren análisis de sensibilidad</a:t>
            </a:r>
          </a:p>
        </p:txBody>
      </p:sp>
    </p:spTree>
    <p:extLst>
      <p:ext uri="{BB962C8B-B14F-4D97-AF65-F5344CB8AC3E}">
        <p14:creationId xmlns:p14="http://schemas.microsoft.com/office/powerpoint/2010/main" val="15711082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6053695-1CDF-42A4-9966-85EDECB3647D}"/>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El ciclo de una generación</a:t>
            </a:r>
          </a:p>
        </p:txBody>
      </p:sp>
      <p:sp>
        <p:nvSpPr>
          <p:cNvPr id="2" name="">
            <a:extLst xmlns:a="http://schemas.openxmlformats.org/drawingml/2006/main">
              <a:ext uri="{FF2B5EF4-FFF2-40B4-BE49-F238E27FC236}">
                <a16:creationId xmlns:a16="http://schemas.microsoft.com/office/drawing/2014/main" id="{19088D3E-8AD4-4664-B07A-ADCC62F13118}"/>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14</a:t>
            </a:r>
          </a:p>
        </p:txBody>
      </p:sp>
      <p:graphicFrame>
        <p:nvGraphicFramePr>
          <p:cNvPr id="3" name="">
            <a:extLst xmlns:a="http://schemas.openxmlformats.org/drawingml/2006/main">
              <a:ext uri="{FF2B5EF4-FFF2-40B4-BE49-F238E27FC236}">
                <a16:creationId xmlns:a16="http://schemas.microsoft.com/office/drawing/2014/main" id="{84807E8A-5154-49C5-85F4-5ED048F5F148}"/>
              </a:ext>
            </a:extLst>
          </p:cNvPr>
          <p:cNvGraphicFramePr/>
          <p:nvPr/>
        </p:nvGraphicFramePr>
        <p:xfrm>
          <a:off xmlns:a="http://schemas.openxmlformats.org/drawingml/2006/main" x="571500" y="1562100"/>
          <a:ext xmlns:a="http://schemas.openxmlformats.org/drawingml/2006/main" cx="11049000" cy="4000500"/>
        </p:xfrm>
        <a:graphic xmlns:a="http://schemas.openxmlformats.org/drawingml/2006/main">
          <a:graphicData uri="http://schemas.openxmlformats.org/drawingml/2006/table">
            <a:tbl>
              <a:tblPr/>
              <a:tblGrid>
                <a:gridCol w="2428875"/>
                <a:gridCol w="5715000"/>
                <a:gridCol w="2905125"/>
              </a:tblGrid>
              <a:tr h="571500">
                <a:tc>
                  <a:txBody>
                    <a:bodyPr/>
                    <a:lstStyle/>
                    <a:p>
                      <a:r>
                        <a:rPr sz="1800" b="1">
                          <a:solidFill>
                            <a:srgbClr val="FFFFFF"/>
                          </a:solidFill>
                          <a:latin typeface="Arial"/>
                          <a:ea typeface="Arial"/>
                          <a:cs typeface="Arial"/>
                        </a:rPr>
                        <a:t>Etapa</a:t>
                      </a:r>
                    </a:p>
                  </a:txBody>
                  <a:tcPr marL="91440" marR="91440" marT="45720" marB="45720">
                    <a:solidFill>
                      <a:srgbClr val="102A43"/>
                    </a:solidFill>
                  </a:tcPr>
                </a:tc>
                <a:tc>
                  <a:txBody>
                    <a:bodyPr/>
                    <a:lstStyle/>
                    <a:p>
                      <a:r>
                        <a:rPr sz="1800" b="1">
                          <a:solidFill>
                            <a:srgbClr val="FFFFFF"/>
                          </a:solidFill>
                          <a:latin typeface="Arial"/>
                          <a:ea typeface="Arial"/>
                          <a:cs typeface="Arial"/>
                        </a:rPr>
                        <a:t>Acción</a:t>
                      </a:r>
                    </a:p>
                  </a:txBody>
                  <a:tcPr marL="91440" marR="91440" marT="45720" marB="45720">
                    <a:solidFill>
                      <a:srgbClr val="102A43"/>
                    </a:solidFill>
                  </a:tcPr>
                </a:tc>
                <a:tc>
                  <a:txBody>
                    <a:bodyPr/>
                    <a:lstStyle/>
                    <a:p>
                      <a:r>
                        <a:rPr sz="1800" b="1">
                          <a:solidFill>
                            <a:srgbClr val="FFFFFF"/>
                          </a:solidFill>
                          <a:latin typeface="Arial"/>
                          <a:ea typeface="Arial"/>
                          <a:cs typeface="Arial"/>
                        </a:rPr>
                        <a:t>Configuración actual</a:t>
                      </a:r>
                    </a:p>
                  </a:txBody>
                  <a:tcPr marL="91440" marR="91440" marT="45720" marB="45720">
                    <a:solidFill>
                      <a:srgbClr val="102A43"/>
                    </a:solidFill>
                  </a:tcPr>
                </a:tc>
              </a:tr>
              <a:tr h="571500">
                <a:tc>
                  <a:txBody>
                    <a:bodyPr/>
                    <a:lstStyle/>
                    <a:p>
                      <a:r>
                        <a:rPr sz="1800" b="0">
                          <a:solidFill>
                            <a:srgbClr val="183B4E"/>
                          </a:solidFill>
                          <a:latin typeface="Arial"/>
                          <a:ea typeface="Arial"/>
                          <a:cs typeface="Arial"/>
                        </a:rPr>
                        <a:t>Evaluación</a:t>
                      </a:r>
                    </a:p>
                  </a:txBody>
                  <a:tcPr marL="91440" marR="91440" marT="45720" marB="45720">
                    <a:solidFill>
                      <a:srgbClr val="FFFFFF"/>
                    </a:solidFill>
                  </a:tcPr>
                </a:tc>
                <a:tc>
                  <a:txBody>
                    <a:bodyPr/>
                    <a:lstStyle/>
                    <a:p>
                      <a:r>
                        <a:rPr sz="1800" b="0">
                          <a:solidFill>
                            <a:srgbClr val="183B4E"/>
                          </a:solidFill>
                          <a:latin typeface="Arial"/>
                          <a:ea typeface="Arial"/>
                          <a:cs typeface="Arial"/>
                        </a:rPr>
                        <a:t>Decodifica parques y calcula fitness</a:t>
                      </a:r>
                    </a:p>
                  </a:txBody>
                  <a:tcPr marL="91440" marR="91440" marT="45720" marB="45720">
                    <a:solidFill>
                      <a:srgbClr val="FFFFFF"/>
                    </a:solidFill>
                  </a:tcPr>
                </a:tc>
                <a:tc>
                  <a:txBody>
                    <a:bodyPr/>
                    <a:lstStyle/>
                    <a:p>
                      <a:r>
                        <a:rPr sz="1800" b="0">
                          <a:solidFill>
                            <a:srgbClr val="183B4E"/>
                          </a:solidFill>
                          <a:latin typeface="Arial"/>
                          <a:ea typeface="Arial"/>
                          <a:cs typeface="Arial"/>
                        </a:rPr>
                        <a:t>50 individuos</a:t>
                      </a:r>
                    </a:p>
                  </a:txBody>
                  <a:tcPr marL="91440" marR="91440" marT="45720" marB="45720">
                    <a:solidFill>
                      <a:srgbClr val="FFFFFF"/>
                    </a:solidFill>
                  </a:tcPr>
                </a:tc>
              </a:tr>
              <a:tr h="571500">
                <a:tc>
                  <a:txBody>
                    <a:bodyPr/>
                    <a:lstStyle/>
                    <a:p>
                      <a:r>
                        <a:rPr sz="1800" b="0">
                          <a:solidFill>
                            <a:srgbClr val="183B4E"/>
                          </a:solidFill>
                          <a:latin typeface="Arial"/>
                          <a:ea typeface="Arial"/>
                          <a:cs typeface="Arial"/>
                        </a:rPr>
                        <a:t>Elitismo</a:t>
                      </a:r>
                    </a:p>
                  </a:txBody>
                  <a:tcPr marL="91440" marR="91440" marT="45720" marB="45720">
                    <a:solidFill>
                      <a:srgbClr val="EEF5F5"/>
                    </a:solidFill>
                  </a:tcPr>
                </a:tc>
                <a:tc>
                  <a:txBody>
                    <a:bodyPr/>
                    <a:lstStyle/>
                    <a:p>
                      <a:r>
                        <a:rPr sz="1800" b="0">
                          <a:solidFill>
                            <a:srgbClr val="183B4E"/>
                          </a:solidFill>
                          <a:latin typeface="Arial"/>
                          <a:ea typeface="Arial"/>
                          <a:cs typeface="Arial"/>
                        </a:rPr>
                        <a:t>Conserva parques fuertes distintos</a:t>
                      </a:r>
                    </a:p>
                  </a:txBody>
                  <a:tcPr marL="91440" marR="91440" marT="45720" marB="45720">
                    <a:solidFill>
                      <a:srgbClr val="EEF5F5"/>
                    </a:solidFill>
                  </a:tcPr>
                </a:tc>
                <a:tc>
                  <a:txBody>
                    <a:bodyPr/>
                    <a:lstStyle/>
                    <a:p>
                      <a:r>
                        <a:rPr sz="1800" b="0">
                          <a:solidFill>
                            <a:srgbClr val="183B4E"/>
                          </a:solidFill>
                          <a:latin typeface="Arial"/>
                          <a:ea typeface="Arial"/>
                          <a:cs typeface="Arial"/>
                        </a:rPr>
                        <a:t>2 élites</a:t>
                      </a:r>
                    </a:p>
                  </a:txBody>
                  <a:tcPr marL="91440" marR="91440" marT="45720" marB="45720">
                    <a:solidFill>
                      <a:srgbClr val="EEF5F5"/>
                    </a:solidFill>
                  </a:tcPr>
                </a:tc>
              </a:tr>
              <a:tr h="571500">
                <a:tc>
                  <a:txBody>
                    <a:bodyPr/>
                    <a:lstStyle/>
                    <a:p>
                      <a:r>
                        <a:rPr sz="1800" b="0">
                          <a:solidFill>
                            <a:srgbClr val="183B4E"/>
                          </a:solidFill>
                          <a:latin typeface="Arial"/>
                          <a:ea typeface="Arial"/>
                          <a:cs typeface="Arial"/>
                        </a:rPr>
                        <a:t>Selección</a:t>
                      </a:r>
                    </a:p>
                  </a:txBody>
                  <a:tcPr marL="91440" marR="91440" marT="45720" marB="45720">
                    <a:solidFill>
                      <a:srgbClr val="FFFFFF"/>
                    </a:solidFill>
                  </a:tcPr>
                </a:tc>
                <a:tc>
                  <a:txBody>
                    <a:bodyPr/>
                    <a:lstStyle/>
                    <a:p>
                      <a:r>
                        <a:rPr sz="1800" b="0">
                          <a:solidFill>
                            <a:srgbClr val="183B4E"/>
                          </a:solidFill>
                          <a:latin typeface="Arial"/>
                          <a:ea typeface="Arial"/>
                          <a:cs typeface="Arial"/>
                        </a:rPr>
                        <a:t>Compara participantes de un torneo</a:t>
                      </a:r>
                    </a:p>
                  </a:txBody>
                  <a:tcPr marL="91440" marR="91440" marT="45720" marB="45720">
                    <a:solidFill>
                      <a:srgbClr val="FFFFFF"/>
                    </a:solidFill>
                  </a:tcPr>
                </a:tc>
                <a:tc>
                  <a:txBody>
                    <a:bodyPr/>
                    <a:lstStyle/>
                    <a:p>
                      <a:r>
                        <a:rPr sz="1800" b="0">
                          <a:solidFill>
                            <a:srgbClr val="183B4E"/>
                          </a:solidFill>
                          <a:latin typeface="Arial"/>
                          <a:ea typeface="Arial"/>
                          <a:cs typeface="Arial"/>
                        </a:rPr>
                        <a:t>3 participantes</a:t>
                      </a:r>
                    </a:p>
                  </a:txBody>
                  <a:tcPr marL="91440" marR="91440" marT="45720" marB="45720">
                    <a:solidFill>
                      <a:srgbClr val="FFFFFF"/>
                    </a:solidFill>
                  </a:tcPr>
                </a:tc>
              </a:tr>
              <a:tr h="571500">
                <a:tc>
                  <a:txBody>
                    <a:bodyPr/>
                    <a:lstStyle/>
                    <a:p>
                      <a:r>
                        <a:rPr sz="1800" b="0">
                          <a:solidFill>
                            <a:srgbClr val="183B4E"/>
                          </a:solidFill>
                          <a:latin typeface="Arial"/>
                          <a:ea typeface="Arial"/>
                          <a:cs typeface="Arial"/>
                        </a:rPr>
                        <a:t>Cruce</a:t>
                      </a:r>
                    </a:p>
                  </a:txBody>
                  <a:tcPr marL="91440" marR="91440" marT="45720" marB="45720">
                    <a:solidFill>
                      <a:srgbClr val="EEF5F5"/>
                    </a:solidFill>
                  </a:tcPr>
                </a:tc>
                <a:tc>
                  <a:txBody>
                    <a:bodyPr/>
                    <a:lstStyle/>
                    <a:p>
                      <a:r>
                        <a:rPr sz="1800" b="0">
                          <a:solidFill>
                            <a:srgbClr val="183B4E"/>
                          </a:solidFill>
                          <a:latin typeface="Arial"/>
                          <a:ea typeface="Arial"/>
                          <a:cs typeface="Arial"/>
                        </a:rPr>
                        <a:t>Combina prefijos y sufijos</a:t>
                      </a:r>
                    </a:p>
                  </a:txBody>
                  <a:tcPr marL="91440" marR="91440" marT="45720" marB="45720">
                    <a:solidFill>
                      <a:srgbClr val="EEF5F5"/>
                    </a:solidFill>
                  </a:tcPr>
                </a:tc>
                <a:tc>
                  <a:txBody>
                    <a:bodyPr/>
                    <a:lstStyle/>
                    <a:p>
                      <a:r>
                        <a:rPr sz="1800" b="0">
                          <a:solidFill>
                            <a:srgbClr val="183B4E"/>
                          </a:solidFill>
                          <a:latin typeface="Arial"/>
                          <a:ea typeface="Arial"/>
                          <a:cs typeface="Arial"/>
                        </a:rPr>
                        <a:t>Probabilidad 75%</a:t>
                      </a:r>
                    </a:p>
                  </a:txBody>
                  <a:tcPr marL="91440" marR="91440" marT="45720" marB="45720">
                    <a:solidFill>
                      <a:srgbClr val="EEF5F5"/>
                    </a:solidFill>
                  </a:tcPr>
                </a:tc>
              </a:tr>
              <a:tr h="571500">
                <a:tc>
                  <a:txBody>
                    <a:bodyPr/>
                    <a:lstStyle/>
                    <a:p>
                      <a:r>
                        <a:rPr sz="1800" b="0">
                          <a:solidFill>
                            <a:srgbClr val="183B4E"/>
                          </a:solidFill>
                          <a:latin typeface="Arial"/>
                          <a:ea typeface="Arial"/>
                          <a:cs typeface="Arial"/>
                        </a:rPr>
                        <a:t>Mutación</a:t>
                      </a:r>
                    </a:p>
                  </a:txBody>
                  <a:tcPr marL="91440" marR="91440" marT="45720" marB="45720">
                    <a:solidFill>
                      <a:srgbClr val="FFFFFF"/>
                    </a:solidFill>
                  </a:tcPr>
                </a:tc>
                <a:tc>
                  <a:txBody>
                    <a:bodyPr/>
                    <a:lstStyle/>
                    <a:p>
                      <a:r>
                        <a:rPr sz="1800" b="0">
                          <a:solidFill>
                            <a:srgbClr val="183B4E"/>
                          </a:solidFill>
                          <a:latin typeface="Arial"/>
                          <a:ea typeface="Arial"/>
                          <a:cs typeface="Arial"/>
                        </a:rPr>
                        <a:t>Cambia genes o la semilla</a:t>
                      </a:r>
                    </a:p>
                  </a:txBody>
                  <a:tcPr marL="91440" marR="91440" marT="45720" marB="45720">
                    <a:solidFill>
                      <a:srgbClr val="FFFFFF"/>
                    </a:solidFill>
                  </a:tcPr>
                </a:tc>
                <a:tc>
                  <a:txBody>
                    <a:bodyPr/>
                    <a:lstStyle/>
                    <a:p>
                      <a:r>
                        <a:rPr sz="1800" b="0">
                          <a:solidFill>
                            <a:srgbClr val="183B4E"/>
                          </a:solidFill>
                          <a:latin typeface="Arial"/>
                          <a:ea typeface="Arial"/>
                          <a:cs typeface="Arial"/>
                        </a:rPr>
                        <a:t>Probabilidad 20%</a:t>
                      </a:r>
                    </a:p>
                  </a:txBody>
                  <a:tcPr marL="91440" marR="91440" marT="45720" marB="45720">
                    <a:solidFill>
                      <a:srgbClr val="FFFFFF"/>
                    </a:solidFill>
                  </a:tcPr>
                </a:tc>
              </a:tr>
              <a:tr h="571500">
                <a:tc>
                  <a:txBody>
                    <a:bodyPr/>
                    <a:lstStyle/>
                    <a:p>
                      <a:r>
                        <a:rPr sz="1800" b="0">
                          <a:solidFill>
                            <a:srgbClr val="183B4E"/>
                          </a:solidFill>
                          <a:latin typeface="Arial"/>
                          <a:ea typeface="Arial"/>
                          <a:cs typeface="Arial"/>
                        </a:rPr>
                        <a:t>Nueva población</a:t>
                      </a:r>
                    </a:p>
                  </a:txBody>
                  <a:tcPr marL="91440" marR="91440" marT="45720" marB="45720">
                    <a:solidFill>
                      <a:srgbClr val="EEF5F5"/>
                    </a:solidFill>
                  </a:tcPr>
                </a:tc>
                <a:tc>
                  <a:txBody>
                    <a:bodyPr/>
                    <a:lstStyle/>
                    <a:p>
                      <a:r>
                        <a:rPr sz="1800" b="0">
                          <a:solidFill>
                            <a:srgbClr val="183B4E"/>
                          </a:solidFill>
                          <a:latin typeface="Arial"/>
                          <a:ea typeface="Arial"/>
                          <a:cs typeface="Arial"/>
                        </a:rPr>
                        <a:t>Controla duplicados y repite</a:t>
                      </a:r>
                    </a:p>
                  </a:txBody>
                  <a:tcPr marL="91440" marR="91440" marT="45720" marB="45720">
                    <a:solidFill>
                      <a:srgbClr val="EEF5F5"/>
                    </a:solidFill>
                  </a:tcPr>
                </a:tc>
                <a:tc>
                  <a:txBody>
                    <a:bodyPr/>
                    <a:lstStyle/>
                    <a:p>
                      <a:r>
                        <a:rPr sz="1800" b="0">
                          <a:solidFill>
                            <a:srgbClr val="183B4E"/>
                          </a:solidFill>
                          <a:latin typeface="Arial"/>
                          <a:ea typeface="Arial"/>
                          <a:cs typeface="Arial"/>
                        </a:rPr>
                        <a:t>200 generaciones</a:t>
                      </a:r>
                    </a:p>
                  </a:txBody>
                  <a:tcPr marL="91440" marR="91440" marT="45720" marB="45720">
                    <a:solidFill>
                      <a:srgbClr val="EEF5F5"/>
                    </a:solidFill>
                  </a:tcPr>
                </a:tc>
              </a:tr>
            </a:tbl>
          </a:graphicData>
        </a:graphic>
      </p:graphicFrame>
      <p:sp>
        <p:nvSpPr>
          <p:cNvPr id="4" name="">
            <a:extLst xmlns:a="http://schemas.openxmlformats.org/drawingml/2006/main">
              <a:ext uri="{FF2B5EF4-FFF2-40B4-BE49-F238E27FC236}">
                <a16:creationId xmlns:a16="http://schemas.microsoft.com/office/drawing/2014/main" id="{968B6207-046A-4C41-BC23-428F3C50C67A}"/>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defRPr sz="1575" b="0">
                <a:solidFill>
                  <a:srgbClr val="526778"/>
                </a:solidFill>
                <a:latin typeface="Arial"/>
                <a:ea typeface="Arial"/>
                <a:cs typeface="Arial"/>
              </a:defRPr>
            </a:pPr>
            <a:r>
              <a:rPr sz="1575" b="0">
                <a:solidFill>
                  <a:srgbClr val="526778"/>
                </a:solidFill>
                <a:latin typeface="Arial"/>
                <a:ea typeface="Arial"/>
                <a:cs typeface="Arial"/>
              </a:rPr>
              <a:t>La generación 0 evalúa la población inicial antes del primer cruce</a:t>
            </a:r>
          </a:p>
        </p:txBody>
      </p:sp>
    </p:spTree>
    <p:extLst>
      <p:ext uri="{BB962C8B-B14F-4D97-AF65-F5344CB8AC3E}">
        <p14:creationId xmlns:p14="http://schemas.microsoft.com/office/powerpoint/2010/main" val="203160135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7D2444-DFEA-4594-80FD-0430DEA659B0}"/>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Selección por torneo</a:t>
            </a:r>
          </a:p>
        </p:txBody>
      </p:sp>
      <p:sp>
        <p:nvSpPr>
          <p:cNvPr id="2" name="">
            <a:extLst xmlns:a="http://schemas.openxmlformats.org/drawingml/2006/main">
              <a:ext uri="{FF2B5EF4-FFF2-40B4-BE49-F238E27FC236}">
                <a16:creationId xmlns:a16="http://schemas.microsoft.com/office/drawing/2014/main" id="{4E4D8FC5-1DCD-4BCA-BDA6-BABF81C325C9}"/>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15</a:t>
            </a:r>
          </a:p>
        </p:txBody>
      </p:sp>
      <p:graphicFrame>
        <p:nvGraphicFramePr>
          <p:cNvPr id="3" name="Chart">
            <a:extLst xmlns:a="http://schemas.openxmlformats.org/drawingml/2006/main">
              <a:ext uri="{FF2B5EF4-FFF2-40B4-BE49-F238E27FC236}">
                <a16:creationId xmlns:a16="http://schemas.microsoft.com/office/drawing/2014/main" id="{D1B5BC1A-03DE-47F5-94AC-4BFBC2626535}"/>
              </a:ext>
            </a:extLst>
          </p:cNvPr>
          <p:cNvGraphicFramePr/>
          <p:nvPr/>
        </p:nvGraphicFramePr>
        <p:xfrm>
          <a:off xmlns:a="http://schemas.openxmlformats.org/drawingml/2006/main" x="571500" y="1724025"/>
          <a:ext xmlns:a="http://schemas.openxmlformats.org/drawingml/2006/main" cx="7334250" cy="3552825"/>
        </p:xfrm>
        <a:graphic xmlns:a="http://schemas.openxmlformats.org/drawingml/2006/main">
          <a:graphicData uri="http://schemas.openxmlformats.org/drawingml/2006/chart">
            <c:chart xmlns:r="http://schemas.openxmlformats.org/officeDocument/2006/relationships" xmlns:c="http://schemas.openxmlformats.org/drawingml/2006/chart" r:id="R5292b16df7814dfe"/>
          </a:graphicData>
        </a:graphic>
      </p:graphicFrame>
      <p:sp>
        <p:nvSpPr>
          <p:cNvPr id="4" name="">
            <a:extLst xmlns:a="http://schemas.openxmlformats.org/drawingml/2006/main">
              <a:ext uri="{FF2B5EF4-FFF2-40B4-BE49-F238E27FC236}">
                <a16:creationId xmlns:a16="http://schemas.microsoft.com/office/drawing/2014/main" id="{AB87EF6C-351C-4B58-AE65-49242D12F5E6}"/>
              </a:ext>
            </a:extLst>
          </p:cNvPr>
          <p:cNvSpPr>
            <a:spLocks xmlns:a="http://schemas.openxmlformats.org/drawingml/2006/main" noGrp="1"/>
          </p:cNvSpPr>
          <p:nvPr/>
        </p:nvSpPr>
        <p:spPr>
          <a:xfrm xmlns:a="http://schemas.openxmlformats.org/drawingml/2006/main">
            <a:off x="8667750" y="2181225"/>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600" b="1">
                <a:solidFill>
                  <a:srgbClr val="102A43"/>
                </a:solidFill>
                <a:latin typeface="Arial"/>
                <a:ea typeface="Arial"/>
                <a:cs typeface="Arial"/>
              </a:defRPr>
            </a:defPPr>
          </a:lstStyle>
          <a:p xmlns:a="http://schemas.openxmlformats.org/drawingml/2006/main">
            <a:pPr>
              <a:defRPr sz="3600" b="1">
                <a:solidFill>
                  <a:srgbClr val="102A43"/>
                </a:solidFill>
                <a:latin typeface="Arial"/>
                <a:ea typeface="Arial"/>
                <a:cs typeface="Arial"/>
              </a:defRPr>
            </a:pPr>
            <a:r>
              <a:rPr sz="3600" b="1">
                <a:solidFill>
                  <a:srgbClr val="102A43"/>
                </a:solidFill>
                <a:latin typeface="Arial"/>
                <a:ea typeface="Arial"/>
                <a:cs typeface="Arial"/>
              </a:rPr>
              <a:t>Gana B</a:t>
            </a:r>
          </a:p>
        </p:txBody>
      </p:sp>
      <p:sp>
        <p:nvSpPr>
          <p:cNvPr id="5" name="">
            <a:extLst xmlns:a="http://schemas.openxmlformats.org/drawingml/2006/main">
              <a:ext uri="{FF2B5EF4-FFF2-40B4-BE49-F238E27FC236}">
                <a16:creationId xmlns:a16="http://schemas.microsoft.com/office/drawing/2014/main" id="{526F810E-17D9-4696-B891-94012D20C451}"/>
              </a:ext>
            </a:extLst>
          </p:cNvPr>
          <p:cNvSpPr>
            <a:spLocks xmlns:a="http://schemas.openxmlformats.org/drawingml/2006/main" noGrp="1"/>
          </p:cNvSpPr>
          <p:nvPr/>
        </p:nvSpPr>
        <p:spPr>
          <a:xfrm xmlns:a="http://schemas.openxmlformats.org/drawingml/2006/main">
            <a:off x="8667750" y="306705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a:solidFill>
                  <a:srgbClr val="087F8C"/>
                </a:solidFill>
                <a:latin typeface="Arial"/>
                <a:ea typeface="Arial"/>
                <a:cs typeface="Arial"/>
              </a:defRPr>
            </a:defPPr>
          </a:lstStyle>
          <a:p xmlns:a="http://schemas.openxmlformats.org/drawingml/2006/main">
            <a:pPr>
              <a:defRPr sz="3000" b="1">
                <a:solidFill>
                  <a:srgbClr val="087F8C"/>
                </a:solidFill>
                <a:latin typeface="Arial"/>
                <a:ea typeface="Arial"/>
                <a:cs typeface="Arial"/>
              </a:defRPr>
            </a:pPr>
            <a:r>
              <a:rPr sz="3000" b="1">
                <a:solidFill>
                  <a:srgbClr val="087F8C"/>
                </a:solidFill>
                <a:latin typeface="Arial"/>
                <a:ea typeface="Arial"/>
                <a:cs typeface="Arial"/>
              </a:rPr>
              <a:t>0,6462</a:t>
            </a:r>
          </a:p>
        </p:txBody>
      </p:sp>
      <p:sp>
        <p:nvSpPr>
          <p:cNvPr id="6" name="">
            <a:extLst xmlns:a="http://schemas.openxmlformats.org/drawingml/2006/main">
              <a:ext uri="{FF2B5EF4-FFF2-40B4-BE49-F238E27FC236}">
                <a16:creationId xmlns:a16="http://schemas.microsoft.com/office/drawing/2014/main" id="{F81CD307-6499-4E69-8D2A-7B5317209167}"/>
              </a:ext>
            </a:extLst>
          </p:cNvPr>
          <p:cNvSpPr>
            <a:spLocks xmlns:a="http://schemas.openxmlformats.org/drawingml/2006/main" noGrp="1"/>
          </p:cNvSpPr>
          <p:nvPr/>
        </p:nvSpPr>
        <p:spPr>
          <a:xfrm xmlns:a="http://schemas.openxmlformats.org/drawingml/2006/main">
            <a:off x="8667750" y="4191000"/>
            <a:ext cx="285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183B4E"/>
                </a:solidFill>
                <a:latin typeface="Arial"/>
                <a:ea typeface="Arial"/>
                <a:cs typeface="Arial"/>
              </a:defRPr>
            </a:defPPr>
          </a:lstStyle>
          <a:p xmlns:a="http://schemas.openxmlformats.org/drawingml/2006/main">
            <a:pPr>
              <a:defRPr sz="2175" b="0">
                <a:solidFill>
                  <a:srgbClr val="183B4E"/>
                </a:solidFill>
                <a:latin typeface="Arial"/>
                <a:ea typeface="Arial"/>
                <a:cs typeface="Arial"/>
              </a:defRPr>
            </a:pPr>
            <a:r>
              <a:rPr sz="2175" b="0">
                <a:solidFill>
                  <a:srgbClr val="183B4E"/>
                </a:solidFill>
                <a:latin typeface="Arial"/>
                <a:ea typeface="Arial"/>
                <a:cs typeface="Arial"/>
              </a:rPr>
              <a:t>El ganador puede</a:t>
            </a:r>
          </a:p>
          <a:p xmlns:a="http://schemas.openxmlformats.org/drawingml/2006/main">
            <a:pPr>
              <a:defRPr sz="2175" b="0">
                <a:solidFill>
                  <a:srgbClr val="183B4E"/>
                </a:solidFill>
                <a:latin typeface="Arial"/>
                <a:ea typeface="Arial"/>
                <a:cs typeface="Arial"/>
              </a:defRPr>
            </a:pPr>
            <a:r>
              <a:rPr sz="2175" b="0">
                <a:solidFill>
                  <a:srgbClr val="183B4E"/>
                </a:solidFill>
                <a:latin typeface="Arial"/>
                <a:ea typeface="Arial"/>
                <a:cs typeface="Arial"/>
              </a:rPr>
              <a:t>producir descendencia</a:t>
            </a:r>
          </a:p>
        </p:txBody>
      </p:sp>
      <p:sp>
        <p:nvSpPr>
          <p:cNvPr id="7" name="">
            <a:extLst xmlns:a="http://schemas.openxmlformats.org/drawingml/2006/main">
              <a:ext uri="{FF2B5EF4-FFF2-40B4-BE49-F238E27FC236}">
                <a16:creationId xmlns:a16="http://schemas.microsoft.com/office/drawing/2014/main" id="{9253E439-8FB7-401E-A192-27E9C75F9B8D}"/>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defRPr sz="1575" b="0">
                <a:solidFill>
                  <a:srgbClr val="526778"/>
                </a:solidFill>
                <a:latin typeface="Arial"/>
                <a:ea typeface="Arial"/>
                <a:cs typeface="Arial"/>
              </a:defRPr>
            </a:pPr>
            <a:r>
              <a:rPr sz="1575" b="0">
                <a:solidFill>
                  <a:srgbClr val="526778"/>
                </a:solidFill>
                <a:latin typeface="Arial"/>
                <a:ea typeface="Arial"/>
                <a:cs typeface="Arial"/>
              </a:rPr>
              <a:t>Ejemplo de torneo con valores reales, no registro de un sorteo específico</a:t>
            </a:r>
          </a:p>
        </p:txBody>
      </p:sp>
    </p:spTree>
    <p:extLst>
      <p:ext uri="{BB962C8B-B14F-4D97-AF65-F5344CB8AC3E}">
        <p14:creationId xmlns:p14="http://schemas.microsoft.com/office/powerpoint/2010/main" val="57240218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65F8BC-D20B-485A-BE38-AD184F45CBBC}"/>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Cruce real: una nueva secuencia</a:t>
            </a:r>
          </a:p>
        </p:txBody>
      </p:sp>
      <p:sp>
        <p:nvSpPr>
          <p:cNvPr id="2" name="">
            <a:extLst xmlns:a="http://schemas.openxmlformats.org/drawingml/2006/main">
              <a:ext uri="{FF2B5EF4-FFF2-40B4-BE49-F238E27FC236}">
                <a16:creationId xmlns:a16="http://schemas.microsoft.com/office/drawing/2014/main" id="{181AD235-D8B8-4B2A-86B5-11C9BB359961}"/>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16</a:t>
            </a:r>
          </a:p>
        </p:txBody>
      </p:sp>
      <p:graphicFrame>
        <p:nvGraphicFramePr>
          <p:cNvPr id="3" name="">
            <a:extLst xmlns:a="http://schemas.openxmlformats.org/drawingml/2006/main">
              <a:ext uri="{FF2B5EF4-FFF2-40B4-BE49-F238E27FC236}">
                <a16:creationId xmlns:a16="http://schemas.microsoft.com/office/drawing/2014/main" id="{352A7C64-34CE-4E43-9E84-732F254446A2}"/>
              </a:ext>
            </a:extLst>
          </p:cNvPr>
          <p:cNvGraphicFramePr/>
          <p:nvPr/>
        </p:nvGraphicFramePr>
        <p:xfrm>
          <a:off xmlns:a="http://schemas.openxmlformats.org/drawingml/2006/main" x="571500" y="1657350"/>
          <a:ext xmlns:a="http://schemas.openxmlformats.org/drawingml/2006/main" cx="11049000" cy="2324100"/>
        </p:xfrm>
        <a:graphic xmlns:a="http://schemas.openxmlformats.org/drawingml/2006/main">
          <a:graphicData uri="http://schemas.openxmlformats.org/drawingml/2006/table">
            <a:tbl>
              <a:tblPr/>
              <a:tblGrid>
                <a:gridCol w="2095500"/>
                <a:gridCol w="2095500"/>
                <a:gridCol w="6858000"/>
              </a:tblGrid>
              <a:tr h="581025">
                <a:tc>
                  <a:txBody>
                    <a:bodyPr/>
                    <a:lstStyle/>
                    <a:p>
                      <a:r>
                        <a:rPr sz="2175" b="1">
                          <a:solidFill>
                            <a:srgbClr val="FFFFFF"/>
                          </a:solidFill>
                          <a:latin typeface="Arial"/>
                          <a:ea typeface="Arial"/>
                          <a:cs typeface="Arial"/>
                        </a:rPr>
                        <a:t>Individuo</a:t>
                      </a:r>
                    </a:p>
                  </a:txBody>
                  <a:tcPr marL="91440" marR="91440" marT="45720" marB="45720">
                    <a:solidFill>
                      <a:srgbClr val="102A43"/>
                    </a:solidFill>
                  </a:tcPr>
                </a:tc>
                <a:tc>
                  <a:txBody>
                    <a:bodyPr/>
                    <a:lstStyle/>
                    <a:p>
                      <a:r>
                        <a:rPr sz="2175" b="1">
                          <a:solidFill>
                            <a:srgbClr val="FFFFFF"/>
                          </a:solidFill>
                          <a:latin typeface="Arial"/>
                          <a:ea typeface="Arial"/>
                          <a:cs typeface="Arial"/>
                        </a:rPr>
                        <a:t>Semilla</a:t>
                      </a:r>
                    </a:p>
                  </a:txBody>
                  <a:tcPr marL="91440" marR="91440" marT="45720" marB="45720">
                    <a:solidFill>
                      <a:srgbClr val="102A43"/>
                    </a:solidFill>
                  </a:tcPr>
                </a:tc>
                <a:tc>
                  <a:txBody>
                    <a:bodyPr/>
                    <a:lstStyle/>
                    <a:p>
                      <a:r>
                        <a:rPr sz="2175" b="1">
                          <a:solidFill>
                            <a:srgbClr val="FFFFFF"/>
                          </a:solidFill>
                          <a:latin typeface="Arial"/>
                          <a:ea typeface="Arial"/>
                          <a:cs typeface="Arial"/>
                        </a:rPr>
                        <a:t>Secuencia de genes</a:t>
                      </a:r>
                    </a:p>
                  </a:txBody>
                  <a:tcPr marL="91440" marR="91440" marT="45720" marB="45720">
                    <a:solidFill>
                      <a:srgbClr val="102A43"/>
                    </a:solidFill>
                  </a:tcPr>
                </a:tc>
              </a:tr>
              <a:tr h="581025">
                <a:tc>
                  <a:txBody>
                    <a:bodyPr/>
                    <a:lstStyle/>
                    <a:p>
                      <a:r>
                        <a:rPr sz="2175" b="0">
                          <a:solidFill>
                            <a:srgbClr val="183B4E"/>
                          </a:solidFill>
                          <a:latin typeface="Arial"/>
                          <a:ea typeface="Arial"/>
                          <a:cs typeface="Arial"/>
                        </a:rPr>
                        <a:t>Padre A</a:t>
                      </a:r>
                    </a:p>
                  </a:txBody>
                  <a:tcPr marL="91440" marR="91440" marT="45720" marB="45720">
                    <a:solidFill>
                      <a:srgbClr val="FFFFFF"/>
                    </a:solidFill>
                  </a:tcPr>
                </a:tc>
                <a:tc>
                  <a:txBody>
                    <a:bodyPr/>
                    <a:lstStyle/>
                    <a:p>
                      <a:r>
                        <a:rPr sz="2175" b="0">
                          <a:solidFill>
                            <a:srgbClr val="183B4E"/>
                          </a:solidFill>
                          <a:latin typeface="Arial"/>
                          <a:ea typeface="Arial"/>
                          <a:cs typeface="Arial"/>
                        </a:rPr>
                        <a:t>46.504</a:t>
                      </a:r>
                    </a:p>
                  </a:txBody>
                  <a:tcPr marL="91440" marR="91440" marT="45720" marB="45720">
                    <a:solidFill>
                      <a:srgbClr val="FFFFFF"/>
                    </a:solidFill>
                  </a:tcPr>
                </a:tc>
                <a:tc>
                  <a:txBody>
                    <a:bodyPr/>
                    <a:lstStyle/>
                    <a:p>
                      <a:r>
                        <a:rPr sz="2175" b="0">
                          <a:solidFill>
                            <a:srgbClr val="183B4E"/>
                          </a:solidFill>
                          <a:latin typeface="Arial"/>
                          <a:ea typeface="Arial"/>
                          <a:cs typeface="Arial"/>
                        </a:rPr>
                        <a:t>A1  A2  A3  A4</a:t>
                      </a:r>
                    </a:p>
                  </a:txBody>
                  <a:tcPr marL="91440" marR="91440" marT="45720" marB="45720">
                    <a:solidFill>
                      <a:srgbClr val="FFFFFF"/>
                    </a:solidFill>
                  </a:tcPr>
                </a:tc>
              </a:tr>
              <a:tr h="581025">
                <a:tc>
                  <a:txBody>
                    <a:bodyPr/>
                    <a:lstStyle/>
                    <a:p>
                      <a:r>
                        <a:rPr sz="2175" b="0">
                          <a:solidFill>
                            <a:srgbClr val="183B4E"/>
                          </a:solidFill>
                          <a:latin typeface="Arial"/>
                          <a:ea typeface="Arial"/>
                          <a:cs typeface="Arial"/>
                        </a:rPr>
                        <a:t>Padre B</a:t>
                      </a:r>
                    </a:p>
                  </a:txBody>
                  <a:tcPr marL="91440" marR="91440" marT="45720" marB="45720">
                    <a:solidFill>
                      <a:srgbClr val="EEF5F5"/>
                    </a:solidFill>
                  </a:tcPr>
                </a:tc>
                <a:tc>
                  <a:txBody>
                    <a:bodyPr/>
                    <a:lstStyle/>
                    <a:p>
                      <a:r>
                        <a:rPr sz="2175" b="0">
                          <a:solidFill>
                            <a:srgbClr val="183B4E"/>
                          </a:solidFill>
                          <a:latin typeface="Arial"/>
                          <a:ea typeface="Arial"/>
                          <a:cs typeface="Arial"/>
                        </a:rPr>
                        <a:t>249.997</a:t>
                      </a:r>
                    </a:p>
                  </a:txBody>
                  <a:tcPr marL="91440" marR="91440" marT="45720" marB="45720">
                    <a:solidFill>
                      <a:srgbClr val="EEF5F5"/>
                    </a:solidFill>
                  </a:tcPr>
                </a:tc>
                <a:tc>
                  <a:txBody>
                    <a:bodyPr/>
                    <a:lstStyle/>
                    <a:p>
                      <a:r>
                        <a:rPr sz="2175" b="0">
                          <a:solidFill>
                            <a:srgbClr val="183B4E"/>
                          </a:solidFill>
                          <a:latin typeface="Arial"/>
                          <a:ea typeface="Arial"/>
                          <a:cs typeface="Arial"/>
                        </a:rPr>
                        <a:t>B1  B2  B3  B4  B5  B6  B7</a:t>
                      </a:r>
                    </a:p>
                  </a:txBody>
                  <a:tcPr marL="91440" marR="91440" marT="45720" marB="45720">
                    <a:solidFill>
                      <a:srgbClr val="EEF5F5"/>
                    </a:solidFill>
                  </a:tcPr>
                </a:tc>
              </a:tr>
              <a:tr h="581025">
                <a:tc>
                  <a:txBody>
                    <a:bodyPr/>
                    <a:lstStyle/>
                    <a:p>
                      <a:r>
                        <a:rPr sz="2175" b="0">
                          <a:solidFill>
                            <a:srgbClr val="183B4E"/>
                          </a:solidFill>
                          <a:latin typeface="Arial"/>
                          <a:ea typeface="Arial"/>
                          <a:cs typeface="Arial"/>
                        </a:rPr>
                        <a:t>Hijo A</a:t>
                      </a:r>
                    </a:p>
                  </a:txBody>
                  <a:tcPr marL="91440" marR="91440" marT="45720" marB="45720">
                    <a:solidFill>
                      <a:srgbClr val="FFFFFF"/>
                    </a:solidFill>
                  </a:tcPr>
                </a:tc>
                <a:tc>
                  <a:txBody>
                    <a:bodyPr/>
                    <a:lstStyle/>
                    <a:p>
                      <a:r>
                        <a:rPr sz="2175" b="0">
                          <a:solidFill>
                            <a:srgbClr val="183B4E"/>
                          </a:solidFill>
                          <a:latin typeface="Arial"/>
                          <a:ea typeface="Arial"/>
                          <a:cs typeface="Arial"/>
                        </a:rPr>
                        <a:t>46.504</a:t>
                      </a:r>
                    </a:p>
                  </a:txBody>
                  <a:tcPr marL="91440" marR="91440" marT="45720" marB="45720">
                    <a:solidFill>
                      <a:srgbClr val="FFFFFF"/>
                    </a:solidFill>
                  </a:tcPr>
                </a:tc>
                <a:tc>
                  <a:txBody>
                    <a:bodyPr/>
                    <a:lstStyle/>
                    <a:p>
                      <a:r>
                        <a:rPr sz="2175" b="0">
                          <a:solidFill>
                            <a:srgbClr val="183B4E"/>
                          </a:solidFill>
                          <a:latin typeface="Arial"/>
                          <a:ea typeface="Arial"/>
                          <a:cs typeface="Arial"/>
                        </a:rPr>
                        <a:t>A1  A2  A3  A4  B7</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1F53A7E-A9EF-4631-BB6A-7025F69499FC}"/>
              </a:ext>
            </a:extLst>
          </p:cNvPr>
          <p:cNvSpPr>
            <a:spLocks xmlns:a="http://schemas.openxmlformats.org/drawingml/2006/main" noGrp="1"/>
          </p:cNvSpPr>
          <p:nvPr/>
        </p:nvSpPr>
        <p:spPr>
          <a:xfrm xmlns:a="http://schemas.openxmlformats.org/drawingml/2006/main">
            <a:off x="571500" y="4524375"/>
            <a:ext cx="5429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102A43"/>
                </a:solidFill>
                <a:latin typeface="Arial"/>
                <a:ea typeface="Arial"/>
                <a:cs typeface="Arial"/>
              </a:defRPr>
            </a:defPPr>
          </a:lstStyle>
          <a:p xmlns:a="http://schemas.openxmlformats.org/drawingml/2006/main">
            <a:pPr>
              <a:defRPr sz="2475" b="1">
                <a:solidFill>
                  <a:srgbClr val="102A43"/>
                </a:solidFill>
                <a:latin typeface="Arial"/>
                <a:ea typeface="Arial"/>
                <a:cs typeface="Arial"/>
              </a:defRPr>
            </a:pPr>
            <a:r>
              <a:rPr sz="2475" b="1">
                <a:solidFill>
                  <a:srgbClr val="102A43"/>
                </a:solidFill>
                <a:latin typeface="Arial"/>
                <a:ea typeface="Arial"/>
                <a:cs typeface="Arial"/>
              </a:rPr>
              <a:t>El hijo conserva el prefijo A</a:t>
            </a:r>
          </a:p>
          <a:p xmlns:a="http://schemas.openxmlformats.org/drawingml/2006/main">
            <a:pPr>
              <a:defRPr sz="2475" b="1">
                <a:solidFill>
                  <a:srgbClr val="102A43"/>
                </a:solidFill>
                <a:latin typeface="Arial"/>
                <a:ea typeface="Arial"/>
                <a:cs typeface="Arial"/>
              </a:defRPr>
            </a:pPr>
            <a:r>
              <a:rPr sz="2475" b="1">
                <a:solidFill>
                  <a:srgbClr val="102A43"/>
                </a:solidFill>
                <a:latin typeface="Arial"/>
                <a:ea typeface="Arial"/>
                <a:cs typeface="Arial"/>
              </a:rPr>
              <a:t>y agrega el sufijo B7</a:t>
            </a:r>
          </a:p>
        </p:txBody>
      </p:sp>
      <p:sp>
        <p:nvSpPr>
          <p:cNvPr id="5" name="">
            <a:extLst xmlns:a="http://schemas.openxmlformats.org/drawingml/2006/main">
              <a:ext uri="{FF2B5EF4-FFF2-40B4-BE49-F238E27FC236}">
                <a16:creationId xmlns:a16="http://schemas.microsoft.com/office/drawing/2014/main" id="{7DC572F6-9BA3-4DF7-8037-B6B54CE4A639}"/>
              </a:ext>
            </a:extLst>
          </p:cNvPr>
          <p:cNvSpPr>
            <a:spLocks xmlns:a="http://schemas.openxmlformats.org/drawingml/2006/main" noGrp="1"/>
          </p:cNvSpPr>
          <p:nvPr/>
        </p:nvSpPr>
        <p:spPr>
          <a:xfrm xmlns:a="http://schemas.openxmlformats.org/drawingml/2006/main">
            <a:off x="7143750" y="4572000"/>
            <a:ext cx="4381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625" b="1">
                <a:solidFill>
                  <a:srgbClr val="087F8C"/>
                </a:solidFill>
                <a:latin typeface="Arial"/>
                <a:ea typeface="Arial"/>
                <a:cs typeface="Arial"/>
              </a:defRPr>
            </a:defPPr>
          </a:lstStyle>
          <a:p xmlns:a="http://schemas.openxmlformats.org/drawingml/2006/main">
            <a:pPr>
              <a:defRPr sz="2625" b="1">
                <a:solidFill>
                  <a:srgbClr val="087F8C"/>
                </a:solidFill>
                <a:latin typeface="Arial"/>
                <a:ea typeface="Arial"/>
                <a:cs typeface="Arial"/>
              </a:defRPr>
            </a:pPr>
            <a:r>
              <a:rPr sz="2625" b="1">
                <a:solidFill>
                  <a:srgbClr val="087F8C"/>
                </a:solidFill>
                <a:latin typeface="Arial"/>
                <a:ea typeface="Arial"/>
                <a:cs typeface="Arial"/>
              </a:rPr>
              <a:t>5 celdas / 0,5839</a:t>
            </a:r>
          </a:p>
          <a:p xmlns:a="http://schemas.openxmlformats.org/drawingml/2006/main">
            <a:pPr>
              <a:defRPr sz="2625" b="1">
                <a:solidFill>
                  <a:srgbClr val="087F8C"/>
                </a:solidFill>
                <a:latin typeface="Arial"/>
                <a:ea typeface="Arial"/>
                <a:cs typeface="Arial"/>
              </a:defRPr>
            </a:pPr>
            <a:r>
              <a:rPr sz="2625" b="1">
                <a:solidFill>
                  <a:srgbClr val="087F8C"/>
                </a:solidFill>
                <a:latin typeface="Arial"/>
                <a:ea typeface="Arial"/>
                <a:cs typeface="Arial"/>
              </a:rPr>
              <a:t>6 celdas / 0,5937</a:t>
            </a:r>
          </a:p>
        </p:txBody>
      </p:sp>
      <p:sp>
        <p:nvSpPr>
          <p:cNvPr id="6" name="">
            <a:extLst xmlns:a="http://schemas.openxmlformats.org/drawingml/2006/main">
              <a:ext uri="{FF2B5EF4-FFF2-40B4-BE49-F238E27FC236}">
                <a16:creationId xmlns:a16="http://schemas.microsoft.com/office/drawing/2014/main" id="{C0771E88-E0BA-44C5-B0B4-A48C75BB57B5}"/>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defRPr sz="1575" b="0">
                <a:solidFill>
                  <a:srgbClr val="526778"/>
                </a:solidFill>
                <a:latin typeface="Arial"/>
                <a:ea typeface="Arial"/>
                <a:cs typeface="Arial"/>
              </a:defRPr>
            </a:pPr>
            <a:r>
              <a:rPr sz="1575" b="0">
                <a:solidFill>
                  <a:srgbClr val="526778"/>
                </a:solidFill>
                <a:latin typeface="Arial"/>
                <a:ea typeface="Arial"/>
                <a:cs typeface="Arial"/>
              </a:rPr>
              <a:t>Las celdas resultantes dependen de decodificar toda la secuencia con su semilla</a:t>
            </a:r>
          </a:p>
        </p:txBody>
      </p:sp>
    </p:spTree>
    <p:extLst>
      <p:ext uri="{BB962C8B-B14F-4D97-AF65-F5344CB8AC3E}">
        <p14:creationId xmlns:p14="http://schemas.microsoft.com/office/powerpoint/2010/main" val="134973455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DE9213D-ECAB-4ADF-8C0A-D0D1FBCD60D6}"/>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Mutación real: el parque agrega una celda</a:t>
            </a:r>
          </a:p>
        </p:txBody>
      </p:sp>
      <p:sp>
        <p:nvSpPr>
          <p:cNvPr id="2" name="">
            <a:extLst xmlns:a="http://schemas.openxmlformats.org/drawingml/2006/main">
              <a:ext uri="{FF2B5EF4-FFF2-40B4-BE49-F238E27FC236}">
                <a16:creationId xmlns:a16="http://schemas.microsoft.com/office/drawing/2014/main" id="{6CB23ECA-6E52-4256-BBB8-582A3850ECFA}"/>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C1684215-485A-491F-87A9-54AFEB6EBF4A}"/>
              </a:ext>
            </a:extLst>
          </p:cNvPr>
          <p:cNvSpPr>
            <a:spLocks xmlns:a="http://schemas.openxmlformats.org/drawingml/2006/main" noGrp="1"/>
          </p:cNvSpPr>
          <p:nvPr/>
        </p:nvSpPr>
        <p:spPr>
          <a:xfrm xmlns:a="http://schemas.openxmlformats.org/drawingml/2006/main">
            <a:off x="571500" y="155257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02A43"/>
                </a:solidFill>
                <a:latin typeface="Arial"/>
                <a:ea typeface="Arial"/>
                <a:cs typeface="Arial"/>
              </a:defRPr>
            </a:defPPr>
          </a:lstStyle>
          <a:p xmlns:a="http://schemas.openxmlformats.org/drawingml/2006/main">
            <a:pPr>
              <a:defRPr sz="2250" b="1">
                <a:solidFill>
                  <a:srgbClr val="102A43"/>
                </a:solidFill>
                <a:latin typeface="Arial"/>
                <a:ea typeface="Arial"/>
                <a:cs typeface="Arial"/>
              </a:defRPr>
            </a:pPr>
            <a:r>
              <a:rPr sz="2250" b="1">
                <a:solidFill>
                  <a:srgbClr val="102A43"/>
                </a:solidFill>
                <a:latin typeface="Arial"/>
                <a:ea typeface="Arial"/>
                <a:cs typeface="Arial"/>
              </a:rPr>
              <a:t>Padre</a:t>
            </a:r>
          </a:p>
        </p:txBody>
      </p:sp>
      <p:sp>
        <p:nvSpPr>
          <p:cNvPr id="4" name="">
            <a:extLst xmlns:a="http://schemas.openxmlformats.org/drawingml/2006/main">
              <a:ext uri="{FF2B5EF4-FFF2-40B4-BE49-F238E27FC236}">
                <a16:creationId xmlns:a16="http://schemas.microsoft.com/office/drawing/2014/main" id="{DAA879DD-1528-4924-8E96-248C0C6892D0}"/>
              </a:ext>
            </a:extLst>
          </p:cNvPr>
          <p:cNvSpPr>
            <a:spLocks xmlns:a="http://schemas.openxmlformats.org/drawingml/2006/main" noGrp="1"/>
          </p:cNvSpPr>
          <p:nvPr/>
        </p:nvSpPr>
        <p:spPr>
          <a:xfrm xmlns:a="http://schemas.openxmlformats.org/drawingml/2006/main">
            <a:off x="6572250" y="1552575"/>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087F8C"/>
                </a:solidFill>
                <a:latin typeface="Arial"/>
                <a:ea typeface="Arial"/>
                <a:cs typeface="Arial"/>
              </a:defRPr>
            </a:def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Hijo: agrega el gen 6</a:t>
            </a:r>
          </a:p>
        </p:txBody>
      </p:sp>
      <p:graphicFrame>
        <p:nvGraphicFramePr>
          <p:cNvPr id="5" name="">
            <a:extLst xmlns:a="http://schemas.openxmlformats.org/drawingml/2006/main">
              <a:ext uri="{FF2B5EF4-FFF2-40B4-BE49-F238E27FC236}">
                <a16:creationId xmlns:a16="http://schemas.microsoft.com/office/drawing/2014/main" id="{785CDDEC-ADB8-451D-A08D-A7981B125B4C}"/>
              </a:ext>
            </a:extLst>
          </p:cNvPr>
          <p:cNvGraphicFramePr/>
          <p:nvPr/>
        </p:nvGraphicFramePr>
        <p:xfrm>
          <a:off xmlns:a="http://schemas.openxmlformats.org/drawingml/2006/main" x="571500" y="2238375"/>
          <a:ext xmlns:a="http://schemas.openxmlformats.org/drawingml/2006/main" cx="4762500" cy="2619375"/>
        </p:xfrm>
        <a:graphic xmlns:a="http://schemas.openxmlformats.org/drawingml/2006/main">
          <a:graphicData uri="http://schemas.openxmlformats.org/drawingml/2006/table">
            <a:tbl>
              <a:tblPr/>
              <a:tblGrid>
                <a:gridCol w="952500"/>
                <a:gridCol w="952500"/>
                <a:gridCol w="952500"/>
                <a:gridCol w="952500"/>
                <a:gridCol w="952500"/>
              </a:tblGrid>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381618</a:t>
                      </a:r>
                    </a:p>
                  </a:txBody>
                  <a:tcPr marL="91440" marR="91440" marT="45720" marB="45720">
                    <a:solidFill>
                      <a:srgbClr val="087F8C"/>
                    </a:solidFill>
                  </a:tcPr>
                </a:tc>
                <a:tc>
                  <a:txBody>
                    <a:bodyPr/>
                    <a:lstStyle/>
                    <a:p>
                      <a:r>
                        <a:rPr sz="1500" b="1">
                          <a:solidFill>
                            <a:srgbClr val="FFFFFF"/>
                          </a:solidFill>
                          <a:latin typeface="Arial"/>
                          <a:ea typeface="Arial"/>
                          <a:cs typeface="Arial"/>
                        </a:rPr>
                        <a:t>381619</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381147</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380673</a:t>
                      </a:r>
                    </a:p>
                  </a:txBody>
                  <a:tcPr marL="91440" marR="91440" marT="45720" marB="45720">
                    <a:solidFill>
                      <a:srgbClr val="087F8C"/>
                    </a:solidFill>
                  </a:tcPr>
                </a:tc>
                <a:tc>
                  <a:txBody>
                    <a:bodyPr/>
                    <a:lstStyle/>
                    <a:p>
                      <a:r>
                        <a:rPr sz="1500" b="1">
                          <a:solidFill>
                            <a:srgbClr val="FFFFFF"/>
                          </a:solidFill>
                          <a:latin typeface="Arial"/>
                          <a:ea typeface="Arial"/>
                          <a:cs typeface="Arial"/>
                        </a:rPr>
                        <a:t>380674</a:t>
                      </a:r>
                    </a:p>
                  </a:txBody>
                  <a:tcPr marL="91440" marR="91440" marT="45720" marB="45720">
                    <a:solidFill>
                      <a:srgbClr val="C7902C"/>
                    </a:solidFill>
                  </a:tcPr>
                </a:tc>
                <a:tc>
                  <a:txBody>
                    <a:bodyPr/>
                    <a:lstStyle/>
                    <a:p>
                      <a:r>
                        <a:rPr sz="1500" b="1">
                          <a:solidFill>
                            <a:srgbClr val="FFFFFF"/>
                          </a:solidFill>
                          <a:latin typeface="Arial"/>
                          <a:ea typeface="Arial"/>
                          <a:cs typeface="Arial"/>
                        </a:rPr>
                        <a:t>380675</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11E26B44-486A-438F-9ECC-689C7C748510}"/>
              </a:ext>
            </a:extLst>
          </p:cNvPr>
          <p:cNvGraphicFramePr/>
          <p:nvPr/>
        </p:nvGraphicFramePr>
        <p:xfrm>
          <a:off xmlns:a="http://schemas.openxmlformats.org/drawingml/2006/main" x="6572250" y="2238375"/>
          <a:ext xmlns:a="http://schemas.openxmlformats.org/drawingml/2006/main" cx="4762500" cy="2619375"/>
        </p:xfrm>
        <a:graphic xmlns:a="http://schemas.openxmlformats.org/drawingml/2006/main">
          <a:graphicData uri="http://schemas.openxmlformats.org/drawingml/2006/table">
            <a:tbl>
              <a:tblPr/>
              <a:tblGrid>
                <a:gridCol w="952500"/>
                <a:gridCol w="952500"/>
                <a:gridCol w="952500"/>
                <a:gridCol w="952500"/>
                <a:gridCol w="952500"/>
              </a:tblGrid>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381618</a:t>
                      </a:r>
                    </a:p>
                  </a:txBody>
                  <a:tcPr marL="91440" marR="91440" marT="45720" marB="45720">
                    <a:solidFill>
                      <a:srgbClr val="087F8C"/>
                    </a:solidFill>
                  </a:tcPr>
                </a:tc>
                <a:tc>
                  <a:txBody>
                    <a:bodyPr/>
                    <a:lstStyle/>
                    <a:p>
                      <a:r>
                        <a:rPr sz="1500" b="1">
                          <a:solidFill>
                            <a:srgbClr val="FFFFFF"/>
                          </a:solidFill>
                          <a:latin typeface="Arial"/>
                          <a:ea typeface="Arial"/>
                          <a:cs typeface="Arial"/>
                        </a:rPr>
                        <a:t>381619</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381147</a:t>
                      </a:r>
                    </a:p>
                  </a:txBody>
                  <a:tcPr marL="91440" marR="91440" marT="45720" marB="45720">
                    <a:solidFill>
                      <a:srgbClr val="087F8C"/>
                    </a:solidFill>
                  </a:tcPr>
                </a:tc>
                <a:tc>
                  <a:txBody>
                    <a:bodyPr/>
                    <a:lstStyle/>
                    <a:p>
                      <a:r>
                        <a:rPr sz="1500" b="1">
                          <a:solidFill>
                            <a:srgbClr val="FFFFFF"/>
                          </a:solidFill>
                          <a:latin typeface="Arial"/>
                          <a:ea typeface="Arial"/>
                          <a:cs typeface="Arial"/>
                        </a:rPr>
                        <a:t>381148</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380673</a:t>
                      </a:r>
                    </a:p>
                  </a:txBody>
                  <a:tcPr marL="91440" marR="91440" marT="45720" marB="45720">
                    <a:solidFill>
                      <a:srgbClr val="087F8C"/>
                    </a:solidFill>
                  </a:tcPr>
                </a:tc>
                <a:tc>
                  <a:txBody>
                    <a:bodyPr/>
                    <a:lstStyle/>
                    <a:p>
                      <a:r>
                        <a:rPr sz="1500" b="1">
                          <a:solidFill>
                            <a:srgbClr val="FFFFFF"/>
                          </a:solidFill>
                          <a:latin typeface="Arial"/>
                          <a:ea typeface="Arial"/>
                          <a:cs typeface="Arial"/>
                        </a:rPr>
                        <a:t>380674</a:t>
                      </a:r>
                    </a:p>
                  </a:txBody>
                  <a:tcPr marL="91440" marR="91440" marT="45720" marB="45720">
                    <a:solidFill>
                      <a:srgbClr val="C7902C"/>
                    </a:solidFill>
                  </a:tcPr>
                </a:tc>
                <a:tc>
                  <a:txBody>
                    <a:bodyPr/>
                    <a:lstStyle/>
                    <a:p>
                      <a:r>
                        <a:rPr sz="1500" b="1">
                          <a:solidFill>
                            <a:srgbClr val="FFFFFF"/>
                          </a:solidFill>
                          <a:latin typeface="Arial"/>
                          <a:ea typeface="Arial"/>
                          <a:cs typeface="Arial"/>
                        </a:rPr>
                        <a:t>380675</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7" name="">
            <a:extLst xmlns:a="http://schemas.openxmlformats.org/drawingml/2006/main">
              <a:ext uri="{FF2B5EF4-FFF2-40B4-BE49-F238E27FC236}">
                <a16:creationId xmlns:a16="http://schemas.microsoft.com/office/drawing/2014/main" id="{D075F69F-7C3F-4567-82D1-88EE26140D87}"/>
              </a:ext>
            </a:extLst>
          </p:cNvPr>
          <p:cNvSpPr>
            <a:spLocks xmlns:a="http://schemas.openxmlformats.org/drawingml/2006/main" noGrp="1"/>
          </p:cNvSpPr>
          <p:nvPr/>
        </p:nvSpPr>
        <p:spPr>
          <a:xfrm xmlns:a="http://schemas.openxmlformats.org/drawingml/2006/main">
            <a:off x="571500" y="5162550"/>
            <a:ext cx="4762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183B4E"/>
                </a:solidFill>
                <a:latin typeface="Arial"/>
                <a:ea typeface="Arial"/>
                <a:cs typeface="Arial"/>
              </a:defRPr>
            </a:defPPr>
          </a:lstStyle>
          <a:p xmlns:a="http://schemas.openxmlformats.org/drawingml/2006/main">
            <a:pPr>
              <a:defRPr sz="2175" b="0">
                <a:solidFill>
                  <a:srgbClr val="183B4E"/>
                </a:solidFill>
                <a:latin typeface="Arial"/>
                <a:ea typeface="Arial"/>
                <a:cs typeface="Arial"/>
              </a:defRPr>
            </a:pPr>
            <a:r>
              <a:rPr sz="2175" b="0">
                <a:solidFill>
                  <a:srgbClr val="183B4E"/>
                </a:solidFill>
                <a:latin typeface="Arial"/>
                <a:ea typeface="Arial"/>
                <a:cs typeface="Arial"/>
              </a:rPr>
              <a:t>6 celdas   46,950 MW</a:t>
            </a:r>
          </a:p>
          <a:p xmlns:a="http://schemas.openxmlformats.org/drawingml/2006/main">
            <a:pPr>
              <a:defRPr sz="2175" b="0">
                <a:solidFill>
                  <a:srgbClr val="183B4E"/>
                </a:solidFill>
                <a:latin typeface="Arial"/>
                <a:ea typeface="Arial"/>
                <a:cs typeface="Arial"/>
              </a:defRPr>
            </a:pPr>
            <a:r>
              <a:rPr sz="2175" b="0">
                <a:solidFill>
                  <a:srgbClr val="183B4E"/>
                </a:solidFill>
                <a:latin typeface="Arial"/>
                <a:ea typeface="Arial"/>
                <a:cs typeface="Arial"/>
              </a:rPr>
              <a:t>Fitness 0,4498</a:t>
            </a:r>
          </a:p>
        </p:txBody>
      </p:sp>
      <p:sp>
        <p:nvSpPr>
          <p:cNvPr id="8" name="">
            <a:extLst xmlns:a="http://schemas.openxmlformats.org/drawingml/2006/main">
              <a:ext uri="{FF2B5EF4-FFF2-40B4-BE49-F238E27FC236}">
                <a16:creationId xmlns:a16="http://schemas.microsoft.com/office/drawing/2014/main" id="{B755D884-518C-4E77-8E43-A6F5863E5F9C}"/>
              </a:ext>
            </a:extLst>
          </p:cNvPr>
          <p:cNvSpPr>
            <a:spLocks xmlns:a="http://schemas.openxmlformats.org/drawingml/2006/main" noGrp="1"/>
          </p:cNvSpPr>
          <p:nvPr/>
        </p:nvSpPr>
        <p:spPr>
          <a:xfrm xmlns:a="http://schemas.openxmlformats.org/drawingml/2006/main">
            <a:off x="6572250" y="5162550"/>
            <a:ext cx="4762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183B4E"/>
                </a:solidFill>
                <a:latin typeface="Arial"/>
                <a:ea typeface="Arial"/>
                <a:cs typeface="Arial"/>
              </a:defRPr>
            </a:defPPr>
          </a:lstStyle>
          <a:p xmlns:a="http://schemas.openxmlformats.org/drawingml/2006/main">
            <a:pPr>
              <a:defRPr sz="2175" b="0">
                <a:solidFill>
                  <a:srgbClr val="183B4E"/>
                </a:solidFill>
                <a:latin typeface="Arial"/>
                <a:ea typeface="Arial"/>
                <a:cs typeface="Arial"/>
              </a:defRPr>
            </a:pPr>
            <a:r>
              <a:rPr sz="2175" b="0">
                <a:solidFill>
                  <a:srgbClr val="183B4E"/>
                </a:solidFill>
                <a:latin typeface="Arial"/>
                <a:ea typeface="Arial"/>
                <a:cs typeface="Arial"/>
              </a:rPr>
              <a:t>7 celdas   54,775 MW</a:t>
            </a:r>
          </a:p>
          <a:p xmlns:a="http://schemas.openxmlformats.org/drawingml/2006/main">
            <a:pPr>
              <a:defRPr sz="2175" b="0">
                <a:solidFill>
                  <a:srgbClr val="183B4E"/>
                </a:solidFill>
                <a:latin typeface="Arial"/>
                <a:ea typeface="Arial"/>
                <a:cs typeface="Arial"/>
              </a:defRPr>
            </a:pPr>
            <a:r>
              <a:rPr sz="2175" b="0">
                <a:solidFill>
                  <a:srgbClr val="183B4E"/>
                </a:solidFill>
                <a:latin typeface="Arial"/>
                <a:ea typeface="Arial"/>
                <a:cs typeface="Arial"/>
              </a:rPr>
              <a:t>Fitness 0,4597</a:t>
            </a:r>
          </a:p>
        </p:txBody>
      </p:sp>
      <p:sp>
        <p:nvSpPr>
          <p:cNvPr id="9" name="">
            <a:extLst xmlns:a="http://schemas.openxmlformats.org/drawingml/2006/main">
              <a:ext uri="{FF2B5EF4-FFF2-40B4-BE49-F238E27FC236}">
                <a16:creationId xmlns:a16="http://schemas.microsoft.com/office/drawing/2014/main" id="{16927B3B-98B2-4C61-8F5A-E5B74C7B2C85}"/>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defRPr sz="1575" b="0">
                <a:solidFill>
                  <a:srgbClr val="526778"/>
                </a:solidFill>
                <a:latin typeface="Arial"/>
                <a:ea typeface="Arial"/>
                <a:cs typeface="Arial"/>
              </a:defRPr>
            </a:pPr>
            <a:r>
              <a:rPr sz="1575" b="0">
                <a:solidFill>
                  <a:srgbClr val="526778"/>
                </a:solidFill>
                <a:latin typeface="Arial"/>
                <a:ea typeface="Arial"/>
                <a:cs typeface="Arial"/>
              </a:rPr>
              <a:t>La nueva celda 381148 cambia la forma, el área y el centroide del parque</a:t>
            </a:r>
          </a:p>
        </p:txBody>
      </p:sp>
    </p:spTree>
    <p:extLst>
      <p:ext uri="{BB962C8B-B14F-4D97-AF65-F5344CB8AC3E}">
        <p14:creationId xmlns:p14="http://schemas.microsoft.com/office/powerpoint/2010/main" val="2283845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BB91B3-B32B-4ED8-A90B-8B26DAA56D56}"/>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Evolución observada en 200 generaciones</a:t>
            </a:r>
          </a:p>
        </p:txBody>
      </p:sp>
      <p:sp>
        <p:nvSpPr>
          <p:cNvPr id="2" name="">
            <a:extLst xmlns:a="http://schemas.openxmlformats.org/drawingml/2006/main">
              <a:ext uri="{FF2B5EF4-FFF2-40B4-BE49-F238E27FC236}">
                <a16:creationId xmlns:a16="http://schemas.microsoft.com/office/drawing/2014/main" id="{B9D5BF27-7EDF-4A53-A0FC-AD7607C4B492}"/>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18</a:t>
            </a:r>
          </a:p>
        </p:txBody>
      </p:sp>
      <p:graphicFrame>
        <p:nvGraphicFramePr>
          <p:cNvPr id="3" name="Chart">
            <a:extLst xmlns:a="http://schemas.openxmlformats.org/drawingml/2006/main">
              <a:ext uri="{FF2B5EF4-FFF2-40B4-BE49-F238E27FC236}">
                <a16:creationId xmlns:a16="http://schemas.microsoft.com/office/drawing/2014/main" id="{B4AB9BE1-24DF-46DB-820C-A4E6546E6A98}"/>
              </a:ext>
            </a:extLst>
          </p:cNvPr>
          <p:cNvGraphicFramePr/>
          <p:nvPr/>
        </p:nvGraphicFramePr>
        <p:xfrm>
          <a:off xmlns:a="http://schemas.openxmlformats.org/drawingml/2006/main" x="571500" y="1504950"/>
          <a:ext xmlns:a="http://schemas.openxmlformats.org/drawingml/2006/main" cx="10953750" cy="3800475"/>
        </p:xfrm>
        <a:graphic xmlns:a="http://schemas.openxmlformats.org/drawingml/2006/main">
          <a:graphicData uri="http://schemas.openxmlformats.org/drawingml/2006/chart">
            <c:chart xmlns:r="http://schemas.openxmlformats.org/officeDocument/2006/relationships" xmlns:c="http://schemas.openxmlformats.org/drawingml/2006/chart" r:id="R42858d930c364e2e"/>
          </a:graphicData>
        </a:graphic>
      </p:graphicFrame>
      <p:sp>
        <p:nvSpPr>
          <p:cNvPr id="4" name="">
            <a:extLst xmlns:a="http://schemas.openxmlformats.org/drawingml/2006/main">
              <a:ext uri="{FF2B5EF4-FFF2-40B4-BE49-F238E27FC236}">
                <a16:creationId xmlns:a16="http://schemas.microsoft.com/office/drawing/2014/main" id="{DA119A34-4C06-41D6-A503-E11DCA96CDD5}"/>
              </a:ext>
            </a:extLst>
          </p:cNvPr>
          <p:cNvSpPr>
            <a:spLocks xmlns:a="http://schemas.openxmlformats.org/drawingml/2006/main" noGrp="1"/>
          </p:cNvSpPr>
          <p:nvPr/>
        </p:nvSpPr>
        <p:spPr>
          <a:xfrm xmlns:a="http://schemas.openxmlformats.org/drawingml/2006/main">
            <a:off x="571500" y="5467350"/>
            <a:ext cx="352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02A43"/>
                </a:solidFill>
                <a:latin typeface="Arial"/>
                <a:ea typeface="Arial"/>
                <a:cs typeface="Arial"/>
              </a:defRPr>
            </a:defPPr>
          </a:lstStyle>
          <a:p xmlns:a="http://schemas.openxmlformats.org/drawingml/2006/main">
            <a:pPr>
              <a:defRPr sz="2325" b="1">
                <a:solidFill>
                  <a:srgbClr val="102A43"/>
                </a:solidFill>
                <a:latin typeface="Arial"/>
                <a:ea typeface="Arial"/>
                <a:cs typeface="Arial"/>
              </a:defRPr>
            </a:pPr>
            <a:r>
              <a:rPr sz="2325" b="1">
                <a:solidFill>
                  <a:srgbClr val="102A43"/>
                </a:solidFill>
                <a:latin typeface="Arial"/>
                <a:ea typeface="Arial"/>
                <a:cs typeface="Arial"/>
              </a:rPr>
              <a:t>0,6470 inicial</a:t>
            </a:r>
          </a:p>
        </p:txBody>
      </p:sp>
      <p:sp>
        <p:nvSpPr>
          <p:cNvPr id="5" name="">
            <a:extLst xmlns:a="http://schemas.openxmlformats.org/drawingml/2006/main">
              <a:ext uri="{FF2B5EF4-FFF2-40B4-BE49-F238E27FC236}">
                <a16:creationId xmlns:a16="http://schemas.microsoft.com/office/drawing/2014/main" id="{CED3768D-E995-4BA6-A38D-D1F2A98E9C0A}"/>
              </a:ext>
            </a:extLst>
          </p:cNvPr>
          <p:cNvSpPr>
            <a:spLocks xmlns:a="http://schemas.openxmlformats.org/drawingml/2006/main" noGrp="1"/>
          </p:cNvSpPr>
          <p:nvPr/>
        </p:nvSpPr>
        <p:spPr>
          <a:xfrm xmlns:a="http://schemas.openxmlformats.org/drawingml/2006/main">
            <a:off x="4591050" y="5467350"/>
            <a:ext cx="352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0,7255 final</a:t>
            </a:r>
          </a:p>
        </p:txBody>
      </p:sp>
      <p:sp>
        <p:nvSpPr>
          <p:cNvPr id="6" name="">
            <a:extLst xmlns:a="http://schemas.openxmlformats.org/drawingml/2006/main">
              <a:ext uri="{FF2B5EF4-FFF2-40B4-BE49-F238E27FC236}">
                <a16:creationId xmlns:a16="http://schemas.microsoft.com/office/drawing/2014/main" id="{62008F9A-CB0A-4E74-B5E4-583C18DC88AF}"/>
              </a:ext>
            </a:extLst>
          </p:cNvPr>
          <p:cNvSpPr>
            <a:spLocks xmlns:a="http://schemas.openxmlformats.org/drawingml/2006/main" noGrp="1"/>
          </p:cNvSpPr>
          <p:nvPr/>
        </p:nvSpPr>
        <p:spPr>
          <a:xfrm xmlns:a="http://schemas.openxmlformats.org/drawingml/2006/main">
            <a:off x="8343900" y="5467350"/>
            <a:ext cx="342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183B4E"/>
                </a:solidFill>
                <a:latin typeface="Arial"/>
                <a:ea typeface="Arial"/>
                <a:cs typeface="Arial"/>
              </a:defRPr>
            </a:defPPr>
          </a:lstStyle>
          <a:p xmlns:a="http://schemas.openxmlformats.org/drawingml/2006/main">
            <a:pPr>
              <a:defRPr sz="1950" b="1">
                <a:solidFill>
                  <a:srgbClr val="183B4E"/>
                </a:solidFill>
                <a:latin typeface="Arial"/>
                <a:ea typeface="Arial"/>
                <a:cs typeface="Arial"/>
              </a:defRPr>
            </a:pPr>
            <a:r>
              <a:rPr sz="1950" b="1">
                <a:solidFill>
                  <a:srgbClr val="183B4E"/>
                </a:solidFill>
                <a:latin typeface="Arial"/>
                <a:ea typeface="Arial"/>
                <a:cs typeface="Arial"/>
              </a:rPr>
              <a:t>6.214 parques visitados</a:t>
            </a:r>
          </a:p>
        </p:txBody>
      </p:sp>
    </p:spTree>
    <p:extLst>
      <p:ext uri="{BB962C8B-B14F-4D97-AF65-F5344CB8AC3E}">
        <p14:creationId xmlns:p14="http://schemas.microsoft.com/office/powerpoint/2010/main" val="104136291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B23A1F6-865C-45F1-9449-332360AE3D00}"/>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Cómo cambia el mejor individuo</a:t>
            </a:r>
          </a:p>
        </p:txBody>
      </p:sp>
      <p:sp>
        <p:nvSpPr>
          <p:cNvPr id="2" name="">
            <a:extLst xmlns:a="http://schemas.openxmlformats.org/drawingml/2006/main">
              <a:ext uri="{FF2B5EF4-FFF2-40B4-BE49-F238E27FC236}">
                <a16:creationId xmlns:a16="http://schemas.microsoft.com/office/drawing/2014/main" id="{EA7EE9BE-D74D-47DD-8EA8-61E0FB88B15D}"/>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19</a:t>
            </a:r>
          </a:p>
        </p:txBody>
      </p:sp>
      <p:graphicFrame>
        <p:nvGraphicFramePr>
          <p:cNvPr id="3" name="">
            <a:extLst xmlns:a="http://schemas.openxmlformats.org/drawingml/2006/main">
              <a:ext uri="{FF2B5EF4-FFF2-40B4-BE49-F238E27FC236}">
                <a16:creationId xmlns:a16="http://schemas.microsoft.com/office/drawing/2014/main" id="{6651817E-DFB5-4A3E-BC03-37B36371F37D}"/>
              </a:ext>
            </a:extLst>
          </p:cNvPr>
          <p:cNvGraphicFramePr/>
          <p:nvPr/>
        </p:nvGraphicFramePr>
        <p:xfrm>
          <a:off xmlns:a="http://schemas.openxmlformats.org/drawingml/2006/main" x="571500" y="1609725"/>
          <a:ext xmlns:a="http://schemas.openxmlformats.org/drawingml/2006/main" cx="11049000" cy="3686175"/>
        </p:xfrm>
        <a:graphic xmlns:a="http://schemas.openxmlformats.org/drawingml/2006/main">
          <a:graphicData uri="http://schemas.openxmlformats.org/drawingml/2006/table">
            <a:tbl>
              <a:tblPr/>
              <a:tblGrid>
                <a:gridCol w="1905000"/>
                <a:gridCol w="2286000"/>
                <a:gridCol w="1333500"/>
                <a:gridCol w="1333500"/>
                <a:gridCol w="2286000"/>
                <a:gridCol w="1905000"/>
              </a:tblGrid>
              <a:tr h="526596">
                <a:tc>
                  <a:txBody>
                    <a:bodyPr/>
                    <a:lstStyle/>
                    <a:p>
                      <a:r>
                        <a:rPr sz="1950" b="1">
                          <a:solidFill>
                            <a:srgbClr val="FFFFFF"/>
                          </a:solidFill>
                          <a:latin typeface="Arial"/>
                          <a:ea typeface="Arial"/>
                          <a:cs typeface="Arial"/>
                        </a:rPr>
                        <a:t>Generación</a:t>
                      </a:r>
                    </a:p>
                  </a:txBody>
                  <a:tcPr marL="91440" marR="91440" marT="45720" marB="45720">
                    <a:solidFill>
                      <a:srgbClr val="102A43"/>
                    </a:solidFill>
                  </a:tcPr>
                </a:tc>
                <a:tc>
                  <a:txBody>
                    <a:bodyPr/>
                    <a:lstStyle/>
                    <a:p>
                      <a:r>
                        <a:rPr sz="1950" b="1">
                          <a:solidFill>
                            <a:srgbClr val="FFFFFF"/>
                          </a:solidFill>
                          <a:latin typeface="Arial"/>
                          <a:ea typeface="Arial"/>
                          <a:cs typeface="Arial"/>
                        </a:rPr>
                        <a:t>Semilla</a:t>
                      </a:r>
                    </a:p>
                  </a:txBody>
                  <a:tcPr marL="91440" marR="91440" marT="45720" marB="45720">
                    <a:solidFill>
                      <a:srgbClr val="102A43"/>
                    </a:solidFill>
                  </a:tcPr>
                </a:tc>
                <a:tc>
                  <a:txBody>
                    <a:bodyPr/>
                    <a:lstStyle/>
                    <a:p>
                      <a:r>
                        <a:rPr sz="1950" b="1">
                          <a:solidFill>
                            <a:srgbClr val="FFFFFF"/>
                          </a:solidFill>
                          <a:latin typeface="Arial"/>
                          <a:ea typeface="Arial"/>
                          <a:cs typeface="Arial"/>
                        </a:rPr>
                        <a:t>Genes</a:t>
                      </a:r>
                    </a:p>
                  </a:txBody>
                  <a:tcPr marL="91440" marR="91440" marT="45720" marB="45720">
                    <a:solidFill>
                      <a:srgbClr val="102A43"/>
                    </a:solidFill>
                  </a:tcPr>
                </a:tc>
                <a:tc>
                  <a:txBody>
                    <a:bodyPr/>
                    <a:lstStyle/>
                    <a:p>
                      <a:r>
                        <a:rPr sz="1950" b="1">
                          <a:solidFill>
                            <a:srgbClr val="FFFFFF"/>
                          </a:solidFill>
                          <a:latin typeface="Arial"/>
                          <a:ea typeface="Arial"/>
                          <a:cs typeface="Arial"/>
                        </a:rPr>
                        <a:t>Celdas</a:t>
                      </a:r>
                    </a:p>
                  </a:txBody>
                  <a:tcPr marL="91440" marR="91440" marT="45720" marB="45720">
                    <a:solidFill>
                      <a:srgbClr val="102A43"/>
                    </a:solidFill>
                  </a:tcPr>
                </a:tc>
                <a:tc>
                  <a:txBody>
                    <a:bodyPr/>
                    <a:lstStyle/>
                    <a:p>
                      <a:r>
                        <a:rPr sz="1950" b="1">
                          <a:solidFill>
                            <a:srgbClr val="FFFFFF"/>
                          </a:solidFill>
                          <a:latin typeface="Arial"/>
                          <a:ea typeface="Arial"/>
                          <a:cs typeface="Arial"/>
                        </a:rPr>
                        <a:t>Potencia MW</a:t>
                      </a:r>
                    </a:p>
                  </a:txBody>
                  <a:tcPr marL="91440" marR="91440" marT="45720" marB="45720">
                    <a:solidFill>
                      <a:srgbClr val="102A43"/>
                    </a:solidFill>
                  </a:tcPr>
                </a:tc>
                <a:tc>
                  <a:txBody>
                    <a:bodyPr/>
                    <a:lstStyle/>
                    <a:p>
                      <a:r>
                        <a:rPr sz="1950" b="1">
                          <a:solidFill>
                            <a:srgbClr val="FFFFFF"/>
                          </a:solidFill>
                          <a:latin typeface="Arial"/>
                          <a:ea typeface="Arial"/>
                          <a:cs typeface="Arial"/>
                        </a:rPr>
                        <a:t>Fitness</a:t>
                      </a:r>
                    </a:p>
                  </a:txBody>
                  <a:tcPr marL="91440" marR="91440" marT="45720" marB="45720">
                    <a:solidFill>
                      <a:srgbClr val="102A43"/>
                    </a:solidFill>
                  </a:tcPr>
                </a:tc>
              </a:tr>
              <a:tr h="526596">
                <a:tc>
                  <a:txBody>
                    <a:bodyPr/>
                    <a:lstStyle/>
                    <a:p>
                      <a:r>
                        <a:rPr sz="1950" b="0">
                          <a:solidFill>
                            <a:srgbClr val="183B4E"/>
                          </a:solidFill>
                          <a:latin typeface="Arial"/>
                          <a:ea typeface="Arial"/>
                          <a:cs typeface="Arial"/>
                        </a:rPr>
                        <a:t>0</a:t>
                      </a:r>
                    </a:p>
                  </a:txBody>
                  <a:tcPr marL="91440" marR="91440" marT="45720" marB="45720">
                    <a:solidFill>
                      <a:srgbClr val="FFFFFF"/>
                    </a:solidFill>
                  </a:tcPr>
                </a:tc>
                <a:tc>
                  <a:txBody>
                    <a:bodyPr/>
                    <a:lstStyle/>
                    <a:p>
                      <a:r>
                        <a:rPr sz="1950" b="0">
                          <a:solidFill>
                            <a:srgbClr val="183B4E"/>
                          </a:solidFill>
                          <a:latin typeface="Arial"/>
                          <a:ea typeface="Arial"/>
                          <a:cs typeface="Arial"/>
                        </a:rPr>
                        <a:t>106.712</a:t>
                      </a:r>
                    </a:p>
                  </a:txBody>
                  <a:tcPr marL="91440" marR="91440" marT="45720" marB="45720">
                    <a:solidFill>
                      <a:srgbClr val="FFFFFF"/>
                    </a:solidFill>
                  </a:tcPr>
                </a:tc>
                <a:tc>
                  <a:txBody>
                    <a:bodyPr/>
                    <a:lstStyle/>
                    <a:p>
                      <a:r>
                        <a:rPr sz="1950" b="0">
                          <a:solidFill>
                            <a:srgbClr val="183B4E"/>
                          </a:solidFill>
                          <a:latin typeface="Arial"/>
                          <a:ea typeface="Arial"/>
                          <a:cs typeface="Arial"/>
                        </a:rPr>
                        <a:t>10</a:t>
                      </a:r>
                    </a:p>
                  </a:txBody>
                  <a:tcPr marL="91440" marR="91440" marT="45720" marB="45720">
                    <a:solidFill>
                      <a:srgbClr val="FFFFFF"/>
                    </a:solidFill>
                  </a:tcPr>
                </a:tc>
                <a:tc>
                  <a:txBody>
                    <a:bodyPr/>
                    <a:lstStyle/>
                    <a:p>
                      <a:r>
                        <a:rPr sz="1950" b="0">
                          <a:solidFill>
                            <a:srgbClr val="183B4E"/>
                          </a:solidFill>
                          <a:latin typeface="Arial"/>
                          <a:ea typeface="Arial"/>
                          <a:cs typeface="Arial"/>
                        </a:rPr>
                        <a:t>10</a:t>
                      </a:r>
                    </a:p>
                  </a:txBody>
                  <a:tcPr marL="91440" marR="91440" marT="45720" marB="45720">
                    <a:solidFill>
                      <a:srgbClr val="FFFFFF"/>
                    </a:solidFill>
                  </a:tcPr>
                </a:tc>
                <a:tc>
                  <a:txBody>
                    <a:bodyPr/>
                    <a:lstStyle/>
                    <a:p>
                      <a:r>
                        <a:rPr sz="1950" b="0">
                          <a:solidFill>
                            <a:srgbClr val="183B4E"/>
                          </a:solidFill>
                          <a:latin typeface="Arial"/>
                          <a:ea typeface="Arial"/>
                          <a:cs typeface="Arial"/>
                        </a:rPr>
                        <a:t>78,25</a:t>
                      </a:r>
                    </a:p>
                  </a:txBody>
                  <a:tcPr marL="91440" marR="91440" marT="45720" marB="45720">
                    <a:solidFill>
                      <a:srgbClr val="FFFFFF"/>
                    </a:solidFill>
                  </a:tcPr>
                </a:tc>
                <a:tc>
                  <a:txBody>
                    <a:bodyPr/>
                    <a:lstStyle/>
                    <a:p>
                      <a:r>
                        <a:rPr sz="1950" b="0">
                          <a:solidFill>
                            <a:srgbClr val="183B4E"/>
                          </a:solidFill>
                          <a:latin typeface="Arial"/>
                          <a:ea typeface="Arial"/>
                          <a:cs typeface="Arial"/>
                        </a:rPr>
                        <a:t>0,6470</a:t>
                      </a:r>
                    </a:p>
                  </a:txBody>
                  <a:tcPr marL="91440" marR="91440" marT="45720" marB="45720">
                    <a:solidFill>
                      <a:srgbClr val="FFFFFF"/>
                    </a:solidFill>
                  </a:tcPr>
                </a:tc>
              </a:tr>
              <a:tr h="526596">
                <a:tc>
                  <a:txBody>
                    <a:bodyPr/>
                    <a:lstStyle/>
                    <a:p>
                      <a:r>
                        <a:rPr sz="1950" b="0">
                          <a:solidFill>
                            <a:srgbClr val="183B4E"/>
                          </a:solidFill>
                          <a:latin typeface="Arial"/>
                          <a:ea typeface="Arial"/>
                          <a:cs typeface="Arial"/>
                        </a:rPr>
                        <a:t>1</a:t>
                      </a:r>
                    </a:p>
                  </a:txBody>
                  <a:tcPr marL="91440" marR="91440" marT="45720" marB="45720">
                    <a:solidFill>
                      <a:srgbClr val="EEF5F5"/>
                    </a:solidFill>
                  </a:tcPr>
                </a:tc>
                <a:tc>
                  <a:txBody>
                    <a:bodyPr/>
                    <a:lstStyle/>
                    <a:p>
                      <a:r>
                        <a:rPr sz="1950" b="0">
                          <a:solidFill>
                            <a:srgbClr val="183B4E"/>
                          </a:solidFill>
                          <a:latin typeface="Arial"/>
                          <a:ea typeface="Arial"/>
                          <a:cs typeface="Arial"/>
                        </a:rPr>
                        <a:t>106.712</a:t>
                      </a:r>
                    </a:p>
                  </a:txBody>
                  <a:tcPr marL="91440" marR="91440" marT="45720" marB="45720">
                    <a:solidFill>
                      <a:srgbClr val="EEF5F5"/>
                    </a:solidFill>
                  </a:tcPr>
                </a:tc>
                <a:tc>
                  <a:txBody>
                    <a:bodyPr/>
                    <a:lstStyle/>
                    <a:p>
                      <a:r>
                        <a:rPr sz="1950" b="0">
                          <a:solidFill>
                            <a:srgbClr val="183B4E"/>
                          </a:solidFill>
                          <a:latin typeface="Arial"/>
                          <a:ea typeface="Arial"/>
                          <a:cs typeface="Arial"/>
                        </a:rPr>
                        <a:t>11</a:t>
                      </a:r>
                    </a:p>
                  </a:txBody>
                  <a:tcPr marL="91440" marR="91440" marT="45720" marB="45720">
                    <a:solidFill>
                      <a:srgbClr val="EEF5F5"/>
                    </a:solidFill>
                  </a:tcPr>
                </a:tc>
                <a:tc>
                  <a:txBody>
                    <a:bodyPr/>
                    <a:lstStyle/>
                    <a:p>
                      <a:r>
                        <a:rPr sz="1950" b="0">
                          <a:solidFill>
                            <a:srgbClr val="183B4E"/>
                          </a:solidFill>
                          <a:latin typeface="Arial"/>
                          <a:ea typeface="Arial"/>
                          <a:cs typeface="Arial"/>
                        </a:rPr>
                        <a:t>10</a:t>
                      </a:r>
                    </a:p>
                  </a:txBody>
                  <a:tcPr marL="91440" marR="91440" marT="45720" marB="45720">
                    <a:solidFill>
                      <a:srgbClr val="EEF5F5"/>
                    </a:solidFill>
                  </a:tcPr>
                </a:tc>
                <a:tc>
                  <a:txBody>
                    <a:bodyPr/>
                    <a:lstStyle/>
                    <a:p>
                      <a:r>
                        <a:rPr sz="1950" b="0">
                          <a:solidFill>
                            <a:srgbClr val="183B4E"/>
                          </a:solidFill>
                          <a:latin typeface="Arial"/>
                          <a:ea typeface="Arial"/>
                          <a:cs typeface="Arial"/>
                        </a:rPr>
                        <a:t>78,25</a:t>
                      </a:r>
                    </a:p>
                  </a:txBody>
                  <a:tcPr marL="91440" marR="91440" marT="45720" marB="45720">
                    <a:solidFill>
                      <a:srgbClr val="EEF5F5"/>
                    </a:solidFill>
                  </a:tcPr>
                </a:tc>
                <a:tc>
                  <a:txBody>
                    <a:bodyPr/>
                    <a:lstStyle/>
                    <a:p>
                      <a:r>
                        <a:rPr sz="1950" b="0">
                          <a:solidFill>
                            <a:srgbClr val="183B4E"/>
                          </a:solidFill>
                          <a:latin typeface="Arial"/>
                          <a:ea typeface="Arial"/>
                          <a:cs typeface="Arial"/>
                        </a:rPr>
                        <a:t>0,6477</a:t>
                      </a:r>
                    </a:p>
                  </a:txBody>
                  <a:tcPr marL="91440" marR="91440" marT="45720" marB="45720">
                    <a:solidFill>
                      <a:srgbClr val="EEF5F5"/>
                    </a:solidFill>
                  </a:tcPr>
                </a:tc>
              </a:tr>
              <a:tr h="526596">
                <a:tc>
                  <a:txBody>
                    <a:bodyPr/>
                    <a:lstStyle/>
                    <a:p>
                      <a:r>
                        <a:rPr sz="1950" b="0">
                          <a:solidFill>
                            <a:srgbClr val="183B4E"/>
                          </a:solidFill>
                          <a:latin typeface="Arial"/>
                          <a:ea typeface="Arial"/>
                          <a:cs typeface="Arial"/>
                        </a:rPr>
                        <a:t>5</a:t>
                      </a:r>
                    </a:p>
                  </a:txBody>
                  <a:tcPr marL="91440" marR="91440" marT="45720" marB="45720">
                    <a:solidFill>
                      <a:srgbClr val="FFFFFF"/>
                    </a:solidFill>
                  </a:tcPr>
                </a:tc>
                <a:tc>
                  <a:txBody>
                    <a:bodyPr/>
                    <a:lstStyle/>
                    <a:p>
                      <a:r>
                        <a:rPr sz="1950" b="0">
                          <a:solidFill>
                            <a:srgbClr val="183B4E"/>
                          </a:solidFill>
                          <a:latin typeface="Arial"/>
                          <a:ea typeface="Arial"/>
                          <a:cs typeface="Arial"/>
                        </a:rPr>
                        <a:t>249.997</a:t>
                      </a:r>
                    </a:p>
                  </a:txBody>
                  <a:tcPr marL="91440" marR="91440" marT="45720" marB="45720">
                    <a:solidFill>
                      <a:srgbClr val="FFFFFF"/>
                    </a:solidFill>
                  </a:tcPr>
                </a:tc>
                <a:tc>
                  <a:txBody>
                    <a:bodyPr/>
                    <a:lstStyle/>
                    <a:p>
                      <a:r>
                        <a:rPr sz="1950" b="0">
                          <a:solidFill>
                            <a:srgbClr val="183B4E"/>
                          </a:solidFill>
                          <a:latin typeface="Arial"/>
                          <a:ea typeface="Arial"/>
                          <a:cs typeface="Arial"/>
                        </a:rPr>
                        <a:t>11</a:t>
                      </a:r>
                    </a:p>
                  </a:txBody>
                  <a:tcPr marL="91440" marR="91440" marT="45720" marB="45720">
                    <a:solidFill>
                      <a:srgbClr val="FFFFFF"/>
                    </a:solidFill>
                  </a:tcPr>
                </a:tc>
                <a:tc>
                  <a:txBody>
                    <a:bodyPr/>
                    <a:lstStyle/>
                    <a:p>
                      <a:r>
                        <a:rPr sz="1950" b="0">
                          <a:solidFill>
                            <a:srgbClr val="183B4E"/>
                          </a:solidFill>
                          <a:latin typeface="Arial"/>
                          <a:ea typeface="Arial"/>
                          <a:cs typeface="Arial"/>
                        </a:rPr>
                        <a:t>10</a:t>
                      </a:r>
                    </a:p>
                  </a:txBody>
                  <a:tcPr marL="91440" marR="91440" marT="45720" marB="45720">
                    <a:solidFill>
                      <a:srgbClr val="FFFFFF"/>
                    </a:solidFill>
                  </a:tcPr>
                </a:tc>
                <a:tc>
                  <a:txBody>
                    <a:bodyPr/>
                    <a:lstStyle/>
                    <a:p>
                      <a:r>
                        <a:rPr sz="1950" b="0">
                          <a:solidFill>
                            <a:srgbClr val="183B4E"/>
                          </a:solidFill>
                          <a:latin typeface="Arial"/>
                          <a:ea typeface="Arial"/>
                          <a:cs typeface="Arial"/>
                        </a:rPr>
                        <a:t>78,25</a:t>
                      </a:r>
                    </a:p>
                  </a:txBody>
                  <a:tcPr marL="91440" marR="91440" marT="45720" marB="45720">
                    <a:solidFill>
                      <a:srgbClr val="FFFFFF"/>
                    </a:solidFill>
                  </a:tcPr>
                </a:tc>
                <a:tc>
                  <a:txBody>
                    <a:bodyPr/>
                    <a:lstStyle/>
                    <a:p>
                      <a:r>
                        <a:rPr sz="1950" b="0">
                          <a:solidFill>
                            <a:srgbClr val="183B4E"/>
                          </a:solidFill>
                          <a:latin typeface="Arial"/>
                          <a:ea typeface="Arial"/>
                          <a:cs typeface="Arial"/>
                        </a:rPr>
                        <a:t>0,6659</a:t>
                      </a:r>
                    </a:p>
                  </a:txBody>
                  <a:tcPr marL="91440" marR="91440" marT="45720" marB="45720">
                    <a:solidFill>
                      <a:srgbClr val="FFFFFF"/>
                    </a:solidFill>
                  </a:tcPr>
                </a:tc>
              </a:tr>
              <a:tr h="526596">
                <a:tc>
                  <a:txBody>
                    <a:bodyPr/>
                    <a:lstStyle/>
                    <a:p>
                      <a:r>
                        <a:rPr sz="1950" b="0">
                          <a:solidFill>
                            <a:srgbClr val="183B4E"/>
                          </a:solidFill>
                          <a:latin typeface="Arial"/>
                          <a:ea typeface="Arial"/>
                          <a:cs typeface="Arial"/>
                        </a:rPr>
                        <a:t>20</a:t>
                      </a:r>
                    </a:p>
                  </a:txBody>
                  <a:tcPr marL="91440" marR="91440" marT="45720" marB="45720">
                    <a:solidFill>
                      <a:srgbClr val="EEF5F5"/>
                    </a:solidFill>
                  </a:tcPr>
                </a:tc>
                <a:tc>
                  <a:txBody>
                    <a:bodyPr/>
                    <a:lstStyle/>
                    <a:p>
                      <a:r>
                        <a:rPr sz="1950" b="0">
                          <a:solidFill>
                            <a:srgbClr val="183B4E"/>
                          </a:solidFill>
                          <a:latin typeface="Arial"/>
                          <a:ea typeface="Arial"/>
                          <a:cs typeface="Arial"/>
                        </a:rPr>
                        <a:t>249.997</a:t>
                      </a:r>
                    </a:p>
                  </a:txBody>
                  <a:tcPr marL="91440" marR="91440" marT="45720" marB="45720">
                    <a:solidFill>
                      <a:srgbClr val="EEF5F5"/>
                    </a:solidFill>
                  </a:tcPr>
                </a:tc>
                <a:tc>
                  <a:txBody>
                    <a:bodyPr/>
                    <a:lstStyle/>
                    <a:p>
                      <a:r>
                        <a:rPr sz="1950" b="0">
                          <a:solidFill>
                            <a:srgbClr val="183B4E"/>
                          </a:solidFill>
                          <a:latin typeface="Arial"/>
                          <a:ea typeface="Arial"/>
                          <a:cs typeface="Arial"/>
                        </a:rPr>
                        <a:t>16</a:t>
                      </a:r>
                    </a:p>
                  </a:txBody>
                  <a:tcPr marL="91440" marR="91440" marT="45720" marB="45720">
                    <a:solidFill>
                      <a:srgbClr val="EEF5F5"/>
                    </a:solidFill>
                  </a:tcPr>
                </a:tc>
                <a:tc>
                  <a:txBody>
                    <a:bodyPr/>
                    <a:lstStyle/>
                    <a:p>
                      <a:r>
                        <a:rPr sz="1950" b="0">
                          <a:solidFill>
                            <a:srgbClr val="183B4E"/>
                          </a:solidFill>
                          <a:latin typeface="Arial"/>
                          <a:ea typeface="Arial"/>
                          <a:cs typeface="Arial"/>
                        </a:rPr>
                        <a:t>10</a:t>
                      </a:r>
                    </a:p>
                  </a:txBody>
                  <a:tcPr marL="91440" marR="91440" marT="45720" marB="45720">
                    <a:solidFill>
                      <a:srgbClr val="EEF5F5"/>
                    </a:solidFill>
                  </a:tcPr>
                </a:tc>
                <a:tc>
                  <a:txBody>
                    <a:bodyPr/>
                    <a:lstStyle/>
                    <a:p>
                      <a:r>
                        <a:rPr sz="1950" b="0">
                          <a:solidFill>
                            <a:srgbClr val="183B4E"/>
                          </a:solidFill>
                          <a:latin typeface="Arial"/>
                          <a:ea typeface="Arial"/>
                          <a:cs typeface="Arial"/>
                        </a:rPr>
                        <a:t>78,25</a:t>
                      </a:r>
                    </a:p>
                  </a:txBody>
                  <a:tcPr marL="91440" marR="91440" marT="45720" marB="45720">
                    <a:solidFill>
                      <a:srgbClr val="EEF5F5"/>
                    </a:solidFill>
                  </a:tcPr>
                </a:tc>
                <a:tc>
                  <a:txBody>
                    <a:bodyPr/>
                    <a:lstStyle/>
                    <a:p>
                      <a:r>
                        <a:rPr sz="1950" b="0">
                          <a:solidFill>
                            <a:srgbClr val="183B4E"/>
                          </a:solidFill>
                          <a:latin typeface="Arial"/>
                          <a:ea typeface="Arial"/>
                          <a:cs typeface="Arial"/>
                        </a:rPr>
                        <a:t>0,6665</a:t>
                      </a:r>
                    </a:p>
                  </a:txBody>
                  <a:tcPr marL="91440" marR="91440" marT="45720" marB="45720">
                    <a:solidFill>
                      <a:srgbClr val="EEF5F5"/>
                    </a:solidFill>
                  </a:tcPr>
                </a:tc>
              </a:tr>
              <a:tr h="526596">
                <a:tc>
                  <a:txBody>
                    <a:bodyPr/>
                    <a:lstStyle/>
                    <a:p>
                      <a:r>
                        <a:rPr sz="1950" b="0">
                          <a:solidFill>
                            <a:srgbClr val="183B4E"/>
                          </a:solidFill>
                          <a:latin typeface="Arial"/>
                          <a:ea typeface="Arial"/>
                          <a:cs typeface="Arial"/>
                        </a:rPr>
                        <a:t>100</a:t>
                      </a:r>
                    </a:p>
                  </a:txBody>
                  <a:tcPr marL="91440" marR="91440" marT="45720" marB="45720">
                    <a:solidFill>
                      <a:srgbClr val="FFFFFF"/>
                    </a:solidFill>
                  </a:tcPr>
                </a:tc>
                <a:tc>
                  <a:txBody>
                    <a:bodyPr/>
                    <a:lstStyle/>
                    <a:p>
                      <a:r>
                        <a:rPr sz="1950" b="0">
                          <a:solidFill>
                            <a:srgbClr val="183B4E"/>
                          </a:solidFill>
                          <a:latin typeface="Arial"/>
                          <a:ea typeface="Arial"/>
                          <a:cs typeface="Arial"/>
                        </a:rPr>
                        <a:t>264.333</a:t>
                      </a:r>
                    </a:p>
                  </a:txBody>
                  <a:tcPr marL="91440" marR="91440" marT="45720" marB="45720">
                    <a:solidFill>
                      <a:srgbClr val="FFFFFF"/>
                    </a:solidFill>
                  </a:tcPr>
                </a:tc>
                <a:tc>
                  <a:txBody>
                    <a:bodyPr/>
                    <a:lstStyle/>
                    <a:p>
                      <a:r>
                        <a:rPr sz="1950" b="0">
                          <a:solidFill>
                            <a:srgbClr val="183B4E"/>
                          </a:solidFill>
                          <a:latin typeface="Arial"/>
                          <a:ea typeface="Arial"/>
                          <a:cs typeface="Arial"/>
                        </a:rPr>
                        <a:t>22</a:t>
                      </a:r>
                    </a:p>
                  </a:txBody>
                  <a:tcPr marL="91440" marR="91440" marT="45720" marB="45720">
                    <a:solidFill>
                      <a:srgbClr val="FFFFFF"/>
                    </a:solidFill>
                  </a:tcPr>
                </a:tc>
                <a:tc>
                  <a:txBody>
                    <a:bodyPr/>
                    <a:lstStyle/>
                    <a:p>
                      <a:r>
                        <a:rPr sz="1950" b="0">
                          <a:solidFill>
                            <a:srgbClr val="183B4E"/>
                          </a:solidFill>
                          <a:latin typeface="Arial"/>
                          <a:ea typeface="Arial"/>
                          <a:cs typeface="Arial"/>
                        </a:rPr>
                        <a:t>10</a:t>
                      </a:r>
                    </a:p>
                  </a:txBody>
                  <a:tcPr marL="91440" marR="91440" marT="45720" marB="45720">
                    <a:solidFill>
                      <a:srgbClr val="FFFFFF"/>
                    </a:solidFill>
                  </a:tcPr>
                </a:tc>
                <a:tc>
                  <a:txBody>
                    <a:bodyPr/>
                    <a:lstStyle/>
                    <a:p>
                      <a:r>
                        <a:rPr sz="1950" b="0">
                          <a:solidFill>
                            <a:srgbClr val="183B4E"/>
                          </a:solidFill>
                          <a:latin typeface="Arial"/>
                          <a:ea typeface="Arial"/>
                          <a:cs typeface="Arial"/>
                        </a:rPr>
                        <a:t>78,25</a:t>
                      </a:r>
                    </a:p>
                  </a:txBody>
                  <a:tcPr marL="91440" marR="91440" marT="45720" marB="45720">
                    <a:solidFill>
                      <a:srgbClr val="FFFFFF"/>
                    </a:solidFill>
                  </a:tcPr>
                </a:tc>
                <a:tc>
                  <a:txBody>
                    <a:bodyPr/>
                    <a:lstStyle/>
                    <a:p>
                      <a:r>
                        <a:rPr sz="1950" b="0">
                          <a:solidFill>
                            <a:srgbClr val="183B4E"/>
                          </a:solidFill>
                          <a:latin typeface="Arial"/>
                          <a:ea typeface="Arial"/>
                          <a:cs typeface="Arial"/>
                        </a:rPr>
                        <a:t>0,6965</a:t>
                      </a:r>
                    </a:p>
                  </a:txBody>
                  <a:tcPr marL="91440" marR="91440" marT="45720" marB="45720">
                    <a:solidFill>
                      <a:srgbClr val="FFFFFF"/>
                    </a:solidFill>
                  </a:tcPr>
                </a:tc>
              </a:tr>
              <a:tr h="526596">
                <a:tc>
                  <a:txBody>
                    <a:bodyPr/>
                    <a:lstStyle/>
                    <a:p>
                      <a:r>
                        <a:rPr sz="1950" b="0">
                          <a:solidFill>
                            <a:srgbClr val="183B4E"/>
                          </a:solidFill>
                          <a:latin typeface="Arial"/>
                          <a:ea typeface="Arial"/>
                          <a:cs typeface="Arial"/>
                        </a:rPr>
                        <a:t>200</a:t>
                      </a:r>
                    </a:p>
                  </a:txBody>
                  <a:tcPr marL="91440" marR="91440" marT="45720" marB="45720">
                    <a:solidFill>
                      <a:srgbClr val="EEF5F5"/>
                    </a:solidFill>
                  </a:tcPr>
                </a:tc>
                <a:tc>
                  <a:txBody>
                    <a:bodyPr/>
                    <a:lstStyle/>
                    <a:p>
                      <a:r>
                        <a:rPr sz="1950" b="0">
                          <a:solidFill>
                            <a:srgbClr val="183B4E"/>
                          </a:solidFill>
                          <a:latin typeface="Arial"/>
                          <a:ea typeface="Arial"/>
                          <a:cs typeface="Arial"/>
                        </a:rPr>
                        <a:t>259.170</a:t>
                      </a:r>
                    </a:p>
                  </a:txBody>
                  <a:tcPr marL="91440" marR="91440" marT="45720" marB="45720">
                    <a:solidFill>
                      <a:srgbClr val="EEF5F5"/>
                    </a:solidFill>
                  </a:tcPr>
                </a:tc>
                <a:tc>
                  <a:txBody>
                    <a:bodyPr/>
                    <a:lstStyle/>
                    <a:p>
                      <a:r>
                        <a:rPr sz="1950" b="0">
                          <a:solidFill>
                            <a:srgbClr val="183B4E"/>
                          </a:solidFill>
                          <a:latin typeface="Arial"/>
                          <a:ea typeface="Arial"/>
                          <a:cs typeface="Arial"/>
                        </a:rPr>
                        <a:t>15</a:t>
                      </a:r>
                    </a:p>
                  </a:txBody>
                  <a:tcPr marL="91440" marR="91440" marT="45720" marB="45720">
                    <a:solidFill>
                      <a:srgbClr val="EEF5F5"/>
                    </a:solidFill>
                  </a:tcPr>
                </a:tc>
                <a:tc>
                  <a:txBody>
                    <a:bodyPr/>
                    <a:lstStyle/>
                    <a:p>
                      <a:r>
                        <a:rPr sz="1950" b="0">
                          <a:solidFill>
                            <a:srgbClr val="183B4E"/>
                          </a:solidFill>
                          <a:latin typeface="Arial"/>
                          <a:ea typeface="Arial"/>
                          <a:cs typeface="Arial"/>
                        </a:rPr>
                        <a:t>11</a:t>
                      </a:r>
                    </a:p>
                  </a:txBody>
                  <a:tcPr marL="91440" marR="91440" marT="45720" marB="45720">
                    <a:solidFill>
                      <a:srgbClr val="EEF5F5"/>
                    </a:solidFill>
                  </a:tcPr>
                </a:tc>
                <a:tc>
                  <a:txBody>
                    <a:bodyPr/>
                    <a:lstStyle/>
                    <a:p>
                      <a:r>
                        <a:rPr sz="1950" b="0">
                          <a:solidFill>
                            <a:srgbClr val="183B4E"/>
                          </a:solidFill>
                          <a:latin typeface="Arial"/>
                          <a:ea typeface="Arial"/>
                          <a:cs typeface="Arial"/>
                        </a:rPr>
                        <a:t>79,49</a:t>
                      </a:r>
                    </a:p>
                  </a:txBody>
                  <a:tcPr marL="91440" marR="91440" marT="45720" marB="45720">
                    <a:solidFill>
                      <a:srgbClr val="EEF5F5"/>
                    </a:solidFill>
                  </a:tcPr>
                </a:tc>
                <a:tc>
                  <a:txBody>
                    <a:bodyPr/>
                    <a:lstStyle/>
                    <a:p>
                      <a:r>
                        <a:rPr sz="1950" b="0">
                          <a:solidFill>
                            <a:srgbClr val="183B4E"/>
                          </a:solidFill>
                          <a:latin typeface="Arial"/>
                          <a:ea typeface="Arial"/>
                          <a:cs typeface="Arial"/>
                        </a:rPr>
                        <a:t>0,7255</a:t>
                      </a:r>
                    </a:p>
                  </a:txBody>
                  <a:tcPr marL="91440" marR="91440" marT="45720" marB="45720">
                    <a:solidFill>
                      <a:srgbClr val="EEF5F5"/>
                    </a:solidFill>
                  </a:tcPr>
                </a:tc>
              </a:tr>
            </a:tbl>
          </a:graphicData>
        </a:graphic>
      </p:graphicFrame>
      <p:sp>
        <p:nvSpPr>
          <p:cNvPr id="4" name="">
            <a:extLst xmlns:a="http://schemas.openxmlformats.org/drawingml/2006/main">
              <a:ext uri="{FF2B5EF4-FFF2-40B4-BE49-F238E27FC236}">
                <a16:creationId xmlns:a16="http://schemas.microsoft.com/office/drawing/2014/main" id="{6015E478-06F2-4244-9194-4DCDA8D17401}"/>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defRPr sz="1575" b="0">
                <a:solidFill>
                  <a:srgbClr val="526778"/>
                </a:solidFill>
                <a:latin typeface="Arial"/>
                <a:ea typeface="Arial"/>
                <a:cs typeface="Arial"/>
              </a:defRPr>
            </a:pPr>
            <a:r>
              <a:rPr sz="1575" b="0">
                <a:solidFill>
                  <a:srgbClr val="526778"/>
                </a:solidFill>
                <a:latin typeface="Arial"/>
                <a:ea typeface="Arial"/>
                <a:cs typeface="Arial"/>
              </a:rPr>
              <a:t>Son líderes sucesivos de la población. Cada fila puede pertenecer a otro linaje</a:t>
            </a:r>
          </a:p>
        </p:txBody>
      </p:sp>
    </p:spTree>
    <p:extLst>
      <p:ext uri="{BB962C8B-B14F-4D97-AF65-F5344CB8AC3E}">
        <p14:creationId xmlns:p14="http://schemas.microsoft.com/office/powerpoint/2010/main" val="2952358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C6584A-C85B-4AD7-8F0B-F182DDA366DE}"/>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Resultados para explorar el territorio</a:t>
            </a:r>
          </a:p>
        </p:txBody>
      </p:sp>
      <p:sp>
        <p:nvSpPr>
          <p:cNvPr id="2" name="">
            <a:extLst xmlns:a="http://schemas.openxmlformats.org/drawingml/2006/main">
              <a:ext uri="{FF2B5EF4-FFF2-40B4-BE49-F238E27FC236}">
                <a16:creationId xmlns:a16="http://schemas.microsoft.com/office/drawing/2014/main" id="{50979470-A873-4F72-8E88-5ADAC033BDEA}"/>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20</a:t>
            </a:r>
          </a:p>
        </p:txBody>
      </p:sp>
      <p:graphicFrame>
        <p:nvGraphicFramePr>
          <p:cNvPr id="3" name="Chart">
            <a:extLst xmlns:a="http://schemas.openxmlformats.org/drawingml/2006/main">
              <a:ext uri="{FF2B5EF4-FFF2-40B4-BE49-F238E27FC236}">
                <a16:creationId xmlns:a16="http://schemas.microsoft.com/office/drawing/2014/main" id="{533B6F4F-3832-4925-8DE2-BB417482D85C}"/>
              </a:ext>
            </a:extLst>
          </p:cNvPr>
          <p:cNvGraphicFramePr/>
          <p:nvPr/>
        </p:nvGraphicFramePr>
        <p:xfrm>
          <a:off xmlns:a="http://schemas.openxmlformats.org/drawingml/2006/main" x="571500" y="1495425"/>
          <a:ext xmlns:a="http://schemas.openxmlformats.org/drawingml/2006/main" cx="4191000" cy="4295775"/>
        </p:xfrm>
        <a:graphic xmlns:a="http://schemas.openxmlformats.org/drawingml/2006/main">
          <a:graphicData uri="http://schemas.openxmlformats.org/drawingml/2006/chart">
            <c:chart xmlns:r="http://schemas.openxmlformats.org/officeDocument/2006/relationships" xmlns:c="http://schemas.openxmlformats.org/drawingml/2006/chart" r:id="Rcfe2987c6018445d"/>
          </a:graphicData>
        </a:graphic>
      </p:graphicFrame>
      <p:graphicFrame>
        <p:nvGraphicFramePr>
          <p:cNvPr id="4" name="">
            <a:extLst xmlns:a="http://schemas.openxmlformats.org/drawingml/2006/main">
              <a:ext uri="{FF2B5EF4-FFF2-40B4-BE49-F238E27FC236}">
                <a16:creationId xmlns:a16="http://schemas.microsoft.com/office/drawing/2014/main" id="{7B884B68-04BB-4CCF-8B68-024E38677472}"/>
              </a:ext>
            </a:extLst>
          </p:cNvPr>
          <p:cNvGraphicFramePr/>
          <p:nvPr/>
        </p:nvGraphicFramePr>
        <p:xfrm>
          <a:off xmlns:a="http://schemas.openxmlformats.org/drawingml/2006/main" x="5276850" y="1628775"/>
          <a:ext xmlns:a="http://schemas.openxmlformats.org/drawingml/2006/main" cx="6257925" cy="2962275"/>
        </p:xfrm>
        <a:graphic xmlns:a="http://schemas.openxmlformats.org/drawingml/2006/main">
          <a:graphicData uri="http://schemas.openxmlformats.org/drawingml/2006/table">
            <a:tbl>
              <a:tblPr/>
              <a:tblGrid>
                <a:gridCol w="571500"/>
                <a:gridCol w="2762250"/>
                <a:gridCol w="1381125"/>
                <a:gridCol w="1543050"/>
              </a:tblGrid>
              <a:tr h="493713">
                <a:tc>
                  <a:txBody>
                    <a:bodyPr/>
                    <a:lstStyle/>
                    <a:p>
                      <a:r>
                        <a:rPr sz="1725" b="1">
                          <a:solidFill>
                            <a:srgbClr val="FFFFFF"/>
                          </a:solidFill>
                          <a:latin typeface="Arial"/>
                          <a:ea typeface="Arial"/>
                          <a:cs typeface="Arial"/>
                        </a:rPr>
                        <a:t>#</a:t>
                      </a:r>
                    </a:p>
                  </a:txBody>
                  <a:tcPr marL="91440" marR="91440" marT="45720" marB="45720">
                    <a:solidFill>
                      <a:srgbClr val="102A43"/>
                    </a:solidFill>
                  </a:tcPr>
                </a:tc>
                <a:tc>
                  <a:txBody>
                    <a:bodyPr/>
                    <a:lstStyle/>
                    <a:p>
                      <a:r>
                        <a:rPr sz="1725" b="1">
                          <a:solidFill>
                            <a:srgbClr val="FFFFFF"/>
                          </a:solidFill>
                          <a:latin typeface="Arial"/>
                          <a:ea typeface="Arial"/>
                          <a:cs typeface="Arial"/>
                        </a:rPr>
                        <a:t>ET de referencia</a:t>
                      </a:r>
                    </a:p>
                  </a:txBody>
                  <a:tcPr marL="91440" marR="91440" marT="45720" marB="45720">
                    <a:solidFill>
                      <a:srgbClr val="102A43"/>
                    </a:solidFill>
                  </a:tcPr>
                </a:tc>
                <a:tc>
                  <a:txBody>
                    <a:bodyPr/>
                    <a:lstStyle/>
                    <a:p>
                      <a:r>
                        <a:rPr sz="1725" b="1">
                          <a:solidFill>
                            <a:srgbClr val="FFFFFF"/>
                          </a:solidFill>
                          <a:latin typeface="Arial"/>
                          <a:ea typeface="Arial"/>
                          <a:cs typeface="Arial"/>
                        </a:rPr>
                        <a:t>MW</a:t>
                      </a:r>
                    </a:p>
                  </a:txBody>
                  <a:tcPr marL="91440" marR="91440" marT="45720" marB="45720">
                    <a:solidFill>
                      <a:srgbClr val="102A43"/>
                    </a:solidFill>
                  </a:tcPr>
                </a:tc>
                <a:tc>
                  <a:txBody>
                    <a:bodyPr/>
                    <a:lstStyle/>
                    <a:p>
                      <a:r>
                        <a:rPr sz="1725" b="1">
                          <a:solidFill>
                            <a:srgbClr val="FFFFFF"/>
                          </a:solidFill>
                          <a:latin typeface="Arial"/>
                          <a:ea typeface="Arial"/>
                          <a:cs typeface="Arial"/>
                        </a:rPr>
                        <a:t>Fitness</a:t>
                      </a:r>
                    </a:p>
                  </a:txBody>
                  <a:tcPr marL="91440" marR="91440" marT="45720" marB="45720">
                    <a:solidFill>
                      <a:srgbClr val="102A43"/>
                    </a:solidFill>
                  </a:tcPr>
                </a:tc>
              </a:tr>
              <a:tr h="493713">
                <a:tc>
                  <a:txBody>
                    <a:bodyPr/>
                    <a:lstStyle/>
                    <a:p>
                      <a:r>
                        <a:rPr sz="1725" b="0">
                          <a:solidFill>
                            <a:srgbClr val="183B4E"/>
                          </a:solidFill>
                          <a:latin typeface="Arial"/>
                          <a:ea typeface="Arial"/>
                          <a:cs typeface="Arial"/>
                        </a:rPr>
                        <a:t>1</a:t>
                      </a:r>
                    </a:p>
                  </a:txBody>
                  <a:tcPr marL="91440" marR="91440" marT="45720" marB="45720">
                    <a:solidFill>
                      <a:srgbClr val="FFFFFF"/>
                    </a:solidFill>
                  </a:tcPr>
                </a:tc>
                <a:tc>
                  <a:txBody>
                    <a:bodyPr/>
                    <a:lstStyle/>
                    <a:p>
                      <a:r>
                        <a:rPr sz="1725" b="0">
                          <a:solidFill>
                            <a:srgbClr val="183B4E"/>
                          </a:solidFill>
                          <a:latin typeface="Arial"/>
                          <a:ea typeface="Arial"/>
                          <a:cs typeface="Arial"/>
                        </a:rPr>
                        <a:t>SANTO TOME</a:t>
                      </a:r>
                    </a:p>
                  </a:txBody>
                  <a:tcPr marL="91440" marR="91440" marT="45720" marB="45720">
                    <a:solidFill>
                      <a:srgbClr val="FFFFFF"/>
                    </a:solidFill>
                  </a:tcPr>
                </a:tc>
                <a:tc>
                  <a:txBody>
                    <a:bodyPr/>
                    <a:lstStyle/>
                    <a:p>
                      <a:r>
                        <a:rPr sz="1725" b="0">
                          <a:solidFill>
                            <a:srgbClr val="183B4E"/>
                          </a:solidFill>
                          <a:latin typeface="Arial"/>
                          <a:ea typeface="Arial"/>
                          <a:cs typeface="Arial"/>
                        </a:rPr>
                        <a:t>79,49</a:t>
                      </a:r>
                    </a:p>
                  </a:txBody>
                  <a:tcPr marL="91440" marR="91440" marT="45720" marB="45720">
                    <a:solidFill>
                      <a:srgbClr val="FFFFFF"/>
                    </a:solidFill>
                  </a:tcPr>
                </a:tc>
                <a:tc>
                  <a:txBody>
                    <a:bodyPr/>
                    <a:lstStyle/>
                    <a:p>
                      <a:r>
                        <a:rPr sz="1725" b="0">
                          <a:solidFill>
                            <a:srgbClr val="183B4E"/>
                          </a:solidFill>
                          <a:latin typeface="Arial"/>
                          <a:ea typeface="Arial"/>
                          <a:cs typeface="Arial"/>
                        </a:rPr>
                        <a:t>0,7255</a:t>
                      </a:r>
                    </a:p>
                  </a:txBody>
                  <a:tcPr marL="91440" marR="91440" marT="45720" marB="45720">
                    <a:solidFill>
                      <a:srgbClr val="FFFFFF"/>
                    </a:solidFill>
                  </a:tcPr>
                </a:tc>
              </a:tr>
              <a:tr h="493713">
                <a:tc>
                  <a:txBody>
                    <a:bodyPr/>
                    <a:lstStyle/>
                    <a:p>
                      <a:r>
                        <a:rPr sz="1725" b="0">
                          <a:solidFill>
                            <a:srgbClr val="183B4E"/>
                          </a:solidFill>
                          <a:latin typeface="Arial"/>
                          <a:ea typeface="Arial"/>
                          <a:cs typeface="Arial"/>
                        </a:rPr>
                        <a:t>2</a:t>
                      </a:r>
                    </a:p>
                  </a:txBody>
                  <a:tcPr marL="91440" marR="91440" marT="45720" marB="45720">
                    <a:solidFill>
                      <a:srgbClr val="EEF5F5"/>
                    </a:solidFill>
                  </a:tcPr>
                </a:tc>
                <a:tc>
                  <a:txBody>
                    <a:bodyPr/>
                    <a:lstStyle/>
                    <a:p>
                      <a:r>
                        <a:rPr sz="1725" b="0">
                          <a:solidFill>
                            <a:srgbClr val="183B4E"/>
                          </a:solidFill>
                          <a:latin typeface="Arial"/>
                          <a:ea typeface="Arial"/>
                          <a:cs typeface="Arial"/>
                        </a:rPr>
                        <a:t>ROSARIO OESTE</a:t>
                      </a:r>
                    </a:p>
                  </a:txBody>
                  <a:tcPr marL="91440" marR="91440" marT="45720" marB="45720">
                    <a:solidFill>
                      <a:srgbClr val="EEF5F5"/>
                    </a:solidFill>
                  </a:tcPr>
                </a:tc>
                <a:tc>
                  <a:txBody>
                    <a:bodyPr/>
                    <a:lstStyle/>
                    <a:p>
                      <a:r>
                        <a:rPr sz="1725" b="0">
                          <a:solidFill>
                            <a:srgbClr val="183B4E"/>
                          </a:solidFill>
                          <a:latin typeface="Arial"/>
                          <a:ea typeface="Arial"/>
                          <a:cs typeface="Arial"/>
                        </a:rPr>
                        <a:t>78,25</a:t>
                      </a:r>
                    </a:p>
                  </a:txBody>
                  <a:tcPr marL="91440" marR="91440" marT="45720" marB="45720">
                    <a:solidFill>
                      <a:srgbClr val="EEF5F5"/>
                    </a:solidFill>
                  </a:tcPr>
                </a:tc>
                <a:tc>
                  <a:txBody>
                    <a:bodyPr/>
                    <a:lstStyle/>
                    <a:p>
                      <a:r>
                        <a:rPr sz="1725" b="0">
                          <a:solidFill>
                            <a:srgbClr val="183B4E"/>
                          </a:solidFill>
                          <a:latin typeface="Arial"/>
                          <a:ea typeface="Arial"/>
                          <a:cs typeface="Arial"/>
                        </a:rPr>
                        <a:t>0,6983</a:t>
                      </a:r>
                    </a:p>
                  </a:txBody>
                  <a:tcPr marL="91440" marR="91440" marT="45720" marB="45720">
                    <a:solidFill>
                      <a:srgbClr val="EEF5F5"/>
                    </a:solidFill>
                  </a:tcPr>
                </a:tc>
              </a:tr>
              <a:tr h="493713">
                <a:tc>
                  <a:txBody>
                    <a:bodyPr/>
                    <a:lstStyle/>
                    <a:p>
                      <a:r>
                        <a:rPr sz="1725" b="0">
                          <a:solidFill>
                            <a:srgbClr val="183B4E"/>
                          </a:solidFill>
                          <a:latin typeface="Arial"/>
                          <a:ea typeface="Arial"/>
                          <a:cs typeface="Arial"/>
                        </a:rPr>
                        <a:t>3</a:t>
                      </a:r>
                    </a:p>
                  </a:txBody>
                  <a:tcPr marL="91440" marR="91440" marT="45720" marB="45720">
                    <a:solidFill>
                      <a:srgbClr val="FFFFFF"/>
                    </a:solidFill>
                  </a:tcPr>
                </a:tc>
                <a:tc>
                  <a:txBody>
                    <a:bodyPr/>
                    <a:lstStyle/>
                    <a:p>
                      <a:r>
                        <a:rPr sz="1725" b="0">
                          <a:solidFill>
                            <a:srgbClr val="183B4E"/>
                          </a:solidFill>
                          <a:latin typeface="Arial"/>
                          <a:ea typeface="Arial"/>
                          <a:cs typeface="Arial"/>
                        </a:rPr>
                        <a:t>ROMANG</a:t>
                      </a:r>
                    </a:p>
                  </a:txBody>
                  <a:tcPr marL="91440" marR="91440" marT="45720" marB="45720">
                    <a:solidFill>
                      <a:srgbClr val="FFFFFF"/>
                    </a:solidFill>
                  </a:tcPr>
                </a:tc>
                <a:tc>
                  <a:txBody>
                    <a:bodyPr/>
                    <a:lstStyle/>
                    <a:p>
                      <a:r>
                        <a:rPr sz="1725" b="0">
                          <a:solidFill>
                            <a:srgbClr val="183B4E"/>
                          </a:solidFill>
                          <a:latin typeface="Arial"/>
                          <a:ea typeface="Arial"/>
                          <a:cs typeface="Arial"/>
                        </a:rPr>
                        <a:t>78,25</a:t>
                      </a:r>
                    </a:p>
                  </a:txBody>
                  <a:tcPr marL="91440" marR="91440" marT="45720" marB="45720">
                    <a:solidFill>
                      <a:srgbClr val="FFFFFF"/>
                    </a:solidFill>
                  </a:tcPr>
                </a:tc>
                <a:tc>
                  <a:txBody>
                    <a:bodyPr/>
                    <a:lstStyle/>
                    <a:p>
                      <a:r>
                        <a:rPr sz="1725" b="0">
                          <a:solidFill>
                            <a:srgbClr val="183B4E"/>
                          </a:solidFill>
                          <a:latin typeface="Arial"/>
                          <a:ea typeface="Arial"/>
                          <a:cs typeface="Arial"/>
                        </a:rPr>
                        <a:t>0,6854</a:t>
                      </a:r>
                    </a:p>
                  </a:txBody>
                  <a:tcPr marL="91440" marR="91440" marT="45720" marB="45720">
                    <a:solidFill>
                      <a:srgbClr val="FFFFFF"/>
                    </a:solidFill>
                  </a:tcPr>
                </a:tc>
              </a:tr>
              <a:tr h="493713">
                <a:tc>
                  <a:txBody>
                    <a:bodyPr/>
                    <a:lstStyle/>
                    <a:p>
                      <a:r>
                        <a:rPr sz="1725" b="0">
                          <a:solidFill>
                            <a:srgbClr val="183B4E"/>
                          </a:solidFill>
                          <a:latin typeface="Arial"/>
                          <a:ea typeface="Arial"/>
                          <a:cs typeface="Arial"/>
                        </a:rPr>
                        <a:t>4</a:t>
                      </a:r>
                    </a:p>
                  </a:txBody>
                  <a:tcPr marL="91440" marR="91440" marT="45720" marB="45720">
                    <a:solidFill>
                      <a:srgbClr val="EEF5F5"/>
                    </a:solidFill>
                  </a:tcPr>
                </a:tc>
                <a:tc>
                  <a:txBody>
                    <a:bodyPr/>
                    <a:lstStyle/>
                    <a:p>
                      <a:r>
                        <a:rPr sz="1725" b="0">
                          <a:solidFill>
                            <a:srgbClr val="183B4E"/>
                          </a:solidFill>
                          <a:latin typeface="Arial"/>
                          <a:ea typeface="Arial"/>
                          <a:cs typeface="Arial"/>
                        </a:rPr>
                        <a:t>ROMANG</a:t>
                      </a:r>
                    </a:p>
                  </a:txBody>
                  <a:tcPr marL="91440" marR="91440" marT="45720" marB="45720">
                    <a:solidFill>
                      <a:srgbClr val="EEF5F5"/>
                    </a:solidFill>
                  </a:tcPr>
                </a:tc>
                <a:tc>
                  <a:txBody>
                    <a:bodyPr/>
                    <a:lstStyle/>
                    <a:p>
                      <a:r>
                        <a:rPr sz="1725" b="0">
                          <a:solidFill>
                            <a:srgbClr val="183B4E"/>
                          </a:solidFill>
                          <a:latin typeface="Arial"/>
                          <a:ea typeface="Arial"/>
                          <a:cs typeface="Arial"/>
                        </a:rPr>
                        <a:t>78,25</a:t>
                      </a:r>
                    </a:p>
                  </a:txBody>
                  <a:tcPr marL="91440" marR="91440" marT="45720" marB="45720">
                    <a:solidFill>
                      <a:srgbClr val="EEF5F5"/>
                    </a:solidFill>
                  </a:tcPr>
                </a:tc>
                <a:tc>
                  <a:txBody>
                    <a:bodyPr/>
                    <a:lstStyle/>
                    <a:p>
                      <a:r>
                        <a:rPr sz="1725" b="0">
                          <a:solidFill>
                            <a:srgbClr val="183B4E"/>
                          </a:solidFill>
                          <a:latin typeface="Arial"/>
                          <a:ea typeface="Arial"/>
                          <a:cs typeface="Arial"/>
                        </a:rPr>
                        <a:t>0,6781</a:t>
                      </a:r>
                    </a:p>
                  </a:txBody>
                  <a:tcPr marL="91440" marR="91440" marT="45720" marB="45720">
                    <a:solidFill>
                      <a:srgbClr val="EEF5F5"/>
                    </a:solidFill>
                  </a:tcPr>
                </a:tc>
              </a:tr>
              <a:tr h="493713">
                <a:tc>
                  <a:txBody>
                    <a:bodyPr/>
                    <a:lstStyle/>
                    <a:p>
                      <a:r>
                        <a:rPr sz="1725" b="0">
                          <a:solidFill>
                            <a:srgbClr val="183B4E"/>
                          </a:solidFill>
                          <a:latin typeface="Arial"/>
                          <a:ea typeface="Arial"/>
                          <a:cs typeface="Arial"/>
                        </a:rPr>
                        <a:t>5</a:t>
                      </a:r>
                    </a:p>
                  </a:txBody>
                  <a:tcPr marL="91440" marR="91440" marT="45720" marB="45720">
                    <a:solidFill>
                      <a:srgbClr val="FFFFFF"/>
                    </a:solidFill>
                  </a:tcPr>
                </a:tc>
                <a:tc>
                  <a:txBody>
                    <a:bodyPr/>
                    <a:lstStyle/>
                    <a:p>
                      <a:r>
                        <a:rPr sz="1725" b="0">
                          <a:solidFill>
                            <a:srgbClr val="183B4E"/>
                          </a:solidFill>
                          <a:latin typeface="Arial"/>
                          <a:ea typeface="Arial"/>
                          <a:cs typeface="Arial"/>
                        </a:rPr>
                        <a:t>ROMANG</a:t>
                      </a:r>
                    </a:p>
                  </a:txBody>
                  <a:tcPr marL="91440" marR="91440" marT="45720" marB="45720">
                    <a:solidFill>
                      <a:srgbClr val="FFFFFF"/>
                    </a:solidFill>
                  </a:tcPr>
                </a:tc>
                <a:tc>
                  <a:txBody>
                    <a:bodyPr/>
                    <a:lstStyle/>
                    <a:p>
                      <a:r>
                        <a:rPr sz="1725" b="0">
                          <a:solidFill>
                            <a:srgbClr val="183B4E"/>
                          </a:solidFill>
                          <a:latin typeface="Arial"/>
                          <a:ea typeface="Arial"/>
                          <a:cs typeface="Arial"/>
                        </a:rPr>
                        <a:t>78,25</a:t>
                      </a:r>
                    </a:p>
                  </a:txBody>
                  <a:tcPr marL="91440" marR="91440" marT="45720" marB="45720">
                    <a:solidFill>
                      <a:srgbClr val="FFFFFF"/>
                    </a:solidFill>
                  </a:tcPr>
                </a:tc>
                <a:tc>
                  <a:txBody>
                    <a:bodyPr/>
                    <a:lstStyle/>
                    <a:p>
                      <a:r>
                        <a:rPr sz="1725" b="0">
                          <a:solidFill>
                            <a:srgbClr val="183B4E"/>
                          </a:solidFill>
                          <a:latin typeface="Arial"/>
                          <a:ea typeface="Arial"/>
                          <a:cs typeface="Arial"/>
                        </a:rPr>
                        <a:t>0,6775</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C7B66F5-1ABD-43BE-95B5-1E3A01426792}"/>
              </a:ext>
            </a:extLst>
          </p:cNvPr>
          <p:cNvSpPr>
            <a:spLocks xmlns:a="http://schemas.openxmlformats.org/drawingml/2006/main" noGrp="1"/>
          </p:cNvSpPr>
          <p:nvPr/>
        </p:nvSpPr>
        <p:spPr>
          <a:xfrm xmlns:a="http://schemas.openxmlformats.org/drawingml/2006/main">
            <a:off x="5286375" y="5038725"/>
            <a:ext cx="62388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83B4E"/>
                </a:solidFill>
                <a:latin typeface="Arial"/>
                <a:ea typeface="Arial"/>
                <a:cs typeface="Arial"/>
              </a:defRPr>
            </a:defPPr>
          </a:lstStyle>
          <a:p xmlns:a="http://schemas.openxmlformats.org/drawingml/2006/main">
            <a:pPr>
              <a:defRPr sz="2025" b="0">
                <a:solidFill>
                  <a:srgbClr val="183B4E"/>
                </a:solidFill>
                <a:latin typeface="Arial"/>
                <a:ea typeface="Arial"/>
                <a:cs typeface="Arial"/>
              </a:defRPr>
            </a:pPr>
            <a:r>
              <a:rPr sz="2025" b="0">
                <a:solidFill>
                  <a:srgbClr val="183B4E"/>
                </a:solidFill>
                <a:latin typeface="Arial"/>
                <a:ea typeface="Arial"/>
                <a:cs typeface="Arial"/>
              </a:rPr>
              <a:t>CSV: métricas y genotipos</a:t>
            </a:r>
          </a:p>
          <a:p xmlns:a="http://schemas.openxmlformats.org/drawingml/2006/main">
            <a:pPr>
              <a:defRPr sz="2025" b="0">
                <a:solidFill>
                  <a:srgbClr val="183B4E"/>
                </a:solidFill>
                <a:latin typeface="Arial"/>
                <a:ea typeface="Arial"/>
                <a:cs typeface="Arial"/>
              </a:defRPr>
            </a:pPr>
            <a:r>
              <a:rPr sz="2025" b="0">
                <a:solidFill>
                  <a:srgbClr val="183B4E"/>
                </a:solidFill>
                <a:latin typeface="Arial"/>
                <a:ea typeface="Arial"/>
                <a:cs typeface="Arial"/>
              </a:rPr>
              <a:t>GeoJSON: geometrías</a:t>
            </a:r>
          </a:p>
          <a:p xmlns:a="http://schemas.openxmlformats.org/drawingml/2006/main">
            <a:pPr>
              <a:defRPr sz="2025" b="0">
                <a:solidFill>
                  <a:srgbClr val="183B4E"/>
                </a:solidFill>
                <a:latin typeface="Arial"/>
                <a:ea typeface="Arial"/>
                <a:cs typeface="Arial"/>
              </a:defRPr>
            </a:pPr>
            <a:r>
              <a:rPr sz="2025" b="0">
                <a:solidFill>
                  <a:srgbClr val="183B4E"/>
                </a:solidFill>
                <a:latin typeface="Arial"/>
                <a:ea typeface="Arial"/>
                <a:cs typeface="Arial"/>
              </a:rPr>
              <a:t>HTML: mapa y evolución</a:t>
            </a:r>
          </a:p>
        </p:txBody>
      </p:sp>
      <p:sp>
        <p:nvSpPr>
          <p:cNvPr id="6" name="">
            <a:extLst xmlns:a="http://schemas.openxmlformats.org/drawingml/2006/main">
              <a:ext uri="{FF2B5EF4-FFF2-40B4-BE49-F238E27FC236}">
                <a16:creationId xmlns:a16="http://schemas.microsoft.com/office/drawing/2014/main" id="{3FBFFE8E-B9EC-4320-93E4-828E28409321}"/>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defRPr sz="1575" b="0">
                <a:solidFill>
                  <a:srgbClr val="526778"/>
                </a:solidFill>
                <a:latin typeface="Arial"/>
                <a:ea typeface="Arial"/>
                <a:cs typeface="Arial"/>
              </a:defRPr>
            </a:pPr>
            <a:r>
              <a:rPr sz="1575" b="0">
                <a:solidFill>
                  <a:srgbClr val="526778"/>
                </a:solidFill>
                <a:latin typeface="Arial"/>
                <a:ea typeface="Arial"/>
                <a:cs typeface="Arial"/>
              </a:rPr>
              <a:t>Centroides del TOP 5 territorial. La posición del símbolo no muestra el área</a:t>
            </a:r>
          </a:p>
        </p:txBody>
      </p:sp>
    </p:spTree>
    <p:extLst>
      <p:ext uri="{BB962C8B-B14F-4D97-AF65-F5344CB8AC3E}">
        <p14:creationId xmlns:p14="http://schemas.microsoft.com/office/powerpoint/2010/main" val="130162966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1EE24B-CD8E-4E67-8519-61613BE0A074}"/>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Alcance eléctrico y límites del modelo</a:t>
            </a:r>
          </a:p>
        </p:txBody>
      </p:sp>
      <p:sp>
        <p:nvSpPr>
          <p:cNvPr id="2" name="">
            <a:extLst xmlns:a="http://schemas.openxmlformats.org/drawingml/2006/main">
              <a:ext uri="{FF2B5EF4-FFF2-40B4-BE49-F238E27FC236}">
                <a16:creationId xmlns:a16="http://schemas.microsoft.com/office/drawing/2014/main" id="{A90D9559-DAE6-45E2-8223-C884257883E8}"/>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21</a:t>
            </a:r>
          </a:p>
        </p:txBody>
      </p:sp>
      <p:pic>
        <p:nvPicPr>
          <p:cNvPr id="3" name="">
            <a:extLst xmlns:a="http://schemas.openxmlformats.org/drawingml/2006/main">
              <a:ext uri="{FF2B5EF4-FFF2-40B4-BE49-F238E27FC236}">
                <a16:creationId xmlns:a16="http://schemas.microsoft.com/office/drawing/2014/main" id="{3F0DA3AF-23C6-477F-AD7D-937E963EE61E}"/>
              </a:ext>
            </a:extLst>
          </p:cNvPr>
          <p:cNvPicPr>
            <a:picLocks xmlns:a="http://schemas.openxmlformats.org/drawingml/2006/main" noChangeAspect="1"/>
          </p:cNvPicPr>
          <p:nvPr/>
        </p:nvPicPr>
        <p:blipFill>
          <a:blip xmlns:r="http://schemas.openxmlformats.org/officeDocument/2006/relationships" xmlns:a="http://schemas.openxmlformats.org/drawingml/2006/main" r:embed="R278e5cf97d2e4083"/>
          <a:stretch xmlns:a="http://schemas.openxmlformats.org/drawingml/2006/main"/>
        </p:blipFill>
        <p:spPr>
          <a:xfrm xmlns:a="http://schemas.openxmlformats.org/drawingml/2006/main">
            <a:off x="571500" y="1909426"/>
            <a:ext cx="4876800" cy="281054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4CD6464-0038-49EA-9825-CDB45DBD59E6}"/>
              </a:ext>
            </a:extLst>
          </p:cNvPr>
          <p:cNvSpPr>
            <a:spLocks xmlns:a="http://schemas.openxmlformats.org/drawingml/2006/main" noGrp="1"/>
          </p:cNvSpPr>
          <p:nvPr/>
        </p:nvSpPr>
        <p:spPr>
          <a:xfrm xmlns:a="http://schemas.openxmlformats.org/drawingml/2006/main">
            <a:off x="6000750" y="1704975"/>
            <a:ext cx="5619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102A43"/>
                </a:solidFill>
                <a:latin typeface="Arial"/>
                <a:ea typeface="Arial"/>
                <a:cs typeface="Arial"/>
              </a:defRPr>
            </a:defPPr>
          </a:lstStyle>
          <a:p xmlns:a="http://schemas.openxmlformats.org/drawingml/2006/main">
            <a:pPr>
              <a:defRPr sz="2400" b="1">
                <a:solidFill>
                  <a:srgbClr val="102A43"/>
                </a:solidFill>
                <a:latin typeface="Arial"/>
                <a:ea typeface="Arial"/>
                <a:cs typeface="Arial"/>
              </a:defRPr>
            </a:pPr>
            <a:r>
              <a:rPr sz="2400" b="1">
                <a:solidFill>
                  <a:srgbClr val="102A43"/>
                </a:solidFill>
                <a:latin typeface="Arial"/>
                <a:ea typeface="Arial"/>
                <a:cs typeface="Arial"/>
              </a:rPr>
              <a:t>kV = nivel de tensión</a:t>
            </a:r>
          </a:p>
          <a:p xmlns:a="http://schemas.openxmlformats.org/drawingml/2006/main">
            <a:pPr>
              <a:defRPr sz="2400" b="1">
                <a:solidFill>
                  <a:srgbClr val="102A43"/>
                </a:solidFill>
                <a:latin typeface="Arial"/>
                <a:ea typeface="Arial"/>
                <a:cs typeface="Arial"/>
              </a:defRPr>
            </a:pPr>
            <a:r>
              <a:rPr sz="2400" b="1">
                <a:solidFill>
                  <a:srgbClr val="102A43"/>
                </a:solidFill>
                <a:latin typeface="Arial"/>
                <a:ea typeface="Arial"/>
                <a:cs typeface="Arial"/>
              </a:rPr>
              <a:t>MVA = capacidad de transformación</a:t>
            </a:r>
          </a:p>
        </p:txBody>
      </p:sp>
      <p:sp>
        <p:nvSpPr>
          <p:cNvPr id="5" name="">
            <a:extLst xmlns:a="http://schemas.openxmlformats.org/drawingml/2006/main">
              <a:ext uri="{FF2B5EF4-FFF2-40B4-BE49-F238E27FC236}">
                <a16:creationId xmlns:a16="http://schemas.microsoft.com/office/drawing/2014/main" id="{03F93BBD-8832-46FF-ABFF-4765846FFE1F}"/>
              </a:ext>
            </a:extLst>
          </p:cNvPr>
          <p:cNvSpPr>
            <a:spLocks xmlns:a="http://schemas.openxmlformats.org/drawingml/2006/main" noGrp="1"/>
          </p:cNvSpPr>
          <p:nvPr/>
        </p:nvSpPr>
        <p:spPr>
          <a:xfrm xmlns:a="http://schemas.openxmlformats.org/drawingml/2006/main">
            <a:off x="6000750" y="3257550"/>
            <a:ext cx="56197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183B4E"/>
                </a:solidFill>
                <a:latin typeface="Arial"/>
                <a:ea typeface="Arial"/>
                <a:cs typeface="Arial"/>
              </a:defRPr>
            </a:defPPr>
          </a:lstStyle>
          <a:p xmlns:a="http://schemas.openxmlformats.org/drawingml/2006/main">
            <a:pPr>
              <a:defRPr sz="2175" b="0">
                <a:solidFill>
                  <a:srgbClr val="183B4E"/>
                </a:solidFill>
                <a:latin typeface="Arial"/>
                <a:ea typeface="Arial"/>
                <a:cs typeface="Arial"/>
              </a:defRPr>
            </a:pPr>
            <a:r>
              <a:rPr sz="2175" b="0">
                <a:solidFill>
                  <a:srgbClr val="183B4E"/>
                </a:solidFill>
                <a:latin typeface="Arial"/>
                <a:ea typeface="Arial"/>
                <a:cs typeface="Arial"/>
              </a:rPr>
              <a:t>80 MW es un límite experimental</a:t>
            </a:r>
          </a:p>
          <a:p xmlns:a="http://schemas.openxmlformats.org/drawingml/2006/main">
            <a:r>
              <a:t/>
            </a:r>
          </a:p>
          <a:p xmlns:a="http://schemas.openxmlformats.org/drawingml/2006/main">
            <a:pPr>
              <a:defRPr sz="2175" b="0">
                <a:solidFill>
                  <a:srgbClr val="183B4E"/>
                </a:solidFill>
                <a:latin typeface="Arial"/>
                <a:ea typeface="Arial"/>
                <a:cs typeface="Arial"/>
              </a:defRPr>
            </a:pPr>
            <a:r>
              <a:rPr sz="2175" b="0">
                <a:solidFill>
                  <a:srgbClr val="183B4E"/>
                </a:solidFill>
                <a:latin typeface="Arial"/>
                <a:ea typeface="Arial"/>
                <a:cs typeface="Arial"/>
              </a:rPr>
              <a:t>La proximidad es un criterio geométrico</a:t>
            </a:r>
          </a:p>
          <a:p xmlns:a="http://schemas.openxmlformats.org/drawingml/2006/main">
            <a:r>
              <a:t/>
            </a:r>
          </a:p>
          <a:p xmlns:a="http://schemas.openxmlformats.org/drawingml/2006/main">
            <a:pPr>
              <a:defRPr sz="2175" b="0">
                <a:solidFill>
                  <a:srgbClr val="183B4E"/>
                </a:solidFill>
                <a:latin typeface="Arial"/>
                <a:ea typeface="Arial"/>
                <a:cs typeface="Arial"/>
              </a:defRPr>
            </a:pPr>
            <a:r>
              <a:rPr sz="2175" b="0">
                <a:solidFill>
                  <a:srgbClr val="183B4E"/>
                </a:solidFill>
                <a:latin typeface="Arial"/>
                <a:ea typeface="Arial"/>
                <a:cs typeface="Arial"/>
              </a:rPr>
              <a:t>La conexión requiere un estudio eléctrico</a:t>
            </a:r>
          </a:p>
        </p:txBody>
      </p:sp>
      <p:sp>
        <p:nvSpPr>
          <p:cNvPr id="6" name="">
            <a:extLst xmlns:a="http://schemas.openxmlformats.org/drawingml/2006/main">
              <a:ext uri="{FF2B5EF4-FFF2-40B4-BE49-F238E27FC236}">
                <a16:creationId xmlns:a16="http://schemas.microsoft.com/office/drawing/2014/main" id="{B80A9554-04A0-4163-904E-50C2699C731E}"/>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defRPr sz="1575" b="0">
                <a:solidFill>
                  <a:srgbClr val="526778"/>
                </a:solidFill>
                <a:latin typeface="Arial"/>
                <a:ea typeface="Arial"/>
                <a:cs typeface="Arial"/>
              </a:defRPr>
            </a:pPr>
            <a:r>
              <a:rPr sz="1575" b="0">
                <a:solidFill>
                  <a:srgbClr val="526778"/>
                </a:solidFill>
                <a:latin typeface="Arial"/>
                <a:ea typeface="Arial"/>
                <a:cs typeface="Arial"/>
              </a:rPr>
              <a:t>Mejor candidato: 0,081 km de una línea y 170,92 km de una ET de referencia</a:t>
            </a:r>
          </a:p>
        </p:txBody>
      </p:sp>
    </p:spTree>
    <p:extLst>
      <p:ext uri="{BB962C8B-B14F-4D97-AF65-F5344CB8AC3E}">
        <p14:creationId xmlns:p14="http://schemas.microsoft.com/office/powerpoint/2010/main" val="30731615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C428A3-1B4D-493E-A1FC-058EB54B7ADF}"/>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Preguntas para la defensa</a:t>
            </a:r>
          </a:p>
        </p:txBody>
      </p:sp>
      <p:sp>
        <p:nvSpPr>
          <p:cNvPr id="2" name="">
            <a:extLst xmlns:a="http://schemas.openxmlformats.org/drawingml/2006/main">
              <a:ext uri="{FF2B5EF4-FFF2-40B4-BE49-F238E27FC236}">
                <a16:creationId xmlns:a16="http://schemas.microsoft.com/office/drawing/2014/main" id="{BD56060C-9948-423F-BEB3-A8AFBB070606}"/>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22</a:t>
            </a:r>
          </a:p>
        </p:txBody>
      </p:sp>
      <p:graphicFrame>
        <p:nvGraphicFramePr>
          <p:cNvPr id="3" name="">
            <a:extLst xmlns:a="http://schemas.openxmlformats.org/drawingml/2006/main">
              <a:ext uri="{FF2B5EF4-FFF2-40B4-BE49-F238E27FC236}">
                <a16:creationId xmlns:a16="http://schemas.microsoft.com/office/drawing/2014/main" id="{52E9B592-DA6F-4363-A765-CB89413C6CE1}"/>
              </a:ext>
            </a:extLst>
          </p:cNvPr>
          <p:cNvGraphicFramePr/>
          <p:nvPr/>
        </p:nvGraphicFramePr>
        <p:xfrm>
          <a:off xmlns:a="http://schemas.openxmlformats.org/drawingml/2006/main" x="571500" y="1647825"/>
          <a:ext xmlns:a="http://schemas.openxmlformats.org/drawingml/2006/main" cx="11049000" cy="3724275"/>
        </p:xfrm>
        <a:graphic xmlns:a="http://schemas.openxmlformats.org/drawingml/2006/main">
          <a:graphicData uri="http://schemas.openxmlformats.org/drawingml/2006/table">
            <a:tbl>
              <a:tblPr/>
              <a:tblGrid>
                <a:gridCol w="4238625"/>
                <a:gridCol w="6810375"/>
              </a:tblGrid>
              <a:tr h="620713">
                <a:tc>
                  <a:txBody>
                    <a:bodyPr/>
                    <a:lstStyle/>
                    <a:p>
                      <a:r>
                        <a:rPr sz="1875" b="1">
                          <a:solidFill>
                            <a:srgbClr val="FFFFFF"/>
                          </a:solidFill>
                          <a:latin typeface="Arial"/>
                          <a:ea typeface="Arial"/>
                          <a:cs typeface="Arial"/>
                        </a:rPr>
                        <a:t>Pregunta</a:t>
                      </a:r>
                    </a:p>
                  </a:txBody>
                  <a:tcPr marL="91440" marR="91440" marT="45720" marB="45720">
                    <a:solidFill>
                      <a:srgbClr val="102A43"/>
                    </a:solidFill>
                  </a:tcPr>
                </a:tc>
                <a:tc>
                  <a:txBody>
                    <a:bodyPr/>
                    <a:lstStyle/>
                    <a:p>
                      <a:r>
                        <a:rPr sz="1875" b="1">
                          <a:solidFill>
                            <a:srgbClr val="FFFFFF"/>
                          </a:solidFill>
                          <a:latin typeface="Arial"/>
                          <a:ea typeface="Arial"/>
                          <a:cs typeface="Arial"/>
                        </a:rPr>
                        <a:t>Respuesta que sostiene el proyecto</a:t>
                      </a:r>
                    </a:p>
                  </a:txBody>
                  <a:tcPr marL="91440" marR="91440" marT="45720" marB="45720">
                    <a:solidFill>
                      <a:srgbClr val="102A43"/>
                    </a:solidFill>
                  </a:tcPr>
                </a:tc>
              </a:tr>
              <a:tr h="620713">
                <a:tc>
                  <a:txBody>
                    <a:bodyPr/>
                    <a:lstStyle/>
                    <a:p>
                      <a:r>
                        <a:rPr sz="1875" b="0">
                          <a:solidFill>
                            <a:srgbClr val="183B4E"/>
                          </a:solidFill>
                          <a:latin typeface="Arial"/>
                          <a:ea typeface="Arial"/>
                          <a:cs typeface="Arial"/>
                        </a:rPr>
                        <a:t>¿Qué optimiza?</a:t>
                      </a:r>
                    </a:p>
                  </a:txBody>
                  <a:tcPr marL="91440" marR="91440" marT="45720" marB="45720">
                    <a:solidFill>
                      <a:srgbClr val="FFFFFF"/>
                    </a:solidFill>
                  </a:tcPr>
                </a:tc>
                <a:tc>
                  <a:txBody>
                    <a:bodyPr/>
                    <a:lstStyle/>
                    <a:p>
                      <a:r>
                        <a:rPr sz="1875" b="0">
                          <a:solidFill>
                            <a:srgbClr val="183B4E"/>
                          </a:solidFill>
                          <a:latin typeface="Arial"/>
                          <a:ea typeface="Arial"/>
                          <a:cs typeface="Arial"/>
                        </a:rPr>
                        <a:t>Ubicación, forma y superficie según un fitness ponderado</a:t>
                      </a:r>
                    </a:p>
                  </a:txBody>
                  <a:tcPr marL="91440" marR="91440" marT="45720" marB="45720">
                    <a:solidFill>
                      <a:srgbClr val="FFFFFF"/>
                    </a:solidFill>
                  </a:tcPr>
                </a:tc>
              </a:tr>
              <a:tr h="620713">
                <a:tc>
                  <a:txBody>
                    <a:bodyPr/>
                    <a:lstStyle/>
                    <a:p>
                      <a:r>
                        <a:rPr sz="1875" b="0">
                          <a:solidFill>
                            <a:srgbClr val="183B4E"/>
                          </a:solidFill>
                          <a:latin typeface="Arial"/>
                          <a:ea typeface="Arial"/>
                          <a:cs typeface="Arial"/>
                        </a:rPr>
                        <a:t>¿Cómo asegura contigüidad?</a:t>
                      </a:r>
                    </a:p>
                  </a:txBody>
                  <a:tcPr marL="91440" marR="91440" marT="45720" marB="45720">
                    <a:solidFill>
                      <a:srgbClr val="EEF5F5"/>
                    </a:solidFill>
                  </a:tcPr>
                </a:tc>
                <a:tc>
                  <a:txBody>
                    <a:bodyPr/>
                    <a:lstStyle/>
                    <a:p>
                      <a:r>
                        <a:rPr sz="1875" b="0">
                          <a:solidFill>
                            <a:srgbClr val="183B4E"/>
                          </a:solidFill>
                          <a:latin typeface="Arial"/>
                          <a:ea typeface="Arial"/>
                          <a:cs typeface="Arial"/>
                        </a:rPr>
                        <a:t>Cada adición proviene de vecinos válidos por borde</a:t>
                      </a:r>
                    </a:p>
                  </a:txBody>
                  <a:tcPr marL="91440" marR="91440" marT="45720" marB="45720">
                    <a:solidFill>
                      <a:srgbClr val="EEF5F5"/>
                    </a:solidFill>
                  </a:tcPr>
                </a:tc>
              </a:tr>
              <a:tr h="620713">
                <a:tc>
                  <a:txBody>
                    <a:bodyPr/>
                    <a:lstStyle/>
                    <a:p>
                      <a:r>
                        <a:rPr sz="1875" b="0">
                          <a:solidFill>
                            <a:srgbClr val="183B4E"/>
                          </a:solidFill>
                          <a:latin typeface="Arial"/>
                          <a:ea typeface="Arial"/>
                          <a:cs typeface="Arial"/>
                        </a:rPr>
                        <a:t>¿Consulta APIs en cada generación?</a:t>
                      </a:r>
                    </a:p>
                  </a:txBody>
                  <a:tcPr marL="91440" marR="91440" marT="45720" marB="45720">
                    <a:solidFill>
                      <a:srgbClr val="FFFFFF"/>
                    </a:solidFill>
                  </a:tcPr>
                </a:tc>
                <a:tc>
                  <a:txBody>
                    <a:bodyPr/>
                    <a:lstStyle/>
                    <a:p>
                      <a:r>
                        <a:rPr sz="1875" b="0">
                          <a:solidFill>
                            <a:srgbClr val="183B4E"/>
                          </a:solidFill>
                          <a:latin typeface="Arial"/>
                          <a:ea typeface="Arial"/>
                          <a:cs typeface="Arial"/>
                        </a:rPr>
                        <a:t>El fitness lee el snapshot local y reutiliza evaluaciones</a:t>
                      </a:r>
                    </a:p>
                  </a:txBody>
                  <a:tcPr marL="91440" marR="91440" marT="45720" marB="45720">
                    <a:solidFill>
                      <a:srgbClr val="FFFFFF"/>
                    </a:solidFill>
                  </a:tcPr>
                </a:tc>
              </a:tr>
              <a:tr h="620713">
                <a:tc>
                  <a:txBody>
                    <a:bodyPr/>
                    <a:lstStyle/>
                    <a:p>
                      <a:r>
                        <a:rPr sz="1875" b="0">
                          <a:solidFill>
                            <a:srgbClr val="183B4E"/>
                          </a:solidFill>
                          <a:latin typeface="Arial"/>
                          <a:ea typeface="Arial"/>
                          <a:cs typeface="Arial"/>
                        </a:rPr>
                        <a:t>¿Encuentra el óptimo global?</a:t>
                      </a:r>
                    </a:p>
                  </a:txBody>
                  <a:tcPr marL="91440" marR="91440" marT="45720" marB="45720">
                    <a:solidFill>
                      <a:srgbClr val="EEF5F5"/>
                    </a:solidFill>
                  </a:tcPr>
                </a:tc>
                <a:tc>
                  <a:txBody>
                    <a:bodyPr/>
                    <a:lstStyle/>
                    <a:p>
                      <a:r>
                        <a:rPr sz="1875" b="0">
                          <a:solidFill>
                            <a:srgbClr val="183B4E"/>
                          </a:solidFill>
                          <a:latin typeface="Arial"/>
                          <a:ea typeface="Arial"/>
                          <a:cs typeface="Arial"/>
                        </a:rPr>
                        <a:t>Entrega el mejor encontrado en el experimento</a:t>
                      </a:r>
                    </a:p>
                  </a:txBody>
                  <a:tcPr marL="91440" marR="91440" marT="45720" marB="45720">
                    <a:solidFill>
                      <a:srgbClr val="EEF5F5"/>
                    </a:solidFill>
                  </a:tcPr>
                </a:tc>
              </a:tr>
              <a:tr h="620713">
                <a:tc>
                  <a:txBody>
                    <a:bodyPr/>
                    <a:lstStyle/>
                    <a:p>
                      <a:r>
                        <a:rPr sz="1875" b="0">
                          <a:solidFill>
                            <a:srgbClr val="183B4E"/>
                          </a:solidFill>
                          <a:latin typeface="Arial"/>
                          <a:ea typeface="Arial"/>
                          <a:cs typeface="Arial"/>
                        </a:rPr>
                        <a:t>¿Qué falta para decidir una obra?</a:t>
                      </a:r>
                    </a:p>
                  </a:txBody>
                  <a:tcPr marL="91440" marR="91440" marT="45720" marB="45720">
                    <a:solidFill>
                      <a:srgbClr val="FFFFFF"/>
                    </a:solidFill>
                  </a:tcPr>
                </a:tc>
                <a:tc>
                  <a:txBody>
                    <a:bodyPr/>
                    <a:lstStyle/>
                    <a:p>
                      <a:r>
                        <a:rPr sz="1875" b="0">
                          <a:solidFill>
                            <a:srgbClr val="183B4E"/>
                          </a:solidFill>
                          <a:latin typeface="Arial"/>
                          <a:ea typeface="Arial"/>
                          <a:cs typeface="Arial"/>
                        </a:rPr>
                        <a:t>Estudios de terreno, conexión eléctrica y economía</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92F9BD2-56FE-4B8F-8BBB-8F7AB3C32797}"/>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defRPr sz="1575" b="0">
                <a:solidFill>
                  <a:srgbClr val="526778"/>
                </a:solidFill>
                <a:latin typeface="Arial"/>
                <a:ea typeface="Arial"/>
                <a:cs typeface="Arial"/>
              </a:defRPr>
            </a:pPr>
            <a:r>
              <a:rPr sz="1575" b="0">
                <a:solidFill>
                  <a:srgbClr val="526778"/>
                </a:solidFill>
                <a:latin typeface="Arial"/>
                <a:ea typeface="Arial"/>
                <a:cs typeface="Arial"/>
              </a:rPr>
              <a:t>Próxima validación: varias semillas, sensibilidad de pesos y comparación con otra búsqueda</a:t>
            </a:r>
          </a:p>
        </p:txBody>
      </p:sp>
    </p:spTree>
    <p:extLst>
      <p:ext uri="{BB962C8B-B14F-4D97-AF65-F5344CB8AC3E}">
        <p14:creationId xmlns:p14="http://schemas.microsoft.com/office/powerpoint/2010/main" val="11108485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2026-10-06T12:29:33.4870000Z</dcterms:created>
  <dcterms:modified xsi:type="dcterms:W3CDTF">2026-10-06T12:29:33.4870000Z</dcterms:modified>
</coreProperties>
</file>