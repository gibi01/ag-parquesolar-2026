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4677cabada4b86" /><Relationship Type="http://schemas.openxmlformats.org/officeDocument/2006/relationships/extended-properties" Target="/docProps/app.xml" Id="Re1ed17514f9d4dd0" /><Relationship Type="http://schemas.openxmlformats.org/officeDocument/2006/relationships/officeDocument" Target="/ppt/presentation.xml" Id="Rf119117a5c284247" /></Relationships>
</file>

<file path=ppt/presentation.xml><?xml version="1.0" encoding="utf-8"?>
<p:presentation xmlns:p="http://schemas.openxmlformats.org/presentationml/2006/main">
  <p:sldMasterIdLst>
    <p:sldMasterId xmlns:r="http://schemas.openxmlformats.org/officeDocument/2006/relationships" id="2147483648" r:id="R661cf4beedf94109"/>
  </p:sldMasterIdLst>
  <p:notesMasterIdLst>
    <p:notesMasterId xmlns:r="http://schemas.openxmlformats.org/officeDocument/2006/relationships" r:id="R0940761fa0744867"/>
  </p:notesMasterIdLst>
  <p:sldIdLst>
    <p:sldId xmlns:r="http://schemas.openxmlformats.org/officeDocument/2006/relationships" id="256" r:id="R07f0d55a72b24be1"/>
    <p:sldId xmlns:r="http://schemas.openxmlformats.org/officeDocument/2006/relationships" id="257" r:id="R55a4259f4cca409d"/>
    <p:sldId xmlns:r="http://schemas.openxmlformats.org/officeDocument/2006/relationships" id="258" r:id="R0d6a199703924a03"/>
    <p:sldId xmlns:r="http://schemas.openxmlformats.org/officeDocument/2006/relationships" id="259" r:id="R9adbaf7d20dd4054"/>
    <p:sldId xmlns:r="http://schemas.openxmlformats.org/officeDocument/2006/relationships" id="260" r:id="R6067bb10145c4697"/>
    <p:sldId xmlns:r="http://schemas.openxmlformats.org/officeDocument/2006/relationships" id="261" r:id="Rf1b8d1c0cd994e2e"/>
    <p:sldId xmlns:r="http://schemas.openxmlformats.org/officeDocument/2006/relationships" id="262" r:id="R109ad9b6467d4579"/>
    <p:sldId xmlns:r="http://schemas.openxmlformats.org/officeDocument/2006/relationships" id="263" r:id="R483ede52d20d421e"/>
    <p:sldId xmlns:r="http://schemas.openxmlformats.org/officeDocument/2006/relationships" id="264" r:id="R577e59f875b442b0"/>
    <p:sldId xmlns:r="http://schemas.openxmlformats.org/officeDocument/2006/relationships" id="265" r:id="R5c76fd18e2a74336"/>
    <p:sldId xmlns:r="http://schemas.openxmlformats.org/officeDocument/2006/relationships" id="266" r:id="R1b1d693481784394"/>
    <p:sldId xmlns:r="http://schemas.openxmlformats.org/officeDocument/2006/relationships" id="267" r:id="R04f33c2ae90a4764"/>
    <p:sldId xmlns:r="http://schemas.openxmlformats.org/officeDocument/2006/relationships" id="268" r:id="R6c83666df2274293"/>
    <p:sldId xmlns:r="http://schemas.openxmlformats.org/officeDocument/2006/relationships" id="269" r:id="R6b5e2b8fedf94edd"/>
    <p:sldId xmlns:r="http://schemas.openxmlformats.org/officeDocument/2006/relationships" id="270" r:id="R04d3b13eabe14cbd"/>
    <p:sldId xmlns:r="http://schemas.openxmlformats.org/officeDocument/2006/relationships" id="271" r:id="Rcd3686109f534238"/>
    <p:sldId xmlns:r="http://schemas.openxmlformats.org/officeDocument/2006/relationships" id="272" r:id="R93283c53ca5449c2"/>
    <p:sldId xmlns:r="http://schemas.openxmlformats.org/officeDocument/2006/relationships" id="273" r:id="R7a1450f17b6641a6"/>
    <p:sldId xmlns:r="http://schemas.openxmlformats.org/officeDocument/2006/relationships" id="274" r:id="R7befaebd7fe74b71"/>
    <p:sldId xmlns:r="http://schemas.openxmlformats.org/officeDocument/2006/relationships" id="275" r:id="Raa22358b98744264"/>
    <p:sldId xmlns:r="http://schemas.openxmlformats.org/officeDocument/2006/relationships" id="276" r:id="R70c8f4899f674d5f"/>
    <p:sldId xmlns:r="http://schemas.openxmlformats.org/officeDocument/2006/relationships" id="277" r:id="Reec96c305506474a"/>
    <p:sldId xmlns:r="http://schemas.openxmlformats.org/officeDocument/2006/relationships" id="278" r:id="R58a6b471089244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2c362387e9489d" /><Relationship Type="http://schemas.openxmlformats.org/officeDocument/2006/relationships/slideMaster" Target="/ppt/slideMasters/slideMaster1.xml" Id="R661cf4beedf94109" /><Relationship Type="http://schemas.openxmlformats.org/officeDocument/2006/relationships/notesMaster" Target="/ppt/notesMasters/notesMaster1.xml" Id="R0940761fa0744867" /><Relationship Type="http://schemas.openxmlformats.org/officeDocument/2006/relationships/presProps" Target="/ppt/presProps.xml" Id="Rab932402d67b45b8" /><Relationship Type="http://schemas.openxmlformats.org/officeDocument/2006/relationships/tableStyles" Target="/ppt/tableStyles.xml" Id="R40a15f3d74a64424" /><Relationship Type="http://schemas.openxmlformats.org/officeDocument/2006/relationships/slide" Target="/ppt/slides/slide1.xml" Id="R07f0d55a72b24be1" /><Relationship Type="http://schemas.openxmlformats.org/officeDocument/2006/relationships/slide" Target="/ppt/slides/slide2.xml" Id="R55a4259f4cca409d" /><Relationship Type="http://schemas.openxmlformats.org/officeDocument/2006/relationships/slide" Target="/ppt/slides/slide3.xml" Id="R0d6a199703924a03" /><Relationship Type="http://schemas.openxmlformats.org/officeDocument/2006/relationships/slide" Target="/ppt/slides/slide4.xml" Id="R9adbaf7d20dd4054" /><Relationship Type="http://schemas.openxmlformats.org/officeDocument/2006/relationships/slide" Target="/ppt/slides/slide5.xml" Id="R6067bb10145c4697" /><Relationship Type="http://schemas.openxmlformats.org/officeDocument/2006/relationships/slide" Target="/ppt/slides/slide6.xml" Id="Rf1b8d1c0cd994e2e" /><Relationship Type="http://schemas.openxmlformats.org/officeDocument/2006/relationships/slide" Target="/ppt/slides/slide7.xml" Id="R109ad9b6467d4579" /><Relationship Type="http://schemas.openxmlformats.org/officeDocument/2006/relationships/slide" Target="/ppt/slides/slide8.xml" Id="R483ede52d20d421e" /><Relationship Type="http://schemas.openxmlformats.org/officeDocument/2006/relationships/slide" Target="/ppt/slides/slide9.xml" Id="R577e59f875b442b0" /><Relationship Type="http://schemas.openxmlformats.org/officeDocument/2006/relationships/slide" Target="/ppt/slides/slide10.xml" Id="R5c76fd18e2a74336" /><Relationship Type="http://schemas.openxmlformats.org/officeDocument/2006/relationships/slide" Target="/ppt/slides/slide11.xml" Id="R1b1d693481784394" /><Relationship Type="http://schemas.openxmlformats.org/officeDocument/2006/relationships/slide" Target="/ppt/slides/slide12.xml" Id="R04f33c2ae90a4764" /><Relationship Type="http://schemas.openxmlformats.org/officeDocument/2006/relationships/slide" Target="/ppt/slides/slide13.xml" Id="R6c83666df2274293" /><Relationship Type="http://schemas.openxmlformats.org/officeDocument/2006/relationships/slide" Target="/ppt/slides/slide14.xml" Id="R6b5e2b8fedf94edd" /><Relationship Type="http://schemas.openxmlformats.org/officeDocument/2006/relationships/slide" Target="/ppt/slides/slide15.xml" Id="R04d3b13eabe14cbd" /><Relationship Type="http://schemas.openxmlformats.org/officeDocument/2006/relationships/slide" Target="/ppt/slides/slide16.xml" Id="Rcd3686109f534238" /><Relationship Type="http://schemas.openxmlformats.org/officeDocument/2006/relationships/slide" Target="/ppt/slides/slide17.xml" Id="R93283c53ca5449c2" /><Relationship Type="http://schemas.openxmlformats.org/officeDocument/2006/relationships/slide" Target="/ppt/slides/slide18.xml" Id="R7a1450f17b6641a6" /><Relationship Type="http://schemas.openxmlformats.org/officeDocument/2006/relationships/slide" Target="/ppt/slides/slide19.xml" Id="R7befaebd7fe74b71" /><Relationship Type="http://schemas.openxmlformats.org/officeDocument/2006/relationships/slide" Target="/ppt/slides/slide20.xml" Id="Raa22358b98744264" /><Relationship Type="http://schemas.openxmlformats.org/officeDocument/2006/relationships/slide" Target="/ppt/slides/slide21.xml" Id="R70c8f4899f674d5f" /><Relationship Type="http://schemas.openxmlformats.org/officeDocument/2006/relationships/slide" Target="/ppt/slides/slide22.xml" Id="Reec96c305506474a" /><Relationship Type="http://schemas.openxmlformats.org/officeDocument/2006/relationships/slide" Target="/ppt/slides/slide23.xml" Id="R58a6b471089244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3202e149f240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7ad63a864341de" /><Relationship Type="http://schemas.openxmlformats.org/officeDocument/2006/relationships/notesMaster" Target="/ppt/notesMasters/notesMaster1.xml" Id="Reb81c1deddb74b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506577979a46bc" /><Relationship Type="http://schemas.openxmlformats.org/officeDocument/2006/relationships/notesMaster" Target="/ppt/notesMasters/notesMaster1.xml" Id="Rcf27b6aef94c46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7653569bd44485" /><Relationship Type="http://schemas.openxmlformats.org/officeDocument/2006/relationships/notesMaster" Target="/ppt/notesMasters/notesMaster1.xml" Id="R95a4eca22d0147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9a91e95ce24be1" /><Relationship Type="http://schemas.openxmlformats.org/officeDocument/2006/relationships/notesMaster" Target="/ppt/notesMasters/notesMaster1.xml" Id="Rd6e6bff157e64b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2ca8903e374314" /><Relationship Type="http://schemas.openxmlformats.org/officeDocument/2006/relationships/notesMaster" Target="/ppt/notesMasters/notesMaster1.xml" Id="R17d0b1f002fb4d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00ceb794b14c6a" /><Relationship Type="http://schemas.openxmlformats.org/officeDocument/2006/relationships/notesMaster" Target="/ppt/notesMasters/notesMaster1.xml" Id="R7909a2da848343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57a3d28fd849b2" /><Relationship Type="http://schemas.openxmlformats.org/officeDocument/2006/relationships/notesMaster" Target="/ppt/notesMasters/notesMaster1.xml" Id="R09ae4d0a98eb456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1dcfac523d4b9f" /><Relationship Type="http://schemas.openxmlformats.org/officeDocument/2006/relationships/notesMaster" Target="/ppt/notesMasters/notesMaster1.xml" Id="R571afe40cbb44b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2e1df6c81d4e1e" /><Relationship Type="http://schemas.openxmlformats.org/officeDocument/2006/relationships/notesMaster" Target="/ppt/notesMasters/notesMaster1.xml" Id="R25d05efca59543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b0d79948dd4ab8" /><Relationship Type="http://schemas.openxmlformats.org/officeDocument/2006/relationships/notesMaster" Target="/ppt/notesMasters/notesMaster1.xml" Id="R9d9ed25d551c41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b97c2f4f484983" /><Relationship Type="http://schemas.openxmlformats.org/officeDocument/2006/relationships/notesMaster" Target="/ppt/notesMasters/notesMaster1.xml" Id="R7f0fc9e7930440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836eab5762435d" /><Relationship Type="http://schemas.openxmlformats.org/officeDocument/2006/relationships/notesMaster" Target="/ppt/notesMasters/notesMaster1.xml" Id="Rcfaf4c193f4f4f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261ae117044f3" /><Relationship Type="http://schemas.openxmlformats.org/officeDocument/2006/relationships/notesMaster" Target="/ppt/notesMasters/notesMaster1.xml" Id="R20d3d6badcaf47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f8c59e00df4bc9" /><Relationship Type="http://schemas.openxmlformats.org/officeDocument/2006/relationships/notesMaster" Target="/ppt/notesMasters/notesMaster1.xml" Id="Rf25948af497248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d5887b9194426c" /><Relationship Type="http://schemas.openxmlformats.org/officeDocument/2006/relationships/notesMaster" Target="/ppt/notesMasters/notesMaster1.xml" Id="R94af91bb01e54c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7932c9b3fe4cb9" /><Relationship Type="http://schemas.openxmlformats.org/officeDocument/2006/relationships/notesMaster" Target="/ppt/notesMasters/notesMaster1.xml" Id="Rdcc07992c31e4c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50bf98230c43f8" /><Relationship Type="http://schemas.openxmlformats.org/officeDocument/2006/relationships/notesMaster" Target="/ppt/notesMasters/notesMaster1.xml" Id="R996fa7d1281d45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f6e4e4aa8fb46a8" /><Relationship Type="http://schemas.openxmlformats.org/officeDocument/2006/relationships/notesMaster" Target="/ppt/notesMasters/notesMaster1.xml" Id="R6cbef2a67617469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18d22c07b0446b" /><Relationship Type="http://schemas.openxmlformats.org/officeDocument/2006/relationships/notesMaster" Target="/ppt/notesMasters/notesMaster1.xml" Id="R0b6701f9098a41e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7f9c6ce39c4058" /><Relationship Type="http://schemas.openxmlformats.org/officeDocument/2006/relationships/notesMaster" Target="/ppt/notesMasters/notesMaster1.xml" Id="Rb711bddd9f2b45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3d24863622f4866" /><Relationship Type="http://schemas.openxmlformats.org/officeDocument/2006/relationships/notesMaster" Target="/ppt/notesMasters/notesMaster1.xml" Id="R1e9490aac76d4b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c1015df331b4af1" /><Relationship Type="http://schemas.openxmlformats.org/officeDocument/2006/relationships/notesMaster" Target="/ppt/notesMasters/notesMaster1.xml" Id="Rdfb50ade5bbb49c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4a9e672dd64a79" /><Relationship Type="http://schemas.openxmlformats.org/officeDocument/2006/relationships/notesMaster" Target="/ppt/notesMasters/notesMaster1.xml" Id="R188eb3e5526f43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el proyecto explora configuraciones de parques solares sobre una grilla. Explicaremos primero de dónde provienen los datos y luego cómo el AG produce y compara propuestas. Duración sugerida: 20 a 25 minutos. La ilustración de portada es conceptual, generada con IA, y no representa una instalación real. Fuente técnica: C:/Users/creis/OneDrive/Escritorio/AG-ParqueSolar-2026/README.md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algoritmo propone dónde ubicar un parque, qué forma darle y cuánto puede crecer. Un parque contiene celdas conectadas por borde. La escala de trabajo es provincial y la grilla de análisis usa 500 metros. La cartografía oficial aquí es contexto: el pipeline usa capas vectoriales y registros climáticos, no extrae datos de esta imagen. El mapa es de agosto de 2024.</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C:/Users/creis/OneDrive/Escritorio/AG-ParqueSolar-2026/generacion_electrica.pdf</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fuentes evita confundir líneas con estaciones o geometría con capacidad eléctrica. IGN aporta el límite. INDEC aporta polígonos urbanos del Censo 2022. CKAN aporta líneas. El archivo CSV aporta estaciones. ERA5-Land aporta radiación. La preparación selecciona cuatro ET identificadas por CN, RM, RO y ST: Río Coronda, Romang, Rosario Oeste y Santo Tomé. El AG no usa MVA.</a:t>
            </a:r>
          </a:p>
          <a:p xmlns:a="http://schemas.openxmlformats.org/drawingml/2006/main">
            <a:r>
              <a:t/>
            </a:r>
          </a:p>
          <a:p xmlns:a="http://schemas.openxmlformats.org/drawingml/2006/main">
            <a:r>
              <a:t>Fuentes del proyecto: C:/Users/creis/OneDrive/Escritorio/AG-ParqueSolar-2026/config.yaml</a:t>
            </a:r>
          </a:p>
          <a:p xmlns:a="http://schemas.openxmlformats.org/drawingml/2006/main">
            <a:r>
              <a:t>C:/Users/creis/OneDrive/Escritorio/AG-ParqueSolar-2026/src/pipeline/ingest.py</a:t>
            </a:r>
          </a:p>
          <a:p xmlns:a="http://schemas.openxmlformats.org/drawingml/2006/main">
            <a:r>
              <a:t>C:/Users/creis/OneDrive/Escritorio/AG-ParqueSolar-2026/src/pipeline/preprocess.py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un ejemplo fiel a src/api/indec.py. El cliente hace GET al WFS con parámetros separados. count=500 es el tamaño de página configurado. En la segunda página startIndex pasa a 500 y continúa hasta reunir numberMatched. El cliente verifica FeatureCollection, numberReturned, IDs únicos y un total estable. Si una página falta, falla. No es una consulta que se haga por cada cromosoma. Fuente: endpoint configurado https://geonode.indec.gob.ar/geoserver/geonode/wfs</a:t>
            </a:r>
          </a:p>
          <a:p xmlns:a="http://schemas.openxmlformats.org/drawingml/2006/main">
            <a:r>
              <a:t/>
            </a:r>
          </a:p>
          <a:p xmlns:a="http://schemas.openxmlformats.org/drawingml/2006/main">
            <a:r>
              <a:t>Fuentes del proyecto: C:/Users/creis/OneDrive/Escritorio/AG-ParqueSolar-2026/src/api/indec.py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app no trata todas las fuentes como una única API. IGN es un ZIP que contiene un shapefile. CKAN usa datastore_search paginado con resource_id, limit y offset. Las estaciones son un CSV descargado directamente. El clima usa xarray.open_zarr sobre ARCO con autorización Bearer de CDS_API_KEY, sin mostrar la credencial. La clave queda fuera de los metadatos de corrida. Los pesos cero desactivan su fuente, pero la exclusión urbana sigue activa.</a:t>
            </a:r>
          </a:p>
          <a:p xmlns:a="http://schemas.openxmlformats.org/drawingml/2006/main">
            <a:r>
              <a:t/>
            </a:r>
          </a:p>
          <a:p xmlns:a="http://schemas.openxmlformats.org/drawingml/2006/main">
            <a:r>
              <a:t>Fuentes del proyecto: C:/Users/creis/OneDrive/Escritorio/AG-ParqueSolar-2026/src/api/datos_gob_ar.py</a:t>
            </a:r>
          </a:p>
          <a:p xmlns:a="http://schemas.openxmlformats.org/drawingml/2006/main">
            <a:r>
              <a:t>C:/Users/creis/OneDrive/Escritorio/AG-ParqueSolar-2026/src/pipeline/ingest.py</a:t>
            </a:r>
          </a:p>
          <a:p xmlns:a="http://schemas.openxmlformats.org/drawingml/2006/main">
            <a:r>
              <a:t>C:/Users/creis/OneDrive/Escritorio/AG-ParqueSolar-2026/src/climate/arco.py</a:t>
            </a:r>
          </a:p>
          <a:p xmlns:a="http://schemas.openxmlformats.org/drawingml/2006/main">
            <a:r>
              <a:t>C:/Users/creis/OneDrive/Escritorio/AG-ParqueSolar-2026/src/main.py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cuatro imágenes representan las cuatro variables o etapas de la tabla anterior. SSRD es la radiación solar descendente en la superficie, registrada por hora. El cálculo divide J/m² por 3.600.000 para obtener kWh/m². Un mes completo exige todas las horas esperadas, únicas y finitas. La media interanual promedia enero, abril, julio y octubre entre los años disponibles. La estimación anual convierte a media diaria y pondera por días de cada estación. Cada silueta corresponde esquemáticamente a Santa Fe. Los símbolos de reloj, calendario, años y estaciones son ilustraciones, no mapas de valores observados. Ilustración generada con IA. Fuentes: C:/Users/creis/OneDrive/Escritorio/AG-ParqueSolar-2026/src/climate/arco.py y C:/Users/creis/OneDrive/Escritorio/AG-ParqueSolar-2026/src/climate/climatology.py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Narrar las cuatro etapas. Primero cacheamos fuentes. Luego unificamos CRS para trabajar en metros, recortamos, validamos geometrías y excluimos zonas urbanas. Construimos el grafo de vecinos y asociamos cada celda válida al píxel climático más cercano. El snapshot guarda celdas, vecinos, clima y capas en SQLite. Su identificador depende del contenido. La optimización carga ese snapshot y exporta resultados en una carpeta nueva. Los datos anteriores no se reemplazan.</a:t>
            </a:r>
          </a:p>
          <a:p xmlns:a="http://schemas.openxmlformats.org/drawingml/2006/main">
            <a:r>
              <a:t/>
            </a:r>
          </a:p>
          <a:p xmlns:a="http://schemas.openxmlformats.org/drawingml/2006/main">
            <a:r>
              <a:t>Fuentes del proyecto: C:/Users/creis/OneDrive/Escritorio/AG-ParqueSolar-2026/src/pipeline/preprocess.py</a:t>
            </a:r>
          </a:p>
          <a:p xmlns:a="http://schemas.openxmlformats.org/drawingml/2006/main">
            <a:r>
              <a:t>C:/Users/creis/OneDrive/Escritorio/AG-ParqueSolar-2026/src/database/spatial.py</a:t>
            </a:r>
          </a:p>
          <a:p xmlns:a="http://schemas.openxmlformats.org/drawingml/2006/main">
            <a:r>
              <a:t>C:/Users/creis/OneDrive/Escritorio/AG-ParqueSolar-2026/src/main.py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Hay tres mecanismos diferentes. La caché de fuentes evita descargar lo existente salvo --force. La caché ARCO reutiliza períodos ya guardados y consulta los faltantes. El evaluador memoriza hasta 10.000 genotipos por dataset/configuración, para repetir cálculos sin reconstruir el parque. SQLite conserva snapshots y corridas. Si cambia la huella urbana o falta una fuente activa, el pipeline pide reprocesar o se detiene. No se inventan estaciones ni valores solares. Los metadatos conservan configuración, semilla y versiones, sin credenciales.</a:t>
            </a:r>
          </a:p>
          <a:p xmlns:a="http://schemas.openxmlformats.org/drawingml/2006/main">
            <a:r>
              <a:t/>
            </a:r>
          </a:p>
          <a:p xmlns:a="http://schemas.openxmlformats.org/drawingml/2006/main">
            <a:r>
              <a:t>Fuentes del proyecto: C:/Users/creis/OneDrive/Escritorio/AG-ParqueSolar-2026/src/data/cache.py</a:t>
            </a:r>
          </a:p>
          <a:p xmlns:a="http://schemas.openxmlformats.org/drawingml/2006/main">
            <a:r>
              <a:t>C:/Users/creis/OneDrive/Escritorio/AG-ParqueSolar-2026/src/climate/arco.py</a:t>
            </a:r>
          </a:p>
          <a:p xmlns:a="http://schemas.openxmlformats.org/drawingml/2006/main">
            <a:r>
              <a:t>C:/Users/creis/OneDrive/Escritorio/AG-ParqueSolar-2026/src/optimization/spatial.py</a:t>
            </a:r>
          </a:p>
          <a:p xmlns:a="http://schemas.openxmlformats.org/drawingml/2006/main">
            <a:r>
              <a:t>C:/Users/creis/OneDrive/Escritorio/AG-ParqueSolar-2026/src/database/spatial.py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imágenes ilustran las reglas del evaluador. Contigüidad: cada celda añadida procede de la frontera de vecinos por borde. Exclusión urbana: se elimina toda celda que toca o intersecta la máscara urbana, incluso huecos internos con la política actual. Potencia por área: se usa el área real, no una cuenta fija de celdas. Límite experimental: el crecimiento debe mantener P≤80 MW. No es la capacidad real de una estación. Las geometrías de la ilustración son conceptuales. La densidad de referencia se explica en la siguiente diapositiva. Ilustración generada con IA. Fuentes: C:/Users/creis/OneDrive/Escritorio/AG-ParqueSolar-2026/config.yaml y C:/Users/creis/OneDrive/Escritorio/AG-ParqueSolar-2026/src/optimization/spatial.py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configuración adopta 31,3 MW/km² a partir del estudio de NREL Land-Use Requirements for Solar Power Plants in the United States, Ong et al. (2013), tabla ES-1. La media ponderada por capacidad para grandes plantas FV (&gt;20 MW) es 7,9 acres/MWac de área total. Un acre son 0,0040468564224 km². 7,9 acres/MWac = 0,03197016573696 km²/MWac. Invertir da aproximadamente 31,279 MWac/km², redondeados en config.yaml a 31,3. Una celda completa de 500×500 m tiene 0,25 km². Su potencia estimada es 0,25×31,3=7,825 MW. Es un supuesto de densidad territorial del modelo, basado en instalaciones grandes de EEUU, no una medición de potencia de Santa Fe ni una producción derivada de la radiación. Aunque se muestre una celda aislada para la cuenta, la fuente se refiere a grandes instalaciones. Diez celdas completas:2,5×31,3=78,25 MW. Fuente pública: https://docs.nrel.gov/docs/fy13osti/56290.pdf . Fuente local: C:/Users/creis/OneDrive/Escritorio/AG-ParqueSolar-2026/config.yaml . La ilustración solar es conceptual y generada con 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cromosoma proviene del ejemplo registrado en la generación inicial de la corrida reproducida. La semilla es 46.504 y los cuatro genes son enteros. Cada entero selecciona una posición dentro de la frontera ordenada mediante módulo. El gen no es una coordenada, un ID de celda ni una dirección fija. Con la misma semilla, la misma secuencia y el mismo grafo se obtiene siempre el mismo parque. El genotipo codifica instrucciones y el fenotipo es el conjunto de celdas.</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C:/Users/creis/OneDrive/Escritorio/AG-ParqueSolar-2026/src/optimization/initialization.py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frontera contiene celdas válidas que comparten borde con el parque. Se ordena por la posición en la grilla, que usa fila, columna y componente. Para el primer gen, la frontera real es [46165,46503,46505,46843]. 429014945 módulo 4 da 1, por lo que se elige la segunda entrada: 46503. El índice comienza en cero. Luego se actualiza la frontera y el próximo entero usa una lista distinta. El evaluador omite una adición que excede potencia, o termina si no cabe ninguna celda de la frontera.</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Leer de izquierda a derecha. Esto muestra la decodificación de un cromosoma, no generaciones evolutivas. Semilla sola, luego uno, dos, tres y cuatro genes. La traza real agrega 46503,46505,46843 y46506. Cada adición comparte borde con una celda del parque. Todos los fragmentos de este ejemplo son cuadrados completos. En los recuadros pequeños los IDs se omiten porque la tabla inferior conserva la traza numérica.</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cuatro scores están entre cero y uno. Radiación usa min-max de las celdas válidas, con promedio ponderado por área para cada parque. Las distancias se calculan desde el centroide ponderado por área y se invierten para que cerca valga más. La potencia usa P/80. Los límites de normalización son del dataset y los resultados se recortan a [0,1]. Para este cromosoma: radiación 1830,38 kWh/m²/año, distancia a línea 0,967 km y a Rosario Oeste 62,764 km. Los pesos son provisionales y el score es comparativo.</a:t>
            </a:r>
          </a:p>
          <a:p xmlns:a="http://schemas.openxmlformats.org/drawingml/2006/main">
            <a:r>
              <a:t/>
            </a:r>
          </a:p>
          <a:p xmlns:a="http://schemas.openxmlformats.org/drawingml/2006/main">
            <a:r>
              <a:t>Fuentes del proyecto: C:/Users/creis/OneDrive/Escritorio/AG-ParqueSolar-2026/src/optimization/spatial.py</a:t>
            </a:r>
          </a:p>
          <a:p xmlns:a="http://schemas.openxmlformats.org/drawingml/2006/main">
            <a:r>
              <a:t>C:/Users/creis/OneDrive/Escritorio/AG-ParqueSolar-2026/config.yaml</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diagrama conserva las etapas y parámetros de la tabla anterior: evaluar 50 individuos, conservar dos élites distintas, seleccionar por torneos de tres, cruzar con probabilidad75% y mutar con probabilidad20%, controlar duplicados y repetir hasta 200 generaciones. El archivo conserva candidatos por territorio. El flujo gráfico es conceptual: el código lleva dos élites directamente a la siguiente población y aplica los operadores a los hijos. Las probabilidades no garantizan mejora. La generación0 es la evaluación inicial. Ilustración generada con IA. Fuente:C:/Users/creis/OneDrive/Escritorio/AG-ParqueSolar-2026/src/optimization/genetic_algorithm.py y C:/Users/creis/OneDrive/Escritorio/AG-ParqueSolar-2026/config.yaml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un torneo didáctico compuesto por tres scores reales del ejemplo. No afirmamos que estos tres hayan participado juntos en un torneo de la corrida. La selección toma tres índices aleatorios con reemplazo dentro de cada torneo y elige el mayor fitness. Vuelve a sortear para cada plaza, por eso un ganador puede repetirse. Esto favorece buenas propuestas, sin convertir la selección en una regla que elige sólo a los mejores de toda la población.</a:t>
            </a:r>
          </a:p>
          <a:p xmlns:a="http://schemas.openxmlformats.org/drawingml/2006/main">
            <a:r>
              <a:t/>
            </a:r>
          </a:p>
          <a:p xmlns:a="http://schemas.openxmlformats.org/drawingml/2006/main">
            <a:r>
              <a:t>Fuentes del proyecto: C:/Users/creis/OneDrive/Escritorio/AG-ParqueSolar-2026/src/optimization/selection.py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Evento real de la generación1 de la corrida con semilla42. Padre A semilla46504, genes[429014945,1856101005,1726844270,53904684]. Padre B semilla249997, genes[222056182,376207307,1261957109,1703992271,366345610,644229613,1986680326]. CorteA=4, corteB=6. HijoA conserva la semilla46504 y obtiene[429014945,1856101005,1726844270,53904684,1986680326]. A1–A4 y B1–B7 son alias para lectura del diagrama. El crossover del código también produce el hijo recíproco, omitido aquí para seguir el mismo hijo del ejemplo. El decoder vuelve a interpretar la secuencia completa, no traslada físicamente celdas de B. Fuente:C:/Users/creis/OneDrive/Escritorio/AG-ParqueSolar-2026/src/optimization/crossover.py . Ilustración generada con IA y verificada contra los genes del ejemplo.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Evento real en la generación 1, semilla 380674. Se conserva el padre, y el hijo agrega un gen de valor 6. El decoder elige la celda 381148 y el fenotipo cambia de seis a siete celdas. La potencia aumenta 7,825 MW. La irradiación se mantiene en 1830,91 kWh/m²/año, pero cambian algo las distancias del centroide. Esta mutación mejora el fitness de 0,4498 a 0,4597. Otras mutaciones pueden cambiar un gen, eliminar crecimiento o cambiar la semilla. El operador intenta hasta cuatro veces lograr un fenotipo diferente, sin exigir que sea mejor.</a:t>
            </a:r>
          </a:p>
          <a:p xmlns:a="http://schemas.openxmlformats.org/drawingml/2006/main">
            <a:r>
              <a:t/>
            </a:r>
          </a:p>
          <a:p xmlns:a="http://schemas.openxmlformats.org/drawingml/2006/main">
            <a:r>
              <a:t>Fuentes del proyecto: C:/Users/creis/OneDrive/Escritorio/AG-ParqueSolar-2026/src/optimization/mutation.py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curva corresponde a history.csv de la corrida del 4 de octubre de 2026 con semilla 42 y 50 individuos. El mejor fitness inicial es 0,646999 y el final 0,725455. Son 0,078455 puntos de score, no un porcentaje de rendimiento eléctrico. El promedio fluctúa porque hay mutación, cruces y nuevos muestreos para resolver duplicados. La comparación de mejores se conserva mediante élites y archivo. Esta corrida visita 6214 parques únicos entre poblaciones evaluadas, no todos los parques posibles. La curva por sí sola no demuestra óptimo global.</a:t>
            </a:r>
          </a:p>
          <a:p xmlns:a="http://schemas.openxmlformats.org/drawingml/2006/main">
            <a:r>
              <a:t/>
            </a:r>
          </a:p>
          <a:p xmlns:a="http://schemas.openxmlformats.org/drawingml/2006/main">
            <a:r>
              <a:t>Fuentes del proyecto: C:/Users/creis/OneDrive/Escritorio/AG-ParqueSolar-2026/results/spatial/run-20261004T164747-1cc83f35/history.csv</a:t>
            </a:r>
          </a:p>
          <a:p xmlns:a="http://schemas.openxmlformats.org/drawingml/2006/main">
            <a:r>
              <a:t>C:/Users/creis/OneDrive/Escritorio/AG-ParqueSolar-2026/src/optimization/genetic_algorithm.py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filas son los líderes de la población en generaciones seleccionadas. No describen una genealogía única ni una mejora del cromosoma individual anterior. Incluso con una semilla repetida pueden cambiar genes, forma y métricas. El mejor final tiene once fragmentos, algunos recortados en el borde provincial, y por eso su área no equivale a once cuadrados completos. Los genes no procesados por alcanzar el límite de potencia pueden hacer que un cromosoma tenga más genes que adiciones efectivas.</a:t>
            </a:r>
          </a:p>
          <a:p xmlns:a="http://schemas.openxmlformats.org/drawingml/2006/main">
            <a:r>
              <a:t/>
            </a:r>
          </a:p>
          <a:p xmlns:a="http://schemas.openxmlformats.org/drawingml/2006/main">
            <a:r>
              <a:t>Fuentes del proyecto: C:/Users/creis/OneDrive/Escritorio/AG-ParqueSolar-2026/src/optimization/genetic_algorithm.py</a:t>
            </a:r>
          </a:p>
          <a:p xmlns:a="http://schemas.openxmlformats.org/drawingml/2006/main">
            <a:r>
              <a:t>C:/Users/creis/OneDrive/Escritorio/AG-ParqueSolar-2026/src/optimization/spatial.py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ranking general ordena por fitness y puede incluir parques solapados. El ranking territorial selecciona alternativas sin solapamiento, con separación adicional cero en la configuración actual. El mapa muestra centroides del top cinco territorial, con contorno de Santa Fe simplificado para esta visualización. Los símbolos son posiciones, no tamaños de parque. La corrida conserva geometría exacta en GeoJSON, métricas en CSV, curva en evolution.html y mapa en map.html. ET en la tabla significa la estación más cercana de las cuatro de referencia, no conexión habilitada.</a:t>
            </a:r>
          </a:p>
          <a:p xmlns:a="http://schemas.openxmlformats.org/drawingml/2006/main">
            <a:r>
              <a:t/>
            </a:r>
          </a:p>
          <a:p xmlns:a="http://schemas.openxmlformats.org/drawingml/2006/main">
            <a:r>
              <a:t>Fuentes del proyecto: C:/Users/creis/OneDrive/Escritorio/AG-ParqueSolar-2026/src/pipeline/reporting.py</a:t>
            </a:r>
          </a:p>
          <a:p xmlns:a="http://schemas.openxmlformats.org/drawingml/2006/main">
            <a:r>
              <a:t>C:/Users/creis/OneDrive/Escritorio/AG-ParqueSolar-2026/results/spatial/run-20261004T164747-1cc83f35/ranking_territorial.csv</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una limitación central para la defensa. El mapa oficial distingue tensiones, no capacidad de transformación. El pipeline actual conserva ID, nombre y geometría de cuatro estaciones y calcula distancia, no MVA ni flujo de potencia. El mejor final está a unos 170,92 km de Santo Tomé, la más cercana de ese conjunto, aunque a 0,081 km de una línea. Esto muestra que un score alto no garantiza una conexión adecuada y que el inventario de referencia es limitado. Tampoco evalúa titularidad, catastro, costos, pendientes, permisos, pérdidas ni rendimiento fotovoltaico. La energía calculada es idealizada.</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C:/Users/creis/OneDrive/Escritorio/AG-ParqueSolar-2026/src/optimization/spatial.py</a:t>
            </a:r>
          </a:p>
          <a:p xmlns:a="http://schemas.openxmlformats.org/drawingml/2006/main">
            <a:r>
              <a:t>C:/Users/creis/OneDrive/Escritorio/AG-ParqueSolar-2026/generacion_electrica.pdf</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Respuestas sugeridas. ¿Por qué un AG? Porque explora combinaciones de ubicación y secuencias de crecimiento sin enumerarlas todas. No se afirma superioridad frente a otros métodos sin benchmark. ¿Contigüidad? Cada gen agrega una celda en la frontera por borde. ¿Por qué separar descarga y fitness? Para eficiencia y reproducibilidad. ¿Garantiza el mejor parque? Sólo el mejor encontrado en esta corrida bajo los supuestos. ¿Qué hace falta para aplicación real? Inventario completo y actualizado, capacidad y acceso a red, terreno, costos y permisos. Para sostener la calidad de la búsqueda conviene comparar varias semillas y sensibilidades de pesos y capacidad experimental.</a:t>
            </a:r>
          </a:p>
          <a:p xmlns:a="http://schemas.openxmlformats.org/drawingml/2006/main">
            <a:r>
              <a:t/>
            </a:r>
          </a:p>
          <a:p xmlns:a="http://schemas.openxmlformats.org/drawingml/2006/main">
            <a:r>
              <a:t>Fuentes del proyecto: C:/Users/creis/OneDrive/Escritorio/AG-ParqueSolar-2026/README.md</a:t>
            </a:r>
          </a:p>
          <a:p xmlns:a="http://schemas.openxmlformats.org/drawingml/2006/main">
            <a:r>
              <a:t>C:/Users/creis/OneDrive/Escritorio/AG-ParqueSolar-2026/config.yaml</a:t>
            </a:r>
          </a:p>
          <a:p xmlns:a="http://schemas.openxmlformats.org/drawingml/2006/main">
            <a:r>
              <a:t>C:/Users/creis/OneDrive/Escritorio/AG-ParqueSolar-2026/src/optimization/genetic_algorithm.py</a:t>
            </a:r>
          </a:p>
          <a:p xmlns:a="http://schemas.openxmlformats.org/drawingml/2006/main">
            <a:r>
              <a:t>Corrida de referencia: C:\Users\creis\OneDrive\Escritorio\AG-ParqueSolar-2026\results\spatial\run-20261004T164747-1cc83f35</a:t>
            </a:r>
          </a:p>
          <a:p xmlns:a="http://schemas.openxmlformats.org/drawingml/2006/main">
            <a:r>
              <a:t>Las cifras y eventos del ejemplo se verificaron al reproducir la corrida con semilla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c7c95fe4df4d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3c40410cc949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50ef185fc147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b48dd270d34f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e9a38655f2640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316ce1bbee242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3BC9C-5277-47B9-BB39-00D757C3D3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E9634B-D4A9-434D-81C6-785267AD21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EB74D4-1344-4F2C-816F-8F6FAA0DEAE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BB9EC9-59EF-47C1-A06F-D57CE4CA4F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C42CB6-DB66-427A-9992-6950C1F51E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6B0781-D313-4218-B6A8-6E99BE135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B94CC9-BF96-4B32-B508-0C39B06111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E42B10-051E-4DF3-8764-52262B74F1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4C3EFF-E943-4AED-B7A0-8574483DA6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06213F-60F7-436C-A94E-51DA83A616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68e45393b64288" /><Relationship Type="http://schemas.openxmlformats.org/officeDocument/2006/relationships/slideLayout" Target="/ppt/slideLayouts/slideLayout1.xml" Id="R850b4009cc784e02" /><Relationship Type="http://schemas.openxmlformats.org/officeDocument/2006/relationships/slideLayout" Target="/ppt/slideLayouts/slideLayout2.xml" Id="R7babcf01c4c4425e" /><Relationship Type="http://schemas.openxmlformats.org/officeDocument/2006/relationships/slideLayout" Target="/ppt/slideLayouts/slideLayout3.xml" Id="Redeefbc33ad749a3" /><Relationship Type="http://schemas.openxmlformats.org/officeDocument/2006/relationships/slideLayout" Target="/ppt/slideLayouts/slideLayout4.xml" Id="R4382c5685e7c4941" /><Relationship Type="http://schemas.openxmlformats.org/officeDocument/2006/relationships/slideLayout" Target="/ppt/slideLayouts/slideLayout5.xml" Id="Rd6e3d8de7cd540b0" /><Relationship Type="http://schemas.openxmlformats.org/officeDocument/2006/relationships/slideLayout" Target="/ppt/slideLayouts/slideLayout6.xml" Id="R4bc538d8f38a45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0b4009cc784e02"/>
    <p:sldLayoutId xmlns:r="http://schemas.openxmlformats.org/officeDocument/2006/relationships" id="2147483650" r:id="R7babcf01c4c4425e"/>
    <p:sldLayoutId xmlns:r="http://schemas.openxmlformats.org/officeDocument/2006/relationships" id="2147483651" r:id="Redeefbc33ad749a3"/>
    <p:sldLayoutId xmlns:r="http://schemas.openxmlformats.org/officeDocument/2006/relationships" id="2147483652" r:id="R4382c5685e7c4941"/>
    <p:sldLayoutId xmlns:r="http://schemas.openxmlformats.org/officeDocument/2006/relationships" id="2147483653" r:id="Rd6e3d8de7cd540b0"/>
    <p:sldLayoutId xmlns:r="http://schemas.openxmlformats.org/officeDocument/2006/relationships" id="2147483654" r:id="R4bc538d8f38a45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329d7840df4e3d" /><Relationship Type="http://schemas.openxmlformats.org/officeDocument/2006/relationships/image" Target="/ppt/media/image.png" Id="Re372760891b44433" /><Relationship Type="http://schemas.openxmlformats.org/officeDocument/2006/relationships/notesSlide" Target="/ppt/notesSlides/notesSlide1.xml" Id="R44286a56fb8241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8afe7c2eec4f94" /><Relationship Type="http://schemas.openxmlformats.org/officeDocument/2006/relationships/image" Target="/ppt/media/image2.png" Id="R6241894e8baf4592" /><Relationship Type="http://schemas.openxmlformats.org/officeDocument/2006/relationships/notesSlide" Target="/ppt/notesSlides/notesSlide2.xml" Id="R9a8cc5887d9d4f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998392fc06428a" /><Relationship Type="http://schemas.openxmlformats.org/officeDocument/2006/relationships/notesSlide" Target="/ppt/notesSlides/notesSlide3.xml" Id="R678086c2618744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7e14ec2a914c92" /><Relationship Type="http://schemas.openxmlformats.org/officeDocument/2006/relationships/notesSlide" Target="/ppt/notesSlides/notesSlide4.xml" Id="Rd102e2a6a4de41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65c38c20024940" /><Relationship Type="http://schemas.openxmlformats.org/officeDocument/2006/relationships/notesSlide" Target="/ppt/notesSlides/notesSlide5.xml" Id="R6d4d5243c08b48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8123f63e974fbf" /><Relationship Type="http://schemas.openxmlformats.org/officeDocument/2006/relationships/image" Target="/ppt/media/image3.png" Id="R0faf18b82fba476f" /><Relationship Type="http://schemas.openxmlformats.org/officeDocument/2006/relationships/notesSlide" Target="/ppt/notesSlides/notesSlide6.xml" Id="R76c08bc5195f49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ae134690f54db9" /><Relationship Type="http://schemas.openxmlformats.org/officeDocument/2006/relationships/notesSlide" Target="/ppt/notesSlides/notesSlide7.xml" Id="Re0f1758f4cb443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389adc3beb48d2" /><Relationship Type="http://schemas.openxmlformats.org/officeDocument/2006/relationships/notesSlide" Target="/ppt/notesSlides/notesSlide8.xml" Id="Rf058cd9472104a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55a3ea3538a47bd" /><Relationship Type="http://schemas.openxmlformats.org/officeDocument/2006/relationships/image" Target="/ppt/media/image4.png" Id="R8a8a9fbb8b654331" /><Relationship Type="http://schemas.openxmlformats.org/officeDocument/2006/relationships/notesSlide" Target="/ppt/notesSlides/notesSlide9.xml" Id="Rd2d2becbc56e41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038a337bfc4649" /><Relationship Type="http://schemas.openxmlformats.org/officeDocument/2006/relationships/image" Target="/ppt/media/image5.png" Id="R2a7caee2462f44e2" /><Relationship Type="http://schemas.openxmlformats.org/officeDocument/2006/relationships/notesSlide" Target="/ppt/notesSlides/notesSlide10.xml" Id="Raaf4d1897c4d4f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5225634f038463a" /><Relationship Type="http://schemas.openxmlformats.org/officeDocument/2006/relationships/notesSlide" Target="/ppt/notesSlides/notesSlide11.xml" Id="Rdb59aa48a52349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3c0ce611d784b06" /><Relationship Type="http://schemas.openxmlformats.org/officeDocument/2006/relationships/notesSlide" Target="/ppt/notesSlides/notesSlide12.xml" Id="R4e2af2ade7ab47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1d5efcb6654ecf" /><Relationship Type="http://schemas.openxmlformats.org/officeDocument/2006/relationships/notesSlide" Target="/ppt/notesSlides/notesSlide13.xml" Id="R1e6647d86c6047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e9a93d340874022" /><Relationship Type="http://schemas.openxmlformats.org/officeDocument/2006/relationships/notesSlide" Target="/ppt/notesSlides/notesSlide14.xml" Id="Rbe25e114dcae4b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b5881d779f44c3" /><Relationship Type="http://schemas.openxmlformats.org/officeDocument/2006/relationships/image" Target="/ppt/media/image6.png" Id="R29cd0788d4314d58" /><Relationship Type="http://schemas.openxmlformats.org/officeDocument/2006/relationships/notesSlide" Target="/ppt/notesSlides/notesSlide15.xml" Id="R264fc044d24b42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829cbf700274f7f" /><Relationship Type="http://schemas.openxmlformats.org/officeDocument/2006/relationships/chart" Target="/ppt/slides/charts/chart1.xml" Id="R56299582d4c54a36" /><Relationship Type="http://schemas.openxmlformats.org/officeDocument/2006/relationships/notesSlide" Target="/ppt/notesSlides/notesSlide16.xml" Id="Ref2234d38af74c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1a0b42de0e04147" /><Relationship Type="http://schemas.openxmlformats.org/officeDocument/2006/relationships/image" Target="/ppt/media/image7.png" Id="R7b5d0ed13b4f4c04" /><Relationship Type="http://schemas.openxmlformats.org/officeDocument/2006/relationships/notesSlide" Target="/ppt/notesSlides/notesSlide17.xml" Id="R7faf8f39b6f24a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7209000433d4361" /><Relationship Type="http://schemas.openxmlformats.org/officeDocument/2006/relationships/notesSlide" Target="/ppt/notesSlides/notesSlide18.xml" Id="Rd74e6b71e097435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00c0e3a20ee4482" /><Relationship Type="http://schemas.openxmlformats.org/officeDocument/2006/relationships/chart" Target="/ppt/slides/charts/chart2.xml" Id="R6b75e0dd452e4e22" /><Relationship Type="http://schemas.openxmlformats.org/officeDocument/2006/relationships/notesSlide" Target="/ppt/notesSlides/notesSlide19.xml" Id="R01980013ca0e4fc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bc097c70284491e" /><Relationship Type="http://schemas.openxmlformats.org/officeDocument/2006/relationships/notesSlide" Target="/ppt/notesSlides/notesSlide20.xml" Id="Rc5b00e426446470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ddc693cecd944a6" /><Relationship Type="http://schemas.openxmlformats.org/officeDocument/2006/relationships/chart" Target="/ppt/slides/charts/chart3.xml" Id="R9aebf1b6dfda452a" /><Relationship Type="http://schemas.openxmlformats.org/officeDocument/2006/relationships/notesSlide" Target="/ppt/notesSlides/notesSlide21.xml" Id="R377073e191b948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d17eec1bdfb471d" /><Relationship Type="http://schemas.openxmlformats.org/officeDocument/2006/relationships/image" Target="/ppt/media/image8.png" Id="Rf36c920e6c134f62" /><Relationship Type="http://schemas.openxmlformats.org/officeDocument/2006/relationships/notesSlide" Target="/ppt/notesSlides/notesSlide22.xml" Id="Rfeded5f699d140d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703ca91f397474d" /><Relationship Type="http://schemas.openxmlformats.org/officeDocument/2006/relationships/notesSlide" Target="/ppt/notesSlides/notesSlide23.xml" Id="R3ebe02f6195e40ce" /></Relationships>
</file>

<file path=ppt/slides/charts/chart1.xml><?xml version="1.0" encoding="utf-8"?>
<c:chartSpace xmlns:c="http://schemas.openxmlformats.org/drawingml/2006/chart">
  <c:lang val="en-US"/>
  <c:chart>
    <c:plotArea>
      <c:barChart>
        <c:barDir val="col"/>
        <c:grouping val="clustered"/>
        <c:varyColors val="0"/>
        <c:ser>
          <c:idx val="0"/>
          <c:order val="0"/>
          <c:tx>
            <c:v>Fitness</c:v>
          </c:tx>
          <c:spPr>
            <a:solidFill xmlns:a="http://schemas.openxmlformats.org/drawingml/2006/main">
              <a:srgbClr val="087F8C"/>
            </a:solidFill>
          </c:spPr>
          <c:cat>
            <c:strLit>
              <c:ptCount val="3"/>
              <c:pt idx="0">
                <c:v>A</c:v>
              </c:pt>
              <c:pt idx="1">
                <c:v>B</c:v>
              </c:pt>
              <c:pt idx="2">
                <c:v>C</c:v>
              </c:pt>
            </c:strLit>
          </c:cat>
          <c:val>
            <c:numLit>
              <c:formatCode>0.000</c:formatCode>
              <c:ptCount val="3"/>
              <c:pt idx="0">
                <c:v>0.5839059030159175</c:v>
              </c:pt>
              <c:pt idx="1">
                <c:v>0.6461678745577318</c:v>
              </c:pt>
              <c:pt idx="2">
                <c:v>0.44977428064458913</c:v>
              </c:pt>
            </c:numLit>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
        <c:varyColors val="0"/>
        <c:ser>
          <c:idx val="0"/>
          <c:order val="0"/>
          <c:tx>
            <c:v>Mejor fitness</c:v>
          </c:tx>
          <c:spPr>
            <a:ln xmlns:a="http://schemas.openxmlformats.org/drawingml/2006/main" w="28575">
              <a:solidFill>
                <a:srgbClr val="087F8C"/>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0.6469993155162486</c:v>
              </c:pt>
              <c:pt idx="1">
                <c:v>0.6477411670074239</c:v>
              </c:pt>
              <c:pt idx="2">
                <c:v>0.6556129236838357</c:v>
              </c:pt>
              <c:pt idx="3">
                <c:v>0.6658596361749733</c:v>
              </c:pt>
              <c:pt idx="4">
                <c:v>0.6658596361749733</c:v>
              </c:pt>
              <c:pt idx="5">
                <c:v>0.6659029837565028</c:v>
              </c:pt>
              <c:pt idx="6">
                <c:v>0.6659029837565028</c:v>
              </c:pt>
              <c:pt idx="7">
                <c:v>0.6659453389234518</c:v>
              </c:pt>
              <c:pt idx="8">
                <c:v>0.6659453389234518</c:v>
              </c:pt>
              <c:pt idx="9">
                <c:v>0.6660298762974126</c:v>
              </c:pt>
              <c:pt idx="10">
                <c:v>0.6663995373064783</c:v>
              </c:pt>
              <c:pt idx="11">
                <c:v>0.6663995373064783</c:v>
              </c:pt>
              <c:pt idx="12">
                <c:v>0.6663995373064783</c:v>
              </c:pt>
              <c:pt idx="13">
                <c:v>0.6663995373064783</c:v>
              </c:pt>
              <c:pt idx="14">
                <c:v>0.6663995373064783</c:v>
              </c:pt>
              <c:pt idx="15">
                <c:v>0.666465026731068</c:v>
              </c:pt>
              <c:pt idx="16">
                <c:v>0.666465026731068</c:v>
              </c:pt>
              <c:pt idx="17">
                <c:v>0.6665288719173706</c:v>
              </c:pt>
              <c:pt idx="18">
                <c:v>0.6665288719173706</c:v>
              </c:pt>
              <c:pt idx="19">
                <c:v>0.6665460532063571</c:v>
              </c:pt>
              <c:pt idx="20">
                <c:v>0.6665460532063571</c:v>
              </c:pt>
              <c:pt idx="21">
                <c:v>0.6665460532063571</c:v>
              </c:pt>
              <c:pt idx="22">
                <c:v>0.6665460532063571</c:v>
              </c:pt>
              <c:pt idx="23">
                <c:v>0.6665460532063571</c:v>
              </c:pt>
              <c:pt idx="24">
                <c:v>0.6665460532063571</c:v>
              </c:pt>
              <c:pt idx="25">
                <c:v>0.6665460532063571</c:v>
              </c:pt>
              <c:pt idx="26">
                <c:v>0.6666937791011459</c:v>
              </c:pt>
              <c:pt idx="27">
                <c:v>0.6666937791011459</c:v>
              </c:pt>
              <c:pt idx="28">
                <c:v>0.6666937791011459</c:v>
              </c:pt>
              <c:pt idx="29">
                <c:v>0.6666937791011459</c:v>
              </c:pt>
              <c:pt idx="30">
                <c:v>0.6702109047392162</c:v>
              </c:pt>
              <c:pt idx="31">
                <c:v>0.6702109047392162</c:v>
              </c:pt>
              <c:pt idx="32">
                <c:v>0.6706962988160039</c:v>
              </c:pt>
              <c:pt idx="33">
                <c:v>0.6708926667965457</c:v>
              </c:pt>
              <c:pt idx="34">
                <c:v>0.6713765244330663</c:v>
              </c:pt>
              <c:pt idx="35">
                <c:v>0.6713765244330663</c:v>
              </c:pt>
              <c:pt idx="36">
                <c:v>0.672710178181269</c:v>
              </c:pt>
              <c:pt idx="37">
                <c:v>0.6728545657660677</c:v>
              </c:pt>
              <c:pt idx="38">
                <c:v>0.6728545657660677</c:v>
              </c:pt>
              <c:pt idx="39">
                <c:v>0.6730635172543722</c:v>
              </c:pt>
              <c:pt idx="40">
                <c:v>0.6730635172543722</c:v>
              </c:pt>
              <c:pt idx="41">
                <c:v>0.6730635172543722</c:v>
              </c:pt>
              <c:pt idx="42">
                <c:v>0.6735123340076277</c:v>
              </c:pt>
              <c:pt idx="43">
                <c:v>0.6735123340076277</c:v>
              </c:pt>
              <c:pt idx="44">
                <c:v>0.6735123340076277</c:v>
              </c:pt>
              <c:pt idx="45">
                <c:v>0.6735123340076277</c:v>
              </c:pt>
              <c:pt idx="46">
                <c:v>0.6735123340076277</c:v>
              </c:pt>
              <c:pt idx="47">
                <c:v>0.673945078369878</c:v>
              </c:pt>
              <c:pt idx="48">
                <c:v>0.673945078369878</c:v>
              </c:pt>
              <c:pt idx="49">
                <c:v>0.673945078369878</c:v>
              </c:pt>
              <c:pt idx="50">
                <c:v>0.673945078369878</c:v>
              </c:pt>
              <c:pt idx="51">
                <c:v>0.673945078369878</c:v>
              </c:pt>
              <c:pt idx="52">
                <c:v>0.673945078369878</c:v>
              </c:pt>
              <c:pt idx="53">
                <c:v>0.673945078369878</c:v>
              </c:pt>
              <c:pt idx="54">
                <c:v>0.673945078369878</c:v>
              </c:pt>
              <c:pt idx="55">
                <c:v>0.673945078369878</c:v>
              </c:pt>
              <c:pt idx="56">
                <c:v>0.673945078369878</c:v>
              </c:pt>
              <c:pt idx="57">
                <c:v>0.673945078369878</c:v>
              </c:pt>
              <c:pt idx="58">
                <c:v>0.673945078369878</c:v>
              </c:pt>
              <c:pt idx="59">
                <c:v>0.673945078369878</c:v>
              </c:pt>
              <c:pt idx="60">
                <c:v>0.673945078369878</c:v>
              </c:pt>
              <c:pt idx="61">
                <c:v>0.673945078369878</c:v>
              </c:pt>
              <c:pt idx="62">
                <c:v>0.673945078369878</c:v>
              </c:pt>
              <c:pt idx="63">
                <c:v>0.673945078369878</c:v>
              </c:pt>
              <c:pt idx="64">
                <c:v>0.673945078369878</c:v>
              </c:pt>
              <c:pt idx="65">
                <c:v>0.6847435939773344</c:v>
              </c:pt>
              <c:pt idx="66">
                <c:v>0.6847435939773344</c:v>
              </c:pt>
              <c:pt idx="67">
                <c:v>0.6847435939773344</c:v>
              </c:pt>
              <c:pt idx="68">
                <c:v>0.6847435939773344</c:v>
              </c:pt>
              <c:pt idx="69">
                <c:v>0.6850214709543535</c:v>
              </c:pt>
              <c:pt idx="70">
                <c:v>0.6850214709543535</c:v>
              </c:pt>
              <c:pt idx="71">
                <c:v>0.6851892377636332</c:v>
              </c:pt>
              <c:pt idx="72">
                <c:v>0.6851892377636332</c:v>
              </c:pt>
              <c:pt idx="73">
                <c:v>0.6876476784619798</c:v>
              </c:pt>
              <c:pt idx="74">
                <c:v>0.6876476784619798</c:v>
              </c:pt>
              <c:pt idx="75">
                <c:v>0.6877012772012977</c:v>
              </c:pt>
              <c:pt idx="76">
                <c:v>0.6877012772012977</c:v>
              </c:pt>
              <c:pt idx="77">
                <c:v>0.6877526731682702</c:v>
              </c:pt>
              <c:pt idx="78">
                <c:v>0.6887845216711669</c:v>
              </c:pt>
              <c:pt idx="79">
                <c:v>0.6887845216711669</c:v>
              </c:pt>
              <c:pt idx="80">
                <c:v>0.6892227410986104</c:v>
              </c:pt>
              <c:pt idx="81">
                <c:v>0.6892227410986104</c:v>
              </c:pt>
              <c:pt idx="82">
                <c:v>0.6892227410986104</c:v>
              </c:pt>
              <c:pt idx="83">
                <c:v>0.6895450971591706</c:v>
              </c:pt>
              <c:pt idx="84">
                <c:v>0.6895450971591706</c:v>
              </c:pt>
              <c:pt idx="85">
                <c:v>0.6931130437115263</c:v>
              </c:pt>
              <c:pt idx="86">
                <c:v>0.6931130437115263</c:v>
              </c:pt>
              <c:pt idx="87">
                <c:v>0.6931130437115263</c:v>
              </c:pt>
              <c:pt idx="88">
                <c:v>0.6931130437115263</c:v>
              </c:pt>
              <c:pt idx="89">
                <c:v>0.693321875076339</c:v>
              </c:pt>
              <c:pt idx="90">
                <c:v>0.693321875076339</c:v>
              </c:pt>
              <c:pt idx="91">
                <c:v>0.6933800031353035</c:v>
              </c:pt>
              <c:pt idx="92">
                <c:v>0.6933800031353035</c:v>
              </c:pt>
              <c:pt idx="93">
                <c:v>0.6933800031353035</c:v>
              </c:pt>
              <c:pt idx="94">
                <c:v>0.6941944329502012</c:v>
              </c:pt>
              <c:pt idx="95">
                <c:v>0.6941944329502012</c:v>
              </c:pt>
              <c:pt idx="96">
                <c:v>0.6941944329502012</c:v>
              </c:pt>
              <c:pt idx="97">
                <c:v>0.6941944329502012</c:v>
              </c:pt>
              <c:pt idx="98">
                <c:v>0.6941944329502012</c:v>
              </c:pt>
              <c:pt idx="99">
                <c:v>0.696487749519071</c:v>
              </c:pt>
              <c:pt idx="100">
                <c:v>0.696487749519071</c:v>
              </c:pt>
              <c:pt idx="101">
                <c:v>0.696487749519071</c:v>
              </c:pt>
              <c:pt idx="102">
                <c:v>0.696487749519071</c:v>
              </c:pt>
              <c:pt idx="103">
                <c:v>0.696487749519071</c:v>
              </c:pt>
              <c:pt idx="104">
                <c:v>0.696487749519071</c:v>
              </c:pt>
              <c:pt idx="105">
                <c:v>0.696487749519071</c:v>
              </c:pt>
              <c:pt idx="106">
                <c:v>0.696487749519071</c:v>
              </c:pt>
              <c:pt idx="107">
                <c:v>0.696487749519071</c:v>
              </c:pt>
              <c:pt idx="108">
                <c:v>0.696487749519071</c:v>
              </c:pt>
              <c:pt idx="109">
                <c:v>0.696487749519071</c:v>
              </c:pt>
              <c:pt idx="110">
                <c:v>0.696487749519071</c:v>
              </c:pt>
              <c:pt idx="111">
                <c:v>0.696487749519071</c:v>
              </c:pt>
              <c:pt idx="112">
                <c:v>0.696487749519071</c:v>
              </c:pt>
              <c:pt idx="113">
                <c:v>0.696487749519071</c:v>
              </c:pt>
              <c:pt idx="114">
                <c:v>0.696487749519071</c:v>
              </c:pt>
              <c:pt idx="115">
                <c:v>0.696487749519071</c:v>
              </c:pt>
              <c:pt idx="116">
                <c:v>0.696487749519071</c:v>
              </c:pt>
              <c:pt idx="117">
                <c:v>0.6997338040217325</c:v>
              </c:pt>
              <c:pt idx="118">
                <c:v>0.6997338040217325</c:v>
              </c:pt>
              <c:pt idx="119">
                <c:v>0.6997338040217325</c:v>
              </c:pt>
              <c:pt idx="120">
                <c:v>0.6997338040217325</c:v>
              </c:pt>
              <c:pt idx="121">
                <c:v>0.6997338040217325</c:v>
              </c:pt>
              <c:pt idx="122">
                <c:v>0.6997338040217325</c:v>
              </c:pt>
              <c:pt idx="123">
                <c:v>0.6997338040217325</c:v>
              </c:pt>
              <c:pt idx="124">
                <c:v>0.6997338040217325</c:v>
              </c:pt>
              <c:pt idx="125">
                <c:v>0.6997338040217325</c:v>
              </c:pt>
              <c:pt idx="126">
                <c:v>0.6997338040217325</c:v>
              </c:pt>
              <c:pt idx="127">
                <c:v>0.6997338040217325</c:v>
              </c:pt>
              <c:pt idx="128">
                <c:v>0.6997338040217325</c:v>
              </c:pt>
              <c:pt idx="129">
                <c:v>0.6997338040217325</c:v>
              </c:pt>
              <c:pt idx="130">
                <c:v>0.6997338040217325</c:v>
              </c:pt>
              <c:pt idx="131">
                <c:v>0.6997338040217325</c:v>
              </c:pt>
              <c:pt idx="132">
                <c:v>0.6997338040217325</c:v>
              </c:pt>
              <c:pt idx="133">
                <c:v>0.6997338040217325</c:v>
              </c:pt>
              <c:pt idx="134">
                <c:v>0.6997338040217325</c:v>
              </c:pt>
              <c:pt idx="135">
                <c:v>0.6997338040217325</c:v>
              </c:pt>
              <c:pt idx="136">
                <c:v>0.6997338040217325</c:v>
              </c:pt>
              <c:pt idx="137">
                <c:v>0.6997338040217325</c:v>
              </c:pt>
              <c:pt idx="138">
                <c:v>0.699799812065836</c:v>
              </c:pt>
              <c:pt idx="139">
                <c:v>0.699799812065836</c:v>
              </c:pt>
              <c:pt idx="140">
                <c:v>0.699799812065836</c:v>
              </c:pt>
              <c:pt idx="141">
                <c:v>0.699799812065836</c:v>
              </c:pt>
              <c:pt idx="142">
                <c:v>0.700090490405116</c:v>
              </c:pt>
              <c:pt idx="143">
                <c:v>0.700090490405116</c:v>
              </c:pt>
              <c:pt idx="144">
                <c:v>0.700090490405116</c:v>
              </c:pt>
              <c:pt idx="145">
                <c:v>0.700090490405116</c:v>
              </c:pt>
              <c:pt idx="146">
                <c:v>0.7004790980205855</c:v>
              </c:pt>
              <c:pt idx="147">
                <c:v>0.703272830074601</c:v>
              </c:pt>
              <c:pt idx="148">
                <c:v>0.703272830074601</c:v>
              </c:pt>
              <c:pt idx="149">
                <c:v>0.7040147864865145</c:v>
              </c:pt>
              <c:pt idx="150">
                <c:v>0.7040147864865145</c:v>
              </c:pt>
              <c:pt idx="151">
                <c:v>0.7040147864865145</c:v>
              </c:pt>
              <c:pt idx="152">
                <c:v>0.7040147864865145</c:v>
              </c:pt>
              <c:pt idx="153">
                <c:v>0.7040147864865145</c:v>
              </c:pt>
              <c:pt idx="154">
                <c:v>0.7040147864865145</c:v>
              </c:pt>
              <c:pt idx="155">
                <c:v>0.7040147864865145</c:v>
              </c:pt>
              <c:pt idx="156">
                <c:v>0.7040147864865145</c:v>
              </c:pt>
              <c:pt idx="157">
                <c:v>0.7040147864865145</c:v>
              </c:pt>
              <c:pt idx="158">
                <c:v>0.7040147864865145</c:v>
              </c:pt>
              <c:pt idx="159">
                <c:v>0.7040147864865145</c:v>
              </c:pt>
              <c:pt idx="160">
                <c:v>0.7040147864865145</c:v>
              </c:pt>
              <c:pt idx="161">
                <c:v>0.7040147864865145</c:v>
              </c:pt>
              <c:pt idx="162">
                <c:v>0.7040147864865145</c:v>
              </c:pt>
              <c:pt idx="163">
                <c:v>0.7040147864865145</c:v>
              </c:pt>
              <c:pt idx="164">
                <c:v>0.7040147864865145</c:v>
              </c:pt>
              <c:pt idx="165">
                <c:v>0.7040147864865145</c:v>
              </c:pt>
              <c:pt idx="166">
                <c:v>0.7040147864865145</c:v>
              </c:pt>
              <c:pt idx="167">
                <c:v>0.7040147864865145</c:v>
              </c:pt>
              <c:pt idx="168">
                <c:v>0.7040147864865145</c:v>
              </c:pt>
              <c:pt idx="169">
                <c:v>0.7040147864865145</c:v>
              </c:pt>
              <c:pt idx="170">
                <c:v>0.7040147864865145</c:v>
              </c:pt>
              <c:pt idx="171">
                <c:v>0.7040147864865145</c:v>
              </c:pt>
              <c:pt idx="172">
                <c:v>0.7040147864865145</c:v>
              </c:pt>
              <c:pt idx="173">
                <c:v>0.7040147864865145</c:v>
              </c:pt>
              <c:pt idx="174">
                <c:v>0.7040147864865145</c:v>
              </c:pt>
              <c:pt idx="175">
                <c:v>0.7040147864865145</c:v>
              </c:pt>
              <c:pt idx="176">
                <c:v>0.7040147864865145</c:v>
              </c:pt>
              <c:pt idx="177">
                <c:v>0.7040147864865145</c:v>
              </c:pt>
              <c:pt idx="178">
                <c:v>0.7040147864865145</c:v>
              </c:pt>
              <c:pt idx="179">
                <c:v>0.7040147864865145</c:v>
              </c:pt>
              <c:pt idx="180">
                <c:v>0.7040147864865145</c:v>
              </c:pt>
              <c:pt idx="181">
                <c:v>0.7040147864865145</c:v>
              </c:pt>
              <c:pt idx="182">
                <c:v>0.7040147864865145</c:v>
              </c:pt>
              <c:pt idx="183">
                <c:v>0.7040147864865145</c:v>
              </c:pt>
              <c:pt idx="184">
                <c:v>0.7040147864865145</c:v>
              </c:pt>
              <c:pt idx="185">
                <c:v>0.7040147864865145</c:v>
              </c:pt>
              <c:pt idx="186">
                <c:v>0.7040147864865145</c:v>
              </c:pt>
              <c:pt idx="187">
                <c:v>0.7040147864865145</c:v>
              </c:pt>
              <c:pt idx="188">
                <c:v>0.7130609182834611</c:v>
              </c:pt>
              <c:pt idx="189">
                <c:v>0.7130609182834611</c:v>
              </c:pt>
              <c:pt idx="190">
                <c:v>0.7130609182834611</c:v>
              </c:pt>
              <c:pt idx="191">
                <c:v>0.7242401687661952</c:v>
              </c:pt>
              <c:pt idx="192">
                <c:v>0.7242401687661952</c:v>
              </c:pt>
              <c:pt idx="193">
                <c:v>0.7249331661683525</c:v>
              </c:pt>
              <c:pt idx="194">
                <c:v>0.7251335202342472</c:v>
              </c:pt>
              <c:pt idx="195">
                <c:v>0.7251335202342472</c:v>
              </c:pt>
              <c:pt idx="196">
                <c:v>0.7253484409068796</c:v>
              </c:pt>
              <c:pt idx="197">
                <c:v>0.7253484409068796</c:v>
              </c:pt>
              <c:pt idx="198">
                <c:v>0.7253484409068796</c:v>
              </c:pt>
              <c:pt idx="199">
                <c:v>0.7253484409068796</c:v>
              </c:pt>
              <c:pt idx="200">
                <c:v>0.7254546989907134</c:v>
              </c:pt>
            </c:numLit>
          </c:yVal>
        </c:ser>
        <c:ser>
          <c:idx val="1"/>
          <c:order val="1"/>
          <c:tx>
            <c:v>Fitness medio</c:v>
          </c:tx>
          <c:spPr>
            <a:ln xmlns:a="http://schemas.openxmlformats.org/drawingml/2006/main" w="19050">
              <a:solidFill>
                <a:srgbClr val="93A7B3"/>
              </a:solidFill>
            </a:ln>
          </c:spPr>
          <c:marker>
            <c:symbol val="none"/>
          </c:marker>
          <c:xVal>
            <c:numLit>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Lit>
          </c:xVal>
          <c:yVal>
            <c:numLit>
              <c:formatCode>0.00</c:formatCode>
              <c:ptCount val="201"/>
              <c:pt idx="0">
                <c:v>0.4846688246072967</c:v>
              </c:pt>
              <c:pt idx="1">
                <c:v>0.5347149052023261</c:v>
              </c:pt>
              <c:pt idx="2">
                <c:v>0.561782991898728</c:v>
              </c:pt>
              <c:pt idx="3">
                <c:v>0.6049806209803766</c:v>
              </c:pt>
              <c:pt idx="4">
                <c:v>0.6257920298516213</c:v>
              </c:pt>
              <c:pt idx="5">
                <c:v>0.638384320781719</c:v>
              </c:pt>
              <c:pt idx="6">
                <c:v>0.6217859325586867</c:v>
              </c:pt>
              <c:pt idx="7">
                <c:v>0.6087580511669901</c:v>
              </c:pt>
              <c:pt idx="8">
                <c:v>0.6038533237674841</c:v>
              </c:pt>
              <c:pt idx="9">
                <c:v>0.5988108919391201</c:v>
              </c:pt>
              <c:pt idx="10">
                <c:v>0.6167807046526922</c:v>
              </c:pt>
              <c:pt idx="11">
                <c:v>0.6085300056199155</c:v>
              </c:pt>
              <c:pt idx="12">
                <c:v>0.6076871375825844</c:v>
              </c:pt>
              <c:pt idx="13">
                <c:v>0.6198911635540335</c:v>
              </c:pt>
              <c:pt idx="14">
                <c:v>0.6168764876881692</c:v>
              </c:pt>
              <c:pt idx="15">
                <c:v>0.6203346197978987</c:v>
              </c:pt>
              <c:pt idx="16">
                <c:v>0.62727278744482</c:v>
              </c:pt>
              <c:pt idx="17">
                <c:v>0.6131048466842711</c:v>
              </c:pt>
              <c:pt idx="18">
                <c:v>0.5999017116060931</c:v>
              </c:pt>
              <c:pt idx="19">
                <c:v>0.6231059206920676</c:v>
              </c:pt>
              <c:pt idx="20">
                <c:v>0.6254986371430269</c:v>
              </c:pt>
              <c:pt idx="21">
                <c:v>0.6195432855723045</c:v>
              </c:pt>
              <c:pt idx="22">
                <c:v>0.6057079564158051</c:v>
              </c:pt>
              <c:pt idx="23">
                <c:v>0.6359246437592537</c:v>
              </c:pt>
              <c:pt idx="24">
                <c:v>0.6195760728693442</c:v>
              </c:pt>
              <c:pt idx="25">
                <c:v>0.6266000966400551</c:v>
              </c:pt>
              <c:pt idx="26">
                <c:v>0.6265520801375146</c:v>
              </c:pt>
              <c:pt idx="27">
                <c:v>0.6366042329932354</c:v>
              </c:pt>
              <c:pt idx="28">
                <c:v>0.614490691174649</c:v>
              </c:pt>
              <c:pt idx="29">
                <c:v>0.6042990747996321</c:v>
              </c:pt>
              <c:pt idx="30">
                <c:v>0.6182141514793025</c:v>
              </c:pt>
              <c:pt idx="31">
                <c:v>0.6345851460990073</c:v>
              </c:pt>
              <c:pt idx="32">
                <c:v>0.6187101136081603</c:v>
              </c:pt>
              <c:pt idx="33">
                <c:v>0.6286744096702638</c:v>
              </c:pt>
              <c:pt idx="34">
                <c:v>0.6329615189279287</c:v>
              </c:pt>
              <c:pt idx="35">
                <c:v>0.6185964422457025</c:v>
              </c:pt>
              <c:pt idx="36">
                <c:v>0.6211762518304845</c:v>
              </c:pt>
              <c:pt idx="37">
                <c:v>0.589391111395845</c:v>
              </c:pt>
              <c:pt idx="38">
                <c:v>0.614043887385777</c:v>
              </c:pt>
              <c:pt idx="39">
                <c:v>0.6272094697811892</c:v>
              </c:pt>
              <c:pt idx="40">
                <c:v>0.6203987169618367</c:v>
              </c:pt>
              <c:pt idx="41">
                <c:v>0.6020264728634891</c:v>
              </c:pt>
              <c:pt idx="42">
                <c:v>0.6343380825337236</c:v>
              </c:pt>
              <c:pt idx="43">
                <c:v>0.6203853431972624</c:v>
              </c:pt>
              <c:pt idx="44">
                <c:v>0.6152251893463966</c:v>
              </c:pt>
              <c:pt idx="45">
                <c:v>0.6035714651178675</c:v>
              </c:pt>
              <c:pt idx="46">
                <c:v>0.6047693163793599</c:v>
              </c:pt>
              <c:pt idx="47">
                <c:v>0.610179742602091</c:v>
              </c:pt>
              <c:pt idx="48">
                <c:v>0.6178215867813609</c:v>
              </c:pt>
              <c:pt idx="49">
                <c:v>0.6101759333071175</c:v>
              </c:pt>
              <c:pt idx="50">
                <c:v>0.6169183753322636</c:v>
              </c:pt>
              <c:pt idx="51">
                <c:v>0.6103275628356275</c:v>
              </c:pt>
              <c:pt idx="52">
                <c:v>0.6060984368317475</c:v>
              </c:pt>
              <c:pt idx="53">
                <c:v>0.6232940427546005</c:v>
              </c:pt>
              <c:pt idx="54">
                <c:v>0.623366979305014</c:v>
              </c:pt>
              <c:pt idx="55">
                <c:v>0.5966609509222649</c:v>
              </c:pt>
              <c:pt idx="56">
                <c:v>0.5947452918696354</c:v>
              </c:pt>
              <c:pt idx="57">
                <c:v>0.5879052863289977</c:v>
              </c:pt>
              <c:pt idx="58">
                <c:v>0.6232312749400903</c:v>
              </c:pt>
              <c:pt idx="59">
                <c:v>0.6261647560184853</c:v>
              </c:pt>
              <c:pt idx="60">
                <c:v>0.5949611890497674</c:v>
              </c:pt>
              <c:pt idx="61">
                <c:v>0.5957992212989452</c:v>
              </c:pt>
              <c:pt idx="62">
                <c:v>0.6182751990014316</c:v>
              </c:pt>
              <c:pt idx="63">
                <c:v>0.6127106792471131</c:v>
              </c:pt>
              <c:pt idx="64">
                <c:v>0.6240095212346134</c:v>
              </c:pt>
              <c:pt idx="65">
                <c:v>0.6142403878501933</c:v>
              </c:pt>
              <c:pt idx="66">
                <c:v>0.5969870563588123</c:v>
              </c:pt>
              <c:pt idx="67">
                <c:v>0.6161493480127269</c:v>
              </c:pt>
              <c:pt idx="68">
                <c:v>0.6092858427694373</c:v>
              </c:pt>
              <c:pt idx="69">
                <c:v>0.6197382634084806</c:v>
              </c:pt>
              <c:pt idx="70">
                <c:v>0.6103952834465634</c:v>
              </c:pt>
              <c:pt idx="71">
                <c:v>0.6410953310411079</c:v>
              </c:pt>
              <c:pt idx="72">
                <c:v>0.6520980878563474</c:v>
              </c:pt>
              <c:pt idx="73">
                <c:v>0.6371037411222055</c:v>
              </c:pt>
              <c:pt idx="74">
                <c:v>0.6206103188597126</c:v>
              </c:pt>
              <c:pt idx="75">
                <c:v>0.6102702266639455</c:v>
              </c:pt>
              <c:pt idx="76">
                <c:v>0.5879285724470361</c:v>
              </c:pt>
              <c:pt idx="77">
                <c:v>0.638623691935501</c:v>
              </c:pt>
              <c:pt idx="78">
                <c:v>0.6400693433012756</c:v>
              </c:pt>
              <c:pt idx="79">
                <c:v>0.6360159887090843</c:v>
              </c:pt>
              <c:pt idx="80">
                <c:v>0.6073859941516637</c:v>
              </c:pt>
              <c:pt idx="81">
                <c:v>0.6423477084571075</c:v>
              </c:pt>
              <c:pt idx="82">
                <c:v>0.6385311306008873</c:v>
              </c:pt>
              <c:pt idx="83">
                <c:v>0.6277243303176763</c:v>
              </c:pt>
              <c:pt idx="84">
                <c:v>0.6350942006250923</c:v>
              </c:pt>
              <c:pt idx="85">
                <c:v>0.63856705143614</c:v>
              </c:pt>
              <c:pt idx="86">
                <c:v>0.633677974627257</c:v>
              </c:pt>
              <c:pt idx="87">
                <c:v>0.6614733475286251</c:v>
              </c:pt>
              <c:pt idx="88">
                <c:v>0.6347765406993282</c:v>
              </c:pt>
              <c:pt idx="89">
                <c:v>0.6285012165272584</c:v>
              </c:pt>
              <c:pt idx="90">
                <c:v>0.6218548422677328</c:v>
              </c:pt>
              <c:pt idx="91">
                <c:v>0.6286841915522203</c:v>
              </c:pt>
              <c:pt idx="92">
                <c:v>0.6291804775657578</c:v>
              </c:pt>
              <c:pt idx="93">
                <c:v>0.6455703061236854</c:v>
              </c:pt>
              <c:pt idx="94">
                <c:v>0.6467435528157672</c:v>
              </c:pt>
              <c:pt idx="95">
                <c:v>0.6194567008761179</c:v>
              </c:pt>
              <c:pt idx="96">
                <c:v>0.6283689124735422</c:v>
              </c:pt>
              <c:pt idx="97">
                <c:v>0.6335230409844963</c:v>
              </c:pt>
              <c:pt idx="98">
                <c:v>0.6234765834999475</c:v>
              </c:pt>
              <c:pt idx="99">
                <c:v>0.6172277871823689</c:v>
              </c:pt>
              <c:pt idx="100">
                <c:v>0.6163890222015417</c:v>
              </c:pt>
              <c:pt idx="101">
                <c:v>0.6182281182456282</c:v>
              </c:pt>
              <c:pt idx="102">
                <c:v>0.6099967372877569</c:v>
              </c:pt>
              <c:pt idx="103">
                <c:v>0.6356712098711075</c:v>
              </c:pt>
              <c:pt idx="104">
                <c:v>0.6097410950468471</c:v>
              </c:pt>
              <c:pt idx="105">
                <c:v>0.6258239531519899</c:v>
              </c:pt>
              <c:pt idx="106">
                <c:v>0.6374931624221589</c:v>
              </c:pt>
              <c:pt idx="107">
                <c:v>0.6120802138426218</c:v>
              </c:pt>
              <c:pt idx="108">
                <c:v>0.6166803284694188</c:v>
              </c:pt>
              <c:pt idx="109">
                <c:v>0.6389799428271153</c:v>
              </c:pt>
              <c:pt idx="110">
                <c:v>0.6107247563448095</c:v>
              </c:pt>
              <c:pt idx="111">
                <c:v>0.6194819198248109</c:v>
              </c:pt>
              <c:pt idx="112">
                <c:v>0.637430216345795</c:v>
              </c:pt>
              <c:pt idx="113">
                <c:v>0.6342068118407866</c:v>
              </c:pt>
              <c:pt idx="114">
                <c:v>0.6210435760824087</c:v>
              </c:pt>
              <c:pt idx="115">
                <c:v>0.6273872139479095</c:v>
              </c:pt>
              <c:pt idx="116">
                <c:v>0.6321214305871546</c:v>
              </c:pt>
              <c:pt idx="117">
                <c:v>0.6337081808713505</c:v>
              </c:pt>
              <c:pt idx="118">
                <c:v>0.6394328997885662</c:v>
              </c:pt>
              <c:pt idx="119">
                <c:v>0.6372256636994035</c:v>
              </c:pt>
              <c:pt idx="120">
                <c:v>0.614806023150712</c:v>
              </c:pt>
              <c:pt idx="121">
                <c:v>0.6358995453448949</c:v>
              </c:pt>
              <c:pt idx="122">
                <c:v>0.6351063406885412</c:v>
              </c:pt>
              <c:pt idx="123">
                <c:v>0.6325901818549743</c:v>
              </c:pt>
              <c:pt idx="124">
                <c:v>0.6248609275751191</c:v>
              </c:pt>
              <c:pt idx="125">
                <c:v>0.6403468642982456</c:v>
              </c:pt>
              <c:pt idx="126">
                <c:v>0.6196986871257478</c:v>
              </c:pt>
              <c:pt idx="127">
                <c:v>0.6420961516925179</c:v>
              </c:pt>
              <c:pt idx="128">
                <c:v>0.6244991245835562</c:v>
              </c:pt>
              <c:pt idx="129">
                <c:v>0.6403358261918995</c:v>
              </c:pt>
              <c:pt idx="130">
                <c:v>0.6362844425251396</c:v>
              </c:pt>
              <c:pt idx="131">
                <c:v>0.6291407556779288</c:v>
              </c:pt>
              <c:pt idx="132">
                <c:v>0.6230184887276252</c:v>
              </c:pt>
              <c:pt idx="133">
                <c:v>0.6487465651336848</c:v>
              </c:pt>
              <c:pt idx="134">
                <c:v>0.6484837595720541</c:v>
              </c:pt>
              <c:pt idx="135">
                <c:v>0.6268816720808802</c:v>
              </c:pt>
              <c:pt idx="136">
                <c:v>0.6153222390732872</c:v>
              </c:pt>
              <c:pt idx="137">
                <c:v>0.6174671469840808</c:v>
              </c:pt>
              <c:pt idx="138">
                <c:v>0.6446865096785827</c:v>
              </c:pt>
              <c:pt idx="139">
                <c:v>0.6152194812139327</c:v>
              </c:pt>
              <c:pt idx="140">
                <c:v>0.620964190300317</c:v>
              </c:pt>
              <c:pt idx="141">
                <c:v>0.618522691600158</c:v>
              </c:pt>
              <c:pt idx="142">
                <c:v>0.6277496713309393</c:v>
              </c:pt>
              <c:pt idx="143">
                <c:v>0.6256793121784551</c:v>
              </c:pt>
              <c:pt idx="144">
                <c:v>0.6136712327992584</c:v>
              </c:pt>
              <c:pt idx="145">
                <c:v>0.6337244962536318</c:v>
              </c:pt>
              <c:pt idx="146">
                <c:v>0.60902777927946</c:v>
              </c:pt>
              <c:pt idx="147">
                <c:v>0.6078017604935146</c:v>
              </c:pt>
              <c:pt idx="148">
                <c:v>0.6139974537456326</c:v>
              </c:pt>
              <c:pt idx="149">
                <c:v>0.6308089956339775</c:v>
              </c:pt>
              <c:pt idx="150">
                <c:v>0.6186827971073467</c:v>
              </c:pt>
              <c:pt idx="151">
                <c:v>0.6203051189332086</c:v>
              </c:pt>
              <c:pt idx="152">
                <c:v>0.6102243716014717</c:v>
              </c:pt>
              <c:pt idx="153">
                <c:v>0.624237388587825</c:v>
              </c:pt>
              <c:pt idx="154">
                <c:v>0.6105477404083552</c:v>
              </c:pt>
              <c:pt idx="155">
                <c:v>0.6359621957791878</c:v>
              </c:pt>
              <c:pt idx="156">
                <c:v>0.6433943244196434</c:v>
              </c:pt>
              <c:pt idx="157">
                <c:v>0.6217793967974018</c:v>
              </c:pt>
              <c:pt idx="158">
                <c:v>0.6246951407685944</c:v>
              </c:pt>
              <c:pt idx="159">
                <c:v>0.6243640275364208</c:v>
              </c:pt>
              <c:pt idx="160">
                <c:v>0.6348709946016308</c:v>
              </c:pt>
              <c:pt idx="161">
                <c:v>0.6341585504628383</c:v>
              </c:pt>
              <c:pt idx="162">
                <c:v>0.6604940980016367</c:v>
              </c:pt>
              <c:pt idx="163">
                <c:v>0.602387657163098</c:v>
              </c:pt>
              <c:pt idx="164">
                <c:v>0.6350306395485645</c:v>
              </c:pt>
              <c:pt idx="165">
                <c:v>0.6404100693908988</c:v>
              </c:pt>
              <c:pt idx="166">
                <c:v>0.6372118521743002</c:v>
              </c:pt>
              <c:pt idx="167">
                <c:v>0.6450389348012547</c:v>
              </c:pt>
              <c:pt idx="168">
                <c:v>0.6133863729558295</c:v>
              </c:pt>
              <c:pt idx="169">
                <c:v>0.6539913749802366</c:v>
              </c:pt>
              <c:pt idx="170">
                <c:v>0.6379984939476054</c:v>
              </c:pt>
              <c:pt idx="171">
                <c:v>0.643210408399382</c:v>
              </c:pt>
              <c:pt idx="172">
                <c:v>0.6268138599509612</c:v>
              </c:pt>
              <c:pt idx="173">
                <c:v>0.6475228057609835</c:v>
              </c:pt>
              <c:pt idx="174">
                <c:v>0.6641503978419047</c:v>
              </c:pt>
              <c:pt idx="175">
                <c:v>0.6458129883028738</c:v>
              </c:pt>
              <c:pt idx="176">
                <c:v>0.6323068603493285</c:v>
              </c:pt>
              <c:pt idx="177">
                <c:v>0.6209538612851444</c:v>
              </c:pt>
              <c:pt idx="178">
                <c:v>0.6302447428016539</c:v>
              </c:pt>
              <c:pt idx="179">
                <c:v>0.6330636344581138</c:v>
              </c:pt>
              <c:pt idx="180">
                <c:v>0.6109292212144048</c:v>
              </c:pt>
              <c:pt idx="181">
                <c:v>0.6158935051629739</c:v>
              </c:pt>
              <c:pt idx="182">
                <c:v>0.6035244401556371</c:v>
              </c:pt>
              <c:pt idx="183">
                <c:v>0.62333890651346</c:v>
              </c:pt>
              <c:pt idx="184">
                <c:v>0.6259511223326899</c:v>
              </c:pt>
              <c:pt idx="185">
                <c:v>0.6441327882300559</c:v>
              </c:pt>
              <c:pt idx="186">
                <c:v>0.6169936035456626</c:v>
              </c:pt>
              <c:pt idx="187">
                <c:v>0.6395953463063738</c:v>
              </c:pt>
              <c:pt idx="188">
                <c:v>0.6257588926012846</c:v>
              </c:pt>
              <c:pt idx="189">
                <c:v>0.6205817768767881</c:v>
              </c:pt>
              <c:pt idx="190">
                <c:v>0.6391959517059882</c:v>
              </c:pt>
              <c:pt idx="191">
                <c:v>0.6589140625253265</c:v>
              </c:pt>
              <c:pt idx="192">
                <c:v>0.6352784483674132</c:v>
              </c:pt>
              <c:pt idx="193">
                <c:v>0.6662897669615484</c:v>
              </c:pt>
              <c:pt idx="194">
                <c:v>0.6438199732685697</c:v>
              </c:pt>
              <c:pt idx="195">
                <c:v>0.6700195848658125</c:v>
              </c:pt>
              <c:pt idx="196">
                <c:v>0.6476646287420422</c:v>
              </c:pt>
              <c:pt idx="197">
                <c:v>0.6620056698255732</c:v>
              </c:pt>
              <c:pt idx="198">
                <c:v>0.6577827784156856</c:v>
              </c:pt>
              <c:pt idx="199">
                <c:v>0.6733180239874964</c:v>
              </c:pt>
              <c:pt idx="200">
                <c:v>0.6652591805832857</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4"/>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Fitness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majorUnit val="0.1"/>
      </c:valAx>
      <c:valAx>
        <c:axId val="48650112"/>
        <c:scaling>
          <c:orientation val="minMax"/>
          <c:max val="2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Generación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varyColors val="0"/>
        <c:ser>
          <c:idx val="0"/>
          <c:order val="0"/>
          <c:tx>
            <c:v>Santa Fe</c:v>
          </c:tx>
          <c:spPr>
            <a:ln xmlns:a="http://schemas.openxmlformats.org/drawingml/2006/main" w="19050">
              <a:solidFill>
                <a:srgbClr val="9BB2BA"/>
              </a:solidFill>
            </a:ln>
          </c:spPr>
          <c:marker>
            <c:symbol val="none"/>
          </c:marker>
          <c:xVal>
            <c:numLit>
              <c:formatCode>General</c:formatCode>
              <c:ptCount val="117"/>
              <c:pt idx="0">
                <c:v>-60.272714108999935</c:v>
              </c:pt>
              <c:pt idx="1">
                <c:v>-60.33542979799995</c:v>
              </c:pt>
              <c:pt idx="2">
                <c:v>-60.41009728399996</c:v>
              </c:pt>
              <c:pt idx="3">
                <c:v>-60.41430298199998</c:v>
              </c:pt>
              <c:pt idx="4">
                <c:v>-60.45659790099995</c:v>
              </c:pt>
              <c:pt idx="5">
                <c:v>-60.45957222699997</c:v>
              </c:pt>
              <c:pt idx="6">
                <c:v>-60.556924169999945</c:v>
              </c:pt>
              <c:pt idx="7">
                <c:v>-60.68458224999995</c:v>
              </c:pt>
              <c:pt idx="8">
                <c:v>-60.781810733999976</c:v>
              </c:pt>
              <c:pt idx="9">
                <c:v>-60.81863289299997</c:v>
              </c:pt>
              <c:pt idx="10">
                <c:v>-60.87993599499998</c:v>
              </c:pt>
              <c:pt idx="11">
                <c:v>-60.917888396999956</c:v>
              </c:pt>
              <c:pt idx="12">
                <c:v>-60.93073748699999</c:v>
              </c:pt>
              <c:pt idx="13">
                <c:v>-61.717601436999985</c:v>
              </c:pt>
              <c:pt idx="14">
                <c:v>-62.87973016999996</c:v>
              </c:pt>
              <c:pt idx="15">
                <c:v>-61.92032357599999</c:v>
              </c:pt>
              <c:pt idx="16">
                <c:v>-61.787668387999986</c:v>
              </c:pt>
              <c:pt idx="17">
                <c:v>-61.770893426999976</c:v>
              </c:pt>
              <c:pt idx="18">
                <c:v>-61.79201090399994</c:v>
              </c:pt>
              <c:pt idx="19">
                <c:v>-61.77797208399994</c:v>
              </c:pt>
              <c:pt idx="20">
                <c:v>-61.795699068999966</c:v>
              </c:pt>
              <c:pt idx="21">
                <c:v>-61.85762454099995</c:v>
              </c:pt>
              <c:pt idx="22">
                <c:v>-61.94643792299996</c:v>
              </c:pt>
              <c:pt idx="23">
                <c:v>-61.94608100399995</c:v>
              </c:pt>
              <c:pt idx="24">
                <c:v>-61.88903342699996</c:v>
              </c:pt>
              <c:pt idx="25">
                <c:v>-61.891591346999974</c:v>
              </c:pt>
              <c:pt idx="26">
                <c:v>-61.92650993799998</c:v>
              </c:pt>
              <c:pt idx="27">
                <c:v>-61.90247738099998</c:v>
              </c:pt>
              <c:pt idx="28">
                <c:v>-61.93067399399996</c:v>
              </c:pt>
              <c:pt idx="29">
                <c:v>-61.914315199999976</c:v>
              </c:pt>
              <c:pt idx="30">
                <c:v>-62.01133772199995</c:v>
              </c:pt>
              <c:pt idx="31">
                <c:v>-62.03876100999997</c:v>
              </c:pt>
              <c:pt idx="32">
                <c:v>-62.13768710199997</c:v>
              </c:pt>
              <c:pt idx="33">
                <c:v>-62.196757220999984</c:v>
              </c:pt>
              <c:pt idx="34">
                <c:v>-62.167608823999956</c:v>
              </c:pt>
              <c:pt idx="35">
                <c:v>-62.22334769799994</c:v>
              </c:pt>
              <c:pt idx="36">
                <c:v>-62.217874937999966</c:v>
              </c:pt>
              <c:pt idx="37">
                <c:v>-62.241074682999965</c:v>
              </c:pt>
              <c:pt idx="38">
                <c:v>-62.12579002999996</c:v>
              </c:pt>
              <c:pt idx="39">
                <c:v>-61.84147593399996</c:v>
              </c:pt>
              <c:pt idx="40">
                <c:v>-62.13060252599996</c:v>
              </c:pt>
              <c:pt idx="41">
                <c:v>-61.71125637399996</c:v>
              </c:pt>
              <c:pt idx="42">
                <c:v>-58.88392236899995</c:v>
              </c:pt>
              <c:pt idx="43">
                <c:v>-58.88082187799995</c:v>
              </c:pt>
              <c:pt idx="44">
                <c:v>-58.94511298599997</c:v>
              </c:pt>
              <c:pt idx="45">
                <c:v>-59.06241250099998</c:v>
              </c:pt>
              <c:pt idx="46">
                <c:v>-59.10786811599996</c:v>
              </c:pt>
              <c:pt idx="47">
                <c:v>-59.103458202999946</c:v>
              </c:pt>
              <c:pt idx="48">
                <c:v>-59.07621337499995</c:v>
              </c:pt>
              <c:pt idx="49">
                <c:v>-59.08597707499996</c:v>
              </c:pt>
              <c:pt idx="50">
                <c:v>-59.04885748399994</c:v>
              </c:pt>
              <c:pt idx="51">
                <c:v>-59.100007983999944</c:v>
              </c:pt>
              <c:pt idx="52">
                <c:v>-59.105012762999934</c:v>
              </c:pt>
              <c:pt idx="53">
                <c:v>-59.07860074599995</c:v>
              </c:pt>
              <c:pt idx="54">
                <c:v>-59.16045420299997</c:v>
              </c:pt>
              <c:pt idx="55">
                <c:v>-59.15807474199994</c:v>
              </c:pt>
              <c:pt idx="56">
                <c:v>-59.210898775999965</c:v>
              </c:pt>
              <c:pt idx="57">
                <c:v>-59.19971530899994</c:v>
              </c:pt>
              <c:pt idx="58">
                <c:v>-59.257536210999945</c:v>
              </c:pt>
              <c:pt idx="59">
                <c:v>-59.34676599699998</c:v>
              </c:pt>
              <c:pt idx="60">
                <c:v>-59.40781438999994</c:v>
              </c:pt>
              <c:pt idx="61">
                <c:v>-59.50063342499993</c:v>
              </c:pt>
              <c:pt idx="62">
                <c:v>-59.51978798499994</c:v>
              </c:pt>
              <c:pt idx="63">
                <c:v>-59.60428319099998</c:v>
              </c:pt>
              <c:pt idx="64">
                <c:v>-59.57995317099994</c:v>
              </c:pt>
              <c:pt idx="65">
                <c:v>-59.59018485299998</c:v>
              </c:pt>
              <c:pt idx="66">
                <c:v>-59.61754865399996</c:v>
              </c:pt>
              <c:pt idx="67">
                <c:v>-59.65966511299996</c:v>
              </c:pt>
              <c:pt idx="68">
                <c:v>-59.604699564999976</c:v>
              </c:pt>
              <c:pt idx="69">
                <c:v>-59.566390242999944</c:v>
              </c:pt>
              <c:pt idx="70">
                <c:v>-59.61612097799997</c:v>
              </c:pt>
              <c:pt idx="71">
                <c:v>-59.636584341999935</c:v>
              </c:pt>
              <c:pt idx="72">
                <c:v>-59.71201325399994</c:v>
              </c:pt>
              <c:pt idx="73">
                <c:v>-59.66680349599994</c:v>
              </c:pt>
              <c:pt idx="74">
                <c:v>-59.703439283999955</c:v>
              </c:pt>
              <c:pt idx="75">
                <c:v>-59.650329589999956</c:v>
              </c:pt>
              <c:pt idx="76">
                <c:v>-59.64585632899997</c:v>
              </c:pt>
              <c:pt idx="77">
                <c:v>-59.678405761999954</c:v>
              </c:pt>
              <c:pt idx="78">
                <c:v>-59.633300780999946</c:v>
              </c:pt>
              <c:pt idx="79">
                <c:v>-59.69939420099996</c:v>
              </c:pt>
              <c:pt idx="80">
                <c:v>-59.734848168999974</c:v>
              </c:pt>
              <c:pt idx="81">
                <c:v>-59.81817626999998</c:v>
              </c:pt>
              <c:pt idx="82">
                <c:v>-59.87792968799994</c:v>
              </c:pt>
              <c:pt idx="83">
                <c:v>-59.963378905999946</c:v>
              </c:pt>
              <c:pt idx="84">
                <c:v>-60.00268554699994</c:v>
              </c:pt>
              <c:pt idx="85">
                <c:v>-60.105590819999975</c:v>
              </c:pt>
              <c:pt idx="86">
                <c:v>-60.086791991999974</c:v>
              </c:pt>
              <c:pt idx="87">
                <c:v>-60.14349365199996</c:v>
              </c:pt>
              <c:pt idx="88">
                <c:v>-60.21235440799995</c:v>
              </c:pt>
              <c:pt idx="89">
                <c:v>-60.24400123899994</c:v>
              </c:pt>
              <c:pt idx="90">
                <c:v>-60.332806708999954</c:v>
              </c:pt>
              <c:pt idx="91">
                <c:v>-60.33066519399995</c:v>
              </c:pt>
              <c:pt idx="92">
                <c:v>-60.467590331999986</c:v>
              </c:pt>
              <c:pt idx="93">
                <c:v>-60.584077785999966</c:v>
              </c:pt>
              <c:pt idx="94">
                <c:v>-60.638793944999975</c:v>
              </c:pt>
              <c:pt idx="95">
                <c:v>-60.63856744199995</c:v>
              </c:pt>
              <c:pt idx="96">
                <c:v>-60.67578124999994</c:v>
              </c:pt>
              <c:pt idx="97">
                <c:v>-60.65722656299994</c:v>
              </c:pt>
              <c:pt idx="98">
                <c:v>-60.72184857599996</c:v>
              </c:pt>
              <c:pt idx="99">
                <c:v>-60.65600585899995</c:v>
              </c:pt>
              <c:pt idx="100">
                <c:v>-60.700381850999975</c:v>
              </c:pt>
              <c:pt idx="101">
                <c:v>-60.67260742199994</c:v>
              </c:pt>
              <c:pt idx="102">
                <c:v>-60.679018277999944</c:v>
              </c:pt>
              <c:pt idx="103">
                <c:v>-60.718993222999984</c:v>
              </c:pt>
              <c:pt idx="104">
                <c:v>-60.72381591799996</c:v>
              </c:pt>
              <c:pt idx="105">
                <c:v>-60.776184081999986</c:v>
              </c:pt>
              <c:pt idx="106">
                <c:v>-60.74737548799993</c:v>
              </c:pt>
              <c:pt idx="107">
                <c:v>-60.71600341799996</c:v>
              </c:pt>
              <c:pt idx="108">
                <c:v>-60.658874511999954</c:v>
              </c:pt>
              <c:pt idx="109">
                <c:v>-60.67620849599996</c:v>
              </c:pt>
              <c:pt idx="110">
                <c:v>-60.493408202999944</c:v>
              </c:pt>
              <c:pt idx="111">
                <c:v>-60.39205528699995</c:v>
              </c:pt>
              <c:pt idx="112">
                <c:v>-60.30306344699994</c:v>
              </c:pt>
              <c:pt idx="113">
                <c:v>-60.284503650999966</c:v>
              </c:pt>
              <c:pt idx="114">
                <c:v>-60.29782863199995</c:v>
              </c:pt>
              <c:pt idx="115">
                <c:v>-60.25239243999994</c:v>
              </c:pt>
              <c:pt idx="116">
                <c:v>-60.272714108999935</c:v>
              </c:pt>
            </c:numLit>
          </c:xVal>
          <c:yVal>
            <c:numLit>
              <c:formatCode>General</c:formatCode>
              <c:ptCount val="117"/>
              <c:pt idx="0">
                <c:v>-33.26386310199996</c:v>
              </c:pt>
              <c:pt idx="1">
                <c:v>-33.41232811899994</c:v>
              </c:pt>
              <c:pt idx="2">
                <c:v>-33.46795991699997</c:v>
              </c:pt>
              <c:pt idx="3">
                <c:v>-33.545744497999976</c:v>
              </c:pt>
              <c:pt idx="4">
                <c:v>-33.58197179199993</c:v>
              </c:pt>
              <c:pt idx="5">
                <c:v>-33.63146457999994</c:v>
              </c:pt>
              <c:pt idx="6">
                <c:v>-33.64684410199993</c:v>
              </c:pt>
              <c:pt idx="7">
                <c:v>-33.585156575999974</c:v>
              </c:pt>
              <c:pt idx="8">
                <c:v>-33.57875951899996</c:v>
              </c:pt>
              <c:pt idx="9">
                <c:v>-33.540450196999984</c:v>
              </c:pt>
              <c:pt idx="10">
                <c:v>-33.55553228699995</c:v>
              </c:pt>
              <c:pt idx="11">
                <c:v>-33.589677551999955</c:v>
              </c:pt>
              <c:pt idx="12">
                <c:v>-33.65201942899995</c:v>
              </c:pt>
              <c:pt idx="13">
                <c:v>-34.38360696199993</c:v>
              </c:pt>
              <c:pt idx="14">
                <c:v>-34.383487988999946</c:v>
              </c:pt>
              <c:pt idx="15">
                <c:v>-33.12015834999994</c:v>
              </c:pt>
              <c:pt idx="16">
                <c:v>-33.006201714999975</c:v>
              </c:pt>
              <c:pt idx="17">
                <c:v>-32.90166434699995</c:v>
              </c:pt>
              <c:pt idx="18">
                <c:v>-32.87699698199998</c:v>
              </c:pt>
              <c:pt idx="19">
                <c:v>-32.830121599999984</c:v>
              </c:pt>
              <c:pt idx="20">
                <c:v>-32.77396632099993</c:v>
              </c:pt>
              <c:pt idx="21">
                <c:v>-32.69461129599995</c:v>
              </c:pt>
              <c:pt idx="22">
                <c:v>-32.67843096099995</c:v>
              </c:pt>
              <c:pt idx="23">
                <c:v>-32.65047229399994</c:v>
              </c:pt>
              <c:pt idx="24">
                <c:v>-32.61043786299996</c:v>
              </c:pt>
              <c:pt idx="25">
                <c:v>-32.59009347099993</c:v>
              </c:pt>
              <c:pt idx="26">
                <c:v>-32.584263791999945</c:v>
              </c:pt>
              <c:pt idx="27">
                <c:v>-32.56861883599993</c:v>
              </c:pt>
              <c:pt idx="28">
                <c:v>-32.544050900999935</c:v>
              </c:pt>
              <c:pt idx="29">
                <c:v>-32.494558111999936</c:v>
              </c:pt>
              <c:pt idx="30">
                <c:v>-32.34643666399995</c:v>
              </c:pt>
              <c:pt idx="31">
                <c:v>-32.26095452799996</c:v>
              </c:pt>
              <c:pt idx="32">
                <c:v>-32.20021878499995</c:v>
              </c:pt>
              <c:pt idx="33">
                <c:v>-32.11432024299995</c:v>
              </c:pt>
              <c:pt idx="34">
                <c:v>-31.986186267999983</c:v>
              </c:pt>
              <c:pt idx="35">
                <c:v>-31.88345303899996</c:v>
              </c:pt>
              <c:pt idx="36">
                <c:v>-31.740685378999956</c:v>
              </c:pt>
              <c:pt idx="37">
                <c:v>-31.70017505499993</c:v>
              </c:pt>
              <c:pt idx="38">
                <c:v>-31.615565697999955</c:v>
              </c:pt>
              <c:pt idx="39">
                <c:v>-30.744956007999974</c:v>
              </c:pt>
              <c:pt idx="40">
                <c:v>-30.47992768699993</c:v>
              </c:pt>
              <c:pt idx="41">
                <c:v>-27.999420649999934</c:v>
              </c:pt>
              <c:pt idx="42">
                <c:v>-27.99944444399995</c:v>
              </c:pt>
              <c:pt idx="43">
                <c:v>-28.066824880999945</c:v>
              </c:pt>
              <c:pt idx="44">
                <c:v>-28.133774296999945</c:v>
              </c:pt>
              <c:pt idx="45">
                <c:v>-28.12810873999996</c:v>
              </c:pt>
              <c:pt idx="46">
                <c:v>-28.22276613599996</c:v>
              </c:pt>
              <c:pt idx="47">
                <c:v>-28.328816271999983</c:v>
              </c:pt>
              <c:pt idx="48">
                <c:v>-28.365340996999976</c:v>
              </c:pt>
              <c:pt idx="49">
                <c:v>-28.435965838999948</c:v>
              </c:pt>
              <c:pt idx="50">
                <c:v>-28.493310847999965</c:v>
              </c:pt>
              <c:pt idx="51">
                <c:v>-28.576399184999957</c:v>
              </c:pt>
              <c:pt idx="52">
                <c:v>-28.633936990999928</c:v>
              </c:pt>
              <c:pt idx="53">
                <c:v>-28.667487389999962</c:v>
              </c:pt>
              <c:pt idx="54">
                <c:v>-28.794788551999943</c:v>
              </c:pt>
              <c:pt idx="55">
                <c:v>-28.877355846999933</c:v>
              </c:pt>
              <c:pt idx="56">
                <c:v>-28.977531152999973</c:v>
              </c:pt>
              <c:pt idx="57">
                <c:v>-29.031544916999962</c:v>
              </c:pt>
              <c:pt idx="58">
                <c:v>-29.089603764999936</c:v>
              </c:pt>
              <c:pt idx="59">
                <c:v>-29.11435015899997</c:v>
              </c:pt>
              <c:pt idx="60">
                <c:v>-29.22137577899997</c:v>
              </c:pt>
              <c:pt idx="61">
                <c:v>-29.243517511999983</c:v>
              </c:pt>
              <c:pt idx="62">
                <c:v>-29.343189025999948</c:v>
              </c:pt>
              <c:pt idx="63">
                <c:v>-29.39474316299993</c:v>
              </c:pt>
              <c:pt idx="64">
                <c:v>-29.459847889999935</c:v>
              </c:pt>
              <c:pt idx="65">
                <c:v>-29.56977898699995</c:v>
              </c:pt>
              <c:pt idx="66">
                <c:v>-29.775840305999964</c:v>
              </c:pt>
              <c:pt idx="67">
                <c:v>-29.843179050999936</c:v>
              </c:pt>
              <c:pt idx="68">
                <c:v>-29.902665574999958</c:v>
              </c:pt>
              <c:pt idx="69">
                <c:v>-30.008075695999935</c:v>
              </c:pt>
              <c:pt idx="70">
                <c:v>-30.113009923999982</c:v>
              </c:pt>
              <c:pt idx="71">
                <c:v>-30.237455732999933</c:v>
              </c:pt>
              <c:pt idx="72">
                <c:v>-30.276240945999973</c:v>
              </c:pt>
              <c:pt idx="73">
                <c:v>-30.327161410999963</c:v>
              </c:pt>
              <c:pt idx="74">
                <c:v>-30.44261041699997</c:v>
              </c:pt>
              <c:pt idx="75">
                <c:v>-30.500976562999938</c:v>
              </c:pt>
              <c:pt idx="76">
                <c:v>-30.59703743299997</c:v>
              </c:pt>
              <c:pt idx="77">
                <c:v>-30.64691162099996</c:v>
              </c:pt>
              <c:pt idx="78">
                <c:v>-30.713928222999982</c:v>
              </c:pt>
              <c:pt idx="79">
                <c:v>-30.76907246099995</c:v>
              </c:pt>
              <c:pt idx="80">
                <c:v>-30.876624095999944</c:v>
              </c:pt>
              <c:pt idx="81">
                <c:v>-30.94250488299997</c:v>
              </c:pt>
              <c:pt idx="82">
                <c:v>-31.056213378999928</c:v>
              </c:pt>
              <c:pt idx="83">
                <c:v>-31.119873046999942</c:v>
              </c:pt>
              <c:pt idx="84">
                <c:v>-31.238586425999983</c:v>
              </c:pt>
              <c:pt idx="85">
                <c:v>-31.289916991999974</c:v>
              </c:pt>
              <c:pt idx="86">
                <c:v>-31.346984862999932</c:v>
              </c:pt>
              <c:pt idx="87">
                <c:v>-31.44360351599994</c:v>
              </c:pt>
              <c:pt idx="88">
                <c:v>-31.467815508999934</c:v>
              </c:pt>
              <c:pt idx="89">
                <c:v>-31.530395331999955</c:v>
              </c:pt>
              <c:pt idx="90">
                <c:v>-31.547156194999957</c:v>
              </c:pt>
              <c:pt idx="91">
                <c:v>-31.608546287999957</c:v>
              </c:pt>
              <c:pt idx="92">
                <c:v>-31.698303222999982</c:v>
              </c:pt>
              <c:pt idx="93">
                <c:v>-31.70848364799997</c:v>
              </c:pt>
              <c:pt idx="94">
                <c:v>-31.74200439499998</c:v>
              </c:pt>
              <c:pt idx="95">
                <c:v>-31.787481751999962</c:v>
              </c:pt>
              <c:pt idx="96">
                <c:v>-31.811706542999957</c:v>
              </c:pt>
              <c:pt idx="97">
                <c:v>-31.911315917999957</c:v>
              </c:pt>
              <c:pt idx="98">
                <c:v>-31.96617926999994</c:v>
              </c:pt>
              <c:pt idx="99">
                <c:v>-32.067077636999954</c:v>
              </c:pt>
              <c:pt idx="100">
                <c:v>-32.14976902099994</c:v>
              </c:pt>
              <c:pt idx="101">
                <c:v>-32.23260497999996</c:v>
              </c:pt>
              <c:pt idx="102">
                <c:v>-32.31952922299996</c:v>
              </c:pt>
              <c:pt idx="103">
                <c:v>-32.334043934999954</c:v>
              </c:pt>
              <c:pt idx="104">
                <c:v>-32.45611572299998</c:v>
              </c:pt>
              <c:pt idx="105">
                <c:v>-32.50701904299996</c:v>
              </c:pt>
              <c:pt idx="106">
                <c:v>-32.55432128899997</c:v>
              </c:pt>
              <c:pt idx="107">
                <c:v>-32.77362060499996</c:v>
              </c:pt>
              <c:pt idx="108">
                <c:v>-32.83117675799997</c:v>
              </c:pt>
              <c:pt idx="109">
                <c:v>-32.89959716799996</c:v>
              </c:pt>
              <c:pt idx="110">
                <c:v>-33.13140869099993</c:v>
              </c:pt>
              <c:pt idx="111">
                <c:v>-33.18898425799995</c:v>
              </c:pt>
              <c:pt idx="112">
                <c:v>-33.18351149799997</c:v>
              </c:pt>
              <c:pt idx="113">
                <c:v>-33.207068161999985</c:v>
              </c:pt>
              <c:pt idx="114">
                <c:v>-33.24228418399997</c:v>
              </c:pt>
              <c:pt idx="115">
                <c:v>-33.27541507099994</c:v>
              </c:pt>
              <c:pt idx="116">
                <c:v>-33.26386310199996</c:v>
              </c:pt>
            </c:numLit>
          </c:yVal>
        </c:ser>
        <c:ser>
          <c:idx val="1"/>
          <c:order val="1"/>
          <c:tx>
            <c:v>#1</c:v>
          </c:tx>
          <c:spPr>
            <a:ln xmlns:a="http://schemas.openxmlformats.org/drawingml/2006/main" w="0">
              <a:noFill/>
            </a:ln>
          </c:spPr>
          <c:marker>
            <c:symbol val="circle"/>
            <c:size val="10"/>
            <c:spPr>
              <a:solidFill xmlns:a="http://schemas.openxmlformats.org/drawingml/2006/main">
                <a:srgbClr val="C7902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1"/>
            <c:showPercent val="0"/>
            <c:showBubbleSize val="0"/>
            <c:showLeaderLines val="0"/>
          </c:dLbls>
          <c:xVal>
            <c:numLit>
              <c:formatCode>General</c:formatCode>
              <c:ptCount val="1"/>
              <c:pt idx="0">
                <c:v>-62.07184214075068</c:v>
              </c:pt>
            </c:numLit>
          </c:xVal>
          <c:yVal>
            <c:numLit>
              <c:formatCode>General</c:formatCode>
              <c:ptCount val="1"/>
              <c:pt idx="0">
                <c:v>-30.521114365108662</c:v>
              </c:pt>
            </c:numLit>
          </c:yVal>
        </c:ser>
        <c:ser>
          <c:idx val="2"/>
          <c:order val="2"/>
          <c:tx>
            <c:v>#2</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1"/>
            <c:showPercent val="0"/>
            <c:showBubbleSize val="0"/>
            <c:showLeaderLines val="0"/>
          </c:dLbls>
          <c:xVal>
            <c:numLit>
              <c:formatCode>General</c:formatCode>
              <c:ptCount val="1"/>
              <c:pt idx="0">
                <c:v>-60.78321925365153</c:v>
              </c:pt>
            </c:numLit>
          </c:xVal>
          <c:yVal>
            <c:numLit>
              <c:formatCode>General</c:formatCode>
              <c:ptCount val="1"/>
              <c:pt idx="0">
                <c:v>-32.95596133915112</c:v>
              </c:pt>
            </c:numLit>
          </c:yVal>
        </c:ser>
        <c:ser>
          <c:idx val="3"/>
          <c:order val="3"/>
          <c:tx>
            <c:v>#3 a #5</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l"/>
            <c:showLegendKey val="0"/>
            <c:showVal val="0"/>
            <c:showCatName val="0"/>
            <c:showSerName val="1"/>
            <c:showPercent val="0"/>
            <c:showBubbleSize val="0"/>
            <c:showLeaderLines val="0"/>
          </c:dLbls>
          <c:xVal>
            <c:numLit>
              <c:formatCode>General</c:formatCode>
              <c:ptCount val="1"/>
              <c:pt idx="0">
                <c:v>-59.786793434531695</c:v>
              </c:pt>
            </c:numLit>
          </c:xVal>
          <c:yVal>
            <c:numLit>
              <c:formatCode>General</c:formatCode>
              <c:ptCount val="1"/>
              <c:pt idx="0">
                <c:v>-29.42693818112937</c:v>
              </c:pt>
            </c:numLit>
          </c:yVal>
        </c:ser>
        <c:ser>
          <c:idx val="4"/>
          <c:order val="4"/>
          <c:tx>
            <c:v>#4</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0"/>
            <c:showPercent val="0"/>
            <c:showBubbleSize val="0"/>
            <c:showLeaderLines val="0"/>
          </c:dLbls>
          <c:xVal>
            <c:numLit>
              <c:formatCode>General</c:formatCode>
              <c:ptCount val="1"/>
              <c:pt idx="0">
                <c:v>-59.71898528274436</c:v>
              </c:pt>
            </c:numLit>
          </c:xVal>
          <c:yVal>
            <c:numLit>
              <c:formatCode>General</c:formatCode>
              <c:ptCount val="1"/>
              <c:pt idx="0">
                <c:v>-29.32518667114513</c:v>
              </c:pt>
            </c:numLit>
          </c:yVal>
        </c:ser>
        <c:ser>
          <c:idx val="5"/>
          <c:order val="5"/>
          <c:tx>
            <c:v>#5</c:v>
          </c:tx>
          <c:spPr>
            <a:ln xmlns:a="http://schemas.openxmlformats.org/drawingml/2006/main" w="0">
              <a:noFill/>
            </a:ln>
          </c:spPr>
          <c:marker>
            <c:symbol val="circle"/>
            <c:size val="10"/>
            <c:spPr>
              <a:solidFill xmlns:a="http://schemas.openxmlformats.org/drawingml/2006/main">
                <a:srgbClr val="087F8C"/>
              </a:solidFill>
            </c:spPr>
          </c:mark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r"/>
            <c:showLegendKey val="0"/>
            <c:showVal val="0"/>
            <c:showCatName val="0"/>
            <c:showSerName val="0"/>
            <c:showPercent val="0"/>
            <c:showBubbleSize val="0"/>
            <c:showLeaderLines val="0"/>
          </c:dLbls>
          <c:xVal>
            <c:numLit>
              <c:formatCode>General</c:formatCode>
              <c:ptCount val="1"/>
              <c:pt idx="0">
                <c:v>-59.71520048273946</c:v>
              </c:pt>
            </c:numLit>
          </c:xVal>
          <c:yVal>
            <c:numLit>
              <c:formatCode>General</c:formatCode>
              <c:ptCount val="1"/>
              <c:pt idx="0">
                <c:v>-29.394980919485175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8"/>
          <c:min val="-35"/>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59"/>
          <c:min val="-63"/>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A16A4FF-667D-49EB-9337-940941679DBF}"/>
              </a:ext>
            </a:extLst>
          </p:cNvPr>
          <p:cNvPicPr>
            <a:picLocks xmlns:a="http://schemas.openxmlformats.org/drawingml/2006/main" noChangeAspect="1"/>
          </p:cNvPicPr>
          <p:nvPr/>
        </p:nvPicPr>
        <p:blipFill>
          <a:blip xmlns:r="http://schemas.openxmlformats.org/officeDocument/2006/relationships" xmlns:a="http://schemas.openxmlformats.org/drawingml/2006/main" r:embed="Re372760891b4443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763A57-E688-4D89-9213-4E6390EA3698}"/>
              </a:ext>
            </a:extLst>
          </p:cNvPr>
          <p:cNvSpPr>
            <a:spLocks xmlns:a="http://schemas.openxmlformats.org/drawingml/2006/main" noGrp="1"/>
          </p:cNvSpPr>
          <p:nvPr/>
        </p:nvSpPr>
        <p:spPr>
          <a:xfrm xmlns:a="http://schemas.openxmlformats.org/drawingml/2006/main">
            <a:off x="590550" y="876300"/>
            <a:ext cx="6762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a:solidFill>
                  <a:srgbClr val="FFFFFF"/>
                </a:solidFill>
                <a:latin typeface="Arial"/>
                <a:ea typeface="Arial"/>
                <a:cs typeface="Arial"/>
              </a:defRPr>
            </a:defPPr>
          </a:lstStyle>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Parques solares</a:t>
            </a:r>
          </a:p>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y algoritmo genético</a:t>
            </a:r>
          </a:p>
        </p:txBody>
      </p:sp>
      <p:sp>
        <p:nvSpPr>
          <p:cNvPr id="3" name="">
            <a:extLst xmlns:a="http://schemas.openxmlformats.org/drawingml/2006/main">
              <a:ext uri="{FF2B5EF4-FFF2-40B4-BE49-F238E27FC236}">
                <a16:creationId xmlns:a16="http://schemas.microsoft.com/office/drawing/2014/main" id="{B8D38975-1C4C-4A59-B3C6-39617D707336}"/>
              </a:ext>
            </a:extLst>
          </p:cNvPr>
          <p:cNvSpPr>
            <a:spLocks xmlns:a="http://schemas.openxmlformats.org/drawingml/2006/main" noGrp="1"/>
          </p:cNvSpPr>
          <p:nvPr/>
        </p:nvSpPr>
        <p:spPr>
          <a:xfrm xmlns:a="http://schemas.openxmlformats.org/drawingml/2006/main">
            <a:off x="619125" y="3019425"/>
            <a:ext cx="561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a:solidFill>
                  <a:srgbClr val="FFFFFF"/>
                </a:solidFill>
                <a:latin typeface="Arial"/>
                <a:ea typeface="Arial"/>
                <a:cs typeface="Arial"/>
              </a:defRPr>
            </a:defPPr>
          </a:lstStyle>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Ubicación, forma y superficie</a:t>
            </a:r>
          </a:p>
          <a:p xmlns:a="http://schemas.openxmlformats.org/drawingml/2006/main">
            <a:pPr>
              <a:buNone/>
              <a:defRPr sz="2550" b="0">
                <a:solidFill>
                  <a:srgbClr val="FFFFFF"/>
                </a:solidFill>
                <a:latin typeface="Arial"/>
                <a:ea typeface="Arial"/>
                <a:cs typeface="Arial"/>
              </a:defRPr>
            </a:pPr>
            <a:r>
              <a:rPr sz="2550" b="0">
                <a:solidFill>
                  <a:srgbClr val="FFFFFF"/>
                </a:solidFill>
                <a:latin typeface="Arial"/>
                <a:ea typeface="Arial"/>
                <a:cs typeface="Arial"/>
              </a:rPr>
              <a:t>en Santa Fe</a:t>
            </a:r>
          </a:p>
        </p:txBody>
      </p:sp>
      <p:sp>
        <p:nvSpPr>
          <p:cNvPr id="4" name="">
            <a:extLst xmlns:a="http://schemas.openxmlformats.org/drawingml/2006/main">
              <a:ext uri="{FF2B5EF4-FFF2-40B4-BE49-F238E27FC236}">
                <a16:creationId xmlns:a16="http://schemas.microsoft.com/office/drawing/2014/main" id="{94C651C0-B554-48E1-8D2B-7AA4A84F5270}"/>
              </a:ext>
            </a:extLst>
          </p:cNvPr>
          <p:cNvSpPr>
            <a:spLocks xmlns:a="http://schemas.openxmlformats.org/drawingml/2006/main" noGrp="1"/>
          </p:cNvSpPr>
          <p:nvPr/>
        </p:nvSpPr>
        <p:spPr>
          <a:xfrm xmlns:a="http://schemas.openxmlformats.org/drawingml/2006/main">
            <a:off x="619125" y="52387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Guía visual para la presentación y defensa</a:t>
            </a:r>
          </a:p>
          <a:p xmlns:a="http://schemas.openxmlformats.org/drawingml/2006/main">
            <a:pPr>
              <a:buNone/>
              <a:defRPr sz="1875" b="0">
                <a:solidFill>
                  <a:srgbClr val="FFFFFF"/>
                </a:solidFill>
                <a:latin typeface="Arial"/>
                <a:ea typeface="Arial"/>
                <a:cs typeface="Arial"/>
              </a:defRPr>
            </a:pPr>
            <a:r>
              <a:rPr sz="1875" b="0">
                <a:solidFill>
                  <a:srgbClr val="FFFFFF"/>
                </a:solidFill>
                <a:latin typeface="Arial"/>
                <a:ea typeface="Arial"/>
                <a:cs typeface="Arial"/>
              </a:rPr>
              <a:t>Proyecto AG-ParqueSolar-2026</a:t>
            </a:r>
          </a:p>
        </p:txBody>
      </p:sp>
    </p:spTree>
    <p:extLst>
      <p:ext uri="{BB962C8B-B14F-4D97-AF65-F5344CB8AC3E}">
        <p14:creationId xmlns:p14="http://schemas.microsoft.com/office/powerpoint/2010/main" val="12014785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506C55-1B8F-454A-A01D-BFF96D2C498A}"/>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El problema territorial</a:t>
            </a:r>
          </a:p>
        </p:txBody>
      </p:sp>
      <p:pic>
        <p:nvPicPr>
          <p:cNvPr id="3" name="">
            <a:extLst xmlns:a="http://schemas.openxmlformats.org/drawingml/2006/main">
              <a:ext uri="{FF2B5EF4-FFF2-40B4-BE49-F238E27FC236}">
                <a16:creationId xmlns:a16="http://schemas.microsoft.com/office/drawing/2014/main" id="{5E18C37B-43BC-410F-BAC4-B5B357053BB9}"/>
              </a:ext>
            </a:extLst>
          </p:cNvPr>
          <p:cNvPicPr>
            <a:picLocks xmlns:a="http://schemas.openxmlformats.org/drawingml/2006/main" noChangeAspect="1"/>
          </p:cNvPicPr>
          <p:nvPr/>
        </p:nvPicPr>
        <p:blipFill>
          <a:blip xmlns:r="http://schemas.openxmlformats.org/officeDocument/2006/relationships" xmlns:a="http://schemas.openxmlformats.org/drawingml/2006/main" r:embed="R6241894e8baf4592"/>
          <a:stretch xmlns:a="http://schemas.openxmlformats.org/drawingml/2006/main"/>
        </p:blipFill>
        <p:spPr>
          <a:xfrm xmlns:a="http://schemas.openxmlformats.org/drawingml/2006/main">
            <a:off x="872180" y="1438275"/>
            <a:ext cx="3113389" cy="44005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16C6E7-2CE6-46E0-9194-3358AE9FE9BA}"/>
              </a:ext>
            </a:extLst>
          </p:cNvPr>
          <p:cNvSpPr>
            <a:spLocks xmlns:a="http://schemas.openxmlformats.org/drawingml/2006/main" noGrp="1"/>
          </p:cNvSpPr>
          <p:nvPr/>
        </p:nvSpPr>
        <p:spPr>
          <a:xfrm xmlns:a="http://schemas.openxmlformats.org/drawingml/2006/main">
            <a:off x="4762500" y="15811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buNone/>
              <a:defRPr sz="2400" b="1">
                <a:solidFill>
                  <a:srgbClr val="087F8C"/>
                </a:solidFill>
                <a:latin typeface="Arial"/>
                <a:ea typeface="Arial"/>
                <a:cs typeface="Arial"/>
              </a:defRPr>
            </a:pPr>
            <a:r>
              <a:rPr sz="2400" b="1">
                <a:solidFill>
                  <a:srgbClr val="087F8C"/>
                </a:solidFill>
                <a:latin typeface="Arial"/>
                <a:ea typeface="Arial"/>
                <a:cs typeface="Arial"/>
              </a:rPr>
              <a:t>Cada propuesta combina</a:t>
            </a:r>
          </a:p>
        </p:txBody>
      </p:sp>
      <p:sp>
        <p:nvSpPr>
          <p:cNvPr id="5" name="">
            <a:extLst xmlns:a="http://schemas.openxmlformats.org/drawingml/2006/main">
              <a:ext uri="{FF2B5EF4-FFF2-40B4-BE49-F238E27FC236}">
                <a16:creationId xmlns:a16="http://schemas.microsoft.com/office/drawing/2014/main" id="{41C962A7-30E7-431A-8DB2-6FBB98AB8533}"/>
              </a:ext>
            </a:extLst>
          </p:cNvPr>
          <p:cNvSpPr>
            <a:spLocks xmlns:a="http://schemas.openxmlformats.org/drawingml/2006/main" noGrp="1"/>
          </p:cNvSpPr>
          <p:nvPr/>
        </p:nvSpPr>
        <p:spPr>
          <a:xfrm xmlns:a="http://schemas.openxmlformats.org/drawingml/2006/main">
            <a:off x="4762500" y="2238375"/>
            <a:ext cx="6762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a:solidFill>
                  <a:srgbClr val="183B4E"/>
                </a:solidFill>
                <a:latin typeface="Arial"/>
                <a:ea typeface="Arial"/>
                <a:cs typeface="Arial"/>
              </a:defRPr>
            </a:defPPr>
          </a:lstStyle>
          <a:p xmlns:a="http://schemas.openxmlformats.org/drawingml/2006/main">
            <a:pPr>
              <a:buNone/>
              <a:defRPr sz="2250" b="0">
                <a:solidFill>
                  <a:srgbClr val="183B4E"/>
                </a:solidFill>
                <a:latin typeface="Arial"/>
                <a:ea typeface="Arial"/>
                <a:cs typeface="Arial"/>
              </a:defRPr>
            </a:pPr>
            <a:r>
              <a:rPr sz="2250" b="0">
                <a:solidFill>
                  <a:srgbClr val="183B4E"/>
                </a:solidFill>
                <a:latin typeface="Arial"/>
                <a:ea typeface="Arial"/>
                <a:cs typeface="Arial"/>
              </a:rPr>
              <a:t>Una ubicación dentro de Santa Fe</a:t>
            </a:r>
          </a:p>
          <a:p xmlns:a="http://schemas.openxmlformats.org/drawingml/2006/main">
            <a:r>
              <a:t/>
            </a:r>
          </a:p>
          <a:p xmlns:a="http://schemas.openxmlformats.org/drawingml/2006/main">
            <a:pPr>
              <a:buNone/>
              <a:defRPr sz="2250" b="0">
                <a:solidFill>
                  <a:srgbClr val="183B4E"/>
                </a:solidFill>
                <a:latin typeface="Arial"/>
                <a:ea typeface="Arial"/>
                <a:cs typeface="Arial"/>
              </a:defRPr>
            </a:pPr>
            <a:r>
              <a:rPr sz="2250" b="0">
                <a:solidFill>
                  <a:srgbClr val="183B4E"/>
                </a:solidFill>
                <a:latin typeface="Arial"/>
                <a:ea typeface="Arial"/>
                <a:cs typeface="Arial"/>
              </a:rPr>
              <a:t>Una forma de celdas contiguas</a:t>
            </a:r>
          </a:p>
          <a:p xmlns:a="http://schemas.openxmlformats.org/drawingml/2006/main">
            <a:r>
              <a:t/>
            </a:r>
          </a:p>
          <a:p xmlns:a="http://schemas.openxmlformats.org/drawingml/2006/main">
            <a:pPr>
              <a:buNone/>
              <a:defRPr sz="2250" b="0">
                <a:solidFill>
                  <a:srgbClr val="183B4E"/>
                </a:solidFill>
                <a:latin typeface="Arial"/>
                <a:ea typeface="Arial"/>
                <a:cs typeface="Arial"/>
              </a:defRPr>
            </a:pPr>
            <a:r>
              <a:rPr sz="2250" b="0">
                <a:solidFill>
                  <a:srgbClr val="183B4E"/>
                </a:solidFill>
                <a:latin typeface="Arial"/>
                <a:ea typeface="Arial"/>
                <a:cs typeface="Arial"/>
              </a:rPr>
              <a:t>Una superficie bajo el límite experimental</a:t>
            </a:r>
          </a:p>
        </p:txBody>
      </p:sp>
      <p:sp>
        <p:nvSpPr>
          <p:cNvPr id="6" name="">
            <a:extLst xmlns:a="http://schemas.openxmlformats.org/drawingml/2006/main">
              <a:ext uri="{FF2B5EF4-FFF2-40B4-BE49-F238E27FC236}">
                <a16:creationId xmlns:a16="http://schemas.microsoft.com/office/drawing/2014/main" id="{2C6DC634-A821-4BB2-81D2-A9B27FF8069A}"/>
              </a:ext>
            </a:extLst>
          </p:cNvPr>
          <p:cNvSpPr>
            <a:spLocks xmlns:a="http://schemas.openxmlformats.org/drawingml/2006/main" noGrp="1"/>
          </p:cNvSpPr>
          <p:nvPr/>
        </p:nvSpPr>
        <p:spPr>
          <a:xfrm xmlns:a="http://schemas.openxmlformats.org/drawingml/2006/main">
            <a:off x="4762500" y="5000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Resultado: candidatos para estudiar</a:t>
            </a:r>
          </a:p>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con mayor detalle</a:t>
            </a:r>
          </a:p>
        </p:txBody>
      </p:sp>
      <p:sp>
        <p:nvSpPr>
          <p:cNvPr id="8" name="">
            <a:extLst xmlns:a="http://schemas.openxmlformats.org/drawingml/2006/main">
              <a:ext uri="{FF2B5EF4-FFF2-40B4-BE49-F238E27FC236}">
                <a16:creationId xmlns:a16="http://schemas.microsoft.com/office/drawing/2014/main" id="{49126A2D-E82A-4476-98C7-53B83F204D0A}"/>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02</a:t>
            </a:r>
          </a:p>
        </p:txBody>
      </p:sp>
    </p:spTree>
    <p:extLst>
      <p:ext uri="{BB962C8B-B14F-4D97-AF65-F5344CB8AC3E}">
        <p14:creationId xmlns:p14="http://schemas.microsoft.com/office/powerpoint/2010/main" val="13827931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A01CB9-3186-4329-9035-D3F281CDFB61}"/>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Fuentes y funciones de los datos</a:t>
            </a:r>
          </a:p>
        </p:txBody>
      </p:sp>
      <p:graphicFrame>
        <p:nvGraphicFramePr>
          <p:cNvPr id="3" name="">
            <a:extLst xmlns:a="http://schemas.openxmlformats.org/drawingml/2006/main">
              <a:ext uri="{FF2B5EF4-FFF2-40B4-BE49-F238E27FC236}">
                <a16:creationId xmlns:a16="http://schemas.microsoft.com/office/drawing/2014/main" id="{94F14096-4E34-455B-923D-D8CA84D54561}"/>
              </a:ext>
            </a:extLst>
          </p:cNvPr>
          <p:cNvGraphicFramePr/>
          <p:nvPr/>
        </p:nvGraphicFramePr>
        <p:xfrm>
          <a:off xmlns:a="http://schemas.openxmlformats.org/drawingml/2006/main" x="571500" y="1581150"/>
          <a:ext xmlns:a="http://schemas.openxmlformats.org/drawingml/2006/main" cx="11049000" cy="3800475"/>
        </p:xfrm>
        <a:graphic xmlns:a="http://schemas.openxmlformats.org/drawingml/2006/main">
          <a:graphicData uri="http://schemas.openxmlformats.org/drawingml/2006/table">
            <a:tbl>
              <a:tblPr/>
              <a:tblGrid>
                <a:gridCol w="2952750"/>
                <a:gridCol w="3381375"/>
                <a:gridCol w="4714875"/>
              </a:tblGrid>
              <a:tr h="633413">
                <a:tc>
                  <a:txBody>
                    <a:bodyPr/>
                    <a:lstStyle/>
                    <a:p>
                      <a:r>
                        <a:rPr sz="1875" b="1">
                          <a:solidFill>
                            <a:srgbClr val="FFFFFF"/>
                          </a:solidFill>
                          <a:latin typeface="Arial"/>
                          <a:ea typeface="Arial"/>
                          <a:cs typeface="Arial"/>
                        </a:rPr>
                        <a:t>Fuente</a:t>
                      </a:r>
                    </a:p>
                  </a:txBody>
                  <a:tcPr marL="91440" marR="91440" marT="45720" marB="45720">
                    <a:solidFill>
                      <a:srgbClr val="102A43"/>
                    </a:solidFill>
                  </a:tcPr>
                </a:tc>
                <a:tc>
                  <a:txBody>
                    <a:bodyPr/>
                    <a:lstStyle/>
                    <a:p>
                      <a:r>
                        <a:rPr sz="1875" b="1">
                          <a:solidFill>
                            <a:srgbClr val="FFFFFF"/>
                          </a:solidFill>
                          <a:latin typeface="Arial"/>
                          <a:ea typeface="Arial"/>
                          <a:cs typeface="Arial"/>
                        </a:rPr>
                        <a:t>Dato</a:t>
                      </a:r>
                    </a:p>
                  </a:txBody>
                  <a:tcPr marL="91440" marR="91440" marT="45720" marB="45720">
                    <a:solidFill>
                      <a:srgbClr val="102A43"/>
                    </a:solidFill>
                  </a:tcPr>
                </a:tc>
                <a:tc>
                  <a:txBody>
                    <a:bodyPr/>
                    <a:lstStyle/>
                    <a:p>
                      <a:r>
                        <a:rPr sz="1875" b="1">
                          <a:solidFill>
                            <a:srgbClr val="FFFFFF"/>
                          </a:solidFill>
                          <a:latin typeface="Arial"/>
                          <a:ea typeface="Arial"/>
                          <a:cs typeface="Arial"/>
                        </a:rPr>
                        <a:t>Uso en el modelo</a:t>
                      </a:r>
                    </a:p>
                  </a:txBody>
                  <a:tcPr marL="91440" marR="91440" marT="45720" marB="45720">
                    <a:solidFill>
                      <a:srgbClr val="102A43"/>
                    </a:solidFill>
                  </a:tcPr>
                </a:tc>
              </a:tr>
              <a:tr h="633413">
                <a:tc>
                  <a:txBody>
                    <a:bodyPr/>
                    <a:lstStyle/>
                    <a:p>
                      <a:r>
                        <a:rPr sz="1875" b="0">
                          <a:solidFill>
                            <a:srgbClr val="183B4E"/>
                          </a:solidFill>
                          <a:latin typeface="Arial"/>
                          <a:ea typeface="Arial"/>
                          <a:cs typeface="Arial"/>
                        </a:rPr>
                        <a:t>IGN</a:t>
                      </a:r>
                    </a:p>
                  </a:txBody>
                  <a:tcPr marL="91440" marR="91440" marT="45720" marB="45720">
                    <a:solidFill>
                      <a:srgbClr val="FFFFFF"/>
                    </a:solidFill>
                  </a:tcPr>
                </a:tc>
                <a:tc>
                  <a:txBody>
                    <a:bodyPr/>
                    <a:lstStyle/>
                    <a:p>
                      <a:r>
                        <a:rPr sz="1875" b="0">
                          <a:solidFill>
                            <a:srgbClr val="183B4E"/>
                          </a:solidFill>
                          <a:latin typeface="Arial"/>
                          <a:ea typeface="Arial"/>
                          <a:cs typeface="Arial"/>
                        </a:rPr>
                        <a:t>Límite provincial</a:t>
                      </a:r>
                    </a:p>
                  </a:txBody>
                  <a:tcPr marL="91440" marR="91440" marT="45720" marB="45720">
                    <a:solidFill>
                      <a:srgbClr val="FFFFFF"/>
                    </a:solidFill>
                  </a:tcPr>
                </a:tc>
                <a:tc>
                  <a:txBody>
                    <a:bodyPr/>
                    <a:lstStyle/>
                    <a:p>
                      <a:r>
                        <a:rPr sz="1875" b="0">
                          <a:solidFill>
                            <a:srgbClr val="183B4E"/>
                          </a:solidFill>
                          <a:latin typeface="Arial"/>
                          <a:ea typeface="Arial"/>
                          <a:cs typeface="Arial"/>
                        </a:rPr>
                        <a:t>Recorte de Santa Fe</a:t>
                      </a:r>
                    </a:p>
                  </a:txBody>
                  <a:tcPr marL="91440" marR="91440" marT="45720" marB="45720">
                    <a:solidFill>
                      <a:srgbClr val="FFFFFF"/>
                    </a:solidFill>
                  </a:tcPr>
                </a:tc>
              </a:tr>
              <a:tr h="633413">
                <a:tc>
                  <a:txBody>
                    <a:bodyPr/>
                    <a:lstStyle/>
                    <a:p>
                      <a:r>
                        <a:rPr sz="1875" b="0">
                          <a:solidFill>
                            <a:srgbClr val="183B4E"/>
                          </a:solidFill>
                          <a:latin typeface="Arial"/>
                          <a:ea typeface="Arial"/>
                          <a:cs typeface="Arial"/>
                        </a:rPr>
                        <a:t>INDEC 2022</a:t>
                      </a:r>
                    </a:p>
                  </a:txBody>
                  <a:tcPr marL="91440" marR="91440" marT="45720" marB="45720">
                    <a:solidFill>
                      <a:srgbClr val="EEF5F5"/>
                    </a:solidFill>
                  </a:tcPr>
                </a:tc>
                <a:tc>
                  <a:txBody>
                    <a:bodyPr/>
                    <a:lstStyle/>
                    <a:p>
                      <a:r>
                        <a:rPr sz="1875" b="0">
                          <a:solidFill>
                            <a:srgbClr val="183B4E"/>
                          </a:solidFill>
                          <a:latin typeface="Arial"/>
                          <a:ea typeface="Arial"/>
                          <a:cs typeface="Arial"/>
                        </a:rPr>
                        <a:t>Envolventes urbanas</a:t>
                      </a:r>
                    </a:p>
                  </a:txBody>
                  <a:tcPr marL="91440" marR="91440" marT="45720" marB="45720">
                    <a:solidFill>
                      <a:srgbClr val="EEF5F5"/>
                    </a:solidFill>
                  </a:tcPr>
                </a:tc>
                <a:tc>
                  <a:txBody>
                    <a:bodyPr/>
                    <a:lstStyle/>
                    <a:p>
                      <a:r>
                        <a:rPr sz="1875" b="0">
                          <a:solidFill>
                            <a:srgbClr val="183B4E"/>
                          </a:solidFill>
                          <a:latin typeface="Arial"/>
                          <a:ea typeface="Arial"/>
                          <a:cs typeface="Arial"/>
                        </a:rPr>
                        <a:t>Exclusión de celdas</a:t>
                      </a:r>
                    </a:p>
                  </a:txBody>
                  <a:tcPr marL="91440" marR="91440" marT="45720" marB="45720">
                    <a:solidFill>
                      <a:srgbClr val="EEF5F5"/>
                    </a:solidFill>
                  </a:tcPr>
                </a:tc>
              </a:tr>
              <a:tr h="633413">
                <a:tc>
                  <a:txBody>
                    <a:bodyPr/>
                    <a:lstStyle/>
                    <a:p>
                      <a:r>
                        <a:rPr sz="1875" b="0">
                          <a:solidFill>
                            <a:srgbClr val="183B4E"/>
                          </a:solidFill>
                          <a:latin typeface="Arial"/>
                          <a:ea typeface="Arial"/>
                          <a:cs typeface="Arial"/>
                        </a:rPr>
                        <a:t>datos.gob.ar / CKAN</a:t>
                      </a:r>
                    </a:p>
                  </a:txBody>
                  <a:tcPr marL="91440" marR="91440" marT="45720" marB="45720">
                    <a:solidFill>
                      <a:srgbClr val="FFFFFF"/>
                    </a:solidFill>
                  </a:tcPr>
                </a:tc>
                <a:tc>
                  <a:txBody>
                    <a:bodyPr/>
                    <a:lstStyle/>
                    <a:p>
                      <a:r>
                        <a:rPr sz="1875" b="0">
                          <a:solidFill>
                            <a:srgbClr val="183B4E"/>
                          </a:solidFill>
                          <a:latin typeface="Arial"/>
                          <a:ea typeface="Arial"/>
                          <a:cs typeface="Arial"/>
                        </a:rPr>
                        <a:t>Geometría de líneas</a:t>
                      </a:r>
                    </a:p>
                  </a:txBody>
                  <a:tcPr marL="91440" marR="91440" marT="45720" marB="45720">
                    <a:solidFill>
                      <a:srgbClr val="FFFFFF"/>
                    </a:solidFill>
                  </a:tcPr>
                </a:tc>
                <a:tc>
                  <a:txBody>
                    <a:bodyPr/>
                    <a:lstStyle/>
                    <a:p>
                      <a:r>
                        <a:rPr sz="1875" b="0">
                          <a:solidFill>
                            <a:srgbClr val="183B4E"/>
                          </a:solidFill>
                          <a:latin typeface="Arial"/>
                          <a:ea typeface="Arial"/>
                          <a:cs typeface="Arial"/>
                        </a:rPr>
                        <a:t>Distancia a la red</a:t>
                      </a:r>
                    </a:p>
                  </a:txBody>
                  <a:tcPr marL="91440" marR="91440" marT="45720" marB="45720">
                    <a:solidFill>
                      <a:srgbClr val="FFFFFF"/>
                    </a:solidFill>
                  </a:tcPr>
                </a:tc>
              </a:tr>
              <a:tr h="633413">
                <a:tc>
                  <a:txBody>
                    <a:bodyPr/>
                    <a:lstStyle/>
                    <a:p>
                      <a:r>
                        <a:rPr sz="1875" b="0">
                          <a:solidFill>
                            <a:srgbClr val="183B4E"/>
                          </a:solidFill>
                          <a:latin typeface="Arial"/>
                          <a:ea typeface="Arial"/>
                          <a:cs typeface="Arial"/>
                        </a:rPr>
                        <a:t>Secretaría de Energía</a:t>
                      </a:r>
                    </a:p>
                  </a:txBody>
                  <a:tcPr marL="91440" marR="91440" marT="45720" marB="45720">
                    <a:solidFill>
                      <a:srgbClr val="EEF5F5"/>
                    </a:solidFill>
                  </a:tcPr>
                </a:tc>
                <a:tc>
                  <a:txBody>
                    <a:bodyPr/>
                    <a:lstStyle/>
                    <a:p>
                      <a:r>
                        <a:rPr sz="1875" b="0">
                          <a:solidFill>
                            <a:srgbClr val="183B4E"/>
                          </a:solidFill>
                          <a:latin typeface="Arial"/>
                          <a:ea typeface="Arial"/>
                          <a:cs typeface="Arial"/>
                        </a:rPr>
                        <a:t>CSV de estaciones</a:t>
                      </a:r>
                    </a:p>
                  </a:txBody>
                  <a:tcPr marL="91440" marR="91440" marT="45720" marB="45720">
                    <a:solidFill>
                      <a:srgbClr val="EEF5F5"/>
                    </a:solidFill>
                  </a:tcPr>
                </a:tc>
                <a:tc>
                  <a:txBody>
                    <a:bodyPr/>
                    <a:lstStyle/>
                    <a:p>
                      <a:r>
                        <a:rPr sz="1875" b="0">
                          <a:solidFill>
                            <a:srgbClr val="183B4E"/>
                          </a:solidFill>
                          <a:latin typeface="Arial"/>
                          <a:ea typeface="Arial"/>
                          <a:cs typeface="Arial"/>
                        </a:rPr>
                        <a:t>Distancia a 4 ET de referencia</a:t>
                      </a:r>
                    </a:p>
                  </a:txBody>
                  <a:tcPr marL="91440" marR="91440" marT="45720" marB="45720">
                    <a:solidFill>
                      <a:srgbClr val="EEF5F5"/>
                    </a:solidFill>
                  </a:tcPr>
                </a:tc>
              </a:tr>
              <a:tr h="633413">
                <a:tc>
                  <a:txBody>
                    <a:bodyPr/>
                    <a:lstStyle/>
                    <a:p>
                      <a:r>
                        <a:rPr sz="1875" b="0">
                          <a:solidFill>
                            <a:srgbClr val="183B4E"/>
                          </a:solidFill>
                          <a:latin typeface="Arial"/>
                          <a:ea typeface="Arial"/>
                          <a:cs typeface="Arial"/>
                        </a:rPr>
                        <a:t>Copernicus ERA5-Land</a:t>
                      </a:r>
                    </a:p>
                  </a:txBody>
                  <a:tcPr marL="91440" marR="91440" marT="45720" marB="45720">
                    <a:solidFill>
                      <a:srgbClr val="FFFFFF"/>
                    </a:solidFill>
                  </a:tcPr>
                </a:tc>
                <a:tc>
                  <a:txBody>
                    <a:bodyPr/>
                    <a:lstStyle/>
                    <a:p>
                      <a:r>
                        <a:rPr sz="1875" b="0">
                          <a:solidFill>
                            <a:srgbClr val="183B4E"/>
                          </a:solidFill>
                          <a:latin typeface="Arial"/>
                          <a:ea typeface="Arial"/>
                          <a:cs typeface="Arial"/>
                        </a:rPr>
                        <a:t>Radiación horaria SSRD</a:t>
                      </a:r>
                    </a:p>
                  </a:txBody>
                  <a:tcPr marL="91440" marR="91440" marT="45720" marB="45720">
                    <a:solidFill>
                      <a:srgbClr val="FFFFFF"/>
                    </a:solidFill>
                  </a:tcPr>
                </a:tc>
                <a:tc>
                  <a:txBody>
                    <a:bodyPr/>
                    <a:lstStyle/>
                    <a:p>
                      <a:r>
                        <a:rPr sz="1875" b="0">
                          <a:solidFill>
                            <a:srgbClr val="183B4E"/>
                          </a:solidFill>
                          <a:latin typeface="Arial"/>
                          <a:ea typeface="Arial"/>
                          <a:cs typeface="Arial"/>
                        </a:rPr>
                        <a:t>Indicador solar anual</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F8CF4A9-3D69-4FA5-8EA6-9FD0EBD4C1F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Cada fuente tiene un formato y una validación propios</a:t>
            </a:r>
          </a:p>
        </p:txBody>
      </p:sp>
      <p:sp>
        <p:nvSpPr>
          <p:cNvPr id="6" name="">
            <a:extLst xmlns:a="http://schemas.openxmlformats.org/drawingml/2006/main">
              <a:ext uri="{FF2B5EF4-FFF2-40B4-BE49-F238E27FC236}">
                <a16:creationId xmlns:a16="http://schemas.microsoft.com/office/drawing/2014/main" id="{9CB98724-5529-4BC2-9466-0ED15BC22847}"/>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03</a:t>
            </a:r>
          </a:p>
        </p:txBody>
      </p:sp>
    </p:spTree>
    <p:extLst>
      <p:ext uri="{BB962C8B-B14F-4D97-AF65-F5344CB8AC3E}">
        <p14:creationId xmlns:p14="http://schemas.microsoft.com/office/powerpoint/2010/main" val="1510060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E58FD7-D2FB-494E-A98D-1944C3D3F4D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Una petición real: polígonos urbanos</a:t>
            </a:r>
          </a:p>
        </p:txBody>
      </p:sp>
      <p:sp>
        <p:nvSpPr>
          <p:cNvPr id="3" name="">
            <a:extLst xmlns:a="http://schemas.openxmlformats.org/drawingml/2006/main">
              <a:ext uri="{FF2B5EF4-FFF2-40B4-BE49-F238E27FC236}">
                <a16:creationId xmlns:a16="http://schemas.microsoft.com/office/drawing/2014/main" id="{D7C28A79-83A2-4449-986C-2464849EDE65}"/>
              </a:ext>
            </a:extLst>
          </p:cNvPr>
          <p:cNvSpPr>
            <a:spLocks xmlns:a="http://schemas.openxmlformats.org/drawingml/2006/main" noGrp="1"/>
          </p:cNvSpPr>
          <p:nvPr/>
        </p:nvSpPr>
        <p:spPr>
          <a:xfrm xmlns:a="http://schemas.openxmlformats.org/drawingml/2006/main">
            <a:off x="571500" y="1504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87F8C"/>
                </a:solidFill>
                <a:latin typeface="Arial"/>
                <a:ea typeface="Arial"/>
                <a:cs typeface="Arial"/>
              </a:defRPr>
            </a:defPPr>
          </a:lstStyle>
          <a:p xmlns:a="http://schemas.openxmlformats.org/drawingml/2006/main">
            <a:pPr>
              <a:buNone/>
              <a:defRPr sz="2400" b="1">
                <a:solidFill>
                  <a:srgbClr val="087F8C"/>
                </a:solidFill>
                <a:latin typeface="Arial"/>
                <a:ea typeface="Arial"/>
                <a:cs typeface="Arial"/>
              </a:defRPr>
            </a:pPr>
            <a:r>
              <a:rPr sz="2400" b="1">
                <a:solidFill>
                  <a:srgbClr val="087F8C"/>
                </a:solidFill>
                <a:latin typeface="Arial"/>
                <a:ea typeface="Arial"/>
                <a:cs typeface="Arial"/>
              </a:rPr>
              <a:t>GET al servicio WFS de INDEC</a:t>
            </a:r>
          </a:p>
        </p:txBody>
      </p:sp>
      <p:graphicFrame>
        <p:nvGraphicFramePr>
          <p:cNvPr id="4" name="">
            <a:extLst xmlns:a="http://schemas.openxmlformats.org/drawingml/2006/main">
              <a:ext uri="{FF2B5EF4-FFF2-40B4-BE49-F238E27FC236}">
                <a16:creationId xmlns:a16="http://schemas.microsoft.com/office/drawing/2014/main" id="{4D9DCFDA-A5ED-4E19-A4C9-5E987C25FF84}"/>
              </a:ext>
            </a:extLst>
          </p:cNvPr>
          <p:cNvGraphicFramePr/>
          <p:nvPr/>
        </p:nvGraphicFramePr>
        <p:xfrm>
          <a:off xmlns:a="http://schemas.openxmlformats.org/drawingml/2006/main" x="571500" y="2190750"/>
          <a:ext xmlns:a="http://schemas.openxmlformats.org/drawingml/2006/main" cx="7334250" cy="3057525"/>
        </p:xfrm>
        <a:graphic xmlns:a="http://schemas.openxmlformats.org/drawingml/2006/main">
          <a:graphicData uri="http://schemas.openxmlformats.org/drawingml/2006/table">
            <a:tbl>
              <a:tblPr/>
              <a:tblGrid>
                <a:gridCol w="2905125"/>
                <a:gridCol w="4429125"/>
              </a:tblGrid>
              <a:tr h="509588">
                <a:tc>
                  <a:txBody>
                    <a:bodyPr/>
                    <a:lstStyle/>
                    <a:p>
                      <a:r>
                        <a:rPr sz="1800" b="1">
                          <a:solidFill>
                            <a:srgbClr val="FFFFFF"/>
                          </a:solidFill>
                          <a:latin typeface="Arial"/>
                          <a:ea typeface="Arial"/>
                          <a:cs typeface="Arial"/>
                        </a:rPr>
                        <a:t>Parámetro</a:t>
                      </a:r>
                    </a:p>
                  </a:txBody>
                  <a:tcPr marL="91440" marR="91440" marT="45720" marB="45720">
                    <a:solidFill>
                      <a:srgbClr val="102A43"/>
                    </a:solidFill>
                  </a:tcPr>
                </a:tc>
                <a:tc>
                  <a:txBody>
                    <a:bodyPr/>
                    <a:lstStyle/>
                    <a:p>
                      <a:r>
                        <a:rPr sz="1800" b="1">
                          <a:solidFill>
                            <a:srgbClr val="FFFFFF"/>
                          </a:solidFill>
                          <a:latin typeface="Arial"/>
                          <a:ea typeface="Arial"/>
                          <a:cs typeface="Arial"/>
                        </a:rPr>
                        <a:t>Valor enviado</a:t>
                      </a:r>
                    </a:p>
                  </a:txBody>
                  <a:tcPr marL="91440" marR="91440" marT="45720" marB="45720">
                    <a:solidFill>
                      <a:srgbClr val="102A43"/>
                    </a:solidFill>
                  </a:tcPr>
                </a:tc>
              </a:tr>
              <a:tr h="509588">
                <a:tc>
                  <a:txBody>
                    <a:bodyPr/>
                    <a:lstStyle/>
                    <a:p>
                      <a:r>
                        <a:rPr sz="1800" b="0">
                          <a:solidFill>
                            <a:srgbClr val="183B4E"/>
                          </a:solidFill>
                          <a:latin typeface="Arial"/>
                          <a:ea typeface="Arial"/>
                          <a:cs typeface="Arial"/>
                        </a:rPr>
                        <a:t>request / version</a:t>
                      </a:r>
                    </a:p>
                  </a:txBody>
                  <a:tcPr marL="91440" marR="91440" marT="45720" marB="45720">
                    <a:solidFill>
                      <a:srgbClr val="FFFFFF"/>
                    </a:solidFill>
                  </a:tcPr>
                </a:tc>
                <a:tc>
                  <a:txBody>
                    <a:bodyPr/>
                    <a:lstStyle/>
                    <a:p>
                      <a:r>
                        <a:rPr sz="1800" b="0">
                          <a:solidFill>
                            <a:srgbClr val="183B4E"/>
                          </a:solidFill>
                          <a:latin typeface="Arial"/>
                          <a:ea typeface="Arial"/>
                          <a:cs typeface="Arial"/>
                        </a:rPr>
                        <a:t>GetFeature / 2.0.0</a:t>
                      </a:r>
                    </a:p>
                  </a:txBody>
                  <a:tcPr marL="91440" marR="91440" marT="45720" marB="45720">
                    <a:solidFill>
                      <a:srgbClr val="FFFFFF"/>
                    </a:solidFill>
                  </a:tcPr>
                </a:tc>
              </a:tr>
              <a:tr h="509588">
                <a:tc>
                  <a:txBody>
                    <a:bodyPr/>
                    <a:lstStyle/>
                    <a:p>
                      <a:r>
                        <a:rPr sz="1800" b="0">
                          <a:solidFill>
                            <a:srgbClr val="183B4E"/>
                          </a:solidFill>
                          <a:latin typeface="Arial"/>
                          <a:ea typeface="Arial"/>
                          <a:cs typeface="Arial"/>
                        </a:rPr>
                        <a:t>typeNames</a:t>
                      </a:r>
                    </a:p>
                  </a:txBody>
                  <a:tcPr marL="91440" marR="91440" marT="45720" marB="45720">
                    <a:solidFill>
                      <a:srgbClr val="EEF5F5"/>
                    </a:solidFill>
                  </a:tcPr>
                </a:tc>
                <a:tc>
                  <a:txBody>
                    <a:bodyPr/>
                    <a:lstStyle/>
                    <a:p>
                      <a:r>
                        <a:rPr sz="1800" b="0">
                          <a:solidFill>
                            <a:srgbClr val="183B4E"/>
                          </a:solidFill>
                          <a:latin typeface="Arial"/>
                          <a:ea typeface="Arial"/>
                          <a:cs typeface="Arial"/>
                        </a:rPr>
                        <a:t>geonode:localidades_censales</a:t>
                      </a:r>
                    </a:p>
                  </a:txBody>
                  <a:tcPr marL="91440" marR="91440" marT="45720" marB="45720">
                    <a:solidFill>
                      <a:srgbClr val="EEF5F5"/>
                    </a:solidFill>
                  </a:tcPr>
                </a:tc>
              </a:tr>
              <a:tr h="509588">
                <a:tc>
                  <a:txBody>
                    <a:bodyPr/>
                    <a:lstStyle/>
                    <a:p>
                      <a:r>
                        <a:rPr sz="1800" b="0">
                          <a:solidFill>
                            <a:srgbClr val="183B4E"/>
                          </a:solidFill>
                          <a:latin typeface="Arial"/>
                          <a:ea typeface="Arial"/>
                          <a:cs typeface="Arial"/>
                        </a:rPr>
                        <a:t>outputFormat / srsName</a:t>
                      </a:r>
                    </a:p>
                  </a:txBody>
                  <a:tcPr marL="91440" marR="91440" marT="45720" marB="45720">
                    <a:solidFill>
                      <a:srgbClr val="FFFFFF"/>
                    </a:solidFill>
                  </a:tcPr>
                </a:tc>
                <a:tc>
                  <a:txBody>
                    <a:bodyPr/>
                    <a:lstStyle/>
                    <a:p>
                      <a:r>
                        <a:rPr sz="1800" b="0">
                          <a:solidFill>
                            <a:srgbClr val="183B4E"/>
                          </a:solidFill>
                          <a:latin typeface="Arial"/>
                          <a:ea typeface="Arial"/>
                          <a:cs typeface="Arial"/>
                        </a:rPr>
                        <a:t>application/json / EPSG:4326</a:t>
                      </a:r>
                    </a:p>
                  </a:txBody>
                  <a:tcPr marL="91440" marR="91440" marT="45720" marB="45720">
                    <a:solidFill>
                      <a:srgbClr val="FFFFFF"/>
                    </a:solidFill>
                  </a:tcPr>
                </a:tc>
              </a:tr>
              <a:tr h="509588">
                <a:tc>
                  <a:txBody>
                    <a:bodyPr/>
                    <a:lstStyle/>
                    <a:p>
                      <a:r>
                        <a:rPr sz="1800" b="0">
                          <a:solidFill>
                            <a:srgbClr val="183B4E"/>
                          </a:solidFill>
                          <a:latin typeface="Arial"/>
                          <a:ea typeface="Arial"/>
                          <a:cs typeface="Arial"/>
                        </a:rPr>
                        <a:t>count / startIndex</a:t>
                      </a:r>
                    </a:p>
                  </a:txBody>
                  <a:tcPr marL="91440" marR="91440" marT="45720" marB="45720">
                    <a:solidFill>
                      <a:srgbClr val="EEF5F5"/>
                    </a:solidFill>
                  </a:tcPr>
                </a:tc>
                <a:tc>
                  <a:txBody>
                    <a:bodyPr/>
                    <a:lstStyle/>
                    <a:p>
                      <a:r>
                        <a:rPr sz="1800" b="0">
                          <a:solidFill>
                            <a:srgbClr val="183B4E"/>
                          </a:solidFill>
                          <a:latin typeface="Arial"/>
                          <a:ea typeface="Arial"/>
                          <a:cs typeface="Arial"/>
                        </a:rPr>
                        <a:t>500 / 0, luego 500, 1.000…</a:t>
                      </a:r>
                    </a:p>
                  </a:txBody>
                  <a:tcPr marL="91440" marR="91440" marT="45720" marB="45720">
                    <a:solidFill>
                      <a:srgbClr val="EEF5F5"/>
                    </a:solidFill>
                  </a:tcPr>
                </a:tc>
              </a:tr>
              <a:tr h="509588">
                <a:tc>
                  <a:txBody>
                    <a:bodyPr/>
                    <a:lstStyle/>
                    <a:p>
                      <a:r>
                        <a:rPr sz="1800" b="0">
                          <a:solidFill>
                            <a:srgbClr val="183B4E"/>
                          </a:solidFill>
                          <a:latin typeface="Arial"/>
                          <a:ea typeface="Arial"/>
                          <a:cs typeface="Arial"/>
                        </a:rPr>
                        <a:t>sortBy</a:t>
                      </a:r>
                    </a:p>
                  </a:txBody>
                  <a:tcPr marL="91440" marR="91440" marT="45720" marB="45720">
                    <a:solidFill>
                      <a:srgbClr val="FFFFFF"/>
                    </a:solidFill>
                  </a:tcPr>
                </a:tc>
                <a:tc>
                  <a:txBody>
                    <a:bodyPr/>
                    <a:lstStyle/>
                    <a:p>
                      <a:r>
                        <a:rPr sz="1800" b="0">
                          <a:solidFill>
                            <a:srgbClr val="183B4E"/>
                          </a:solidFill>
                          <a:latin typeface="Arial"/>
                          <a:ea typeface="Arial"/>
                          <a:cs typeface="Arial"/>
                        </a:rPr>
                        <a:t>fid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D4DD7A-E8F7-4651-8E1E-274D223DA66F}"/>
              </a:ext>
            </a:extLst>
          </p:cNvPr>
          <p:cNvSpPr>
            <a:spLocks xmlns:a="http://schemas.openxmlformats.org/drawingml/2006/main" noGrp="1"/>
          </p:cNvSpPr>
          <p:nvPr/>
        </p:nvSpPr>
        <p:spPr>
          <a:xfrm xmlns:a="http://schemas.openxmlformats.org/drawingml/2006/main">
            <a:off x="8362950" y="2343150"/>
            <a:ext cx="319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Respuesta GeoJSON</a:t>
            </a:r>
          </a:p>
        </p:txBody>
      </p:sp>
      <p:sp>
        <p:nvSpPr>
          <p:cNvPr id="6" name="">
            <a:extLst xmlns:a="http://schemas.openxmlformats.org/drawingml/2006/main">
              <a:ext uri="{FF2B5EF4-FFF2-40B4-BE49-F238E27FC236}">
                <a16:creationId xmlns:a16="http://schemas.microsoft.com/office/drawing/2014/main" id="{A4DF2A49-A34D-4DEF-809E-7F260A2AF5FE}"/>
              </a:ext>
            </a:extLst>
          </p:cNvPr>
          <p:cNvSpPr>
            <a:spLocks xmlns:a="http://schemas.openxmlformats.org/drawingml/2006/main" noGrp="1"/>
          </p:cNvSpPr>
          <p:nvPr/>
        </p:nvSpPr>
        <p:spPr>
          <a:xfrm xmlns:a="http://schemas.openxmlformats.org/drawingml/2006/main">
            <a:off x="8362950" y="3143250"/>
            <a:ext cx="3190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83B4E"/>
                </a:solidFill>
                <a:latin typeface="Arial"/>
                <a:ea typeface="Arial"/>
                <a:cs typeface="Arial"/>
              </a:defRPr>
            </a:defPPr>
          </a:lstStyle>
          <a:p xmlns:a="http://schemas.openxmlformats.org/drawingml/2006/main">
            <a:pPr>
              <a:buNone/>
              <a:defRPr sz="2100" b="0">
                <a:solidFill>
                  <a:srgbClr val="183B4E"/>
                </a:solidFill>
                <a:latin typeface="Arial"/>
                <a:ea typeface="Arial"/>
                <a:cs typeface="Arial"/>
              </a:defRPr>
            </a:pPr>
            <a:r>
              <a:rPr sz="2100" b="0">
                <a:solidFill>
                  <a:srgbClr val="183B4E"/>
                </a:solidFill>
                <a:latin typeface="Arial"/>
                <a:ea typeface="Arial"/>
                <a:cs typeface="Arial"/>
              </a:rPr>
              <a:t>features</a:t>
            </a:r>
          </a:p>
          <a:p xmlns:a="http://schemas.openxmlformats.org/drawingml/2006/main">
            <a:pPr>
              <a:buNone/>
              <a:defRPr sz="2100" b="0">
                <a:solidFill>
                  <a:srgbClr val="183B4E"/>
                </a:solidFill>
                <a:latin typeface="Arial"/>
                <a:ea typeface="Arial"/>
                <a:cs typeface="Arial"/>
              </a:defRPr>
            </a:pPr>
            <a:r>
              <a:rPr sz="2100" b="0">
                <a:solidFill>
                  <a:srgbClr val="183B4E"/>
                </a:solidFill>
                <a:latin typeface="Arial"/>
                <a:ea typeface="Arial"/>
                <a:cs typeface="Arial"/>
              </a:rPr>
              <a:t>numberMatched</a:t>
            </a:r>
          </a:p>
          <a:p xmlns:a="http://schemas.openxmlformats.org/drawingml/2006/main">
            <a:pPr>
              <a:buNone/>
              <a:defRPr sz="2100" b="0">
                <a:solidFill>
                  <a:srgbClr val="183B4E"/>
                </a:solidFill>
                <a:latin typeface="Arial"/>
                <a:ea typeface="Arial"/>
                <a:cs typeface="Arial"/>
              </a:defRPr>
            </a:pPr>
            <a:r>
              <a:rPr sz="2100" b="0">
                <a:solidFill>
                  <a:srgbClr val="183B4E"/>
                </a:solidFill>
                <a:latin typeface="Arial"/>
                <a:ea typeface="Arial"/>
                <a:cs typeface="Arial"/>
              </a:rPr>
              <a:t>numberReturned</a:t>
            </a:r>
          </a:p>
        </p:txBody>
      </p:sp>
      <p:sp>
        <p:nvSpPr>
          <p:cNvPr id="7" name="">
            <a:extLst xmlns:a="http://schemas.openxmlformats.org/drawingml/2006/main">
              <a:ext uri="{FF2B5EF4-FFF2-40B4-BE49-F238E27FC236}">
                <a16:creationId xmlns:a16="http://schemas.microsoft.com/office/drawing/2014/main" id="{F5713B61-7636-4BFF-92BF-761C7A2B263C}"/>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El cliente exige una descarga nacional completa antes del recorte provincial</a:t>
            </a:r>
          </a:p>
        </p:txBody>
      </p:sp>
      <p:sp>
        <p:nvSpPr>
          <p:cNvPr id="9" name="">
            <a:extLst xmlns:a="http://schemas.openxmlformats.org/drawingml/2006/main">
              <a:ext uri="{FF2B5EF4-FFF2-40B4-BE49-F238E27FC236}">
                <a16:creationId xmlns:a16="http://schemas.microsoft.com/office/drawing/2014/main" id="{6F46642F-30A7-401C-A1CC-69AE647F9D13}"/>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04</a:t>
            </a:r>
          </a:p>
        </p:txBody>
      </p:sp>
    </p:spTree>
    <p:extLst>
      <p:ext uri="{BB962C8B-B14F-4D97-AF65-F5344CB8AC3E}">
        <p14:creationId xmlns:p14="http://schemas.microsoft.com/office/powerpoint/2010/main" val="13343421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A0E7B8-8C08-4EE6-AE39-732D702CAA0C}"/>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Los otros accesos a datos</a:t>
            </a:r>
          </a:p>
        </p:txBody>
      </p:sp>
      <p:graphicFrame>
        <p:nvGraphicFramePr>
          <p:cNvPr id="3" name="">
            <a:extLst xmlns:a="http://schemas.openxmlformats.org/drawingml/2006/main">
              <a:ext uri="{FF2B5EF4-FFF2-40B4-BE49-F238E27FC236}">
                <a16:creationId xmlns:a16="http://schemas.microsoft.com/office/drawing/2014/main" id="{F953C31E-5F8A-4B80-96D7-52758DCB1EB6}"/>
              </a:ext>
            </a:extLst>
          </p:cNvPr>
          <p:cNvGraphicFramePr/>
          <p:nvPr/>
        </p:nvGraphicFramePr>
        <p:xfrm>
          <a:off xmlns:a="http://schemas.openxmlformats.org/drawingml/2006/main" x="571500" y="1657350"/>
          <a:ext xmlns:a="http://schemas.openxmlformats.org/drawingml/2006/main" cx="11049000" cy="3524250"/>
        </p:xfrm>
        <a:graphic xmlns:a="http://schemas.openxmlformats.org/drawingml/2006/main">
          <a:graphicData uri="http://schemas.openxmlformats.org/drawingml/2006/table">
            <a:tbl>
              <a:tblPr/>
              <a:tblGrid>
                <a:gridCol w="2809875"/>
                <a:gridCol w="4857750"/>
                <a:gridCol w="3381375"/>
              </a:tblGrid>
              <a:tr h="704850">
                <a:tc>
                  <a:txBody>
                    <a:bodyPr/>
                    <a:lstStyle/>
                    <a:p>
                      <a:r>
                        <a:rPr sz="1875" b="1">
                          <a:solidFill>
                            <a:srgbClr val="FFFFFF"/>
                          </a:solidFill>
                          <a:latin typeface="Arial"/>
                          <a:ea typeface="Arial"/>
                          <a:cs typeface="Arial"/>
                        </a:rPr>
                        <a:t>Recurso</a:t>
                      </a:r>
                    </a:p>
                  </a:txBody>
                  <a:tcPr marL="91440" marR="91440" marT="45720" marB="45720">
                    <a:solidFill>
                      <a:srgbClr val="102A43"/>
                    </a:solidFill>
                  </a:tcPr>
                </a:tc>
                <a:tc>
                  <a:txBody>
                    <a:bodyPr/>
                    <a:lstStyle/>
                    <a:p>
                      <a:r>
                        <a:rPr sz="1875" b="1">
                          <a:solidFill>
                            <a:srgbClr val="FFFFFF"/>
                          </a:solidFill>
                          <a:latin typeface="Arial"/>
                          <a:ea typeface="Arial"/>
                          <a:cs typeface="Arial"/>
                        </a:rPr>
                        <a:t>Petición / acceso</a:t>
                      </a:r>
                    </a:p>
                  </a:txBody>
                  <a:tcPr marL="91440" marR="91440" marT="45720" marB="45720">
                    <a:solidFill>
                      <a:srgbClr val="102A43"/>
                    </a:solidFill>
                  </a:tcPr>
                </a:tc>
                <a:tc>
                  <a:txBody>
                    <a:bodyPr/>
                    <a:lstStyle/>
                    <a:p>
                      <a:r>
                        <a:rPr sz="1875" b="1">
                          <a:solidFill>
                            <a:srgbClr val="FFFFFF"/>
                          </a:solidFill>
                          <a:latin typeface="Arial"/>
                          <a:ea typeface="Arial"/>
                          <a:cs typeface="Arial"/>
                        </a:rPr>
                        <a:t>Respuesta</a:t>
                      </a:r>
                    </a:p>
                  </a:txBody>
                  <a:tcPr marL="91440" marR="91440" marT="45720" marB="45720">
                    <a:solidFill>
                      <a:srgbClr val="102A43"/>
                    </a:solidFill>
                  </a:tcPr>
                </a:tc>
              </a:tr>
              <a:tr h="704850">
                <a:tc>
                  <a:txBody>
                    <a:bodyPr/>
                    <a:lstStyle/>
                    <a:p>
                      <a:r>
                        <a:rPr sz="1875" b="0">
                          <a:solidFill>
                            <a:srgbClr val="183B4E"/>
                          </a:solidFill>
                          <a:latin typeface="Arial"/>
                          <a:ea typeface="Arial"/>
                          <a:cs typeface="Arial"/>
                        </a:rPr>
                        <a:t>Límite IGN</a:t>
                      </a:r>
                    </a:p>
                  </a:txBody>
                  <a:tcPr marL="91440" marR="91440" marT="45720" marB="45720">
                    <a:solidFill>
                      <a:srgbClr val="FFFFFF"/>
                    </a:solidFill>
                  </a:tcPr>
                </a:tc>
                <a:tc>
                  <a:txBody>
                    <a:bodyPr/>
                    <a:lstStyle/>
                    <a:p>
                      <a:r>
                        <a:rPr sz="1875" b="0">
                          <a:solidFill>
                            <a:srgbClr val="183B4E"/>
                          </a:solidFill>
                          <a:latin typeface="Arial"/>
                          <a:ea typeface="Arial"/>
                          <a:cs typeface="Arial"/>
                        </a:rPr>
                        <a:t>Descarga del ZIP</a:t>
                      </a:r>
                    </a:p>
                  </a:txBody>
                  <a:tcPr marL="91440" marR="91440" marT="45720" marB="45720">
                    <a:solidFill>
                      <a:srgbClr val="FFFFFF"/>
                    </a:solidFill>
                  </a:tcPr>
                </a:tc>
                <a:tc>
                  <a:txBody>
                    <a:bodyPr/>
                    <a:lstStyle/>
                    <a:p>
                      <a:r>
                        <a:rPr sz="1875" b="0">
                          <a:solidFill>
                            <a:srgbClr val="183B4E"/>
                          </a:solidFill>
                          <a:latin typeface="Arial"/>
                          <a:ea typeface="Arial"/>
                          <a:cs typeface="Arial"/>
                        </a:rPr>
                        <a:t>Shapefile y CRS</a:t>
                      </a:r>
                    </a:p>
                  </a:txBody>
                  <a:tcPr marL="91440" marR="91440" marT="45720" marB="45720">
                    <a:solidFill>
                      <a:srgbClr val="FFFFFF"/>
                    </a:solidFill>
                  </a:tcPr>
                </a:tc>
              </a:tr>
              <a:tr h="704850">
                <a:tc>
                  <a:txBody>
                    <a:bodyPr/>
                    <a:lstStyle/>
                    <a:p>
                      <a:r>
                        <a:rPr sz="1875" b="0">
                          <a:solidFill>
                            <a:srgbClr val="183B4E"/>
                          </a:solidFill>
                          <a:latin typeface="Arial"/>
                          <a:ea typeface="Arial"/>
                          <a:cs typeface="Arial"/>
                        </a:rPr>
                        <a:t>Líneas eléctricas</a:t>
                      </a:r>
                    </a:p>
                  </a:txBody>
                  <a:tcPr marL="91440" marR="91440" marT="45720" marB="45720">
                    <a:solidFill>
                      <a:srgbClr val="EEF5F5"/>
                    </a:solidFill>
                  </a:tcPr>
                </a:tc>
                <a:tc>
                  <a:txBody>
                    <a:bodyPr/>
                    <a:lstStyle/>
                    <a:p>
                      <a:r>
                        <a:rPr sz="1875" b="0">
                          <a:solidFill>
                            <a:srgbClr val="183B4E"/>
                          </a:solidFill>
                          <a:latin typeface="Arial"/>
                          <a:ea typeface="Arial"/>
                          <a:cs typeface="Arial"/>
                        </a:rPr>
                        <a:t>datastore_search</a:t>
                      </a:r>
                    </a:p>
                    <a:p>
                      <a:r>
                        <a:rPr sz="1875" b="0">
                          <a:solidFill>
                            <a:srgbClr val="183B4E"/>
                          </a:solidFill>
                          <a:latin typeface="Arial"/>
                          <a:ea typeface="Arial"/>
                          <a:cs typeface="Arial"/>
                        </a:rPr>
                        <a:t>resource_id, limit, offset</a:t>
                      </a:r>
                    </a:p>
                  </a:txBody>
                  <a:tcPr marL="91440" marR="91440" marT="45720" marB="45720">
                    <a:solidFill>
                      <a:srgbClr val="EEF5F5"/>
                    </a:solidFill>
                  </a:tcPr>
                </a:tc>
                <a:tc>
                  <a:txBody>
                    <a:bodyPr/>
                    <a:lstStyle/>
                    <a:p>
                      <a:r>
                        <a:rPr sz="1875" b="0">
                          <a:solidFill>
                            <a:srgbClr val="183B4E"/>
                          </a:solidFill>
                          <a:latin typeface="Arial"/>
                          <a:ea typeface="Arial"/>
                          <a:cs typeface="Arial"/>
                        </a:rPr>
                        <a:t>JSON con geometrías</a:t>
                      </a:r>
                    </a:p>
                  </a:txBody>
                  <a:tcPr marL="91440" marR="91440" marT="45720" marB="45720">
                    <a:solidFill>
                      <a:srgbClr val="EEF5F5"/>
                    </a:solidFill>
                  </a:tcPr>
                </a:tc>
              </a:tr>
              <a:tr h="704850">
                <a:tc>
                  <a:txBody>
                    <a:bodyPr/>
                    <a:lstStyle/>
                    <a:p>
                      <a:r>
                        <a:rPr sz="1875" b="0">
                          <a:solidFill>
                            <a:srgbClr val="183B4E"/>
                          </a:solidFill>
                          <a:latin typeface="Arial"/>
                          <a:ea typeface="Arial"/>
                          <a:cs typeface="Arial"/>
                        </a:rPr>
                        <a:t>Estaciones</a:t>
                      </a:r>
                    </a:p>
                  </a:txBody>
                  <a:tcPr marL="91440" marR="91440" marT="45720" marB="45720">
                    <a:solidFill>
                      <a:srgbClr val="FFFFFF"/>
                    </a:solidFill>
                  </a:tcPr>
                </a:tc>
                <a:tc>
                  <a:txBody>
                    <a:bodyPr/>
                    <a:lstStyle/>
                    <a:p>
                      <a:r>
                        <a:rPr sz="1875" b="0">
                          <a:solidFill>
                            <a:srgbClr val="183B4E"/>
                          </a:solidFill>
                          <a:latin typeface="Arial"/>
                          <a:ea typeface="Arial"/>
                          <a:cs typeface="Arial"/>
                        </a:rPr>
                        <a:t>Descarga del archivo</a:t>
                      </a:r>
                    </a:p>
                  </a:txBody>
                  <a:tcPr marL="91440" marR="91440" marT="45720" marB="45720">
                    <a:solidFill>
                      <a:srgbClr val="FFFFFF"/>
                    </a:solidFill>
                  </a:tcPr>
                </a:tc>
                <a:tc>
                  <a:txBody>
                    <a:bodyPr/>
                    <a:lstStyle/>
                    <a:p>
                      <a:r>
                        <a:rPr sz="1875" b="0">
                          <a:solidFill>
                            <a:srgbClr val="183B4E"/>
                          </a:solidFill>
                          <a:latin typeface="Arial"/>
                          <a:ea typeface="Arial"/>
                          <a:cs typeface="Arial"/>
                        </a:rPr>
                        <a:t>CSV con ubicaciones</a:t>
                      </a:r>
                    </a:p>
                  </a:txBody>
                  <a:tcPr marL="91440" marR="91440" marT="45720" marB="45720">
                    <a:solidFill>
                      <a:srgbClr val="FFFFFF"/>
                    </a:solidFill>
                  </a:tcPr>
                </a:tc>
              </a:tr>
              <a:tr h="704850">
                <a:tc>
                  <a:txBody>
                    <a:bodyPr/>
                    <a:lstStyle/>
                    <a:p>
                      <a:r>
                        <a:rPr sz="1875" b="0">
                          <a:solidFill>
                            <a:srgbClr val="183B4E"/>
                          </a:solidFill>
                          <a:latin typeface="Arial"/>
                          <a:ea typeface="Arial"/>
                          <a:cs typeface="Arial"/>
                        </a:rPr>
                        <a:t>Radiación ARCO</a:t>
                      </a:r>
                    </a:p>
                  </a:txBody>
                  <a:tcPr marL="91440" marR="91440" marT="45720" marB="45720">
                    <a:solidFill>
                      <a:srgbClr val="EEF5F5"/>
                    </a:solidFill>
                  </a:tcPr>
                </a:tc>
                <a:tc>
                  <a:txBody>
                    <a:bodyPr/>
                    <a:lstStyle/>
                    <a:p>
                      <a:r>
                        <a:rPr sz="1875" b="0">
                          <a:solidFill>
                            <a:srgbClr val="183B4E"/>
                          </a:solidFill>
                          <a:latin typeface="Arial"/>
                          <a:ea typeface="Arial"/>
                          <a:cs typeface="Arial"/>
                        </a:rPr>
                        <a:t>Lectura de bloques Zarr</a:t>
                      </a:r>
                    </a:p>
                    <a:p>
                      <a:r>
                        <a:rPr sz="1875" b="0">
                          <a:solidFill>
                            <a:srgbClr val="183B4E"/>
                          </a:solidFill>
                          <a:latin typeface="Arial"/>
                          <a:ea typeface="Arial"/>
                          <a:cs typeface="Arial"/>
                        </a:rPr>
                        <a:t>Autorización CDS</a:t>
                      </a:r>
                    </a:p>
                  </a:txBody>
                  <a:tcPr marL="91440" marR="91440" marT="45720" marB="45720">
                    <a:solidFill>
                      <a:srgbClr val="EEF5F5"/>
                    </a:solidFill>
                  </a:tcPr>
                </a:tc>
                <a:tc>
                  <a:txBody>
                    <a:bodyPr/>
                    <a:lstStyle/>
                    <a:p>
                      <a:r>
                        <a:rPr sz="1875" b="0">
                          <a:solidFill>
                            <a:srgbClr val="183B4E"/>
                          </a:solidFill>
                          <a:latin typeface="Arial"/>
                          <a:ea typeface="Arial"/>
                          <a:cs typeface="Arial"/>
                        </a:rPr>
                        <a:t>Series horarias SSRD</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851405F0-20B6-4F1F-BFB5-BF97D0641CB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--download obtiene las capas vectoriales. --process también consulta el clima</a:t>
            </a:r>
          </a:p>
        </p:txBody>
      </p:sp>
      <p:sp>
        <p:nvSpPr>
          <p:cNvPr id="6" name="">
            <a:extLst xmlns:a="http://schemas.openxmlformats.org/drawingml/2006/main">
              <a:ext uri="{FF2B5EF4-FFF2-40B4-BE49-F238E27FC236}">
                <a16:creationId xmlns:a16="http://schemas.microsoft.com/office/drawing/2014/main" id="{D875F3C0-4B20-4FE3-B790-B5558D2C7577}"/>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05</a:t>
            </a:r>
          </a:p>
        </p:txBody>
      </p:sp>
    </p:spTree>
    <p:extLst>
      <p:ext uri="{BB962C8B-B14F-4D97-AF65-F5344CB8AC3E}">
        <p14:creationId xmlns:p14="http://schemas.microsoft.com/office/powerpoint/2010/main" val="8953640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34CF28-56BF-4268-8089-52FAE29EB34F}"/>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Radiación: de horas a un indicador anual</a:t>
            </a:r>
          </a:p>
        </p:txBody>
      </p:sp>
      <p:pic>
        <p:nvPicPr>
          <p:cNvPr id="9" name="">
            <a:extLst xmlns:a="http://schemas.openxmlformats.org/drawingml/2006/main">
              <a:ext uri="{FF2B5EF4-FFF2-40B4-BE49-F238E27FC236}">
                <a16:creationId xmlns:a16="http://schemas.microsoft.com/office/drawing/2014/main" id="{8E586314-96C1-41AA-A10E-8E0AA315D236}"/>
              </a:ext>
            </a:extLst>
          </p:cNvPr>
          <p:cNvPicPr>
            <a:picLocks xmlns:a="http://schemas.openxmlformats.org/drawingml/2006/main" noChangeAspect="1"/>
          </p:cNvPicPr>
          <p:nvPr/>
        </p:nvPicPr>
        <p:blipFill>
          <a:blip xmlns:r="http://schemas.openxmlformats.org/officeDocument/2006/relationships" xmlns:a="http://schemas.openxmlformats.org/drawingml/2006/main" r:embed="R0faf18b82fba476f"/>
          <a:srcRect xmlns:a="http://schemas.openxmlformats.org/drawingml/2006/main" l="0" t="13000" r="0" b="15000"/>
          <a:stretch xmlns:a="http://schemas.openxmlformats.org/drawingml/2006/main"/>
        </p:blipFill>
        <p:spPr>
          <a:xfrm xmlns:a="http://schemas.openxmlformats.org/drawingml/2006/main">
            <a:off x="571500" y="1733550"/>
            <a:ext cx="11049000" cy="39719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FD6EC19-736B-4CC4-ADAC-7B957DB53723}"/>
              </a:ext>
            </a:extLst>
          </p:cNvPr>
          <p:cNvSpPr>
            <a:spLocks xmlns:a="http://schemas.openxmlformats.org/drawingml/2006/main" noGrp="1"/>
          </p:cNvSpPr>
          <p:nvPr/>
        </p:nvSpPr>
        <p:spPr>
          <a:xfrm xmlns:a="http://schemas.openxmlformats.org/drawingml/2006/main">
            <a:off x="1066800" y="13430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Horas SSRD</a:t>
            </a:r>
          </a:p>
        </p:txBody>
      </p:sp>
      <p:sp>
        <p:nvSpPr>
          <p:cNvPr id="11" name="">
            <a:extLst xmlns:a="http://schemas.openxmlformats.org/drawingml/2006/main">
              <a:ext uri="{FF2B5EF4-FFF2-40B4-BE49-F238E27FC236}">
                <a16:creationId xmlns:a16="http://schemas.microsoft.com/office/drawing/2014/main" id="{31E837D6-3AAC-47E9-A0EF-211A1AD6326B}"/>
              </a:ext>
            </a:extLst>
          </p:cNvPr>
          <p:cNvSpPr>
            <a:spLocks xmlns:a="http://schemas.openxmlformats.org/drawingml/2006/main" noGrp="1"/>
          </p:cNvSpPr>
          <p:nvPr/>
        </p:nvSpPr>
        <p:spPr>
          <a:xfrm xmlns:a="http://schemas.openxmlformats.org/drawingml/2006/main">
            <a:off x="1066800" y="5676900"/>
            <a:ext cx="242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Radiación recibida</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J/m² ÷ 3.600.000</a:t>
            </a:r>
          </a:p>
        </p:txBody>
      </p:sp>
      <p:sp>
        <p:nvSpPr>
          <p:cNvPr id="12" name="">
            <a:extLst xmlns:a="http://schemas.openxmlformats.org/drawingml/2006/main">
              <a:ext uri="{FF2B5EF4-FFF2-40B4-BE49-F238E27FC236}">
                <a16:creationId xmlns:a16="http://schemas.microsoft.com/office/drawing/2014/main" id="{2F7035DD-9ED5-4841-846B-F7D905BC6F53}"/>
              </a:ext>
            </a:extLst>
          </p:cNvPr>
          <p:cNvSpPr>
            <a:spLocks xmlns:a="http://schemas.openxmlformats.org/drawingml/2006/main" noGrp="1"/>
          </p:cNvSpPr>
          <p:nvPr/>
        </p:nvSpPr>
        <p:spPr>
          <a:xfrm xmlns:a="http://schemas.openxmlformats.org/drawingml/2006/main">
            <a:off x="3571875" y="13430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Mes completo</a:t>
            </a:r>
          </a:p>
        </p:txBody>
      </p:sp>
      <p:sp>
        <p:nvSpPr>
          <p:cNvPr id="13" name="">
            <a:extLst xmlns:a="http://schemas.openxmlformats.org/drawingml/2006/main">
              <a:ext uri="{FF2B5EF4-FFF2-40B4-BE49-F238E27FC236}">
                <a16:creationId xmlns:a16="http://schemas.microsoft.com/office/drawing/2014/main" id="{B5E3A3E8-69CE-4FB9-88AB-00C3C5CC0D27}"/>
              </a:ext>
            </a:extLst>
          </p:cNvPr>
          <p:cNvSpPr>
            <a:spLocks xmlns:a="http://schemas.openxmlformats.org/drawingml/2006/main" noGrp="1"/>
          </p:cNvSpPr>
          <p:nvPr/>
        </p:nvSpPr>
        <p:spPr>
          <a:xfrm xmlns:a="http://schemas.openxmlformats.org/drawingml/2006/main">
            <a:off x="3571875" y="5676900"/>
            <a:ext cx="242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Todas las horas del mes</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deben tener datos válidos</a:t>
            </a:r>
          </a:p>
        </p:txBody>
      </p:sp>
      <p:sp>
        <p:nvSpPr>
          <p:cNvPr id="14" name="">
            <a:extLst xmlns:a="http://schemas.openxmlformats.org/drawingml/2006/main">
              <a:ext uri="{FF2B5EF4-FFF2-40B4-BE49-F238E27FC236}">
                <a16:creationId xmlns:a16="http://schemas.microsoft.com/office/drawing/2014/main" id="{326023BC-F254-4AE7-8C71-F7F28240230E}"/>
              </a:ext>
            </a:extLst>
          </p:cNvPr>
          <p:cNvSpPr>
            <a:spLocks xmlns:a="http://schemas.openxmlformats.org/drawingml/2006/main" noGrp="1"/>
          </p:cNvSpPr>
          <p:nvPr/>
        </p:nvSpPr>
        <p:spPr>
          <a:xfrm xmlns:a="http://schemas.openxmlformats.org/drawingml/2006/main">
            <a:off x="6076950" y="13430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Media interanual</a:t>
            </a:r>
          </a:p>
        </p:txBody>
      </p:sp>
      <p:sp>
        <p:nvSpPr>
          <p:cNvPr id="15" name="">
            <a:extLst xmlns:a="http://schemas.openxmlformats.org/drawingml/2006/main">
              <a:ext uri="{FF2B5EF4-FFF2-40B4-BE49-F238E27FC236}">
                <a16:creationId xmlns:a16="http://schemas.microsoft.com/office/drawing/2014/main" id="{A05C12ED-5187-4CA3-9C8D-AECD1FF12471}"/>
              </a:ext>
            </a:extLst>
          </p:cNvPr>
          <p:cNvSpPr>
            <a:spLocks xmlns:a="http://schemas.openxmlformats.org/drawingml/2006/main" noGrp="1"/>
          </p:cNvSpPr>
          <p:nvPr/>
        </p:nvSpPr>
        <p:spPr>
          <a:xfrm xmlns:a="http://schemas.openxmlformats.org/drawingml/2006/main">
            <a:off x="6076950" y="5676900"/>
            <a:ext cx="242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Promedio por mes</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entre años completos</a:t>
            </a:r>
          </a:p>
        </p:txBody>
      </p:sp>
      <p:sp>
        <p:nvSpPr>
          <p:cNvPr id="16" name="">
            <a:extLst xmlns:a="http://schemas.openxmlformats.org/drawingml/2006/main">
              <a:ext uri="{FF2B5EF4-FFF2-40B4-BE49-F238E27FC236}">
                <a16:creationId xmlns:a16="http://schemas.microsoft.com/office/drawing/2014/main" id="{F8CC3A71-76DF-48AE-9A73-4A5B9A36572E}"/>
              </a:ext>
            </a:extLst>
          </p:cNvPr>
          <p:cNvSpPr>
            <a:spLocks xmlns:a="http://schemas.openxmlformats.org/drawingml/2006/main" noGrp="1"/>
          </p:cNvSpPr>
          <p:nvPr/>
        </p:nvSpPr>
        <p:spPr>
          <a:xfrm xmlns:a="http://schemas.openxmlformats.org/drawingml/2006/main">
            <a:off x="8582025" y="1343025"/>
            <a:ext cx="2428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Estimación anual</a:t>
            </a:r>
          </a:p>
        </p:txBody>
      </p:sp>
      <p:sp>
        <p:nvSpPr>
          <p:cNvPr id="17" name="">
            <a:extLst xmlns:a="http://schemas.openxmlformats.org/drawingml/2006/main">
              <a:ext uri="{FF2B5EF4-FFF2-40B4-BE49-F238E27FC236}">
                <a16:creationId xmlns:a16="http://schemas.microsoft.com/office/drawing/2014/main" id="{C814F557-52A1-495D-A3ED-2153E20247D0}"/>
              </a:ext>
            </a:extLst>
          </p:cNvPr>
          <p:cNvSpPr>
            <a:spLocks xmlns:a="http://schemas.openxmlformats.org/drawingml/2006/main" noGrp="1"/>
          </p:cNvSpPr>
          <p:nvPr/>
        </p:nvSpPr>
        <p:spPr>
          <a:xfrm xmlns:a="http://schemas.openxmlformats.org/drawingml/2006/main">
            <a:off x="8582025" y="5676900"/>
            <a:ext cx="242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Media diaria × días</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de cada estación</a:t>
            </a:r>
          </a:p>
        </p:txBody>
      </p:sp>
      <p:sp>
        <p:nvSpPr>
          <p:cNvPr id="18" name="">
            <a:extLst xmlns:a="http://schemas.openxmlformats.org/drawingml/2006/main">
              <a:ext uri="{FF2B5EF4-FFF2-40B4-BE49-F238E27FC236}">
                <a16:creationId xmlns:a16="http://schemas.microsoft.com/office/drawing/2014/main" id="{590B5C0D-DDBA-463F-B6D8-8EF6AA545B31}"/>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06</a:t>
            </a:r>
          </a:p>
        </p:txBody>
      </p:sp>
    </p:spTree>
    <p:extLst>
      <p:ext uri="{BB962C8B-B14F-4D97-AF65-F5344CB8AC3E}">
        <p14:creationId xmlns:p14="http://schemas.microsoft.com/office/powerpoint/2010/main" val="16648236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6C054C5-074B-435C-B31A-545BD8805F9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Preparación y persistencia</a:t>
            </a:r>
          </a:p>
        </p:txBody>
      </p:sp>
      <p:sp>
        <p:nvSpPr>
          <p:cNvPr id="3" name="">
            <a:extLst xmlns:a="http://schemas.openxmlformats.org/drawingml/2006/main">
              <a:ext uri="{FF2B5EF4-FFF2-40B4-BE49-F238E27FC236}">
                <a16:creationId xmlns:a16="http://schemas.microsoft.com/office/drawing/2014/main" id="{DE1ABB23-4561-4678-B67E-07A95C0CF63C}"/>
              </a:ext>
            </a:extLst>
          </p:cNvPr>
          <p:cNvSpPr>
            <a:spLocks xmlns:a="http://schemas.openxmlformats.org/drawingml/2006/main" noGrp="1"/>
          </p:cNvSpPr>
          <p:nvPr/>
        </p:nvSpPr>
        <p:spPr>
          <a:xfrm xmlns:a="http://schemas.openxmlformats.org/drawingml/2006/main">
            <a:off x="5715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ABE821A-183A-4879-A90D-C26CAB63D7B1}"/>
              </a:ext>
            </a:extLst>
          </p:cNvPr>
          <p:cNvSpPr>
            <a:spLocks xmlns:a="http://schemas.openxmlformats.org/drawingml/2006/main" noGrp="1"/>
          </p:cNvSpPr>
          <p:nvPr/>
        </p:nvSpPr>
        <p:spPr>
          <a:xfrm xmlns:a="http://schemas.openxmlformats.org/drawingml/2006/main">
            <a:off x="5715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Fuentes y caché</a:t>
            </a:r>
          </a:p>
        </p:txBody>
      </p:sp>
      <p:sp>
        <p:nvSpPr>
          <p:cNvPr id="5" name="">
            <a:extLst xmlns:a="http://schemas.openxmlformats.org/drawingml/2006/main">
              <a:ext uri="{FF2B5EF4-FFF2-40B4-BE49-F238E27FC236}">
                <a16:creationId xmlns:a16="http://schemas.microsoft.com/office/drawing/2014/main" id="{C90E4586-02A1-4793-9539-7A517B7267C7}"/>
              </a:ext>
            </a:extLst>
          </p:cNvPr>
          <p:cNvSpPr>
            <a:spLocks xmlns:a="http://schemas.openxmlformats.org/drawingml/2006/main" noGrp="1"/>
          </p:cNvSpPr>
          <p:nvPr/>
        </p:nvSpPr>
        <p:spPr>
          <a:xfrm xmlns:a="http://schemas.openxmlformats.org/drawingml/2006/main">
            <a:off x="5715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Capas vectoriales en disco</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Bloques climáticos NPZ</a:t>
            </a:r>
          </a:p>
        </p:txBody>
      </p:sp>
      <p:sp>
        <p:nvSpPr>
          <p:cNvPr id="6" name="">
            <a:extLst xmlns:a="http://schemas.openxmlformats.org/drawingml/2006/main">
              <a:ext uri="{FF2B5EF4-FFF2-40B4-BE49-F238E27FC236}">
                <a16:creationId xmlns:a16="http://schemas.microsoft.com/office/drawing/2014/main" id="{60E0D06F-E5E6-482A-9B27-DACDA0B5C433}"/>
              </a:ext>
            </a:extLst>
          </p:cNvPr>
          <p:cNvSpPr>
            <a:spLocks xmlns:a="http://schemas.openxmlformats.org/drawingml/2006/main" noGrp="1"/>
          </p:cNvSpPr>
          <p:nvPr/>
        </p:nvSpPr>
        <p:spPr>
          <a:xfrm xmlns:a="http://schemas.openxmlformats.org/drawingml/2006/main">
            <a:off x="34290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71F7A96B-DC66-42B5-ADA8-B758C2D81CD3}"/>
              </a:ext>
            </a:extLst>
          </p:cNvPr>
          <p:cNvSpPr>
            <a:spLocks xmlns:a="http://schemas.openxmlformats.org/drawingml/2006/main" noGrp="1"/>
          </p:cNvSpPr>
          <p:nvPr/>
        </p:nvSpPr>
        <p:spPr>
          <a:xfrm xmlns:a="http://schemas.openxmlformats.org/drawingml/2006/main">
            <a:off x="34290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Procesamiento</a:t>
            </a:r>
          </a:p>
        </p:txBody>
      </p:sp>
      <p:sp>
        <p:nvSpPr>
          <p:cNvPr id="8" name="">
            <a:extLst xmlns:a="http://schemas.openxmlformats.org/drawingml/2006/main">
              <a:ext uri="{FF2B5EF4-FFF2-40B4-BE49-F238E27FC236}">
                <a16:creationId xmlns:a16="http://schemas.microsoft.com/office/drawing/2014/main" id="{7B650ED7-7500-4EF3-82DF-543167A7E109}"/>
              </a:ext>
            </a:extLst>
          </p:cNvPr>
          <p:cNvSpPr>
            <a:spLocks xmlns:a="http://schemas.openxmlformats.org/drawingml/2006/main" noGrp="1"/>
          </p:cNvSpPr>
          <p:nvPr/>
        </p:nvSpPr>
        <p:spPr>
          <a:xfrm xmlns:a="http://schemas.openxmlformats.org/drawingml/2006/main">
            <a:off x="34290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Grilla, máscara urbana</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Clima y vecinos por borde</a:t>
            </a:r>
          </a:p>
        </p:txBody>
      </p:sp>
      <p:sp>
        <p:nvSpPr>
          <p:cNvPr id="9" name="">
            <a:extLst xmlns:a="http://schemas.openxmlformats.org/drawingml/2006/main">
              <a:ext uri="{FF2B5EF4-FFF2-40B4-BE49-F238E27FC236}">
                <a16:creationId xmlns:a16="http://schemas.microsoft.com/office/drawing/2014/main" id="{4DF59C3E-2E34-48A1-88C7-BD6A26919164}"/>
              </a:ext>
            </a:extLst>
          </p:cNvPr>
          <p:cNvSpPr>
            <a:spLocks xmlns:a="http://schemas.openxmlformats.org/drawingml/2006/main" noGrp="1"/>
          </p:cNvSpPr>
          <p:nvPr/>
        </p:nvSpPr>
        <p:spPr>
          <a:xfrm xmlns:a="http://schemas.openxmlformats.org/drawingml/2006/main">
            <a:off x="62865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B83934A-622D-4990-852C-63593A7ABE74}"/>
              </a:ext>
            </a:extLst>
          </p:cNvPr>
          <p:cNvSpPr>
            <a:spLocks xmlns:a="http://schemas.openxmlformats.org/drawingml/2006/main" noGrp="1"/>
          </p:cNvSpPr>
          <p:nvPr/>
        </p:nvSpPr>
        <p:spPr>
          <a:xfrm xmlns:a="http://schemas.openxmlformats.org/drawingml/2006/main">
            <a:off x="62865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Snapshot SQLite</a:t>
            </a:r>
          </a:p>
        </p:txBody>
      </p:sp>
      <p:sp>
        <p:nvSpPr>
          <p:cNvPr id="11" name="">
            <a:extLst xmlns:a="http://schemas.openxmlformats.org/drawingml/2006/main">
              <a:ext uri="{FF2B5EF4-FFF2-40B4-BE49-F238E27FC236}">
                <a16:creationId xmlns:a16="http://schemas.microsoft.com/office/drawing/2014/main" id="{84D07940-AE3A-4B53-8D32-07FB7EFF5B2E}"/>
              </a:ext>
            </a:extLst>
          </p:cNvPr>
          <p:cNvSpPr>
            <a:spLocks xmlns:a="http://schemas.openxmlformats.org/drawingml/2006/main" noGrp="1"/>
          </p:cNvSpPr>
          <p:nvPr/>
        </p:nvSpPr>
        <p:spPr>
          <a:xfrm xmlns:a="http://schemas.openxmlformats.org/drawingml/2006/main">
            <a:off x="62865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Celdas y geometrías</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ID basado en contenido</a:t>
            </a:r>
          </a:p>
        </p:txBody>
      </p:sp>
      <p:sp>
        <p:nvSpPr>
          <p:cNvPr id="12" name="">
            <a:extLst xmlns:a="http://schemas.openxmlformats.org/drawingml/2006/main">
              <a:ext uri="{FF2B5EF4-FFF2-40B4-BE49-F238E27FC236}">
                <a16:creationId xmlns:a16="http://schemas.microsoft.com/office/drawing/2014/main" id="{DA58E118-49E8-44F7-A41B-846AE2089F95}"/>
              </a:ext>
            </a:extLst>
          </p:cNvPr>
          <p:cNvSpPr>
            <a:spLocks xmlns:a="http://schemas.openxmlformats.org/drawingml/2006/main" noGrp="1"/>
          </p:cNvSpPr>
          <p:nvPr/>
        </p:nvSpPr>
        <p:spPr>
          <a:xfrm xmlns:a="http://schemas.openxmlformats.org/drawingml/2006/main">
            <a:off x="9144000" y="17526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650" b="1">
                <a:solidFill>
                  <a:srgbClr val="C7902C"/>
                </a:solidFill>
                <a:latin typeface="Arial"/>
                <a:ea typeface="Arial"/>
                <a:cs typeface="Arial"/>
              </a:defRPr>
            </a:defPPr>
          </a:lstStyle>
          <a:p xmlns:a="http://schemas.openxmlformats.org/drawingml/2006/main">
            <a:pPr>
              <a:buNone/>
              <a:defRPr sz="4650" b="1">
                <a:solidFill>
                  <a:srgbClr val="C7902C"/>
                </a:solidFill>
                <a:latin typeface="Arial"/>
                <a:ea typeface="Arial"/>
                <a:cs typeface="Arial"/>
              </a:defRPr>
            </a:pPr>
            <a:r>
              <a:rPr sz="4650" b="1">
                <a:solidFill>
                  <a:srgbClr val="C7902C"/>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D2A1C233-23FF-4F35-AED7-92D3D1E87BCA}"/>
              </a:ext>
            </a:extLst>
          </p:cNvPr>
          <p:cNvSpPr>
            <a:spLocks xmlns:a="http://schemas.openxmlformats.org/drawingml/2006/main" noGrp="1"/>
          </p:cNvSpPr>
          <p:nvPr/>
        </p:nvSpPr>
        <p:spPr>
          <a:xfrm xmlns:a="http://schemas.openxmlformats.org/drawingml/2006/main">
            <a:off x="9144000" y="285750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Optimización local</a:t>
            </a:r>
          </a:p>
        </p:txBody>
      </p:sp>
      <p:sp>
        <p:nvSpPr>
          <p:cNvPr id="14" name="">
            <a:extLst xmlns:a="http://schemas.openxmlformats.org/drawingml/2006/main">
              <a:ext uri="{FF2B5EF4-FFF2-40B4-BE49-F238E27FC236}">
                <a16:creationId xmlns:a16="http://schemas.microsoft.com/office/drawing/2014/main" id="{B4C4FA9A-78EB-4E32-9A7B-1B5C2CB00855}"/>
              </a:ext>
            </a:extLst>
          </p:cNvPr>
          <p:cNvSpPr>
            <a:spLocks xmlns:a="http://schemas.openxmlformats.org/drawingml/2006/main" noGrp="1"/>
          </p:cNvSpPr>
          <p:nvPr/>
        </p:nvSpPr>
        <p:spPr>
          <a:xfrm xmlns:a="http://schemas.openxmlformats.org/drawingml/2006/main">
            <a:off x="9144000" y="4000500"/>
            <a:ext cx="2400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183B4E"/>
                </a:solidFill>
                <a:latin typeface="Arial"/>
                <a:ea typeface="Arial"/>
                <a:cs typeface="Arial"/>
              </a:defRPr>
            </a:defPPr>
          </a:lstStyle>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Población y fitness</a:t>
            </a:r>
          </a:p>
          <a:p xmlns:a="http://schemas.openxmlformats.org/drawingml/2006/main">
            <a:pPr>
              <a:buNone/>
              <a:defRPr sz="1875" b="0">
                <a:solidFill>
                  <a:srgbClr val="183B4E"/>
                </a:solidFill>
                <a:latin typeface="Arial"/>
                <a:ea typeface="Arial"/>
                <a:cs typeface="Arial"/>
              </a:defRPr>
            </a:pPr>
            <a:r>
              <a:rPr sz="1875" b="0">
                <a:solidFill>
                  <a:srgbClr val="183B4E"/>
                </a:solidFill>
                <a:latin typeface="Arial"/>
                <a:ea typeface="Arial"/>
                <a:cs typeface="Arial"/>
              </a:rPr>
              <a:t>CSV, GeoJSON y HTML</a:t>
            </a:r>
          </a:p>
        </p:txBody>
      </p:sp>
      <p:sp>
        <p:nvSpPr>
          <p:cNvPr id="15" name="">
            <a:extLst xmlns:a="http://schemas.openxmlformats.org/drawingml/2006/main">
              <a:ext uri="{FF2B5EF4-FFF2-40B4-BE49-F238E27FC236}">
                <a16:creationId xmlns:a16="http://schemas.microsoft.com/office/drawing/2014/main" id="{EF0B51BC-9602-4443-A8AB-2386125489C4}"/>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Las consultas externas terminan antes del bucle de generaciones</a:t>
            </a:r>
          </a:p>
        </p:txBody>
      </p:sp>
      <p:sp>
        <p:nvSpPr>
          <p:cNvPr id="17" name="">
            <a:extLst xmlns:a="http://schemas.openxmlformats.org/drawingml/2006/main">
              <a:ext uri="{FF2B5EF4-FFF2-40B4-BE49-F238E27FC236}">
                <a16:creationId xmlns:a16="http://schemas.microsoft.com/office/drawing/2014/main" id="{159D2DA2-1AEA-45FF-9015-7DEE56D9E42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07</a:t>
            </a:r>
          </a:p>
        </p:txBody>
      </p:sp>
    </p:spTree>
    <p:extLst>
      <p:ext uri="{BB962C8B-B14F-4D97-AF65-F5344CB8AC3E}">
        <p14:creationId xmlns:p14="http://schemas.microsoft.com/office/powerpoint/2010/main" val="16699423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9E06B0-E921-49AD-AD63-F782DDE35EF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Caché, validación y trazabilidad</a:t>
            </a:r>
          </a:p>
        </p:txBody>
      </p:sp>
      <p:graphicFrame>
        <p:nvGraphicFramePr>
          <p:cNvPr id="3" name="">
            <a:extLst xmlns:a="http://schemas.openxmlformats.org/drawingml/2006/main">
              <a:ext uri="{FF2B5EF4-FFF2-40B4-BE49-F238E27FC236}">
                <a16:creationId xmlns:a16="http://schemas.microsoft.com/office/drawing/2014/main" id="{9E416348-9FEB-4EB9-84F5-01687AF76795}"/>
              </a:ext>
            </a:extLst>
          </p:cNvPr>
          <p:cNvGraphicFramePr/>
          <p:nvPr/>
        </p:nvGraphicFramePr>
        <p:xfrm>
          <a:off xmlns:a="http://schemas.openxmlformats.org/drawingml/2006/main" x="571500" y="1724025"/>
          <a:ext xmlns:a="http://schemas.openxmlformats.org/drawingml/2006/main" cx="11049000" cy="3381375"/>
        </p:xfrm>
        <a:graphic xmlns:a="http://schemas.openxmlformats.org/drawingml/2006/main">
          <a:graphicData uri="http://schemas.openxmlformats.org/drawingml/2006/table">
            <a:tbl>
              <a:tblPr/>
              <a:tblGrid>
                <a:gridCol w="2762250"/>
                <a:gridCol w="3714750"/>
                <a:gridCol w="4572000"/>
              </a:tblGrid>
              <a:tr h="676275">
                <a:tc>
                  <a:txBody>
                    <a:bodyPr/>
                    <a:lstStyle/>
                    <a:p>
                      <a:r>
                        <a:rPr sz="1800" b="1">
                          <a:solidFill>
                            <a:srgbClr val="FFFFFF"/>
                          </a:solidFill>
                          <a:latin typeface="Arial"/>
                          <a:ea typeface="Arial"/>
                          <a:cs typeface="Arial"/>
                        </a:rPr>
                        <a:t>Mecanismo</a:t>
                      </a:r>
                    </a:p>
                  </a:txBody>
                  <a:tcPr marL="91440" marR="91440" marT="45720" marB="45720">
                    <a:solidFill>
                      <a:srgbClr val="102A43"/>
                    </a:solidFill>
                  </a:tcPr>
                </a:tc>
                <a:tc>
                  <a:txBody>
                    <a:bodyPr/>
                    <a:lstStyle/>
                    <a:p>
                      <a:r>
                        <a:rPr sz="1800" b="1">
                          <a:solidFill>
                            <a:srgbClr val="FFFFFF"/>
                          </a:solidFill>
                          <a:latin typeface="Arial"/>
                          <a:ea typeface="Arial"/>
                          <a:cs typeface="Arial"/>
                        </a:rPr>
                        <a:t>Qué reutiliza</a:t>
                      </a:r>
                    </a:p>
                  </a:txBody>
                  <a:tcPr marL="91440" marR="91440" marT="45720" marB="45720">
                    <a:solidFill>
                      <a:srgbClr val="102A43"/>
                    </a:solidFill>
                  </a:tcPr>
                </a:tc>
                <a:tc>
                  <a:txBody>
                    <a:bodyPr/>
                    <a:lstStyle/>
                    <a:p>
                      <a:r>
                        <a:rPr sz="1800" b="1">
                          <a:solidFill>
                            <a:srgbClr val="FFFFFF"/>
                          </a:solidFill>
                          <a:latin typeface="Arial"/>
                          <a:ea typeface="Arial"/>
                          <a:cs typeface="Arial"/>
                        </a:rPr>
                        <a:t>Cómo mantiene coherencia</a:t>
                      </a:r>
                    </a:p>
                  </a:txBody>
                  <a:tcPr marL="91440" marR="91440" marT="45720" marB="45720">
                    <a:solidFill>
                      <a:srgbClr val="102A43"/>
                    </a:solidFill>
                  </a:tcPr>
                </a:tc>
              </a:tr>
              <a:tr h="676275">
                <a:tc>
                  <a:txBody>
                    <a:bodyPr/>
                    <a:lstStyle/>
                    <a:p>
                      <a:r>
                        <a:rPr sz="1800" b="0">
                          <a:solidFill>
                            <a:srgbClr val="183B4E"/>
                          </a:solidFill>
                          <a:latin typeface="Arial"/>
                          <a:ea typeface="Arial"/>
                          <a:cs typeface="Arial"/>
                        </a:rPr>
                        <a:t>Caché de capas</a:t>
                      </a:r>
                    </a:p>
                  </a:txBody>
                  <a:tcPr marL="91440" marR="91440" marT="45720" marB="45720">
                    <a:solidFill>
                      <a:srgbClr val="FFFFFF"/>
                    </a:solidFill>
                  </a:tcPr>
                </a:tc>
                <a:tc>
                  <a:txBody>
                    <a:bodyPr/>
                    <a:lstStyle/>
                    <a:p>
                      <a:r>
                        <a:rPr sz="1800" b="0">
                          <a:solidFill>
                            <a:srgbClr val="183B4E"/>
                          </a:solidFill>
                          <a:latin typeface="Arial"/>
                          <a:ea typeface="Arial"/>
                          <a:cs typeface="Arial"/>
                        </a:rPr>
                        <a:t>Descargas vectoriales</a:t>
                      </a:r>
                    </a:p>
                  </a:txBody>
                  <a:tcPr marL="91440" marR="91440" marT="45720" marB="45720">
                    <a:solidFill>
                      <a:srgbClr val="FFFFFF"/>
                    </a:solidFill>
                  </a:tcPr>
                </a:tc>
                <a:tc>
                  <a:txBody>
                    <a:bodyPr/>
                    <a:lstStyle/>
                    <a:p>
                      <a:r>
                        <a:rPr sz="1800" b="0">
                          <a:solidFill>
                            <a:srgbClr val="183B4E"/>
                          </a:solidFill>
                          <a:latin typeface="Arial"/>
                          <a:ea typeface="Arial"/>
                          <a:cs typeface="Arial"/>
                        </a:rPr>
                        <a:t>Fuente, fecha y huella INDEC</a:t>
                      </a:r>
                    </a:p>
                  </a:txBody>
                  <a:tcPr marL="91440" marR="91440" marT="45720" marB="45720">
                    <a:solidFill>
                      <a:srgbClr val="FFFFFF"/>
                    </a:solidFill>
                  </a:tcPr>
                </a:tc>
              </a:tr>
              <a:tr h="676275">
                <a:tc>
                  <a:txBody>
                    <a:bodyPr/>
                    <a:lstStyle/>
                    <a:p>
                      <a:r>
                        <a:rPr sz="1800" b="0">
                          <a:solidFill>
                            <a:srgbClr val="183B4E"/>
                          </a:solidFill>
                          <a:latin typeface="Arial"/>
                          <a:ea typeface="Arial"/>
                          <a:cs typeface="Arial"/>
                        </a:rPr>
                        <a:t>Caché ARCO</a:t>
                      </a:r>
                    </a:p>
                  </a:txBody>
                  <a:tcPr marL="91440" marR="91440" marT="45720" marB="45720">
                    <a:solidFill>
                      <a:srgbClr val="EEF5F5"/>
                    </a:solidFill>
                  </a:tcPr>
                </a:tc>
                <a:tc>
                  <a:txBody>
                    <a:bodyPr/>
                    <a:lstStyle/>
                    <a:p>
                      <a:r>
                        <a:rPr sz="1800" b="0">
                          <a:solidFill>
                            <a:srgbClr val="183B4E"/>
                          </a:solidFill>
                          <a:latin typeface="Arial"/>
                          <a:ea typeface="Arial"/>
                          <a:cs typeface="Arial"/>
                        </a:rPr>
                        <a:t>Bloques y meses climáticos</a:t>
                      </a:r>
                    </a:p>
                  </a:txBody>
                  <a:tcPr marL="91440" marR="91440" marT="45720" marB="45720">
                    <a:solidFill>
                      <a:srgbClr val="EEF5F5"/>
                    </a:solidFill>
                  </a:tcPr>
                </a:tc>
                <a:tc>
                  <a:txBody>
                    <a:bodyPr/>
                    <a:lstStyle/>
                    <a:p>
                      <a:r>
                        <a:rPr sz="1800" b="0">
                          <a:solidFill>
                            <a:srgbClr val="183B4E"/>
                          </a:solidFill>
                          <a:latin typeface="Arial"/>
                          <a:ea typeface="Arial"/>
                          <a:cs typeface="Arial"/>
                        </a:rPr>
                        <a:t>Consulta períodos faltantes</a:t>
                      </a:r>
                    </a:p>
                  </a:txBody>
                  <a:tcPr marL="91440" marR="91440" marT="45720" marB="45720">
                    <a:solidFill>
                      <a:srgbClr val="EEF5F5"/>
                    </a:solidFill>
                  </a:tcPr>
                </a:tc>
              </a:tr>
              <a:tr h="676275">
                <a:tc>
                  <a:txBody>
                    <a:bodyPr/>
                    <a:lstStyle/>
                    <a:p>
                      <a:r>
                        <a:rPr sz="1800" b="0">
                          <a:solidFill>
                            <a:srgbClr val="183B4E"/>
                          </a:solidFill>
                          <a:latin typeface="Arial"/>
                          <a:ea typeface="Arial"/>
                          <a:cs typeface="Arial"/>
                        </a:rPr>
                        <a:t>Snapshot SQLite</a:t>
                      </a:r>
                    </a:p>
                  </a:txBody>
                  <a:tcPr marL="91440" marR="91440" marT="45720" marB="45720">
                    <a:solidFill>
                      <a:srgbClr val="FFFFFF"/>
                    </a:solidFill>
                  </a:tcPr>
                </a:tc>
                <a:tc>
                  <a:txBody>
                    <a:bodyPr/>
                    <a:lstStyle/>
                    <a:p>
                      <a:r>
                        <a:rPr sz="1800" b="0">
                          <a:solidFill>
                            <a:srgbClr val="183B4E"/>
                          </a:solidFill>
                          <a:latin typeface="Arial"/>
                          <a:ea typeface="Arial"/>
                          <a:cs typeface="Arial"/>
                        </a:rPr>
                        <a:t>Dataset preparado</a:t>
                      </a:r>
                    </a:p>
                  </a:txBody>
                  <a:tcPr marL="91440" marR="91440" marT="45720" marB="45720">
                    <a:solidFill>
                      <a:srgbClr val="FFFFFF"/>
                    </a:solidFill>
                  </a:tcPr>
                </a:tc>
                <a:tc>
                  <a:txBody>
                    <a:bodyPr/>
                    <a:lstStyle/>
                    <a:p>
                      <a:r>
                        <a:rPr sz="1800" b="0">
                          <a:solidFill>
                            <a:srgbClr val="183B4E"/>
                          </a:solidFill>
                          <a:latin typeface="Arial"/>
                          <a:ea typeface="Arial"/>
                          <a:cs typeface="Arial"/>
                        </a:rPr>
                        <a:t>Identificador de contenido</a:t>
                      </a:r>
                    </a:p>
                  </a:txBody>
                  <a:tcPr marL="91440" marR="91440" marT="45720" marB="45720">
                    <a:solidFill>
                      <a:srgbClr val="FFFFFF"/>
                    </a:solidFill>
                  </a:tcPr>
                </a:tc>
              </a:tr>
              <a:tr h="676275">
                <a:tc>
                  <a:txBody>
                    <a:bodyPr/>
                    <a:lstStyle/>
                    <a:p>
                      <a:r>
                        <a:rPr sz="1800" b="0">
                          <a:solidFill>
                            <a:srgbClr val="183B4E"/>
                          </a:solidFill>
                          <a:latin typeface="Arial"/>
                          <a:ea typeface="Arial"/>
                          <a:cs typeface="Arial"/>
                        </a:rPr>
                        <a:t>Caché del evaluador</a:t>
                      </a:r>
                    </a:p>
                  </a:txBody>
                  <a:tcPr marL="91440" marR="91440" marT="45720" marB="45720">
                    <a:solidFill>
                      <a:srgbClr val="EEF5F5"/>
                    </a:solidFill>
                  </a:tcPr>
                </a:tc>
                <a:tc>
                  <a:txBody>
                    <a:bodyPr/>
                    <a:lstStyle/>
                    <a:p>
                      <a:r>
                        <a:rPr sz="1800" b="0">
                          <a:solidFill>
                            <a:srgbClr val="183B4E"/>
                          </a:solidFill>
                          <a:latin typeface="Arial"/>
                          <a:ea typeface="Arial"/>
                          <a:cs typeface="Arial"/>
                        </a:rPr>
                        <a:t>Parque de un genotipo</a:t>
                      </a:r>
                    </a:p>
                  </a:txBody>
                  <a:tcPr marL="91440" marR="91440" marT="45720" marB="45720">
                    <a:solidFill>
                      <a:srgbClr val="EEF5F5"/>
                    </a:solidFill>
                  </a:tcPr>
                </a:tc>
                <a:tc>
                  <a:txBody>
                    <a:bodyPr/>
                    <a:lstStyle/>
                    <a:p>
                      <a:r>
                        <a:rPr sz="1800" b="0">
                          <a:solidFill>
                            <a:srgbClr val="183B4E"/>
                          </a:solidFill>
                          <a:latin typeface="Arial"/>
                          <a:ea typeface="Arial"/>
                          <a:cs typeface="Arial"/>
                        </a:rPr>
                        <a:t>Ligada a dataset y configuración</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C7C8D2C3-39B9-4726-936C-F120E29216F0}"/>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 misma semilla y el mismo snapshot permiten repetir el experimento</a:t>
            </a:r>
          </a:p>
        </p:txBody>
      </p:sp>
      <p:sp>
        <p:nvSpPr>
          <p:cNvPr id="6" name="">
            <a:extLst xmlns:a="http://schemas.openxmlformats.org/drawingml/2006/main">
              <a:ext uri="{FF2B5EF4-FFF2-40B4-BE49-F238E27FC236}">
                <a16:creationId xmlns:a16="http://schemas.microsoft.com/office/drawing/2014/main" id="{C6B94073-AFB0-486D-9DCE-3A29E9FCFBD3}"/>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08</a:t>
            </a:r>
          </a:p>
        </p:txBody>
      </p:sp>
    </p:spTree>
    <p:extLst>
      <p:ext uri="{BB962C8B-B14F-4D97-AF65-F5344CB8AC3E}">
        <p14:creationId xmlns:p14="http://schemas.microsoft.com/office/powerpoint/2010/main" val="19822742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4A5FF3-456E-417B-ACBA-70EE9FC7C32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Restricciones del parque</a:t>
            </a:r>
          </a:p>
        </p:txBody>
      </p:sp>
      <p:pic>
        <p:nvPicPr>
          <p:cNvPr id="9" name="">
            <a:extLst xmlns:a="http://schemas.openxmlformats.org/drawingml/2006/main">
              <a:ext uri="{FF2B5EF4-FFF2-40B4-BE49-F238E27FC236}">
                <a16:creationId xmlns:a16="http://schemas.microsoft.com/office/drawing/2014/main" id="{12DC7A27-8019-4A31-9B88-09ED83343486}"/>
              </a:ext>
            </a:extLst>
          </p:cNvPr>
          <p:cNvPicPr>
            <a:picLocks xmlns:a="http://schemas.openxmlformats.org/drawingml/2006/main" noChangeAspect="1"/>
          </p:cNvPicPr>
          <p:nvPr/>
        </p:nvPicPr>
        <p:blipFill>
          <a:blip xmlns:r="http://schemas.openxmlformats.org/officeDocument/2006/relationships" xmlns:a="http://schemas.openxmlformats.org/drawingml/2006/main" r:embed="R8a8a9fbb8b654331"/>
          <a:srcRect xmlns:a="http://schemas.openxmlformats.org/drawingml/2006/main" l="0" t="18000" r="0" b="18000"/>
          <a:stretch xmlns:a="http://schemas.openxmlformats.org/drawingml/2006/main"/>
        </p:blipFill>
        <p:spPr>
          <a:xfrm xmlns:a="http://schemas.openxmlformats.org/drawingml/2006/main">
            <a:off x="571500" y="1857375"/>
            <a:ext cx="11049000" cy="35909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985C4C3-4C37-4B68-B1C5-D31D06881FC2}"/>
              </a:ext>
            </a:extLst>
          </p:cNvPr>
          <p:cNvSpPr>
            <a:spLocks xmlns:a="http://schemas.openxmlformats.org/drawingml/2006/main" noGrp="1"/>
          </p:cNvSpPr>
          <p:nvPr/>
        </p:nvSpPr>
        <p:spPr>
          <a:xfrm xmlns:a="http://schemas.openxmlformats.org/drawingml/2006/main">
            <a:off x="857250" y="1362075"/>
            <a:ext cx="2562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Contigüidad</a:t>
            </a:r>
          </a:p>
        </p:txBody>
      </p:sp>
      <p:sp>
        <p:nvSpPr>
          <p:cNvPr id="11" name="">
            <a:extLst xmlns:a="http://schemas.openxmlformats.org/drawingml/2006/main">
              <a:ext uri="{FF2B5EF4-FFF2-40B4-BE49-F238E27FC236}">
                <a16:creationId xmlns:a16="http://schemas.microsoft.com/office/drawing/2014/main" id="{D1DCFD5D-4DD5-4976-9437-84531820CDBB}"/>
              </a:ext>
            </a:extLst>
          </p:cNvPr>
          <p:cNvSpPr>
            <a:spLocks xmlns:a="http://schemas.openxmlformats.org/drawingml/2006/main" noGrp="1"/>
          </p:cNvSpPr>
          <p:nvPr/>
        </p:nvSpPr>
        <p:spPr>
          <a:xfrm xmlns:a="http://schemas.openxmlformats.org/drawingml/2006/main">
            <a:off x="857250" y="5524500"/>
            <a:ext cx="2543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Agregar celdas que</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comparten un borde</a:t>
            </a:r>
          </a:p>
        </p:txBody>
      </p:sp>
      <p:sp>
        <p:nvSpPr>
          <p:cNvPr id="12" name="">
            <a:extLst xmlns:a="http://schemas.openxmlformats.org/drawingml/2006/main">
              <a:ext uri="{FF2B5EF4-FFF2-40B4-BE49-F238E27FC236}">
                <a16:creationId xmlns:a16="http://schemas.microsoft.com/office/drawing/2014/main" id="{7597BA81-DE01-469E-8679-DCAE0F4C0E74}"/>
              </a:ext>
            </a:extLst>
          </p:cNvPr>
          <p:cNvSpPr>
            <a:spLocks xmlns:a="http://schemas.openxmlformats.org/drawingml/2006/main" noGrp="1"/>
          </p:cNvSpPr>
          <p:nvPr/>
        </p:nvSpPr>
        <p:spPr>
          <a:xfrm xmlns:a="http://schemas.openxmlformats.org/drawingml/2006/main">
            <a:off x="3505200" y="1362075"/>
            <a:ext cx="2562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Exclusión urbana</a:t>
            </a:r>
          </a:p>
        </p:txBody>
      </p:sp>
      <p:sp>
        <p:nvSpPr>
          <p:cNvPr id="13" name="">
            <a:extLst xmlns:a="http://schemas.openxmlformats.org/drawingml/2006/main">
              <a:ext uri="{FF2B5EF4-FFF2-40B4-BE49-F238E27FC236}">
                <a16:creationId xmlns:a16="http://schemas.microsoft.com/office/drawing/2014/main" id="{43DF6BB4-3B7D-452E-9AB7-6A6E08CCC3A6}"/>
              </a:ext>
            </a:extLst>
          </p:cNvPr>
          <p:cNvSpPr>
            <a:spLocks xmlns:a="http://schemas.openxmlformats.org/drawingml/2006/main" noGrp="1"/>
          </p:cNvSpPr>
          <p:nvPr/>
        </p:nvSpPr>
        <p:spPr>
          <a:xfrm xmlns:a="http://schemas.openxmlformats.org/drawingml/2006/main">
            <a:off x="3505200" y="5524500"/>
            <a:ext cx="2543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Excluir celdas que tocan</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o intersectan la ciudad</a:t>
            </a:r>
          </a:p>
        </p:txBody>
      </p:sp>
      <p:sp>
        <p:nvSpPr>
          <p:cNvPr id="14" name="">
            <a:extLst xmlns:a="http://schemas.openxmlformats.org/drawingml/2006/main">
              <a:ext uri="{FF2B5EF4-FFF2-40B4-BE49-F238E27FC236}">
                <a16:creationId xmlns:a16="http://schemas.microsoft.com/office/drawing/2014/main" id="{BFFDDCAA-3AE1-4D00-8293-CE599B864201}"/>
              </a:ext>
            </a:extLst>
          </p:cNvPr>
          <p:cNvSpPr>
            <a:spLocks xmlns:a="http://schemas.openxmlformats.org/drawingml/2006/main" noGrp="1"/>
          </p:cNvSpPr>
          <p:nvPr/>
        </p:nvSpPr>
        <p:spPr>
          <a:xfrm xmlns:a="http://schemas.openxmlformats.org/drawingml/2006/main">
            <a:off x="6153150" y="1362075"/>
            <a:ext cx="2562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Potencia por área</a:t>
            </a:r>
          </a:p>
        </p:txBody>
      </p:sp>
      <p:sp>
        <p:nvSpPr>
          <p:cNvPr id="15" name="">
            <a:extLst xmlns:a="http://schemas.openxmlformats.org/drawingml/2006/main">
              <a:ext uri="{FF2B5EF4-FFF2-40B4-BE49-F238E27FC236}">
                <a16:creationId xmlns:a16="http://schemas.microsoft.com/office/drawing/2014/main" id="{46B9E026-1C22-4138-91B0-65C3B01CF0A2}"/>
              </a:ext>
            </a:extLst>
          </p:cNvPr>
          <p:cNvSpPr>
            <a:spLocks xmlns:a="http://schemas.openxmlformats.org/drawingml/2006/main" noGrp="1"/>
          </p:cNvSpPr>
          <p:nvPr/>
        </p:nvSpPr>
        <p:spPr>
          <a:xfrm xmlns:a="http://schemas.openxmlformats.org/drawingml/2006/main">
            <a:off x="6153150" y="5524500"/>
            <a:ext cx="2543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P = área del parque</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 31,3 MW/km²</a:t>
            </a:r>
          </a:p>
        </p:txBody>
      </p:sp>
      <p:sp>
        <p:nvSpPr>
          <p:cNvPr id="16" name="">
            <a:extLst xmlns:a="http://schemas.openxmlformats.org/drawingml/2006/main">
              <a:ext uri="{FF2B5EF4-FFF2-40B4-BE49-F238E27FC236}">
                <a16:creationId xmlns:a16="http://schemas.microsoft.com/office/drawing/2014/main" id="{7361ABD7-68B1-4C56-ADF4-F905126C8508}"/>
              </a:ext>
            </a:extLst>
          </p:cNvPr>
          <p:cNvSpPr>
            <a:spLocks xmlns:a="http://schemas.openxmlformats.org/drawingml/2006/main" noGrp="1"/>
          </p:cNvSpPr>
          <p:nvPr/>
        </p:nvSpPr>
        <p:spPr>
          <a:xfrm xmlns:a="http://schemas.openxmlformats.org/drawingml/2006/main">
            <a:off x="8801100" y="1362075"/>
            <a:ext cx="2562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Límite experimental</a:t>
            </a:r>
          </a:p>
        </p:txBody>
      </p:sp>
      <p:sp>
        <p:nvSpPr>
          <p:cNvPr id="17" name="">
            <a:extLst xmlns:a="http://schemas.openxmlformats.org/drawingml/2006/main">
              <a:ext uri="{FF2B5EF4-FFF2-40B4-BE49-F238E27FC236}">
                <a16:creationId xmlns:a16="http://schemas.microsoft.com/office/drawing/2014/main" id="{C7044176-19B3-4D81-B61E-B8AA39293551}"/>
              </a:ext>
            </a:extLst>
          </p:cNvPr>
          <p:cNvSpPr>
            <a:spLocks xmlns:a="http://schemas.openxmlformats.org/drawingml/2006/main" noGrp="1"/>
          </p:cNvSpPr>
          <p:nvPr/>
        </p:nvSpPr>
        <p:spPr>
          <a:xfrm xmlns:a="http://schemas.openxmlformats.org/drawingml/2006/main">
            <a:off x="8801100" y="5524500"/>
            <a:ext cx="2543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183B4E"/>
                </a:solidFill>
                <a:latin typeface="Arial"/>
                <a:ea typeface="Arial"/>
                <a:cs typeface="Arial"/>
              </a:defRPr>
            </a:defPPr>
          </a:lstStyle>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Aceptar crecimiento</a:t>
            </a:r>
          </a:p>
          <a:p xmlns:a="http://schemas.openxmlformats.org/drawingml/2006/main">
            <a:pPr>
              <a:defRPr sz="1575" b="0">
                <a:solidFill>
                  <a:srgbClr val="183B4E"/>
                </a:solidFill>
                <a:latin typeface="Arial"/>
                <a:ea typeface="Arial"/>
                <a:cs typeface="Arial"/>
              </a:defRPr>
            </a:pPr>
            <a:r>
              <a:rPr sz="1575" b="0">
                <a:solidFill>
                  <a:srgbClr val="183B4E"/>
                </a:solidFill>
                <a:latin typeface="Arial"/>
                <a:ea typeface="Arial"/>
                <a:cs typeface="Arial"/>
              </a:rPr>
              <a:t>mientras P ≤ 80 MW</a:t>
            </a:r>
          </a:p>
        </p:txBody>
      </p:sp>
      <p:sp>
        <p:nvSpPr>
          <p:cNvPr id="18" name="">
            <a:extLst xmlns:a="http://schemas.openxmlformats.org/drawingml/2006/main">
              <a:ext uri="{FF2B5EF4-FFF2-40B4-BE49-F238E27FC236}">
                <a16:creationId xmlns:a16="http://schemas.microsoft.com/office/drawing/2014/main" id="{E14DD287-DD2F-4368-A698-FDC7F948D6D8}"/>
              </a:ext>
            </a:extLst>
          </p:cNvPr>
          <p:cNvSpPr>
            <a:spLocks xmlns:a="http://schemas.openxmlformats.org/drawingml/2006/main" noGrp="1"/>
          </p:cNvSpPr>
          <p:nvPr/>
        </p:nvSpPr>
        <p:spPr>
          <a:xfrm xmlns:a="http://schemas.openxmlformats.org/drawingml/2006/main">
            <a:off x="571500" y="6105525"/>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Reglas del modelo. Las celdas recortadas conservan su área real</a:t>
            </a:r>
          </a:p>
        </p:txBody>
      </p:sp>
      <p:sp>
        <p:nvSpPr>
          <p:cNvPr id="19" name="">
            <a:extLst xmlns:a="http://schemas.openxmlformats.org/drawingml/2006/main">
              <a:ext uri="{FF2B5EF4-FFF2-40B4-BE49-F238E27FC236}">
                <a16:creationId xmlns:a16="http://schemas.microsoft.com/office/drawing/2014/main" id="{9565E026-0A1B-48D4-AFEC-0E8AF65B15CB}"/>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09</a:t>
            </a:r>
          </a:p>
        </p:txBody>
      </p:sp>
    </p:spTree>
    <p:extLst>
      <p:ext uri="{BB962C8B-B14F-4D97-AF65-F5344CB8AC3E}">
        <p14:creationId xmlns:p14="http://schemas.microsoft.com/office/powerpoint/2010/main" val="661313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04CAC9-97DC-4E25-BBED-4C33EF30AFB3}"/>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defRPr sz="3225" b="1">
                <a:solidFill>
                  <a:srgbClr val="102A43"/>
                </a:solidFill>
                <a:latin typeface="Arial"/>
                <a:ea typeface="Arial"/>
                <a:cs typeface="Arial"/>
              </a:defRPr>
            </a:pPr>
            <a:r>
              <a:rPr sz="3225" b="1">
                <a:solidFill>
                  <a:srgbClr val="102A43"/>
                </a:solidFill>
                <a:latin typeface="Arial"/>
                <a:ea typeface="Arial"/>
                <a:cs typeface="Arial"/>
              </a:rPr>
              <a:t>Origen de los 7,825 MW por celda</a:t>
            </a:r>
          </a:p>
        </p:txBody>
      </p:sp>
      <p:pic>
        <p:nvPicPr>
          <p:cNvPr id="2" name="">
            <a:extLst xmlns:a="http://schemas.openxmlformats.org/drawingml/2006/main">
              <a:ext uri="{FF2B5EF4-FFF2-40B4-BE49-F238E27FC236}">
                <a16:creationId xmlns:a16="http://schemas.microsoft.com/office/drawing/2014/main" id="{E97D98FD-3E71-486C-8B7F-7DAA364AB3F8}"/>
              </a:ext>
            </a:extLst>
          </p:cNvPr>
          <p:cNvPicPr>
            <a:picLocks xmlns:a="http://schemas.openxmlformats.org/drawingml/2006/main" noChangeAspect="1"/>
          </p:cNvPicPr>
          <p:nvPr/>
        </p:nvPicPr>
        <p:blipFill>
          <a:blip xmlns:r="http://schemas.openxmlformats.org/officeDocument/2006/relationships" xmlns:a="http://schemas.openxmlformats.org/drawingml/2006/main" r:embed="R2a7caee2462f44e2"/>
          <a:stretch xmlns:a="http://schemas.openxmlformats.org/drawingml/2006/main"/>
        </p:blipFill>
        <p:spPr>
          <a:xfrm xmlns:a="http://schemas.openxmlformats.org/drawingml/2006/main">
            <a:off x="925513" y="1800225"/>
            <a:ext cx="4292600" cy="3219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F2D0171-AF58-4052-83B2-44D18F49E7D6}"/>
              </a:ext>
            </a:extLst>
          </p:cNvPr>
          <p:cNvSpPr>
            <a:spLocks xmlns:a="http://schemas.openxmlformats.org/drawingml/2006/main" noGrp="1"/>
          </p:cNvSpPr>
          <p:nvPr/>
        </p:nvSpPr>
        <p:spPr>
          <a:xfrm xmlns:a="http://schemas.openxmlformats.org/drawingml/2006/main">
            <a:off x="6143625" y="1524000"/>
            <a:ext cx="5381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087F8C"/>
                </a:solidFill>
                <a:latin typeface="Arial"/>
                <a:ea typeface="Arial"/>
                <a:cs typeface="Arial"/>
              </a:defRPr>
            </a:def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Área de una celda completa</a:t>
            </a:r>
          </a:p>
        </p:txBody>
      </p:sp>
      <p:sp>
        <p:nvSpPr>
          <p:cNvPr id="4" name="">
            <a:extLst xmlns:a="http://schemas.openxmlformats.org/drawingml/2006/main">
              <a:ext uri="{FF2B5EF4-FFF2-40B4-BE49-F238E27FC236}">
                <a16:creationId xmlns:a16="http://schemas.microsoft.com/office/drawing/2014/main" id="{595413E6-77F5-4B77-B4BA-38D5E0AD24D3}"/>
              </a:ext>
            </a:extLst>
          </p:cNvPr>
          <p:cNvSpPr>
            <a:spLocks xmlns:a="http://schemas.openxmlformats.org/drawingml/2006/main" noGrp="1"/>
          </p:cNvSpPr>
          <p:nvPr/>
        </p:nvSpPr>
        <p:spPr>
          <a:xfrm xmlns:a="http://schemas.openxmlformats.org/drawingml/2006/main">
            <a:off x="6143625" y="2038350"/>
            <a:ext cx="5381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defRPr sz="2325" b="1">
                <a:solidFill>
                  <a:srgbClr val="102A43"/>
                </a:solidFill>
                <a:latin typeface="Arial"/>
                <a:ea typeface="Arial"/>
                <a:cs typeface="Arial"/>
              </a:defRPr>
            </a:pPr>
            <a:r>
              <a:rPr sz="2325" b="1">
                <a:solidFill>
                  <a:srgbClr val="102A43"/>
                </a:solidFill>
                <a:latin typeface="Arial"/>
                <a:ea typeface="Arial"/>
                <a:cs typeface="Arial"/>
              </a:rPr>
              <a:t>0,5 km × 0,5 km = 0,25 km²</a:t>
            </a:r>
          </a:p>
        </p:txBody>
      </p:sp>
      <p:sp>
        <p:nvSpPr>
          <p:cNvPr id="5" name="">
            <a:extLst xmlns:a="http://schemas.openxmlformats.org/drawingml/2006/main">
              <a:ext uri="{FF2B5EF4-FFF2-40B4-BE49-F238E27FC236}">
                <a16:creationId xmlns:a16="http://schemas.microsoft.com/office/drawing/2014/main" id="{7A9D499D-CFEF-49C5-8BAA-52DA5148A1E0}"/>
              </a:ext>
            </a:extLst>
          </p:cNvPr>
          <p:cNvSpPr>
            <a:spLocks xmlns:a="http://schemas.openxmlformats.org/drawingml/2006/main" noGrp="1"/>
          </p:cNvSpPr>
          <p:nvPr/>
        </p:nvSpPr>
        <p:spPr>
          <a:xfrm xmlns:a="http://schemas.openxmlformats.org/drawingml/2006/main">
            <a:off x="6143625" y="2905125"/>
            <a:ext cx="5381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087F8C"/>
                </a:solidFill>
                <a:latin typeface="Arial"/>
                <a:ea typeface="Arial"/>
                <a:cs typeface="Arial"/>
              </a:defRPr>
            </a:def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Densidad adoptada en config.yaml</a:t>
            </a:r>
          </a:p>
        </p:txBody>
      </p:sp>
      <p:sp>
        <p:nvSpPr>
          <p:cNvPr id="6" name="">
            <a:extLst xmlns:a="http://schemas.openxmlformats.org/drawingml/2006/main">
              <a:ext uri="{FF2B5EF4-FFF2-40B4-BE49-F238E27FC236}">
                <a16:creationId xmlns:a16="http://schemas.microsoft.com/office/drawing/2014/main" id="{FA38F5FB-914A-45B5-B093-52BB618718F2}"/>
              </a:ext>
            </a:extLst>
          </p:cNvPr>
          <p:cNvSpPr>
            <a:spLocks xmlns:a="http://schemas.openxmlformats.org/drawingml/2006/main" noGrp="1"/>
          </p:cNvSpPr>
          <p:nvPr/>
        </p:nvSpPr>
        <p:spPr>
          <a:xfrm xmlns:a="http://schemas.openxmlformats.org/drawingml/2006/main">
            <a:off x="6143625" y="3400425"/>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75" b="1">
                <a:solidFill>
                  <a:srgbClr val="102A43"/>
                </a:solidFill>
                <a:latin typeface="Arial"/>
                <a:ea typeface="Arial"/>
                <a:cs typeface="Arial"/>
              </a:defRPr>
            </a:defPPr>
          </a:lstStyle>
          <a:p xmlns:a="http://schemas.openxmlformats.org/drawingml/2006/main">
            <a:pPr>
              <a:defRPr sz="2775" b="1">
                <a:solidFill>
                  <a:srgbClr val="102A43"/>
                </a:solidFill>
                <a:latin typeface="Arial"/>
                <a:ea typeface="Arial"/>
                <a:cs typeface="Arial"/>
              </a:defRPr>
            </a:pPr>
            <a:r>
              <a:rPr sz="2775" b="1">
                <a:solidFill>
                  <a:srgbClr val="102A43"/>
                </a:solidFill>
                <a:latin typeface="Arial"/>
                <a:ea typeface="Arial"/>
                <a:cs typeface="Arial"/>
              </a:rPr>
              <a:t>31,3 MW/km²</a:t>
            </a:r>
          </a:p>
        </p:txBody>
      </p:sp>
      <p:sp>
        <p:nvSpPr>
          <p:cNvPr id="7" name="">
            <a:extLst xmlns:a="http://schemas.openxmlformats.org/drawingml/2006/main">
              <a:ext uri="{FF2B5EF4-FFF2-40B4-BE49-F238E27FC236}">
                <a16:creationId xmlns:a16="http://schemas.microsoft.com/office/drawing/2014/main" id="{FA6462D3-7B73-4012-95BE-5F67849BFCB4}"/>
              </a:ext>
            </a:extLst>
          </p:cNvPr>
          <p:cNvSpPr>
            <a:spLocks xmlns:a="http://schemas.openxmlformats.org/drawingml/2006/main" noGrp="1"/>
          </p:cNvSpPr>
          <p:nvPr/>
        </p:nvSpPr>
        <p:spPr>
          <a:xfrm xmlns:a="http://schemas.openxmlformats.org/drawingml/2006/main">
            <a:off x="571500" y="503872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087F8C"/>
                </a:solidFill>
                <a:latin typeface="Arial"/>
                <a:ea typeface="Arial"/>
                <a:cs typeface="Arial"/>
              </a:defRPr>
            </a:defPPr>
          </a:lstStyle>
          <a:p xmlns:a="http://schemas.openxmlformats.org/drawingml/2006/main">
            <a:pPr>
              <a:defRPr sz="3225" b="1">
                <a:solidFill>
                  <a:srgbClr val="087F8C"/>
                </a:solidFill>
                <a:latin typeface="Arial"/>
                <a:ea typeface="Arial"/>
                <a:cs typeface="Arial"/>
              </a:defRPr>
            </a:pPr>
            <a:r>
              <a:rPr sz="3225" b="1">
                <a:solidFill>
                  <a:srgbClr val="087F8C"/>
                </a:solidFill>
                <a:latin typeface="Arial"/>
                <a:ea typeface="Arial"/>
                <a:cs typeface="Arial"/>
              </a:rPr>
              <a:t>0,25 × 31,3 = 7,825 MW</a:t>
            </a:r>
          </a:p>
        </p:txBody>
      </p:sp>
      <p:sp>
        <p:nvSpPr>
          <p:cNvPr id="8" name="">
            <a:extLst xmlns:a="http://schemas.openxmlformats.org/drawingml/2006/main">
              <a:ext uri="{FF2B5EF4-FFF2-40B4-BE49-F238E27FC236}">
                <a16:creationId xmlns:a16="http://schemas.microsoft.com/office/drawing/2014/main" id="{78CC2709-B882-403C-A7A7-7AB6B6BABBC1}"/>
              </a:ext>
            </a:extLst>
          </p:cNvPr>
          <p:cNvSpPr>
            <a:spLocks xmlns:a="http://schemas.openxmlformats.org/drawingml/2006/main" noGrp="1"/>
          </p:cNvSpPr>
          <p:nvPr/>
        </p:nvSpPr>
        <p:spPr>
          <a:xfrm xmlns:a="http://schemas.openxmlformats.org/drawingml/2006/main">
            <a:off x="571500" y="56959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102A43"/>
                </a:solidFill>
                <a:latin typeface="Arial"/>
                <a:ea typeface="Arial"/>
                <a:cs typeface="Arial"/>
              </a:defRPr>
            </a:defPPr>
          </a:lstStyle>
          <a:p xmlns:a="http://schemas.openxmlformats.org/drawingml/2006/main">
            <a:pPr>
              <a:defRPr sz="2025" b="1">
                <a:solidFill>
                  <a:srgbClr val="102A43"/>
                </a:solidFill>
                <a:latin typeface="Arial"/>
                <a:ea typeface="Arial"/>
                <a:cs typeface="Arial"/>
              </a:defRPr>
            </a:pPr>
            <a:r>
              <a:rPr sz="2025" b="1">
                <a:solidFill>
                  <a:srgbClr val="102A43"/>
                </a:solidFill>
                <a:latin typeface="Arial"/>
                <a:ea typeface="Arial"/>
                <a:cs typeface="Arial"/>
              </a:rPr>
              <a:t>10 celdas completas: 2,5 km² × 31,3 = 78,25 MW</a:t>
            </a:r>
          </a:p>
        </p:txBody>
      </p:sp>
      <p:sp>
        <p:nvSpPr>
          <p:cNvPr id="9" name="">
            <a:extLst xmlns:a="http://schemas.openxmlformats.org/drawingml/2006/main">
              <a:ext uri="{FF2B5EF4-FFF2-40B4-BE49-F238E27FC236}">
                <a16:creationId xmlns:a16="http://schemas.microsoft.com/office/drawing/2014/main" id="{1457D525-5088-4F58-8647-808A0389E60D}"/>
              </a:ext>
            </a:extLst>
          </p:cNvPr>
          <p:cNvSpPr>
            <a:spLocks xmlns:a="http://schemas.openxmlformats.org/drawingml/2006/main" noGrp="1"/>
          </p:cNvSpPr>
          <p:nvPr/>
        </p:nvSpPr>
        <p:spPr>
          <a:xfrm xmlns:a="http://schemas.openxmlformats.org/drawingml/2006/main">
            <a:off x="571500" y="611505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425" b="0">
                <a:solidFill>
                  <a:srgbClr val="526778"/>
                </a:solidFill>
                <a:latin typeface="Arial"/>
                <a:ea typeface="Arial"/>
                <a:cs typeface="Arial"/>
              </a:defRPr>
            </a:defPPr>
          </a:lstStyle>
          <a:p xmlns:a="http://schemas.openxmlformats.org/drawingml/2006/main">
            <a:pPr>
              <a:defRPr sz="1425" b="0">
                <a:solidFill>
                  <a:srgbClr val="526778"/>
                </a:solidFill>
                <a:latin typeface="Arial"/>
                <a:ea typeface="Arial"/>
                <a:cs typeface="Arial"/>
              </a:defRPr>
            </a:pPr>
            <a:r>
              <a:rPr sz="1425" b="0">
                <a:solidFill>
                  <a:srgbClr val="526778"/>
                </a:solidFill>
                <a:latin typeface="Arial"/>
                <a:ea typeface="Arial"/>
                <a:cs typeface="Arial"/>
              </a:rPr>
              <a:t>Referencia: NREL (2013), tabla ES-1. 7,9 acres/MWac ≈ 31,3 MWac/km²</a:t>
            </a:r>
          </a:p>
        </p:txBody>
      </p:sp>
      <p:sp>
        <p:nvSpPr>
          <p:cNvPr id="10" name="">
            <a:extLst xmlns:a="http://schemas.openxmlformats.org/drawingml/2006/main">
              <a:ext uri="{FF2B5EF4-FFF2-40B4-BE49-F238E27FC236}">
                <a16:creationId xmlns:a16="http://schemas.microsoft.com/office/drawing/2014/main" id="{AD716D8A-32FE-4425-AC02-D9BD7918C686}"/>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10</a:t>
            </a:r>
          </a:p>
        </p:txBody>
      </p:sp>
    </p:spTree>
    <p:extLst>
      <p:ext uri="{BB962C8B-B14F-4D97-AF65-F5344CB8AC3E}">
        <p14:creationId xmlns:p14="http://schemas.microsoft.com/office/powerpoint/2010/main" val="16221893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A228DA-FC04-4B51-87CB-2AB245FBE91E}"/>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Un cromosoma del proyecto</a:t>
            </a:r>
          </a:p>
        </p:txBody>
      </p:sp>
      <p:graphicFrame>
        <p:nvGraphicFramePr>
          <p:cNvPr id="3" name="">
            <a:extLst xmlns:a="http://schemas.openxmlformats.org/drawingml/2006/main">
              <a:ext uri="{FF2B5EF4-FFF2-40B4-BE49-F238E27FC236}">
                <a16:creationId xmlns:a16="http://schemas.microsoft.com/office/drawing/2014/main" id="{FFD054CE-3554-499D-8BCC-B8C2C039C2DB}"/>
              </a:ext>
            </a:extLst>
          </p:cNvPr>
          <p:cNvGraphicFramePr/>
          <p:nvPr/>
        </p:nvGraphicFramePr>
        <p:xfrm>
          <a:off xmlns:a="http://schemas.openxmlformats.org/drawingml/2006/main" x="571500" y="1724025"/>
          <a:ext xmlns:a="http://schemas.openxmlformats.org/drawingml/2006/main" cx="11049000" cy="1152525"/>
        </p:xfrm>
        <a:graphic xmlns:a="http://schemas.openxmlformats.org/drawingml/2006/main">
          <a:graphicData uri="http://schemas.openxmlformats.org/drawingml/2006/table">
            <a:tbl>
              <a:tblPr/>
              <a:tblGrid>
                <a:gridCol w="1905000"/>
                <a:gridCol w="2286000"/>
                <a:gridCol w="2286000"/>
                <a:gridCol w="2286000"/>
                <a:gridCol w="2286000"/>
              </a:tblGrid>
              <a:tr h="576263">
                <a:tc>
                  <a:txBody>
                    <a:bodyPr/>
                    <a:lstStyle/>
                    <a:p>
                      <a:r>
                        <a:rPr sz="1725" b="1">
                          <a:solidFill>
                            <a:srgbClr val="FFFFFF"/>
                          </a:solidFill>
                          <a:latin typeface="Arial"/>
                          <a:ea typeface="Arial"/>
                          <a:cs typeface="Arial"/>
                        </a:rPr>
                        <a:t>Semilla</a:t>
                      </a:r>
                    </a:p>
                  </a:txBody>
                  <a:tcPr marL="91440" marR="91440" marT="45720" marB="45720">
                    <a:solidFill>
                      <a:srgbClr val="102A43"/>
                    </a:solidFill>
                  </a:tcPr>
                </a:tc>
                <a:tc>
                  <a:txBody>
                    <a:bodyPr/>
                    <a:lstStyle/>
                    <a:p>
                      <a:r>
                        <a:rPr sz="1725" b="1">
                          <a:solidFill>
                            <a:srgbClr val="FFFFFF"/>
                          </a:solidFill>
                          <a:latin typeface="Arial"/>
                          <a:ea typeface="Arial"/>
                          <a:cs typeface="Arial"/>
                        </a:rPr>
                        <a:t>g1</a:t>
                      </a:r>
                    </a:p>
                  </a:txBody>
                  <a:tcPr marL="91440" marR="91440" marT="45720" marB="45720">
                    <a:solidFill>
                      <a:srgbClr val="102A43"/>
                    </a:solidFill>
                  </a:tcPr>
                </a:tc>
                <a:tc>
                  <a:txBody>
                    <a:bodyPr/>
                    <a:lstStyle/>
                    <a:p>
                      <a:r>
                        <a:rPr sz="1725" b="1">
                          <a:solidFill>
                            <a:srgbClr val="FFFFFF"/>
                          </a:solidFill>
                          <a:latin typeface="Arial"/>
                          <a:ea typeface="Arial"/>
                          <a:cs typeface="Arial"/>
                        </a:rPr>
                        <a:t>g2</a:t>
                      </a:r>
                    </a:p>
                  </a:txBody>
                  <a:tcPr marL="91440" marR="91440" marT="45720" marB="45720">
                    <a:solidFill>
                      <a:srgbClr val="102A43"/>
                    </a:solidFill>
                  </a:tcPr>
                </a:tc>
                <a:tc>
                  <a:txBody>
                    <a:bodyPr/>
                    <a:lstStyle/>
                    <a:p>
                      <a:r>
                        <a:rPr sz="1725" b="1">
                          <a:solidFill>
                            <a:srgbClr val="FFFFFF"/>
                          </a:solidFill>
                          <a:latin typeface="Arial"/>
                          <a:ea typeface="Arial"/>
                          <a:cs typeface="Arial"/>
                        </a:rPr>
                        <a:t>g3</a:t>
                      </a:r>
                    </a:p>
                  </a:txBody>
                  <a:tcPr marL="91440" marR="91440" marT="45720" marB="45720">
                    <a:solidFill>
                      <a:srgbClr val="102A43"/>
                    </a:solidFill>
                  </a:tcPr>
                </a:tc>
                <a:tc>
                  <a:txBody>
                    <a:bodyPr/>
                    <a:lstStyle/>
                    <a:p>
                      <a:r>
                        <a:rPr sz="1725" b="1">
                          <a:solidFill>
                            <a:srgbClr val="FFFFFF"/>
                          </a:solidFill>
                          <a:latin typeface="Arial"/>
                          <a:ea typeface="Arial"/>
                          <a:cs typeface="Arial"/>
                        </a:rPr>
                        <a:t>g4</a:t>
                      </a:r>
                    </a:p>
                  </a:txBody>
                  <a:tcPr marL="91440" marR="91440" marT="45720" marB="45720">
                    <a:solidFill>
                      <a:srgbClr val="102A43"/>
                    </a:solidFill>
                  </a:tcPr>
                </a:tc>
              </a:tr>
              <a:tr h="576263">
                <a:tc>
                  <a:txBody>
                    <a:bodyPr/>
                    <a:lstStyle/>
                    <a:p>
                      <a:r>
                        <a:rPr sz="1725" b="0">
                          <a:solidFill>
                            <a:srgbClr val="183B4E"/>
                          </a:solidFill>
                          <a:latin typeface="Arial"/>
                          <a:ea typeface="Arial"/>
                          <a:cs typeface="Arial"/>
                        </a:rPr>
                        <a:t>46.504</a:t>
                      </a:r>
                    </a:p>
                  </a:txBody>
                  <a:tcPr marL="91440" marR="91440" marT="45720" marB="45720">
                    <a:solidFill>
                      <a:srgbClr val="FFFFFF"/>
                    </a:solidFill>
                  </a:tcPr>
                </a:tc>
                <a:tc>
                  <a:txBody>
                    <a:bodyPr/>
                    <a:lstStyle/>
                    <a:p>
                      <a:r>
                        <a:rPr sz="1725" b="0">
                          <a:solidFill>
                            <a:srgbClr val="183B4E"/>
                          </a:solidFill>
                          <a:latin typeface="Arial"/>
                          <a:ea typeface="Arial"/>
                          <a:cs typeface="Arial"/>
                        </a:rPr>
                        <a:t>429014945</a:t>
                      </a:r>
                    </a:p>
                  </a:txBody>
                  <a:tcPr marL="91440" marR="91440" marT="45720" marB="45720">
                    <a:solidFill>
                      <a:srgbClr val="FFFFFF"/>
                    </a:solidFill>
                  </a:tcPr>
                </a:tc>
                <a:tc>
                  <a:txBody>
                    <a:bodyPr/>
                    <a:lstStyle/>
                    <a:p>
                      <a:r>
                        <a:rPr sz="1725" b="0">
                          <a:solidFill>
                            <a:srgbClr val="183B4E"/>
                          </a:solidFill>
                          <a:latin typeface="Arial"/>
                          <a:ea typeface="Arial"/>
                          <a:cs typeface="Arial"/>
                        </a:rPr>
                        <a:t>1856101005</a:t>
                      </a:r>
                    </a:p>
                  </a:txBody>
                  <a:tcPr marL="91440" marR="91440" marT="45720" marB="45720">
                    <a:solidFill>
                      <a:srgbClr val="FFFFFF"/>
                    </a:solidFill>
                  </a:tcPr>
                </a:tc>
                <a:tc>
                  <a:txBody>
                    <a:bodyPr/>
                    <a:lstStyle/>
                    <a:p>
                      <a:r>
                        <a:rPr sz="1725" b="0">
                          <a:solidFill>
                            <a:srgbClr val="183B4E"/>
                          </a:solidFill>
                          <a:latin typeface="Arial"/>
                          <a:ea typeface="Arial"/>
                          <a:cs typeface="Arial"/>
                        </a:rPr>
                        <a:t>1726844270</a:t>
                      </a:r>
                    </a:p>
                  </a:txBody>
                  <a:tcPr marL="91440" marR="91440" marT="45720" marB="45720">
                    <a:solidFill>
                      <a:srgbClr val="FFFFFF"/>
                    </a:solidFill>
                  </a:tcPr>
                </a:tc>
                <a:tc>
                  <a:txBody>
                    <a:bodyPr/>
                    <a:lstStyle/>
                    <a:p>
                      <a:r>
                        <a:rPr sz="1725" b="0">
                          <a:solidFill>
                            <a:srgbClr val="183B4E"/>
                          </a:solidFill>
                          <a:latin typeface="Arial"/>
                          <a:ea typeface="Arial"/>
                          <a:cs typeface="Arial"/>
                        </a:rPr>
                        <a:t>53904684</a:t>
                      </a:r>
                    </a:p>
                  </a:txBody>
                  <a:tcPr marL="91440" marR="91440" marT="45720" marB="45720">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CCFB3128-1A9C-4DA7-9CF6-01B4ED75D3B7}"/>
              </a:ext>
            </a:extLst>
          </p:cNvPr>
          <p:cNvGraphicFramePr/>
          <p:nvPr/>
        </p:nvGraphicFramePr>
        <p:xfrm>
          <a:off xmlns:a="http://schemas.openxmlformats.org/drawingml/2006/main" x="571500" y="3438525"/>
          <a:ext xmlns:a="http://schemas.openxmlformats.org/drawingml/2006/main" cx="5334000" cy="2133600"/>
        </p:xfrm>
        <a:graphic xmlns:a="http://schemas.openxmlformats.org/drawingml/2006/main">
          <a:graphicData uri="http://schemas.openxmlformats.org/drawingml/2006/table">
            <a:tbl>
              <a:tblPr/>
              <a:tblGrid>
                <a:gridCol w="889000"/>
                <a:gridCol w="889000"/>
                <a:gridCol w="889000"/>
                <a:gridCol w="889000"/>
                <a:gridCol w="889000"/>
                <a:gridCol w="889000"/>
              </a:tblGrid>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46843</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46503</a:t>
                      </a:r>
                    </a:p>
                  </a:txBody>
                  <a:tcPr marL="91440" marR="91440" marT="45720" marB="45720">
                    <a:solidFill>
                      <a:srgbClr val="087F8C"/>
                    </a:solidFill>
                  </a:tcPr>
                </a:tc>
                <a:tc>
                  <a:txBody>
                    <a:bodyPr/>
                    <a:lstStyle/>
                    <a:p>
                      <a:r>
                        <a:rPr sz="1500" b="1">
                          <a:solidFill>
                            <a:srgbClr val="FFFFFF"/>
                          </a:solidFill>
                          <a:latin typeface="Arial"/>
                          <a:ea typeface="Arial"/>
                          <a:cs typeface="Arial"/>
                        </a:rPr>
                        <a:t>46504</a:t>
                      </a:r>
                    </a:p>
                  </a:txBody>
                  <a:tcPr marL="91440" marR="91440" marT="45720" marB="45720">
                    <a:solidFill>
                      <a:srgbClr val="C7902C"/>
                    </a:solidFill>
                  </a:tcPr>
                </a:tc>
                <a:tc>
                  <a:txBody>
                    <a:bodyPr/>
                    <a:lstStyle/>
                    <a:p>
                      <a:r>
                        <a:rPr sz="1500" b="1">
                          <a:solidFill>
                            <a:srgbClr val="FFFFFF"/>
                          </a:solidFill>
                          <a:latin typeface="Arial"/>
                          <a:ea typeface="Arial"/>
                          <a:cs typeface="Arial"/>
                        </a:rPr>
                        <a:t>46505</a:t>
                      </a:r>
                    </a:p>
                  </a:txBody>
                  <a:tcPr marL="91440" marR="91440" marT="45720" marB="45720">
                    <a:solidFill>
                      <a:srgbClr val="087F8C"/>
                    </a:solidFill>
                  </a:tcPr>
                </a:tc>
                <a:tc>
                  <a:txBody>
                    <a:bodyPr/>
                    <a:lstStyle/>
                    <a:p>
                      <a:r>
                        <a:rPr sz="1500" b="1">
                          <a:solidFill>
                            <a:srgbClr val="FFFFFF"/>
                          </a:solidFill>
                          <a:latin typeface="Arial"/>
                          <a:ea typeface="Arial"/>
                          <a:cs typeface="Arial"/>
                        </a:rPr>
                        <a:t>46506</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33400">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5" name="">
            <a:extLst xmlns:a="http://schemas.openxmlformats.org/drawingml/2006/main">
              <a:ext uri="{FF2B5EF4-FFF2-40B4-BE49-F238E27FC236}">
                <a16:creationId xmlns:a16="http://schemas.microsoft.com/office/drawing/2014/main" id="{7B5B8B12-FF33-48F0-BEB4-57AC935BE04C}"/>
              </a:ext>
            </a:extLst>
          </p:cNvPr>
          <p:cNvSpPr>
            <a:spLocks xmlns:a="http://schemas.openxmlformats.org/drawingml/2006/main" noGrp="1"/>
          </p:cNvSpPr>
          <p:nvPr/>
        </p:nvSpPr>
        <p:spPr>
          <a:xfrm xmlns:a="http://schemas.openxmlformats.org/drawingml/2006/main">
            <a:off x="6667500" y="34194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Genotipo</a:t>
            </a:r>
          </a:p>
        </p:txBody>
      </p:sp>
      <p:sp>
        <p:nvSpPr>
          <p:cNvPr id="6" name="">
            <a:extLst xmlns:a="http://schemas.openxmlformats.org/drawingml/2006/main">
              <a:ext uri="{FF2B5EF4-FFF2-40B4-BE49-F238E27FC236}">
                <a16:creationId xmlns:a16="http://schemas.microsoft.com/office/drawing/2014/main" id="{3EE191AF-EADE-4619-9145-312FBEF9306B}"/>
              </a:ext>
            </a:extLst>
          </p:cNvPr>
          <p:cNvSpPr>
            <a:spLocks xmlns:a="http://schemas.openxmlformats.org/drawingml/2006/main" noGrp="1"/>
          </p:cNvSpPr>
          <p:nvPr/>
        </p:nvSpPr>
        <p:spPr>
          <a:xfrm xmlns:a="http://schemas.openxmlformats.org/drawingml/2006/main">
            <a:off x="6667500" y="39433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Semilla + secuencia de enteros</a:t>
            </a:r>
          </a:p>
        </p:txBody>
      </p:sp>
      <p:sp>
        <p:nvSpPr>
          <p:cNvPr id="7" name="">
            <a:extLst xmlns:a="http://schemas.openxmlformats.org/drawingml/2006/main">
              <a:ext uri="{FF2B5EF4-FFF2-40B4-BE49-F238E27FC236}">
                <a16:creationId xmlns:a16="http://schemas.microsoft.com/office/drawing/2014/main" id="{18D85A00-A859-48D3-A5DA-572C1CBAA06F}"/>
              </a:ext>
            </a:extLst>
          </p:cNvPr>
          <p:cNvSpPr>
            <a:spLocks xmlns:a="http://schemas.openxmlformats.org/drawingml/2006/main" noGrp="1"/>
          </p:cNvSpPr>
          <p:nvPr/>
        </p:nvSpPr>
        <p:spPr>
          <a:xfrm xmlns:a="http://schemas.openxmlformats.org/drawingml/2006/main">
            <a:off x="6667500" y="4714875"/>
            <a:ext cx="457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Fenotipo</a:t>
            </a:r>
          </a:p>
        </p:txBody>
      </p:sp>
      <p:sp>
        <p:nvSpPr>
          <p:cNvPr id="8" name="">
            <a:extLst xmlns:a="http://schemas.openxmlformats.org/drawingml/2006/main">
              <a:ext uri="{FF2B5EF4-FFF2-40B4-BE49-F238E27FC236}">
                <a16:creationId xmlns:a16="http://schemas.microsoft.com/office/drawing/2014/main" id="{D403FAA0-921C-4E4A-B6CF-C3A2012C387B}"/>
              </a:ext>
            </a:extLst>
          </p:cNvPr>
          <p:cNvSpPr>
            <a:spLocks xmlns:a="http://schemas.openxmlformats.org/drawingml/2006/main" noGrp="1"/>
          </p:cNvSpPr>
          <p:nvPr/>
        </p:nvSpPr>
        <p:spPr>
          <a:xfrm xmlns:a="http://schemas.openxmlformats.org/drawingml/2006/main">
            <a:off x="6667500" y="5229225"/>
            <a:ext cx="4762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5 celdas contiguas</a:t>
            </a:r>
          </a:p>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125 ha y 39,125 MW</a:t>
            </a:r>
          </a:p>
        </p:txBody>
      </p:sp>
      <p:sp>
        <p:nvSpPr>
          <p:cNvPr id="9" name="">
            <a:extLst xmlns:a="http://schemas.openxmlformats.org/drawingml/2006/main">
              <a:ext uri="{FF2B5EF4-FFF2-40B4-BE49-F238E27FC236}">
                <a16:creationId xmlns:a16="http://schemas.microsoft.com/office/drawing/2014/main" id="{93AE8FA3-A06F-4F7A-9536-95983E428FA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Oro: celda semilla. Verde: celdas del parque. Los números son IDs de celda</a:t>
            </a:r>
          </a:p>
        </p:txBody>
      </p:sp>
      <p:sp>
        <p:nvSpPr>
          <p:cNvPr id="11" name="">
            <a:extLst xmlns:a="http://schemas.openxmlformats.org/drawingml/2006/main">
              <a:ext uri="{FF2B5EF4-FFF2-40B4-BE49-F238E27FC236}">
                <a16:creationId xmlns:a16="http://schemas.microsoft.com/office/drawing/2014/main" id="{A6BEEF1C-5A3D-49C3-9678-BF60F4D390A1}"/>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11</a:t>
            </a:r>
          </a:p>
        </p:txBody>
      </p:sp>
    </p:spTree>
    <p:extLst>
      <p:ext uri="{BB962C8B-B14F-4D97-AF65-F5344CB8AC3E}">
        <p14:creationId xmlns:p14="http://schemas.microsoft.com/office/powerpoint/2010/main" val="9926888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A87E6E-7D19-447B-BBAE-6248F6E2FCF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Decodificación: cómo actúa un gen</a:t>
            </a:r>
          </a:p>
        </p:txBody>
      </p:sp>
      <p:graphicFrame>
        <p:nvGraphicFramePr>
          <p:cNvPr id="3" name="">
            <a:extLst xmlns:a="http://schemas.openxmlformats.org/drawingml/2006/main">
              <a:ext uri="{FF2B5EF4-FFF2-40B4-BE49-F238E27FC236}">
                <a16:creationId xmlns:a16="http://schemas.microsoft.com/office/drawing/2014/main" id="{73E81BDA-C8A5-4CE7-9757-10271F9BF1F2}"/>
              </a:ext>
            </a:extLst>
          </p:cNvPr>
          <p:cNvGraphicFramePr/>
          <p:nvPr/>
        </p:nvGraphicFramePr>
        <p:xfrm>
          <a:off xmlns:a="http://schemas.openxmlformats.org/drawingml/2006/main" x="571500" y="1714500"/>
          <a:ext xmlns:a="http://schemas.openxmlformats.org/drawingml/2006/main" cx="4572000" cy="2857500"/>
        </p:xfrm>
        <a:graphic xmlns:a="http://schemas.openxmlformats.org/drawingml/2006/main">
          <a:graphicData uri="http://schemas.openxmlformats.org/drawingml/2006/table">
            <a:tbl>
              <a:tblPr/>
              <a:tblGrid>
                <a:gridCol w="3048000"/>
                <a:gridCol w="1524000"/>
              </a:tblGrid>
              <a:tr h="571500">
                <a:tc>
                  <a:txBody>
                    <a:bodyPr/>
                    <a:lstStyle/>
                    <a:p>
                      <a:r>
                        <a:rPr sz="1875" b="1">
                          <a:solidFill>
                            <a:srgbClr val="FFFFFF"/>
                          </a:solidFill>
                          <a:latin typeface="Arial"/>
                          <a:ea typeface="Arial"/>
                          <a:cs typeface="Arial"/>
                        </a:rPr>
                        <a:t>Frontera ordenada</a:t>
                      </a:r>
                    </a:p>
                  </a:txBody>
                  <a:tcPr marL="91440" marR="91440" marT="45720" marB="45720">
                    <a:solidFill>
                      <a:srgbClr val="102A43"/>
                    </a:solidFill>
                  </a:tcPr>
                </a:tc>
                <a:tc>
                  <a:txBody>
                    <a:bodyPr/>
                    <a:lstStyle/>
                    <a:p>
                      <a:r>
                        <a:rPr sz="1875" b="1">
                          <a:solidFill>
                            <a:srgbClr val="FFFFFF"/>
                          </a:solidFill>
                          <a:latin typeface="Arial"/>
                          <a:ea typeface="Arial"/>
                          <a:cs typeface="Arial"/>
                        </a:rPr>
                        <a:t>Índice</a:t>
                      </a:r>
                    </a:p>
                  </a:txBody>
                  <a:tcPr marL="91440" marR="91440" marT="45720" marB="45720">
                    <a:solidFill>
                      <a:srgbClr val="102A43"/>
                    </a:solidFill>
                  </a:tcPr>
                </a:tc>
              </a:tr>
              <a:tr h="571500">
                <a:tc>
                  <a:txBody>
                    <a:bodyPr/>
                    <a:lstStyle/>
                    <a:p>
                      <a:r>
                        <a:rPr sz="1875" b="0">
                          <a:solidFill>
                            <a:srgbClr val="183B4E"/>
                          </a:solidFill>
                          <a:latin typeface="Arial"/>
                          <a:ea typeface="Arial"/>
                          <a:cs typeface="Arial"/>
                        </a:rPr>
                        <a:t>46.165</a:t>
                      </a:r>
                    </a:p>
                  </a:txBody>
                  <a:tcPr marL="91440" marR="91440" marT="45720" marB="45720">
                    <a:solidFill>
                      <a:srgbClr val="FFFFFF"/>
                    </a:solidFill>
                  </a:tcPr>
                </a:tc>
                <a:tc>
                  <a:txBody>
                    <a:bodyPr/>
                    <a:lstStyle/>
                    <a:p>
                      <a:r>
                        <a:rPr sz="1875" b="0">
                          <a:solidFill>
                            <a:srgbClr val="183B4E"/>
                          </a:solidFill>
                          <a:latin typeface="Arial"/>
                          <a:ea typeface="Arial"/>
                          <a:cs typeface="Arial"/>
                        </a:rPr>
                        <a:t>0</a:t>
                      </a:r>
                    </a:p>
                  </a:txBody>
                  <a:tcPr marL="91440" marR="91440" marT="45720" marB="45720">
                    <a:solidFill>
                      <a:srgbClr val="FFFFFF"/>
                    </a:solidFill>
                  </a:tcPr>
                </a:tc>
              </a:tr>
              <a:tr h="571500">
                <a:tc>
                  <a:txBody>
                    <a:bodyPr/>
                    <a:lstStyle/>
                    <a:p>
                      <a:r>
                        <a:rPr sz="1875" b="0">
                          <a:solidFill>
                            <a:srgbClr val="183B4E"/>
                          </a:solidFill>
                          <a:latin typeface="Arial"/>
                          <a:ea typeface="Arial"/>
                          <a:cs typeface="Arial"/>
                        </a:rPr>
                        <a:t>46.503</a:t>
                      </a:r>
                    </a:p>
                  </a:txBody>
                  <a:tcPr marL="91440" marR="91440" marT="45720" marB="45720">
                    <a:solidFill>
                      <a:srgbClr val="EEF5F5"/>
                    </a:solidFill>
                  </a:tcPr>
                </a:tc>
                <a:tc>
                  <a:txBody>
                    <a:bodyPr/>
                    <a:lstStyle/>
                    <a:p>
                      <a:r>
                        <a:rPr sz="1875" b="0">
                          <a:solidFill>
                            <a:srgbClr val="183B4E"/>
                          </a:solidFill>
                          <a:latin typeface="Arial"/>
                          <a:ea typeface="Arial"/>
                          <a:cs typeface="Arial"/>
                        </a:rPr>
                        <a:t>1   ← elegida</a:t>
                      </a:r>
                    </a:p>
                  </a:txBody>
                  <a:tcPr marL="91440" marR="91440" marT="45720" marB="45720">
                    <a:solidFill>
                      <a:srgbClr val="EEF5F5"/>
                    </a:solidFill>
                  </a:tcPr>
                </a:tc>
              </a:tr>
              <a:tr h="571500">
                <a:tc>
                  <a:txBody>
                    <a:bodyPr/>
                    <a:lstStyle/>
                    <a:p>
                      <a:r>
                        <a:rPr sz="1875" b="0">
                          <a:solidFill>
                            <a:srgbClr val="183B4E"/>
                          </a:solidFill>
                          <a:latin typeface="Arial"/>
                          <a:ea typeface="Arial"/>
                          <a:cs typeface="Arial"/>
                        </a:rPr>
                        <a:t>46.505</a:t>
                      </a:r>
                    </a:p>
                  </a:txBody>
                  <a:tcPr marL="91440" marR="91440" marT="45720" marB="45720">
                    <a:solidFill>
                      <a:srgbClr val="FFFFFF"/>
                    </a:solidFill>
                  </a:tcPr>
                </a:tc>
                <a:tc>
                  <a:txBody>
                    <a:bodyPr/>
                    <a:lstStyle/>
                    <a:p>
                      <a:r>
                        <a:rPr sz="1875" b="0">
                          <a:solidFill>
                            <a:srgbClr val="183B4E"/>
                          </a:solidFill>
                          <a:latin typeface="Arial"/>
                          <a:ea typeface="Arial"/>
                          <a:cs typeface="Arial"/>
                        </a:rPr>
                        <a:t>2</a:t>
                      </a:r>
                    </a:p>
                  </a:txBody>
                  <a:tcPr marL="91440" marR="91440" marT="45720" marB="45720">
                    <a:solidFill>
                      <a:srgbClr val="FFFFFF"/>
                    </a:solidFill>
                  </a:tcPr>
                </a:tc>
              </a:tr>
              <a:tr h="571500">
                <a:tc>
                  <a:txBody>
                    <a:bodyPr/>
                    <a:lstStyle/>
                    <a:p>
                      <a:r>
                        <a:rPr sz="1875" b="0">
                          <a:solidFill>
                            <a:srgbClr val="183B4E"/>
                          </a:solidFill>
                          <a:latin typeface="Arial"/>
                          <a:ea typeface="Arial"/>
                          <a:cs typeface="Arial"/>
                        </a:rPr>
                        <a:t>46.843</a:t>
                      </a:r>
                    </a:p>
                  </a:txBody>
                  <a:tcPr marL="91440" marR="91440" marT="45720" marB="45720">
                    <a:solidFill>
                      <a:srgbClr val="EEF5F5"/>
                    </a:solidFill>
                  </a:tcPr>
                </a:tc>
                <a:tc>
                  <a:txBody>
                    <a:bodyPr/>
                    <a:lstStyle/>
                    <a:p>
                      <a:r>
                        <a:rPr sz="1875" b="0">
                          <a:solidFill>
                            <a:srgbClr val="183B4E"/>
                          </a:solidFill>
                          <a:latin typeface="Arial"/>
                          <a:ea typeface="Arial"/>
                          <a:cs typeface="Arial"/>
                        </a:rPr>
                        <a:t>3</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1D0428C8-1183-4E5A-889A-1D016CAECA5B}"/>
              </a:ext>
            </a:extLst>
          </p:cNvPr>
          <p:cNvSpPr>
            <a:spLocks xmlns:a="http://schemas.openxmlformats.org/drawingml/2006/main" noGrp="1"/>
          </p:cNvSpPr>
          <p:nvPr/>
        </p:nvSpPr>
        <p:spPr>
          <a:xfrm xmlns:a="http://schemas.openxmlformats.org/drawingml/2006/main">
            <a:off x="5810250" y="1876425"/>
            <a:ext cx="571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buNone/>
              <a:defRPr sz="3000" b="1">
                <a:solidFill>
                  <a:srgbClr val="087F8C"/>
                </a:solidFill>
                <a:latin typeface="Arial"/>
                <a:ea typeface="Arial"/>
                <a:cs typeface="Arial"/>
              </a:defRPr>
            </a:pPr>
            <a:r>
              <a:rPr sz="3000" b="1">
                <a:solidFill>
                  <a:srgbClr val="087F8C"/>
                </a:solidFill>
                <a:latin typeface="Arial"/>
                <a:ea typeface="Arial"/>
                <a:cs typeface="Arial"/>
              </a:rPr>
              <a:t>429014945 mod 4 = 1</a:t>
            </a:r>
          </a:p>
        </p:txBody>
      </p:sp>
      <p:sp>
        <p:nvSpPr>
          <p:cNvPr id="5" name="">
            <a:extLst xmlns:a="http://schemas.openxmlformats.org/drawingml/2006/main">
              <a:ext uri="{FF2B5EF4-FFF2-40B4-BE49-F238E27FC236}">
                <a16:creationId xmlns:a16="http://schemas.microsoft.com/office/drawing/2014/main" id="{263CBF00-D908-4171-91FA-0512883F7137}"/>
              </a:ext>
            </a:extLst>
          </p:cNvPr>
          <p:cNvSpPr>
            <a:spLocks xmlns:a="http://schemas.openxmlformats.org/drawingml/2006/main" noGrp="1"/>
          </p:cNvSpPr>
          <p:nvPr/>
        </p:nvSpPr>
        <p:spPr>
          <a:xfrm xmlns:a="http://schemas.openxmlformats.org/drawingml/2006/main">
            <a:off x="5810250" y="2943225"/>
            <a:ext cx="571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0">
                <a:solidFill>
                  <a:srgbClr val="183B4E"/>
                </a:solidFill>
                <a:latin typeface="Arial"/>
                <a:ea typeface="Arial"/>
                <a:cs typeface="Arial"/>
              </a:defRPr>
            </a:defPPr>
          </a:lstStyle>
          <a:p xmlns:a="http://schemas.openxmlformats.org/drawingml/2006/main">
            <a:pPr>
              <a:buNone/>
              <a:defRPr sz="2400" b="0">
                <a:solidFill>
                  <a:srgbClr val="183B4E"/>
                </a:solidFill>
                <a:latin typeface="Arial"/>
                <a:ea typeface="Arial"/>
                <a:cs typeface="Arial"/>
              </a:defRPr>
            </a:pPr>
            <a:r>
              <a:rPr sz="2400" b="0">
                <a:solidFill>
                  <a:srgbClr val="183B4E"/>
                </a:solidFill>
                <a:latin typeface="Arial"/>
                <a:ea typeface="Arial"/>
                <a:cs typeface="Arial"/>
              </a:rPr>
              <a:t>El gen elige la posición 1</a:t>
            </a:r>
          </a:p>
          <a:p xmlns:a="http://schemas.openxmlformats.org/drawingml/2006/main">
            <a:pPr>
              <a:buNone/>
              <a:defRPr sz="2400" b="0">
                <a:solidFill>
                  <a:srgbClr val="183B4E"/>
                </a:solidFill>
                <a:latin typeface="Arial"/>
                <a:ea typeface="Arial"/>
                <a:cs typeface="Arial"/>
              </a:defRPr>
            </a:pPr>
            <a:r>
              <a:rPr sz="2400" b="0">
                <a:solidFill>
                  <a:srgbClr val="183B4E"/>
                </a:solidFill>
                <a:latin typeface="Arial"/>
                <a:ea typeface="Arial"/>
                <a:cs typeface="Arial"/>
              </a:rPr>
              <a:t>de la frontera actual</a:t>
            </a:r>
          </a:p>
        </p:txBody>
      </p:sp>
      <p:sp>
        <p:nvSpPr>
          <p:cNvPr id="6" name="">
            <a:extLst xmlns:a="http://schemas.openxmlformats.org/drawingml/2006/main">
              <a:ext uri="{FF2B5EF4-FFF2-40B4-BE49-F238E27FC236}">
                <a16:creationId xmlns:a16="http://schemas.microsoft.com/office/drawing/2014/main" id="{A2AC5380-CB21-4971-8DA4-CF2279E1A69B}"/>
              </a:ext>
            </a:extLst>
          </p:cNvPr>
          <p:cNvSpPr>
            <a:spLocks xmlns:a="http://schemas.openxmlformats.org/drawingml/2006/main" noGrp="1"/>
          </p:cNvSpPr>
          <p:nvPr/>
        </p:nvSpPr>
        <p:spPr>
          <a:xfrm xmlns:a="http://schemas.openxmlformats.org/drawingml/2006/main">
            <a:off x="5810250" y="4562475"/>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75" b="1">
                <a:solidFill>
                  <a:srgbClr val="102A43"/>
                </a:solidFill>
                <a:latin typeface="Arial"/>
                <a:ea typeface="Arial"/>
                <a:cs typeface="Arial"/>
              </a:defRPr>
            </a:defPPr>
          </a:lstStyle>
          <a:p xmlns:a="http://schemas.openxmlformats.org/drawingml/2006/main">
            <a:pPr>
              <a:buNone/>
              <a:defRPr sz="2775" b="1">
                <a:solidFill>
                  <a:srgbClr val="102A43"/>
                </a:solidFill>
                <a:latin typeface="Arial"/>
                <a:ea typeface="Arial"/>
                <a:cs typeface="Arial"/>
              </a:defRPr>
            </a:pPr>
            <a:r>
              <a:rPr sz="2775" b="1">
                <a:solidFill>
                  <a:srgbClr val="102A43"/>
                </a:solidFill>
                <a:latin typeface="Arial"/>
                <a:ea typeface="Arial"/>
                <a:cs typeface="Arial"/>
              </a:rPr>
              <a:t>Nueva celda: 46.503</a:t>
            </a:r>
          </a:p>
        </p:txBody>
      </p:sp>
      <p:sp>
        <p:nvSpPr>
          <p:cNvPr id="7" name="">
            <a:extLst xmlns:a="http://schemas.openxmlformats.org/drawingml/2006/main">
              <a:ext uri="{FF2B5EF4-FFF2-40B4-BE49-F238E27FC236}">
                <a16:creationId xmlns:a16="http://schemas.microsoft.com/office/drawing/2014/main" id="{5303D138-DF75-4E5F-AEDA-3F840ABF3770}"/>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Después de cada adición cambia la frontera sobre la que actúa el siguiente gen</a:t>
            </a:r>
          </a:p>
        </p:txBody>
      </p:sp>
      <p:sp>
        <p:nvSpPr>
          <p:cNvPr id="9" name="">
            <a:extLst xmlns:a="http://schemas.openxmlformats.org/drawingml/2006/main">
              <a:ext uri="{FF2B5EF4-FFF2-40B4-BE49-F238E27FC236}">
                <a16:creationId xmlns:a16="http://schemas.microsoft.com/office/drawing/2014/main" id="{23BBB9AF-55C7-4F1C-B72F-9A2FE7512CA1}"/>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12</a:t>
            </a:r>
          </a:p>
        </p:txBody>
      </p:sp>
    </p:spTree>
    <p:extLst>
      <p:ext uri="{BB962C8B-B14F-4D97-AF65-F5344CB8AC3E}">
        <p14:creationId xmlns:p14="http://schemas.microsoft.com/office/powerpoint/2010/main" val="20821255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EFBC985-30A7-4512-9420-5CAD0523984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Crecimiento del mismo cromosoma</a:t>
            </a:r>
          </a:p>
        </p:txBody>
      </p:sp>
      <p:sp>
        <p:nvSpPr>
          <p:cNvPr id="3" name="">
            <a:extLst xmlns:a="http://schemas.openxmlformats.org/drawingml/2006/main">
              <a:ext uri="{FF2B5EF4-FFF2-40B4-BE49-F238E27FC236}">
                <a16:creationId xmlns:a16="http://schemas.microsoft.com/office/drawing/2014/main" id="{CF728C10-8752-4165-8B63-0777462F585D}"/>
              </a:ext>
            </a:extLst>
          </p:cNvPr>
          <p:cNvSpPr>
            <a:spLocks xmlns:a="http://schemas.openxmlformats.org/drawingml/2006/main" noGrp="1"/>
          </p:cNvSpPr>
          <p:nvPr/>
        </p:nvSpPr>
        <p:spPr>
          <a:xfrm xmlns:a="http://schemas.openxmlformats.org/drawingml/2006/main">
            <a:off x="57150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Semilla</a:t>
            </a:r>
          </a:p>
        </p:txBody>
      </p:sp>
      <p:graphicFrame>
        <p:nvGraphicFramePr>
          <p:cNvPr id="4" name="">
            <a:extLst xmlns:a="http://schemas.openxmlformats.org/drawingml/2006/main">
              <a:ext uri="{FF2B5EF4-FFF2-40B4-BE49-F238E27FC236}">
                <a16:creationId xmlns:a16="http://schemas.microsoft.com/office/drawing/2014/main" id="{D9E3B81C-B771-4958-8556-40B6EE6BBDFB}"/>
              </a:ext>
            </a:extLst>
          </p:cNvPr>
          <p:cNvGraphicFramePr/>
          <p:nvPr/>
        </p:nvGraphicFramePr>
        <p:xfrm>
          <a:off xmlns:a="http://schemas.openxmlformats.org/drawingml/2006/main" x="57150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5" name="">
            <a:extLst xmlns:a="http://schemas.openxmlformats.org/drawingml/2006/main">
              <a:ext uri="{FF2B5EF4-FFF2-40B4-BE49-F238E27FC236}">
                <a16:creationId xmlns:a16="http://schemas.microsoft.com/office/drawing/2014/main" id="{C5041558-3B97-40AE-A111-D032973BDD8D}"/>
              </a:ext>
            </a:extLst>
          </p:cNvPr>
          <p:cNvSpPr>
            <a:spLocks xmlns:a="http://schemas.openxmlformats.org/drawingml/2006/main" noGrp="1"/>
          </p:cNvSpPr>
          <p:nvPr/>
        </p:nvSpPr>
        <p:spPr>
          <a:xfrm xmlns:a="http://schemas.openxmlformats.org/drawingml/2006/main">
            <a:off x="57150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1 celda</a:t>
            </a:r>
          </a:p>
        </p:txBody>
      </p:sp>
      <p:sp>
        <p:nvSpPr>
          <p:cNvPr id="6" name="">
            <a:extLst xmlns:a="http://schemas.openxmlformats.org/drawingml/2006/main">
              <a:ext uri="{FF2B5EF4-FFF2-40B4-BE49-F238E27FC236}">
                <a16:creationId xmlns:a16="http://schemas.microsoft.com/office/drawing/2014/main" id="{1A318D10-9A2C-4480-A9FD-9DBF2B3B4DAE}"/>
              </a:ext>
            </a:extLst>
          </p:cNvPr>
          <p:cNvSpPr>
            <a:spLocks xmlns:a="http://schemas.openxmlformats.org/drawingml/2006/main" noGrp="1"/>
          </p:cNvSpPr>
          <p:nvPr/>
        </p:nvSpPr>
        <p:spPr>
          <a:xfrm xmlns:a="http://schemas.openxmlformats.org/drawingml/2006/main">
            <a:off x="2828925"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g1</a:t>
            </a:r>
          </a:p>
        </p:txBody>
      </p:sp>
      <p:graphicFrame>
        <p:nvGraphicFramePr>
          <p:cNvPr id="7" name="">
            <a:extLst xmlns:a="http://schemas.openxmlformats.org/drawingml/2006/main">
              <a:ext uri="{FF2B5EF4-FFF2-40B4-BE49-F238E27FC236}">
                <a16:creationId xmlns:a16="http://schemas.microsoft.com/office/drawing/2014/main" id="{AD09EB00-15FB-4D77-AFA8-771077BA5A33}"/>
              </a:ext>
            </a:extLst>
          </p:cNvPr>
          <p:cNvGraphicFramePr/>
          <p:nvPr/>
        </p:nvGraphicFramePr>
        <p:xfrm>
          <a:off xmlns:a="http://schemas.openxmlformats.org/drawingml/2006/main" x="2828925"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8" name="">
            <a:extLst xmlns:a="http://schemas.openxmlformats.org/drawingml/2006/main">
              <a:ext uri="{FF2B5EF4-FFF2-40B4-BE49-F238E27FC236}">
                <a16:creationId xmlns:a16="http://schemas.microsoft.com/office/drawing/2014/main" id="{A69D77D0-9EFC-4FF8-9A68-B4AC29A5C333}"/>
              </a:ext>
            </a:extLst>
          </p:cNvPr>
          <p:cNvSpPr>
            <a:spLocks xmlns:a="http://schemas.openxmlformats.org/drawingml/2006/main" noGrp="1"/>
          </p:cNvSpPr>
          <p:nvPr/>
        </p:nvSpPr>
        <p:spPr>
          <a:xfrm xmlns:a="http://schemas.openxmlformats.org/drawingml/2006/main">
            <a:off x="2828925"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2 celdas</a:t>
            </a:r>
          </a:p>
        </p:txBody>
      </p:sp>
      <p:sp>
        <p:nvSpPr>
          <p:cNvPr id="9" name="">
            <a:extLst xmlns:a="http://schemas.openxmlformats.org/drawingml/2006/main">
              <a:ext uri="{FF2B5EF4-FFF2-40B4-BE49-F238E27FC236}">
                <a16:creationId xmlns:a16="http://schemas.microsoft.com/office/drawing/2014/main" id="{23EE3CC1-DD5C-4A77-9749-8BF6A09F6986}"/>
              </a:ext>
            </a:extLst>
          </p:cNvPr>
          <p:cNvSpPr>
            <a:spLocks xmlns:a="http://schemas.openxmlformats.org/drawingml/2006/main" noGrp="1"/>
          </p:cNvSpPr>
          <p:nvPr/>
        </p:nvSpPr>
        <p:spPr>
          <a:xfrm xmlns:a="http://schemas.openxmlformats.org/drawingml/2006/main">
            <a:off x="508635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g2</a:t>
            </a:r>
          </a:p>
        </p:txBody>
      </p:sp>
      <p:graphicFrame>
        <p:nvGraphicFramePr>
          <p:cNvPr id="10" name="">
            <a:extLst xmlns:a="http://schemas.openxmlformats.org/drawingml/2006/main">
              <a:ext uri="{FF2B5EF4-FFF2-40B4-BE49-F238E27FC236}">
                <a16:creationId xmlns:a16="http://schemas.microsoft.com/office/drawing/2014/main" id="{9F20D438-FA6C-41F3-A01F-8311DDA366BC}"/>
              </a:ext>
            </a:extLst>
          </p:cNvPr>
          <p:cNvGraphicFramePr/>
          <p:nvPr/>
        </p:nvGraphicFramePr>
        <p:xfrm>
          <a:off xmlns:a="http://schemas.openxmlformats.org/drawingml/2006/main" x="508635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1" name="">
            <a:extLst xmlns:a="http://schemas.openxmlformats.org/drawingml/2006/main">
              <a:ext uri="{FF2B5EF4-FFF2-40B4-BE49-F238E27FC236}">
                <a16:creationId xmlns:a16="http://schemas.microsoft.com/office/drawing/2014/main" id="{CBA51524-D61D-4ED3-AF04-2DF2B3606E68}"/>
              </a:ext>
            </a:extLst>
          </p:cNvPr>
          <p:cNvSpPr>
            <a:spLocks xmlns:a="http://schemas.openxmlformats.org/drawingml/2006/main" noGrp="1"/>
          </p:cNvSpPr>
          <p:nvPr/>
        </p:nvSpPr>
        <p:spPr>
          <a:xfrm xmlns:a="http://schemas.openxmlformats.org/drawingml/2006/main">
            <a:off x="508635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3 celdas</a:t>
            </a:r>
          </a:p>
        </p:txBody>
      </p:sp>
      <p:sp>
        <p:nvSpPr>
          <p:cNvPr id="12" name="">
            <a:extLst xmlns:a="http://schemas.openxmlformats.org/drawingml/2006/main">
              <a:ext uri="{FF2B5EF4-FFF2-40B4-BE49-F238E27FC236}">
                <a16:creationId xmlns:a16="http://schemas.microsoft.com/office/drawing/2014/main" id="{F4521E80-0B04-4844-A0C5-20EC41187782}"/>
              </a:ext>
            </a:extLst>
          </p:cNvPr>
          <p:cNvSpPr>
            <a:spLocks xmlns:a="http://schemas.openxmlformats.org/drawingml/2006/main" noGrp="1"/>
          </p:cNvSpPr>
          <p:nvPr/>
        </p:nvSpPr>
        <p:spPr>
          <a:xfrm xmlns:a="http://schemas.openxmlformats.org/drawingml/2006/main">
            <a:off x="7343775"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g3</a:t>
            </a:r>
          </a:p>
        </p:txBody>
      </p:sp>
      <p:graphicFrame>
        <p:nvGraphicFramePr>
          <p:cNvPr id="13" name="">
            <a:extLst xmlns:a="http://schemas.openxmlformats.org/drawingml/2006/main">
              <a:ext uri="{FF2B5EF4-FFF2-40B4-BE49-F238E27FC236}">
                <a16:creationId xmlns:a16="http://schemas.microsoft.com/office/drawing/2014/main" id="{F1491EC2-2BD5-43A9-9AAF-4D1337B5B431}"/>
              </a:ext>
            </a:extLst>
          </p:cNvPr>
          <p:cNvGraphicFramePr/>
          <p:nvPr/>
        </p:nvGraphicFramePr>
        <p:xfrm>
          <a:off xmlns:a="http://schemas.openxmlformats.org/drawingml/2006/main" x="7343775"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4" name="">
            <a:extLst xmlns:a="http://schemas.openxmlformats.org/drawingml/2006/main">
              <a:ext uri="{FF2B5EF4-FFF2-40B4-BE49-F238E27FC236}">
                <a16:creationId xmlns:a16="http://schemas.microsoft.com/office/drawing/2014/main" id="{7E3F874E-865E-4938-8823-697963D47480}"/>
              </a:ext>
            </a:extLst>
          </p:cNvPr>
          <p:cNvSpPr>
            <a:spLocks xmlns:a="http://schemas.openxmlformats.org/drawingml/2006/main" noGrp="1"/>
          </p:cNvSpPr>
          <p:nvPr/>
        </p:nvSpPr>
        <p:spPr>
          <a:xfrm xmlns:a="http://schemas.openxmlformats.org/drawingml/2006/main">
            <a:off x="7343775"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4 celdas</a:t>
            </a:r>
          </a:p>
        </p:txBody>
      </p:sp>
      <p:sp>
        <p:nvSpPr>
          <p:cNvPr id="15" name="">
            <a:extLst xmlns:a="http://schemas.openxmlformats.org/drawingml/2006/main">
              <a:ext uri="{FF2B5EF4-FFF2-40B4-BE49-F238E27FC236}">
                <a16:creationId xmlns:a16="http://schemas.microsoft.com/office/drawing/2014/main" id="{995B60E7-F07E-4681-A225-8EEAF7E504FE}"/>
              </a:ext>
            </a:extLst>
          </p:cNvPr>
          <p:cNvSpPr>
            <a:spLocks xmlns:a="http://schemas.openxmlformats.org/drawingml/2006/main" noGrp="1"/>
          </p:cNvSpPr>
          <p:nvPr/>
        </p:nvSpPr>
        <p:spPr>
          <a:xfrm xmlns:a="http://schemas.openxmlformats.org/drawingml/2006/main">
            <a:off x="9601200" y="1600200"/>
            <a:ext cx="21240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087F8C"/>
                </a:solidFill>
                <a:latin typeface="Arial"/>
                <a:ea typeface="Arial"/>
                <a:cs typeface="Arial"/>
              </a:defRPr>
            </a:defPPr>
          </a:lstStyle>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Hasta g4</a:t>
            </a:r>
          </a:p>
        </p:txBody>
      </p:sp>
      <p:graphicFrame>
        <p:nvGraphicFramePr>
          <p:cNvPr id="16" name="">
            <a:extLst xmlns:a="http://schemas.openxmlformats.org/drawingml/2006/main">
              <a:ext uri="{FF2B5EF4-FFF2-40B4-BE49-F238E27FC236}">
                <a16:creationId xmlns:a16="http://schemas.microsoft.com/office/drawing/2014/main" id="{EE79BB32-48A1-4B7C-B4A1-5E7AC32F7A1A}"/>
              </a:ext>
            </a:extLst>
          </p:cNvPr>
          <p:cNvGraphicFramePr/>
          <p:nvPr/>
        </p:nvGraphicFramePr>
        <p:xfrm>
          <a:off xmlns:a="http://schemas.openxmlformats.org/drawingml/2006/main" x="9601200" y="2228850"/>
          <a:ext xmlns:a="http://schemas.openxmlformats.org/drawingml/2006/main" cx="2009775" cy="1714500"/>
        </p:xfrm>
        <a:graphic xmlns:a="http://schemas.openxmlformats.org/drawingml/2006/main">
          <a:graphicData uri="http://schemas.openxmlformats.org/drawingml/2006/table">
            <a:tbl>
              <a:tblPr/>
              <a:tblGrid>
                <a:gridCol w="334963"/>
                <a:gridCol w="334963"/>
                <a:gridCol w="334963"/>
                <a:gridCol w="334963"/>
                <a:gridCol w="334963"/>
                <a:gridCol w="334963"/>
              </a:tblGrid>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C7902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42862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17" name="">
            <a:extLst xmlns:a="http://schemas.openxmlformats.org/drawingml/2006/main">
              <a:ext uri="{FF2B5EF4-FFF2-40B4-BE49-F238E27FC236}">
                <a16:creationId xmlns:a16="http://schemas.microsoft.com/office/drawing/2014/main" id="{D1B7ED99-117D-455F-A039-6DEDD584BD7B}"/>
              </a:ext>
            </a:extLst>
          </p:cNvPr>
          <p:cNvSpPr>
            <a:spLocks xmlns:a="http://schemas.openxmlformats.org/drawingml/2006/main" noGrp="1"/>
          </p:cNvSpPr>
          <p:nvPr/>
        </p:nvSpPr>
        <p:spPr>
          <a:xfrm xmlns:a="http://schemas.openxmlformats.org/drawingml/2006/main">
            <a:off x="9601200" y="4162425"/>
            <a:ext cx="2085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5 celdas</a:t>
            </a:r>
          </a:p>
        </p:txBody>
      </p:sp>
      <p:graphicFrame>
        <p:nvGraphicFramePr>
          <p:cNvPr id="18" name="">
            <a:extLst xmlns:a="http://schemas.openxmlformats.org/drawingml/2006/main">
              <a:ext uri="{FF2B5EF4-FFF2-40B4-BE49-F238E27FC236}">
                <a16:creationId xmlns:a16="http://schemas.microsoft.com/office/drawing/2014/main" id="{D2B42C58-2F4B-4965-966D-B56E2F057988}"/>
              </a:ext>
            </a:extLst>
          </p:cNvPr>
          <p:cNvGraphicFramePr/>
          <p:nvPr/>
        </p:nvGraphicFramePr>
        <p:xfrm>
          <a:off xmlns:a="http://schemas.openxmlformats.org/drawingml/2006/main" x="571500" y="4943475"/>
          <a:ext xmlns:a="http://schemas.openxmlformats.org/drawingml/2006/main" cx="11049000" cy="885825"/>
        </p:xfrm>
        <a:graphic xmlns:a="http://schemas.openxmlformats.org/drawingml/2006/main">
          <a:graphicData uri="http://schemas.openxmlformats.org/drawingml/2006/table">
            <a:tbl>
              <a:tblPr/>
              <a:tblGrid>
                <a:gridCol w="2286000"/>
                <a:gridCol w="1752600"/>
                <a:gridCol w="1752600"/>
                <a:gridCol w="1752600"/>
                <a:gridCol w="1752600"/>
                <a:gridCol w="1752600"/>
              </a:tblGrid>
              <a:tr h="442913">
                <a:tc>
                  <a:txBody>
                    <a:bodyPr/>
                    <a:lstStyle/>
                    <a:p>
                      <a:r>
                        <a:rPr sz="1650" b="1">
                          <a:solidFill>
                            <a:srgbClr val="FFFFFF"/>
                          </a:solidFill>
                          <a:latin typeface="Arial"/>
                          <a:ea typeface="Arial"/>
                          <a:cs typeface="Arial"/>
                        </a:rPr>
                        <a:t>Paso</a:t>
                      </a:r>
                    </a:p>
                  </a:txBody>
                  <a:tcPr marL="91440" marR="91440" marT="45720" marB="45720">
                    <a:solidFill>
                      <a:srgbClr val="102A43"/>
                    </a:solidFill>
                  </a:tcPr>
                </a:tc>
                <a:tc>
                  <a:txBody>
                    <a:bodyPr/>
                    <a:lstStyle/>
                    <a:p>
                      <a:r>
                        <a:rPr sz="1650" b="1">
                          <a:solidFill>
                            <a:srgbClr val="FFFFFF"/>
                          </a:solidFill>
                          <a:latin typeface="Arial"/>
                          <a:ea typeface="Arial"/>
                          <a:cs typeface="Arial"/>
                        </a:rPr>
                        <a:t>Semilla</a:t>
                      </a:r>
                    </a:p>
                  </a:txBody>
                  <a:tcPr marL="91440" marR="91440" marT="45720" marB="45720">
                    <a:solidFill>
                      <a:srgbClr val="102A43"/>
                    </a:solidFill>
                  </a:tcPr>
                </a:tc>
                <a:tc>
                  <a:txBody>
                    <a:bodyPr/>
                    <a:lstStyle/>
                    <a:p>
                      <a:r>
                        <a:rPr sz="1650" b="1">
                          <a:solidFill>
                            <a:srgbClr val="FFFFFF"/>
                          </a:solidFill>
                          <a:latin typeface="Arial"/>
                          <a:ea typeface="Arial"/>
                          <a:cs typeface="Arial"/>
                        </a:rPr>
                        <a:t>g1</a:t>
                      </a:r>
                    </a:p>
                  </a:txBody>
                  <a:tcPr marL="91440" marR="91440" marT="45720" marB="45720">
                    <a:solidFill>
                      <a:srgbClr val="102A43"/>
                    </a:solidFill>
                  </a:tcPr>
                </a:tc>
                <a:tc>
                  <a:txBody>
                    <a:bodyPr/>
                    <a:lstStyle/>
                    <a:p>
                      <a:r>
                        <a:rPr sz="1650" b="1">
                          <a:solidFill>
                            <a:srgbClr val="FFFFFF"/>
                          </a:solidFill>
                          <a:latin typeface="Arial"/>
                          <a:ea typeface="Arial"/>
                          <a:cs typeface="Arial"/>
                        </a:rPr>
                        <a:t>g2</a:t>
                      </a:r>
                    </a:p>
                  </a:txBody>
                  <a:tcPr marL="91440" marR="91440" marT="45720" marB="45720">
                    <a:solidFill>
                      <a:srgbClr val="102A43"/>
                    </a:solidFill>
                  </a:tcPr>
                </a:tc>
                <a:tc>
                  <a:txBody>
                    <a:bodyPr/>
                    <a:lstStyle/>
                    <a:p>
                      <a:r>
                        <a:rPr sz="1650" b="1">
                          <a:solidFill>
                            <a:srgbClr val="FFFFFF"/>
                          </a:solidFill>
                          <a:latin typeface="Arial"/>
                          <a:ea typeface="Arial"/>
                          <a:cs typeface="Arial"/>
                        </a:rPr>
                        <a:t>g3</a:t>
                      </a:r>
                    </a:p>
                  </a:txBody>
                  <a:tcPr marL="91440" marR="91440" marT="45720" marB="45720">
                    <a:solidFill>
                      <a:srgbClr val="102A43"/>
                    </a:solidFill>
                  </a:tcPr>
                </a:tc>
                <a:tc>
                  <a:txBody>
                    <a:bodyPr/>
                    <a:lstStyle/>
                    <a:p>
                      <a:r>
                        <a:rPr sz="1650" b="1">
                          <a:solidFill>
                            <a:srgbClr val="FFFFFF"/>
                          </a:solidFill>
                          <a:latin typeface="Arial"/>
                          <a:ea typeface="Arial"/>
                          <a:cs typeface="Arial"/>
                        </a:rPr>
                        <a:t>g4</a:t>
                      </a:r>
                    </a:p>
                  </a:txBody>
                  <a:tcPr marL="91440" marR="91440" marT="45720" marB="45720">
                    <a:solidFill>
                      <a:srgbClr val="102A43"/>
                    </a:solidFill>
                  </a:tcPr>
                </a:tc>
              </a:tr>
              <a:tr h="442913">
                <a:tc>
                  <a:txBody>
                    <a:bodyPr/>
                    <a:lstStyle/>
                    <a:p>
                      <a:r>
                        <a:rPr sz="1650" b="0">
                          <a:solidFill>
                            <a:srgbClr val="183B4E"/>
                          </a:solidFill>
                          <a:latin typeface="Arial"/>
                          <a:ea typeface="Arial"/>
                          <a:cs typeface="Arial"/>
                        </a:rPr>
                        <a:t>Celda incorporada</a:t>
                      </a:r>
                    </a:p>
                  </a:txBody>
                  <a:tcPr marL="91440" marR="91440" marT="45720" marB="45720">
                    <a:solidFill>
                      <a:srgbClr val="FFFFFF"/>
                    </a:solidFill>
                  </a:tcPr>
                </a:tc>
                <a:tc>
                  <a:txBody>
                    <a:bodyPr/>
                    <a:lstStyle/>
                    <a:p>
                      <a:r>
                        <a:rPr sz="1650" b="0">
                          <a:solidFill>
                            <a:srgbClr val="183B4E"/>
                          </a:solidFill>
                          <a:latin typeface="Arial"/>
                          <a:ea typeface="Arial"/>
                          <a:cs typeface="Arial"/>
                        </a:rPr>
                        <a:t>46.504</a:t>
                      </a:r>
                    </a:p>
                  </a:txBody>
                  <a:tcPr marL="91440" marR="91440" marT="45720" marB="45720">
                    <a:solidFill>
                      <a:srgbClr val="FFFFFF"/>
                    </a:solidFill>
                  </a:tcPr>
                </a:tc>
                <a:tc>
                  <a:txBody>
                    <a:bodyPr/>
                    <a:lstStyle/>
                    <a:p>
                      <a:r>
                        <a:rPr sz="1650" b="0">
                          <a:solidFill>
                            <a:srgbClr val="183B4E"/>
                          </a:solidFill>
                          <a:latin typeface="Arial"/>
                          <a:ea typeface="Arial"/>
                          <a:cs typeface="Arial"/>
                        </a:rPr>
                        <a:t>46.503</a:t>
                      </a:r>
                    </a:p>
                  </a:txBody>
                  <a:tcPr marL="91440" marR="91440" marT="45720" marB="45720">
                    <a:solidFill>
                      <a:srgbClr val="FFFFFF"/>
                    </a:solidFill>
                  </a:tcPr>
                </a:tc>
                <a:tc>
                  <a:txBody>
                    <a:bodyPr/>
                    <a:lstStyle/>
                    <a:p>
                      <a:r>
                        <a:rPr sz="1650" b="0">
                          <a:solidFill>
                            <a:srgbClr val="183B4E"/>
                          </a:solidFill>
                          <a:latin typeface="Arial"/>
                          <a:ea typeface="Arial"/>
                          <a:cs typeface="Arial"/>
                        </a:rPr>
                        <a:t>46.505</a:t>
                      </a:r>
                    </a:p>
                  </a:txBody>
                  <a:tcPr marL="91440" marR="91440" marT="45720" marB="45720">
                    <a:solidFill>
                      <a:srgbClr val="FFFFFF"/>
                    </a:solidFill>
                  </a:tcPr>
                </a:tc>
                <a:tc>
                  <a:txBody>
                    <a:bodyPr/>
                    <a:lstStyle/>
                    <a:p>
                      <a:r>
                        <a:rPr sz="1650" b="0">
                          <a:solidFill>
                            <a:srgbClr val="183B4E"/>
                          </a:solidFill>
                          <a:latin typeface="Arial"/>
                          <a:ea typeface="Arial"/>
                          <a:cs typeface="Arial"/>
                        </a:rPr>
                        <a:t>46.843</a:t>
                      </a:r>
                    </a:p>
                  </a:txBody>
                  <a:tcPr marL="91440" marR="91440" marT="45720" marB="45720">
                    <a:solidFill>
                      <a:srgbClr val="FFFFFF"/>
                    </a:solidFill>
                  </a:tcPr>
                </a:tc>
                <a:tc>
                  <a:txBody>
                    <a:bodyPr/>
                    <a:lstStyle/>
                    <a:p>
                      <a:r>
                        <a:rPr sz="1650" b="0">
                          <a:solidFill>
                            <a:srgbClr val="183B4E"/>
                          </a:solidFill>
                          <a:latin typeface="Arial"/>
                          <a:ea typeface="Arial"/>
                          <a:cs typeface="Arial"/>
                        </a:rPr>
                        <a:t>46.506</a:t>
                      </a:r>
                    </a:p>
                  </a:txBody>
                  <a:tcPr marL="91440" marR="91440" marT="45720" marB="45720">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70084A5F-30AE-4D80-B13E-3C6FB75AD306}"/>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Lectura del genotipo: 1 celda inicial + 4 adiciones = 5 celdas contiguas</a:t>
            </a:r>
          </a:p>
        </p:txBody>
      </p:sp>
      <p:sp>
        <p:nvSpPr>
          <p:cNvPr id="21" name="">
            <a:extLst xmlns:a="http://schemas.openxmlformats.org/drawingml/2006/main">
              <a:ext uri="{FF2B5EF4-FFF2-40B4-BE49-F238E27FC236}">
                <a16:creationId xmlns:a16="http://schemas.microsoft.com/office/drawing/2014/main" id="{3F8D39E3-7F91-4710-A90C-081813B539D5}"/>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13</a:t>
            </a:r>
          </a:p>
        </p:txBody>
      </p:sp>
    </p:spTree>
    <p:extLst>
      <p:ext uri="{BB962C8B-B14F-4D97-AF65-F5344CB8AC3E}">
        <p14:creationId xmlns:p14="http://schemas.microsoft.com/office/powerpoint/2010/main" val="11056227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9377CF-B38F-49A6-AFBD-F6531D9DB409}"/>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Fitness: cómo comparamos propuestas</a:t>
            </a:r>
          </a:p>
        </p:txBody>
      </p:sp>
      <p:graphicFrame>
        <p:nvGraphicFramePr>
          <p:cNvPr id="3" name="">
            <a:extLst xmlns:a="http://schemas.openxmlformats.org/drawingml/2006/main">
              <a:ext uri="{FF2B5EF4-FFF2-40B4-BE49-F238E27FC236}">
                <a16:creationId xmlns:a16="http://schemas.microsoft.com/office/drawing/2014/main" id="{AB604D68-4D90-45A4-AEF5-A031DC87CD62}"/>
              </a:ext>
            </a:extLst>
          </p:cNvPr>
          <p:cNvGraphicFramePr/>
          <p:nvPr/>
        </p:nvGraphicFramePr>
        <p:xfrm>
          <a:off xmlns:a="http://schemas.openxmlformats.org/drawingml/2006/main" x="571500" y="1685925"/>
          <a:ext xmlns:a="http://schemas.openxmlformats.org/drawingml/2006/main" cx="11049000" cy="2981325"/>
        </p:xfrm>
        <a:graphic xmlns:a="http://schemas.openxmlformats.org/drawingml/2006/main">
          <a:graphicData uri="http://schemas.openxmlformats.org/drawingml/2006/table">
            <a:tbl>
              <a:tblPr/>
              <a:tblGrid>
                <a:gridCol w="3810000"/>
                <a:gridCol w="2095500"/>
                <a:gridCol w="2095500"/>
                <a:gridCol w="3048000"/>
              </a:tblGrid>
              <a:tr h="596265">
                <a:tc>
                  <a:txBody>
                    <a:bodyPr/>
                    <a:lstStyle/>
                    <a:p>
                      <a:r>
                        <a:rPr sz="2025" b="1">
                          <a:solidFill>
                            <a:srgbClr val="FFFFFF"/>
                          </a:solidFill>
                          <a:latin typeface="Arial"/>
                          <a:ea typeface="Arial"/>
                          <a:cs typeface="Arial"/>
                        </a:rPr>
                        <a:t>Criterio</a:t>
                      </a:r>
                    </a:p>
                  </a:txBody>
                  <a:tcPr marL="91440" marR="91440" marT="45720" marB="45720">
                    <a:solidFill>
                      <a:srgbClr val="102A43"/>
                    </a:solidFill>
                  </a:tcPr>
                </a:tc>
                <a:tc>
                  <a:txBody>
                    <a:bodyPr/>
                    <a:lstStyle/>
                    <a:p>
                      <a:r>
                        <a:rPr sz="2025" b="1">
                          <a:solidFill>
                            <a:srgbClr val="FFFFFF"/>
                          </a:solidFill>
                          <a:latin typeface="Arial"/>
                          <a:ea typeface="Arial"/>
                          <a:cs typeface="Arial"/>
                        </a:rPr>
                        <a:t>Score</a:t>
                      </a:r>
                    </a:p>
                  </a:txBody>
                  <a:tcPr marL="91440" marR="91440" marT="45720" marB="45720">
                    <a:solidFill>
                      <a:srgbClr val="102A43"/>
                    </a:solidFill>
                  </a:tcPr>
                </a:tc>
                <a:tc>
                  <a:txBody>
                    <a:bodyPr/>
                    <a:lstStyle/>
                    <a:p>
                      <a:r>
                        <a:rPr sz="2025" b="1">
                          <a:solidFill>
                            <a:srgbClr val="FFFFFF"/>
                          </a:solidFill>
                          <a:latin typeface="Arial"/>
                          <a:ea typeface="Arial"/>
                          <a:cs typeface="Arial"/>
                        </a:rPr>
                        <a:t>Peso</a:t>
                      </a:r>
                    </a:p>
                  </a:txBody>
                  <a:tcPr marL="91440" marR="91440" marT="45720" marB="45720">
                    <a:solidFill>
                      <a:srgbClr val="102A43"/>
                    </a:solidFill>
                  </a:tcPr>
                </a:tc>
                <a:tc>
                  <a:txBody>
                    <a:bodyPr/>
                    <a:lstStyle/>
                    <a:p>
                      <a:r>
                        <a:rPr sz="2025" b="1">
                          <a:solidFill>
                            <a:srgbClr val="FFFFFF"/>
                          </a:solidFill>
                          <a:latin typeface="Arial"/>
                          <a:ea typeface="Arial"/>
                          <a:cs typeface="Arial"/>
                        </a:rPr>
                        <a:t>Aporte al fitness</a:t>
                      </a:r>
                    </a:p>
                  </a:txBody>
                  <a:tcPr marL="91440" marR="91440" marT="45720" marB="45720">
                    <a:solidFill>
                      <a:srgbClr val="102A43"/>
                    </a:solidFill>
                  </a:tcPr>
                </a:tc>
              </a:tr>
              <a:tr h="596265">
                <a:tc>
                  <a:txBody>
                    <a:bodyPr/>
                    <a:lstStyle/>
                    <a:p>
                      <a:r>
                        <a:rPr sz="2025" b="0">
                          <a:solidFill>
                            <a:srgbClr val="183B4E"/>
                          </a:solidFill>
                          <a:latin typeface="Arial"/>
                          <a:ea typeface="Arial"/>
                          <a:cs typeface="Arial"/>
                        </a:rPr>
                        <a:t>Radiación solar</a:t>
                      </a:r>
                    </a:p>
                  </a:txBody>
                  <a:tcPr marL="91440" marR="91440" marT="45720" marB="45720">
                    <a:solidFill>
                      <a:srgbClr val="FFFFFF"/>
                    </a:solidFill>
                  </a:tcPr>
                </a:tc>
                <a:tc>
                  <a:txBody>
                    <a:bodyPr/>
                    <a:lstStyle/>
                    <a:p>
                      <a:r>
                        <a:rPr sz="2025" b="0">
                          <a:solidFill>
                            <a:srgbClr val="183B4E"/>
                          </a:solidFill>
                          <a:latin typeface="Arial"/>
                          <a:ea typeface="Arial"/>
                          <a:cs typeface="Arial"/>
                        </a:rPr>
                        <a:t>0,344</a:t>
                      </a:r>
                    </a:p>
                  </a:txBody>
                  <a:tcPr marL="91440" marR="91440" marT="45720" marB="45720">
                    <a:solidFill>
                      <a:srgbClr val="FFFFFF"/>
                    </a:solidFill>
                  </a:tcPr>
                </a:tc>
                <a:tc>
                  <a:txBody>
                    <a:bodyPr/>
                    <a:lstStyle/>
                    <a:p>
                      <a:r>
                        <a:rPr sz="2025" b="0">
                          <a:solidFill>
                            <a:srgbClr val="183B4E"/>
                          </a:solidFill>
                          <a:latin typeface="Arial"/>
                          <a:ea typeface="Arial"/>
                          <a:cs typeface="Arial"/>
                        </a:rPr>
                        <a:t>0,40</a:t>
                      </a:r>
                    </a:p>
                  </a:txBody>
                  <a:tcPr marL="91440" marR="91440" marT="45720" marB="45720">
                    <a:solidFill>
                      <a:srgbClr val="FFFFFF"/>
                    </a:solidFill>
                  </a:tcPr>
                </a:tc>
                <a:tc>
                  <a:txBody>
                    <a:bodyPr/>
                    <a:lstStyle/>
                    <a:p>
                      <a:r>
                        <a:rPr sz="2025" b="0">
                          <a:solidFill>
                            <a:srgbClr val="183B4E"/>
                          </a:solidFill>
                          <a:latin typeface="Arial"/>
                          <a:ea typeface="Arial"/>
                          <a:cs typeface="Arial"/>
                        </a:rPr>
                        <a:t>0,1377</a:t>
                      </a:r>
                    </a:p>
                  </a:txBody>
                  <a:tcPr marL="91440" marR="91440" marT="45720" marB="45720">
                    <a:solidFill>
                      <a:srgbClr val="FFFFFF"/>
                    </a:solidFill>
                  </a:tcPr>
                </a:tc>
              </a:tr>
              <a:tr h="596265">
                <a:tc>
                  <a:txBody>
                    <a:bodyPr/>
                    <a:lstStyle/>
                    <a:p>
                      <a:r>
                        <a:rPr sz="2025" b="0">
                          <a:solidFill>
                            <a:srgbClr val="183B4E"/>
                          </a:solidFill>
                          <a:latin typeface="Arial"/>
                          <a:ea typeface="Arial"/>
                          <a:cs typeface="Arial"/>
                        </a:rPr>
                        <a:t>Proximidad a líneas</a:t>
                      </a:r>
                    </a:p>
                  </a:txBody>
                  <a:tcPr marL="91440" marR="91440" marT="45720" marB="45720">
                    <a:solidFill>
                      <a:srgbClr val="EEF5F5"/>
                    </a:solidFill>
                  </a:tcPr>
                </a:tc>
                <a:tc>
                  <a:txBody>
                    <a:bodyPr/>
                    <a:lstStyle/>
                    <a:p>
                      <a:r>
                        <a:rPr sz="2025" b="0">
                          <a:solidFill>
                            <a:srgbClr val="183B4E"/>
                          </a:solidFill>
                          <a:latin typeface="Arial"/>
                          <a:ea typeface="Arial"/>
                          <a:cs typeface="Arial"/>
                        </a:rPr>
                        <a:t>0,977</a:t>
                      </a:r>
                    </a:p>
                  </a:txBody>
                  <a:tcPr marL="91440" marR="91440" marT="45720" marB="45720">
                    <a:solidFill>
                      <a:srgbClr val="EEF5F5"/>
                    </a:solidFill>
                  </a:tcPr>
                </a:tc>
                <a:tc>
                  <a:txBody>
                    <a:bodyPr/>
                    <a:lstStyle/>
                    <a:p>
                      <a:r>
                        <a:rPr sz="2025" b="0">
                          <a:solidFill>
                            <a:srgbClr val="183B4E"/>
                          </a:solidFill>
                          <a:latin typeface="Arial"/>
                          <a:ea typeface="Arial"/>
                          <a:cs typeface="Arial"/>
                        </a:rPr>
                        <a:t>0,10</a:t>
                      </a:r>
                    </a:p>
                  </a:txBody>
                  <a:tcPr marL="91440" marR="91440" marT="45720" marB="45720">
                    <a:solidFill>
                      <a:srgbClr val="EEF5F5"/>
                    </a:solidFill>
                  </a:tcPr>
                </a:tc>
                <a:tc>
                  <a:txBody>
                    <a:bodyPr/>
                    <a:lstStyle/>
                    <a:p>
                      <a:r>
                        <a:rPr sz="2025" b="0">
                          <a:solidFill>
                            <a:srgbClr val="183B4E"/>
                          </a:solidFill>
                          <a:latin typeface="Arial"/>
                          <a:ea typeface="Arial"/>
                          <a:cs typeface="Arial"/>
                        </a:rPr>
                        <a:t>0,0977</a:t>
                      </a:r>
                    </a:p>
                  </a:txBody>
                  <a:tcPr marL="91440" marR="91440" marT="45720" marB="45720">
                    <a:solidFill>
                      <a:srgbClr val="EEF5F5"/>
                    </a:solidFill>
                  </a:tcPr>
                </a:tc>
              </a:tr>
              <a:tr h="596265">
                <a:tc>
                  <a:txBody>
                    <a:bodyPr/>
                    <a:lstStyle/>
                    <a:p>
                      <a:r>
                        <a:rPr sz="2025" b="0">
                          <a:solidFill>
                            <a:srgbClr val="183B4E"/>
                          </a:solidFill>
                          <a:latin typeface="Arial"/>
                          <a:ea typeface="Arial"/>
                          <a:cs typeface="Arial"/>
                        </a:rPr>
                        <a:t>Proximidad a ET</a:t>
                      </a:r>
                    </a:p>
                  </a:txBody>
                  <a:tcPr marL="91440" marR="91440" marT="45720" marB="45720">
                    <a:solidFill>
                      <a:srgbClr val="FFFFFF"/>
                    </a:solidFill>
                  </a:tcPr>
                </a:tc>
                <a:tc>
                  <a:txBody>
                    <a:bodyPr/>
                    <a:lstStyle/>
                    <a:p>
                      <a:r>
                        <a:rPr sz="2025" b="0">
                          <a:solidFill>
                            <a:srgbClr val="183B4E"/>
                          </a:solidFill>
                          <a:latin typeface="Arial"/>
                          <a:ea typeface="Arial"/>
                          <a:cs typeface="Arial"/>
                        </a:rPr>
                        <a:t>0,749</a:t>
                      </a:r>
                    </a:p>
                  </a:txBody>
                  <a:tcPr marL="91440" marR="91440" marT="45720" marB="45720">
                    <a:solidFill>
                      <a:srgbClr val="FFFFFF"/>
                    </a:solidFill>
                  </a:tcPr>
                </a:tc>
                <a:tc>
                  <a:txBody>
                    <a:bodyPr/>
                    <a:lstStyle/>
                    <a:p>
                      <a:r>
                        <a:rPr sz="2025" b="0">
                          <a:solidFill>
                            <a:srgbClr val="183B4E"/>
                          </a:solidFill>
                          <a:latin typeface="Arial"/>
                          <a:ea typeface="Arial"/>
                          <a:cs typeface="Arial"/>
                        </a:rPr>
                        <a:t>0,40</a:t>
                      </a:r>
                    </a:p>
                  </a:txBody>
                  <a:tcPr marL="91440" marR="91440" marT="45720" marB="45720">
                    <a:solidFill>
                      <a:srgbClr val="FFFFFF"/>
                    </a:solidFill>
                  </a:tcPr>
                </a:tc>
                <a:tc>
                  <a:txBody>
                    <a:bodyPr/>
                    <a:lstStyle/>
                    <a:p>
                      <a:r>
                        <a:rPr sz="2025" b="0">
                          <a:solidFill>
                            <a:srgbClr val="183B4E"/>
                          </a:solidFill>
                          <a:latin typeface="Arial"/>
                          <a:ea typeface="Arial"/>
                          <a:cs typeface="Arial"/>
                        </a:rPr>
                        <a:t>0,2996</a:t>
                      </a:r>
                    </a:p>
                  </a:txBody>
                  <a:tcPr marL="91440" marR="91440" marT="45720" marB="45720">
                    <a:solidFill>
                      <a:srgbClr val="FFFFFF"/>
                    </a:solidFill>
                  </a:tcPr>
                </a:tc>
              </a:tr>
              <a:tr h="596265">
                <a:tc>
                  <a:txBody>
                    <a:bodyPr/>
                    <a:lstStyle/>
                    <a:p>
                      <a:r>
                        <a:rPr sz="2025" b="0">
                          <a:solidFill>
                            <a:srgbClr val="183B4E"/>
                          </a:solidFill>
                          <a:latin typeface="Arial"/>
                          <a:ea typeface="Arial"/>
                          <a:cs typeface="Arial"/>
                        </a:rPr>
                        <a:t>Potencia / 80 MW</a:t>
                      </a:r>
                    </a:p>
                  </a:txBody>
                  <a:tcPr marL="91440" marR="91440" marT="45720" marB="45720">
                    <a:solidFill>
                      <a:srgbClr val="EEF5F5"/>
                    </a:solidFill>
                  </a:tcPr>
                </a:tc>
                <a:tc>
                  <a:txBody>
                    <a:bodyPr/>
                    <a:lstStyle/>
                    <a:p>
                      <a:r>
                        <a:rPr sz="2025" b="0">
                          <a:solidFill>
                            <a:srgbClr val="183B4E"/>
                          </a:solidFill>
                          <a:latin typeface="Arial"/>
                          <a:ea typeface="Arial"/>
                          <a:cs typeface="Arial"/>
                        </a:rPr>
                        <a:t>0,489</a:t>
                      </a:r>
                    </a:p>
                  </a:txBody>
                  <a:tcPr marL="91440" marR="91440" marT="45720" marB="45720">
                    <a:solidFill>
                      <a:srgbClr val="EEF5F5"/>
                    </a:solidFill>
                  </a:tcPr>
                </a:tc>
                <a:tc>
                  <a:txBody>
                    <a:bodyPr/>
                    <a:lstStyle/>
                    <a:p>
                      <a:r>
                        <a:rPr sz="2025" b="0">
                          <a:solidFill>
                            <a:srgbClr val="183B4E"/>
                          </a:solidFill>
                          <a:latin typeface="Arial"/>
                          <a:ea typeface="Arial"/>
                          <a:cs typeface="Arial"/>
                        </a:rPr>
                        <a:t>0,10</a:t>
                      </a:r>
                    </a:p>
                  </a:txBody>
                  <a:tcPr marL="91440" marR="91440" marT="45720" marB="45720">
                    <a:solidFill>
                      <a:srgbClr val="EEF5F5"/>
                    </a:solidFill>
                  </a:tcPr>
                </a:tc>
                <a:tc>
                  <a:txBody>
                    <a:bodyPr/>
                    <a:lstStyle/>
                    <a:p>
                      <a:r>
                        <a:rPr sz="2025" b="0">
                          <a:solidFill>
                            <a:srgbClr val="183B4E"/>
                          </a:solidFill>
                          <a:latin typeface="Arial"/>
                          <a:ea typeface="Arial"/>
                          <a:cs typeface="Arial"/>
                        </a:rPr>
                        <a:t>0,0489</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3BAAD62B-7CB5-4D87-B505-39CCE05C3D92}"/>
              </a:ext>
            </a:extLst>
          </p:cNvPr>
          <p:cNvSpPr>
            <a:spLocks xmlns:a="http://schemas.openxmlformats.org/drawingml/2006/main" noGrp="1"/>
          </p:cNvSpPr>
          <p:nvPr/>
        </p:nvSpPr>
        <p:spPr>
          <a:xfrm xmlns:a="http://schemas.openxmlformats.org/drawingml/2006/main">
            <a:off x="571500" y="506730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102A43"/>
                </a:solidFill>
                <a:latin typeface="Arial"/>
                <a:ea typeface="Arial"/>
                <a:cs typeface="Arial"/>
              </a:defRPr>
            </a:defPPr>
          </a:lstStyle>
          <a:p xmlns:a="http://schemas.openxmlformats.org/drawingml/2006/main">
            <a:pPr>
              <a:buNone/>
              <a:defRPr sz="2475" b="1">
                <a:solidFill>
                  <a:srgbClr val="102A43"/>
                </a:solidFill>
                <a:latin typeface="Arial"/>
                <a:ea typeface="Arial"/>
                <a:cs typeface="Arial"/>
              </a:defRPr>
            </a:pPr>
            <a:r>
              <a:rPr sz="2475" b="1">
                <a:solidFill>
                  <a:srgbClr val="102A43"/>
                </a:solidFill>
                <a:latin typeface="Arial"/>
                <a:ea typeface="Arial"/>
                <a:cs typeface="Arial"/>
              </a:rPr>
              <a:t>F = 0,40 S + 0,10 L + 0,40 T + 0,10 P</a:t>
            </a:r>
          </a:p>
        </p:txBody>
      </p:sp>
      <p:sp>
        <p:nvSpPr>
          <p:cNvPr id="5" name="">
            <a:extLst xmlns:a="http://schemas.openxmlformats.org/drawingml/2006/main">
              <a:ext uri="{FF2B5EF4-FFF2-40B4-BE49-F238E27FC236}">
                <a16:creationId xmlns:a16="http://schemas.microsoft.com/office/drawing/2014/main" id="{4A1C57C5-3531-4757-9C9A-2C450BC2F960}"/>
              </a:ext>
            </a:extLst>
          </p:cNvPr>
          <p:cNvSpPr>
            <a:spLocks xmlns:a="http://schemas.openxmlformats.org/drawingml/2006/main" noGrp="1"/>
          </p:cNvSpPr>
          <p:nvPr/>
        </p:nvSpPr>
        <p:spPr>
          <a:xfrm xmlns:a="http://schemas.openxmlformats.org/drawingml/2006/main">
            <a:off x="9010650" y="4895850"/>
            <a:ext cx="2543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050" b="1">
                <a:solidFill>
                  <a:srgbClr val="087F8C"/>
                </a:solidFill>
                <a:latin typeface="Arial"/>
                <a:ea typeface="Arial"/>
                <a:cs typeface="Arial"/>
              </a:defRPr>
            </a:defPPr>
          </a:lstStyle>
          <a:p xmlns:a="http://schemas.openxmlformats.org/drawingml/2006/main">
            <a:pPr>
              <a:buNone/>
              <a:defRPr sz="4050" b="1">
                <a:solidFill>
                  <a:srgbClr val="087F8C"/>
                </a:solidFill>
                <a:latin typeface="Arial"/>
                <a:ea typeface="Arial"/>
                <a:cs typeface="Arial"/>
              </a:defRPr>
            </a:pPr>
            <a:r>
              <a:rPr sz="4050" b="1">
                <a:solidFill>
                  <a:srgbClr val="087F8C"/>
                </a:solidFill>
                <a:latin typeface="Arial"/>
                <a:ea typeface="Arial"/>
                <a:cs typeface="Arial"/>
              </a:rPr>
              <a:t>0,5839</a:t>
            </a:r>
          </a:p>
        </p:txBody>
      </p:sp>
      <p:sp>
        <p:nvSpPr>
          <p:cNvPr id="6" name="">
            <a:extLst xmlns:a="http://schemas.openxmlformats.org/drawingml/2006/main">
              <a:ext uri="{FF2B5EF4-FFF2-40B4-BE49-F238E27FC236}">
                <a16:creationId xmlns:a16="http://schemas.microsoft.com/office/drawing/2014/main" id="{2ABD80CA-7852-4686-8AEF-59510BD62B1F}"/>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Los pesos permiten expresar prioridades. Requieren análisis de sensibilidad</a:t>
            </a:r>
          </a:p>
        </p:txBody>
      </p:sp>
      <p:sp>
        <p:nvSpPr>
          <p:cNvPr id="8" name="">
            <a:extLst xmlns:a="http://schemas.openxmlformats.org/drawingml/2006/main">
              <a:ext uri="{FF2B5EF4-FFF2-40B4-BE49-F238E27FC236}">
                <a16:creationId xmlns:a16="http://schemas.microsoft.com/office/drawing/2014/main" id="{330E06DC-8F9F-4C86-B0DB-31FDC88D286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14</a:t>
            </a:r>
          </a:p>
        </p:txBody>
      </p:sp>
    </p:spTree>
    <p:extLst>
      <p:ext uri="{BB962C8B-B14F-4D97-AF65-F5344CB8AC3E}">
        <p14:creationId xmlns:p14="http://schemas.microsoft.com/office/powerpoint/2010/main" val="15711082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053695-1CDF-42A4-9966-85EDECB3647D}"/>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El ciclo de una generación</a:t>
            </a:r>
          </a:p>
        </p:txBody>
      </p:sp>
      <p:pic>
        <p:nvPicPr>
          <p:cNvPr id="6" name="">
            <a:extLst xmlns:a="http://schemas.openxmlformats.org/drawingml/2006/main">
              <a:ext uri="{FF2B5EF4-FFF2-40B4-BE49-F238E27FC236}">
                <a16:creationId xmlns:a16="http://schemas.microsoft.com/office/drawing/2014/main" id="{A1145061-E481-4072-954D-1042D1960A7D}"/>
              </a:ext>
            </a:extLst>
          </p:cNvPr>
          <p:cNvPicPr>
            <a:picLocks xmlns:a="http://schemas.openxmlformats.org/drawingml/2006/main" noChangeAspect="1"/>
          </p:cNvPicPr>
          <p:nvPr/>
        </p:nvPicPr>
        <p:blipFill>
          <a:blip xmlns:r="http://schemas.openxmlformats.org/officeDocument/2006/relationships" xmlns:a="http://schemas.openxmlformats.org/drawingml/2006/main" r:embed="R29cd0788d4314d58"/>
          <a:stretch xmlns:a="http://schemas.openxmlformats.org/drawingml/2006/main"/>
        </p:blipFill>
        <p:spPr>
          <a:xfrm xmlns:a="http://schemas.openxmlformats.org/drawingml/2006/main">
            <a:off x="2068008" y="1285875"/>
            <a:ext cx="8055984" cy="4533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7589877-A2A3-4ED1-943F-1B896DE4A5AC}"/>
              </a:ext>
            </a:extLst>
          </p:cNvPr>
          <p:cNvSpPr>
            <a:spLocks xmlns:a="http://schemas.openxmlformats.org/drawingml/2006/main" noGrp="1"/>
          </p:cNvSpPr>
          <p:nvPr/>
        </p:nvSpPr>
        <p:spPr>
          <a:xfrm xmlns:a="http://schemas.openxmlformats.org/drawingml/2006/main">
            <a:off x="571500" y="60293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La generación 0 evalúa la población inicial antes del primer cruce</a:t>
            </a:r>
          </a:p>
        </p:txBody>
      </p:sp>
      <p:sp>
        <p:nvSpPr>
          <p:cNvPr id="8" name="">
            <a:extLst xmlns:a="http://schemas.openxmlformats.org/drawingml/2006/main">
              <a:ext uri="{FF2B5EF4-FFF2-40B4-BE49-F238E27FC236}">
                <a16:creationId xmlns:a16="http://schemas.microsoft.com/office/drawing/2014/main" id="{D4041933-8C71-4153-9B62-C8BD9A62C77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15</a:t>
            </a:r>
          </a:p>
        </p:txBody>
      </p:sp>
    </p:spTree>
    <p:extLst>
      <p:ext uri="{BB962C8B-B14F-4D97-AF65-F5344CB8AC3E}">
        <p14:creationId xmlns:p14="http://schemas.microsoft.com/office/powerpoint/2010/main" val="20316013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7D2444-DFEA-4594-80FD-0430DEA659B0}"/>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Selección por torneo</a:t>
            </a:r>
          </a:p>
        </p:txBody>
      </p:sp>
      <p:graphicFrame>
        <p:nvGraphicFramePr>
          <p:cNvPr id="3" name="Chart">
            <a:extLst xmlns:a="http://schemas.openxmlformats.org/drawingml/2006/main">
              <a:ext uri="{FF2B5EF4-FFF2-40B4-BE49-F238E27FC236}">
                <a16:creationId xmlns:a16="http://schemas.microsoft.com/office/drawing/2014/main" id="{5562CBAE-5C0A-432F-924C-E868351F748C}"/>
              </a:ext>
            </a:extLst>
          </p:cNvPr>
          <p:cNvGraphicFramePr/>
          <p:nvPr/>
        </p:nvGraphicFramePr>
        <p:xfrm>
          <a:off xmlns:a="http://schemas.openxmlformats.org/drawingml/2006/main" x="571500" y="1724025"/>
          <a:ext xmlns:a="http://schemas.openxmlformats.org/drawingml/2006/main" cx="7334250" cy="3552825"/>
        </p:xfrm>
        <a:graphic xmlns:a="http://schemas.openxmlformats.org/drawingml/2006/main">
          <a:graphicData uri="http://schemas.openxmlformats.org/drawingml/2006/chart">
            <c:chart xmlns:r="http://schemas.openxmlformats.org/officeDocument/2006/relationships" xmlns:c="http://schemas.openxmlformats.org/drawingml/2006/chart" r:id="R56299582d4c54a36"/>
          </a:graphicData>
        </a:graphic>
      </p:graphicFrame>
      <p:sp>
        <p:nvSpPr>
          <p:cNvPr id="4" name="">
            <a:extLst xmlns:a="http://schemas.openxmlformats.org/drawingml/2006/main">
              <a:ext uri="{FF2B5EF4-FFF2-40B4-BE49-F238E27FC236}">
                <a16:creationId xmlns:a16="http://schemas.microsoft.com/office/drawing/2014/main" id="{AB87EF6C-351C-4B58-AE65-49242D12F5E6}"/>
              </a:ext>
            </a:extLst>
          </p:cNvPr>
          <p:cNvSpPr>
            <a:spLocks xmlns:a="http://schemas.openxmlformats.org/drawingml/2006/main" noGrp="1"/>
          </p:cNvSpPr>
          <p:nvPr/>
        </p:nvSpPr>
        <p:spPr>
          <a:xfrm xmlns:a="http://schemas.openxmlformats.org/drawingml/2006/main">
            <a:off x="8667750" y="21812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600" b="1">
                <a:solidFill>
                  <a:srgbClr val="102A43"/>
                </a:solidFill>
                <a:latin typeface="Arial"/>
                <a:ea typeface="Arial"/>
                <a:cs typeface="Arial"/>
              </a:defRPr>
            </a:defPPr>
          </a:lstStyle>
          <a:p xmlns:a="http://schemas.openxmlformats.org/drawingml/2006/main">
            <a:pPr>
              <a:buNone/>
              <a:defRPr sz="3600" b="1">
                <a:solidFill>
                  <a:srgbClr val="102A43"/>
                </a:solidFill>
                <a:latin typeface="Arial"/>
                <a:ea typeface="Arial"/>
                <a:cs typeface="Arial"/>
              </a:defRPr>
            </a:pPr>
            <a:r>
              <a:rPr sz="3600" b="1">
                <a:solidFill>
                  <a:srgbClr val="102A43"/>
                </a:solidFill>
                <a:latin typeface="Arial"/>
                <a:ea typeface="Arial"/>
                <a:cs typeface="Arial"/>
              </a:rPr>
              <a:t>Gana B</a:t>
            </a:r>
          </a:p>
        </p:txBody>
      </p:sp>
      <p:sp>
        <p:nvSpPr>
          <p:cNvPr id="5" name="">
            <a:extLst xmlns:a="http://schemas.openxmlformats.org/drawingml/2006/main">
              <a:ext uri="{FF2B5EF4-FFF2-40B4-BE49-F238E27FC236}">
                <a16:creationId xmlns:a16="http://schemas.microsoft.com/office/drawing/2014/main" id="{526F810E-17D9-4696-B891-94012D20C451}"/>
              </a:ext>
            </a:extLst>
          </p:cNvPr>
          <p:cNvSpPr>
            <a:spLocks xmlns:a="http://schemas.openxmlformats.org/drawingml/2006/main" noGrp="1"/>
          </p:cNvSpPr>
          <p:nvPr/>
        </p:nvSpPr>
        <p:spPr>
          <a:xfrm xmlns:a="http://schemas.openxmlformats.org/drawingml/2006/main">
            <a:off x="8667750" y="30670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a:solidFill>
                  <a:srgbClr val="087F8C"/>
                </a:solidFill>
                <a:latin typeface="Arial"/>
                <a:ea typeface="Arial"/>
                <a:cs typeface="Arial"/>
              </a:defRPr>
            </a:defPPr>
          </a:lstStyle>
          <a:p xmlns:a="http://schemas.openxmlformats.org/drawingml/2006/main">
            <a:pPr>
              <a:buNone/>
              <a:defRPr sz="3000" b="1">
                <a:solidFill>
                  <a:srgbClr val="087F8C"/>
                </a:solidFill>
                <a:latin typeface="Arial"/>
                <a:ea typeface="Arial"/>
                <a:cs typeface="Arial"/>
              </a:defRPr>
            </a:pPr>
            <a:r>
              <a:rPr sz="3000" b="1">
                <a:solidFill>
                  <a:srgbClr val="087F8C"/>
                </a:solidFill>
                <a:latin typeface="Arial"/>
                <a:ea typeface="Arial"/>
                <a:cs typeface="Arial"/>
              </a:rPr>
              <a:t>0,6462</a:t>
            </a:r>
          </a:p>
        </p:txBody>
      </p:sp>
      <p:sp>
        <p:nvSpPr>
          <p:cNvPr id="6" name="">
            <a:extLst xmlns:a="http://schemas.openxmlformats.org/drawingml/2006/main">
              <a:ext uri="{FF2B5EF4-FFF2-40B4-BE49-F238E27FC236}">
                <a16:creationId xmlns:a16="http://schemas.microsoft.com/office/drawing/2014/main" id="{F81CD307-6499-4E69-8D2A-7B5317209167}"/>
              </a:ext>
            </a:extLst>
          </p:cNvPr>
          <p:cNvSpPr>
            <a:spLocks xmlns:a="http://schemas.openxmlformats.org/drawingml/2006/main" noGrp="1"/>
          </p:cNvSpPr>
          <p:nvPr/>
        </p:nvSpPr>
        <p:spPr>
          <a:xfrm xmlns:a="http://schemas.openxmlformats.org/drawingml/2006/main">
            <a:off x="8667750" y="4191000"/>
            <a:ext cx="285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El ganador puede</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producir descendencia</a:t>
            </a:r>
          </a:p>
        </p:txBody>
      </p:sp>
      <p:sp>
        <p:nvSpPr>
          <p:cNvPr id="7" name="">
            <a:extLst xmlns:a="http://schemas.openxmlformats.org/drawingml/2006/main">
              <a:ext uri="{FF2B5EF4-FFF2-40B4-BE49-F238E27FC236}">
                <a16:creationId xmlns:a16="http://schemas.microsoft.com/office/drawing/2014/main" id="{9253E439-8FB7-401E-A192-27E9C75F9B8D}"/>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Ejemplo de torneo con valores reales, no registro de un sorteo específico</a:t>
            </a:r>
          </a:p>
        </p:txBody>
      </p:sp>
      <p:sp>
        <p:nvSpPr>
          <p:cNvPr id="9" name="">
            <a:extLst xmlns:a="http://schemas.openxmlformats.org/drawingml/2006/main">
              <a:ext uri="{FF2B5EF4-FFF2-40B4-BE49-F238E27FC236}">
                <a16:creationId xmlns:a16="http://schemas.microsoft.com/office/drawing/2014/main" id="{4FDBF113-C2FA-44C8-9AB1-1B5399B9F0D4}"/>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16</a:t>
            </a:r>
          </a:p>
        </p:txBody>
      </p:sp>
    </p:spTree>
    <p:extLst>
      <p:ext uri="{BB962C8B-B14F-4D97-AF65-F5344CB8AC3E}">
        <p14:creationId xmlns:p14="http://schemas.microsoft.com/office/powerpoint/2010/main" val="57240218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65F8BC-D20B-485A-BE38-AD184F45CBBC}"/>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Cruce real: una nueva secuencia</a:t>
            </a:r>
          </a:p>
        </p:txBody>
      </p:sp>
      <p:pic>
        <p:nvPicPr>
          <p:cNvPr id="8" name="">
            <a:extLst xmlns:a="http://schemas.openxmlformats.org/drawingml/2006/main">
              <a:ext uri="{FF2B5EF4-FFF2-40B4-BE49-F238E27FC236}">
                <a16:creationId xmlns:a16="http://schemas.microsoft.com/office/drawing/2014/main" id="{BAE87C19-F521-4827-B810-40643D88FA03}"/>
              </a:ext>
            </a:extLst>
          </p:cNvPr>
          <p:cNvPicPr>
            <a:picLocks xmlns:a="http://schemas.openxmlformats.org/drawingml/2006/main" noChangeAspect="1"/>
          </p:cNvPicPr>
          <p:nvPr/>
        </p:nvPicPr>
        <p:blipFill>
          <a:blip xmlns:r="http://schemas.openxmlformats.org/officeDocument/2006/relationships" xmlns:a="http://schemas.openxmlformats.org/drawingml/2006/main" r:embed="R7b5d0ed13b4f4c04"/>
          <a:stretch xmlns:a="http://schemas.openxmlformats.org/drawingml/2006/main"/>
        </p:blipFill>
        <p:spPr>
          <a:xfrm xmlns:a="http://schemas.openxmlformats.org/drawingml/2006/main">
            <a:off x="2414957" y="1352550"/>
            <a:ext cx="7362086" cy="4143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0251A1C-4708-435E-B469-68F087BDB288}"/>
              </a:ext>
            </a:extLst>
          </p:cNvPr>
          <p:cNvSpPr>
            <a:spLocks xmlns:a="http://schemas.openxmlformats.org/drawingml/2006/main" noGrp="1"/>
          </p:cNvSpPr>
          <p:nvPr/>
        </p:nvSpPr>
        <p:spPr>
          <a:xfrm xmlns:a="http://schemas.openxmlformats.org/drawingml/2006/main">
            <a:off x="571500" y="5505450"/>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02A43"/>
                </a:solidFill>
                <a:latin typeface="Arial"/>
                <a:ea typeface="Arial"/>
                <a:cs typeface="Arial"/>
              </a:defRPr>
            </a:defPPr>
          </a:lstStyle>
          <a:p xmlns:a="http://schemas.openxmlformats.org/drawingml/2006/main">
            <a:pPr>
              <a:defRPr sz="1950" b="1">
                <a:solidFill>
                  <a:srgbClr val="102A43"/>
                </a:solidFill>
                <a:latin typeface="Arial"/>
                <a:ea typeface="Arial"/>
                <a:cs typeface="Arial"/>
              </a:defRPr>
            </a:pPr>
            <a:r>
              <a:rPr sz="1950" b="1">
                <a:solidFill>
                  <a:srgbClr val="102A43"/>
                </a:solidFill>
                <a:latin typeface="Arial"/>
                <a:ea typeface="Arial"/>
                <a:cs typeface="Arial"/>
              </a:rPr>
              <a:t>Padre A: 5 celdas, F = 0,5839</a:t>
            </a:r>
          </a:p>
        </p:txBody>
      </p:sp>
      <p:sp>
        <p:nvSpPr>
          <p:cNvPr id="10" name="">
            <a:extLst xmlns:a="http://schemas.openxmlformats.org/drawingml/2006/main">
              <a:ext uri="{FF2B5EF4-FFF2-40B4-BE49-F238E27FC236}">
                <a16:creationId xmlns:a16="http://schemas.microsoft.com/office/drawing/2014/main" id="{D47DEF47-1FBF-4541-89B7-238AC73DB69A}"/>
              </a:ext>
            </a:extLst>
          </p:cNvPr>
          <p:cNvSpPr>
            <a:spLocks xmlns:a="http://schemas.openxmlformats.org/drawingml/2006/main" noGrp="1"/>
          </p:cNvSpPr>
          <p:nvPr/>
        </p:nvSpPr>
        <p:spPr>
          <a:xfrm xmlns:a="http://schemas.openxmlformats.org/drawingml/2006/main">
            <a:off x="6286500" y="55054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087F8C"/>
                </a:solidFill>
                <a:latin typeface="Arial"/>
                <a:ea typeface="Arial"/>
                <a:cs typeface="Arial"/>
              </a:defRPr>
            </a:def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Hijo A: 6 celdas, F = 0,5937</a:t>
            </a:r>
          </a:p>
        </p:txBody>
      </p:sp>
      <p:sp>
        <p:nvSpPr>
          <p:cNvPr id="11" name="">
            <a:extLst xmlns:a="http://schemas.openxmlformats.org/drawingml/2006/main">
              <a:ext uri="{FF2B5EF4-FFF2-40B4-BE49-F238E27FC236}">
                <a16:creationId xmlns:a16="http://schemas.microsoft.com/office/drawing/2014/main" id="{49503750-D1C0-4C1C-8EA0-292FB3612B52}"/>
              </a:ext>
            </a:extLst>
          </p:cNvPr>
          <p:cNvSpPr>
            <a:spLocks xmlns:a="http://schemas.openxmlformats.org/drawingml/2006/main" noGrp="1"/>
          </p:cNvSpPr>
          <p:nvPr/>
        </p:nvSpPr>
        <p:spPr>
          <a:xfrm xmlns:a="http://schemas.openxmlformats.org/drawingml/2006/main">
            <a:off x="571500" y="60769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defRPr sz="1575" b="0">
                <a:solidFill>
                  <a:srgbClr val="526778"/>
                </a:solidFill>
                <a:latin typeface="Arial"/>
                <a:ea typeface="Arial"/>
                <a:cs typeface="Arial"/>
              </a:defRPr>
            </a:pPr>
            <a:r>
              <a:rPr sz="1575" b="0">
                <a:solidFill>
                  <a:srgbClr val="526778"/>
                </a:solidFill>
                <a:latin typeface="Arial"/>
                <a:ea typeface="Arial"/>
                <a:cs typeface="Arial"/>
              </a:rPr>
              <a:t>El hijo reinterpreta los genes con la semilla A. B7 representa el entero 1986680326</a:t>
            </a:r>
          </a:p>
        </p:txBody>
      </p:sp>
      <p:sp>
        <p:nvSpPr>
          <p:cNvPr id="12" name="">
            <a:extLst xmlns:a="http://schemas.openxmlformats.org/drawingml/2006/main">
              <a:ext uri="{FF2B5EF4-FFF2-40B4-BE49-F238E27FC236}">
                <a16:creationId xmlns:a16="http://schemas.microsoft.com/office/drawing/2014/main" id="{2A164D72-4CF3-463A-851A-E9F87C39622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17</a:t>
            </a:r>
          </a:p>
        </p:txBody>
      </p:sp>
    </p:spTree>
    <p:extLst>
      <p:ext uri="{BB962C8B-B14F-4D97-AF65-F5344CB8AC3E}">
        <p14:creationId xmlns:p14="http://schemas.microsoft.com/office/powerpoint/2010/main" val="134973455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E9213D-ECAB-4ADF-8C0A-D0D1FBCD60D6}"/>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Mutación real: el parque agrega una celda</a:t>
            </a:r>
          </a:p>
        </p:txBody>
      </p:sp>
      <p:sp>
        <p:nvSpPr>
          <p:cNvPr id="3" name="">
            <a:extLst xmlns:a="http://schemas.openxmlformats.org/drawingml/2006/main">
              <a:ext uri="{FF2B5EF4-FFF2-40B4-BE49-F238E27FC236}">
                <a16:creationId xmlns:a16="http://schemas.microsoft.com/office/drawing/2014/main" id="{C1684215-485A-491F-87A9-54AFEB6EBF4A}"/>
              </a:ext>
            </a:extLst>
          </p:cNvPr>
          <p:cNvSpPr>
            <a:spLocks xmlns:a="http://schemas.openxmlformats.org/drawingml/2006/main" noGrp="1"/>
          </p:cNvSpPr>
          <p:nvPr/>
        </p:nvSpPr>
        <p:spPr>
          <a:xfrm xmlns:a="http://schemas.openxmlformats.org/drawingml/2006/main">
            <a:off x="571500" y="15525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102A43"/>
                </a:solidFill>
                <a:latin typeface="Arial"/>
                <a:ea typeface="Arial"/>
                <a:cs typeface="Arial"/>
              </a:defRPr>
            </a:defPPr>
          </a:lstStyle>
          <a:p xmlns:a="http://schemas.openxmlformats.org/drawingml/2006/main">
            <a:pPr>
              <a:buNone/>
              <a:defRPr sz="2250" b="1">
                <a:solidFill>
                  <a:srgbClr val="102A43"/>
                </a:solidFill>
                <a:latin typeface="Arial"/>
                <a:ea typeface="Arial"/>
                <a:cs typeface="Arial"/>
              </a:defRPr>
            </a:pPr>
            <a:r>
              <a:rPr sz="2250" b="1">
                <a:solidFill>
                  <a:srgbClr val="102A43"/>
                </a:solidFill>
                <a:latin typeface="Arial"/>
                <a:ea typeface="Arial"/>
                <a:cs typeface="Arial"/>
              </a:rPr>
              <a:t>Padre</a:t>
            </a:r>
          </a:p>
        </p:txBody>
      </p:sp>
      <p:sp>
        <p:nvSpPr>
          <p:cNvPr id="4" name="">
            <a:extLst xmlns:a="http://schemas.openxmlformats.org/drawingml/2006/main">
              <a:ext uri="{FF2B5EF4-FFF2-40B4-BE49-F238E27FC236}">
                <a16:creationId xmlns:a16="http://schemas.microsoft.com/office/drawing/2014/main" id="{DAA879DD-1528-4924-8E96-248C0C6892D0}"/>
              </a:ext>
            </a:extLst>
          </p:cNvPr>
          <p:cNvSpPr>
            <a:spLocks xmlns:a="http://schemas.openxmlformats.org/drawingml/2006/main" noGrp="1"/>
          </p:cNvSpPr>
          <p:nvPr/>
        </p:nvSpPr>
        <p:spPr>
          <a:xfrm xmlns:a="http://schemas.openxmlformats.org/drawingml/2006/main">
            <a:off x="6572250" y="15525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a:solidFill>
                  <a:srgbClr val="087F8C"/>
                </a:solidFill>
                <a:latin typeface="Arial"/>
                <a:ea typeface="Arial"/>
                <a:cs typeface="Arial"/>
              </a:defRPr>
            </a:defPPr>
          </a:lstStyle>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Hijo: agrega el gen 6</a:t>
            </a:r>
          </a:p>
        </p:txBody>
      </p:sp>
      <p:graphicFrame>
        <p:nvGraphicFramePr>
          <p:cNvPr id="5" name="">
            <a:extLst xmlns:a="http://schemas.openxmlformats.org/drawingml/2006/main">
              <a:ext uri="{FF2B5EF4-FFF2-40B4-BE49-F238E27FC236}">
                <a16:creationId xmlns:a16="http://schemas.microsoft.com/office/drawing/2014/main" id="{3DB3CBDB-3D3A-475B-93A6-70BBC1958146}"/>
              </a:ext>
            </a:extLst>
          </p:cNvPr>
          <p:cNvGraphicFramePr/>
          <p:nvPr/>
        </p:nvGraphicFramePr>
        <p:xfrm>
          <a:off xmlns:a="http://schemas.openxmlformats.org/drawingml/2006/main" x="571500" y="2238375"/>
          <a:ext xmlns:a="http://schemas.openxmlformats.org/drawingml/2006/main" cx="4762500" cy="2619375"/>
        </p:xfrm>
        <a:graphic xmlns:a="http://schemas.openxmlformats.org/drawingml/2006/main">
          <a:graphicData uri="http://schemas.openxmlformats.org/drawingml/2006/table">
            <a:tbl>
              <a:tblPr/>
              <a:tblGrid>
                <a:gridCol w="952500"/>
                <a:gridCol w="952500"/>
                <a:gridCol w="952500"/>
                <a:gridCol w="952500"/>
                <a:gridCol w="952500"/>
              </a:tblGrid>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381618</a:t>
                      </a:r>
                    </a:p>
                  </a:txBody>
                  <a:tcPr marL="91440" marR="91440" marT="45720" marB="45720">
                    <a:solidFill>
                      <a:srgbClr val="087F8C"/>
                    </a:solidFill>
                  </a:tcPr>
                </a:tc>
                <a:tc>
                  <a:txBody>
                    <a:bodyPr/>
                    <a:lstStyle/>
                    <a:p>
                      <a:r>
                        <a:rPr sz="1500" b="1">
                          <a:solidFill>
                            <a:srgbClr val="FFFFFF"/>
                          </a:solidFill>
                          <a:latin typeface="Arial"/>
                          <a:ea typeface="Arial"/>
                          <a:cs typeface="Arial"/>
                        </a:rPr>
                        <a:t>381619</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381147</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380673</a:t>
                      </a:r>
                    </a:p>
                  </a:txBody>
                  <a:tcPr marL="91440" marR="91440" marT="45720" marB="45720">
                    <a:solidFill>
                      <a:srgbClr val="087F8C"/>
                    </a:solidFill>
                  </a:tcPr>
                </a:tc>
                <a:tc>
                  <a:txBody>
                    <a:bodyPr/>
                    <a:lstStyle/>
                    <a:p>
                      <a:r>
                        <a:rPr sz="1500" b="1">
                          <a:solidFill>
                            <a:srgbClr val="FFFFFF"/>
                          </a:solidFill>
                          <a:latin typeface="Arial"/>
                          <a:ea typeface="Arial"/>
                          <a:cs typeface="Arial"/>
                        </a:rPr>
                        <a:t>380674</a:t>
                      </a:r>
                    </a:p>
                  </a:txBody>
                  <a:tcPr marL="91440" marR="91440" marT="45720" marB="45720">
                    <a:solidFill>
                      <a:srgbClr val="C7902C"/>
                    </a:solidFill>
                  </a:tcPr>
                </a:tc>
                <a:tc>
                  <a:txBody>
                    <a:bodyPr/>
                    <a:lstStyle/>
                    <a:p>
                      <a:r>
                        <a:rPr sz="1500" b="1">
                          <a:solidFill>
                            <a:srgbClr val="FFFFFF"/>
                          </a:solidFill>
                          <a:latin typeface="Arial"/>
                          <a:ea typeface="Arial"/>
                          <a:cs typeface="Arial"/>
                        </a:rPr>
                        <a:t>380675</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AB91E81C-5D9C-4945-94B6-53D2BD243C4B}"/>
              </a:ext>
            </a:extLst>
          </p:cNvPr>
          <p:cNvGraphicFramePr/>
          <p:nvPr/>
        </p:nvGraphicFramePr>
        <p:xfrm>
          <a:off xmlns:a="http://schemas.openxmlformats.org/drawingml/2006/main" x="6572250" y="2238375"/>
          <a:ext xmlns:a="http://schemas.openxmlformats.org/drawingml/2006/main" cx="4762500" cy="2619375"/>
        </p:xfrm>
        <a:graphic xmlns:a="http://schemas.openxmlformats.org/drawingml/2006/main">
          <a:graphicData uri="http://schemas.openxmlformats.org/drawingml/2006/table">
            <a:tbl>
              <a:tblPr/>
              <a:tblGrid>
                <a:gridCol w="952500"/>
                <a:gridCol w="952500"/>
                <a:gridCol w="952500"/>
                <a:gridCol w="952500"/>
                <a:gridCol w="952500"/>
              </a:tblGrid>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381618</a:t>
                      </a:r>
                    </a:p>
                  </a:txBody>
                  <a:tcPr marL="91440" marR="91440" marT="45720" marB="45720">
                    <a:solidFill>
                      <a:srgbClr val="087F8C"/>
                    </a:solidFill>
                  </a:tcPr>
                </a:tc>
                <a:tc>
                  <a:txBody>
                    <a:bodyPr/>
                    <a:lstStyle/>
                    <a:p>
                      <a:r>
                        <a:rPr sz="1500" b="1">
                          <a:solidFill>
                            <a:srgbClr val="FFFFFF"/>
                          </a:solidFill>
                          <a:latin typeface="Arial"/>
                          <a:ea typeface="Arial"/>
                          <a:cs typeface="Arial"/>
                        </a:rPr>
                        <a:t>381619</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381147</a:t>
                      </a:r>
                    </a:p>
                  </a:txBody>
                  <a:tcPr marL="91440" marR="91440" marT="45720" marB="45720">
                    <a:solidFill>
                      <a:srgbClr val="087F8C"/>
                    </a:solidFill>
                  </a:tcPr>
                </a:tc>
                <a:tc>
                  <a:txBody>
                    <a:bodyPr/>
                    <a:lstStyle/>
                    <a:p>
                      <a:r>
                        <a:rPr sz="1500" b="1">
                          <a:solidFill>
                            <a:srgbClr val="FFFFFF"/>
                          </a:solidFill>
                          <a:latin typeface="Arial"/>
                          <a:ea typeface="Arial"/>
                          <a:cs typeface="Arial"/>
                        </a:rPr>
                        <a:t>381148</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380673</a:t>
                      </a:r>
                    </a:p>
                  </a:txBody>
                  <a:tcPr marL="91440" marR="91440" marT="45720" marB="45720">
                    <a:solidFill>
                      <a:srgbClr val="087F8C"/>
                    </a:solidFill>
                  </a:tcPr>
                </a:tc>
                <a:tc>
                  <a:txBody>
                    <a:bodyPr/>
                    <a:lstStyle/>
                    <a:p>
                      <a:r>
                        <a:rPr sz="1500" b="1">
                          <a:solidFill>
                            <a:srgbClr val="FFFFFF"/>
                          </a:solidFill>
                          <a:latin typeface="Arial"/>
                          <a:ea typeface="Arial"/>
                          <a:cs typeface="Arial"/>
                        </a:rPr>
                        <a:t>380674</a:t>
                      </a:r>
                    </a:p>
                  </a:txBody>
                  <a:tcPr marL="91440" marR="91440" marT="45720" marB="45720">
                    <a:solidFill>
                      <a:srgbClr val="C7902C"/>
                    </a:solidFill>
                  </a:tcPr>
                </a:tc>
                <a:tc>
                  <a:txBody>
                    <a:bodyPr/>
                    <a:lstStyle/>
                    <a:p>
                      <a:r>
                        <a:rPr sz="1500" b="1">
                          <a:solidFill>
                            <a:srgbClr val="FFFFFF"/>
                          </a:solidFill>
                          <a:latin typeface="Arial"/>
                          <a:ea typeface="Arial"/>
                          <a:cs typeface="Arial"/>
                        </a:rPr>
                        <a:t>380675</a:t>
                      </a:r>
                    </a:p>
                  </a:txBody>
                  <a:tcPr marL="91440" marR="91440" marT="45720" marB="45720">
                    <a:solidFill>
                      <a:srgbClr val="087F8C"/>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r h="523875">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c>
                  <a:txBody>
                    <a:bodyPr/>
                    <a:lstStyle/>
                    <a:p>
                      <a:r>
                        <a:rPr sz="1500" b="1">
                          <a:solidFill>
                            <a:srgbClr val="FFFFFF"/>
                          </a:solidFill>
                          <a:latin typeface="Arial"/>
                          <a:ea typeface="Arial"/>
                          <a:cs typeface="Arial"/>
                        </a:rPr>
                        <a:t/>
                      </a:r>
                    </a:p>
                  </a:txBody>
                  <a:tcPr marL="91440" marR="91440" marT="45720" marB="45720">
                    <a:solidFill>
                      <a:srgbClr val="EEF5F5"/>
                    </a:solidFill>
                  </a:tcPr>
                </a:tc>
              </a:tr>
            </a:tbl>
          </a:graphicData>
        </a:graphic>
      </p:graphicFrame>
      <p:sp>
        <p:nvSpPr>
          <p:cNvPr id="7" name="">
            <a:extLst xmlns:a="http://schemas.openxmlformats.org/drawingml/2006/main">
              <a:ext uri="{FF2B5EF4-FFF2-40B4-BE49-F238E27FC236}">
                <a16:creationId xmlns:a16="http://schemas.microsoft.com/office/drawing/2014/main" id="{D075F69F-7C3F-4567-82D1-88EE26140D87}"/>
              </a:ext>
            </a:extLst>
          </p:cNvPr>
          <p:cNvSpPr>
            <a:spLocks xmlns:a="http://schemas.openxmlformats.org/drawingml/2006/main" noGrp="1"/>
          </p:cNvSpPr>
          <p:nvPr/>
        </p:nvSpPr>
        <p:spPr>
          <a:xfrm xmlns:a="http://schemas.openxmlformats.org/drawingml/2006/main">
            <a:off x="571500" y="5162550"/>
            <a:ext cx="476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6 celdas   46,950 MW</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Fitness 0,4498</a:t>
            </a:r>
          </a:p>
        </p:txBody>
      </p:sp>
      <p:sp>
        <p:nvSpPr>
          <p:cNvPr id="8" name="">
            <a:extLst xmlns:a="http://schemas.openxmlformats.org/drawingml/2006/main">
              <a:ext uri="{FF2B5EF4-FFF2-40B4-BE49-F238E27FC236}">
                <a16:creationId xmlns:a16="http://schemas.microsoft.com/office/drawing/2014/main" id="{B755D884-518C-4E77-8E43-A6F5863E5F9C}"/>
              </a:ext>
            </a:extLst>
          </p:cNvPr>
          <p:cNvSpPr>
            <a:spLocks xmlns:a="http://schemas.openxmlformats.org/drawingml/2006/main" noGrp="1"/>
          </p:cNvSpPr>
          <p:nvPr/>
        </p:nvSpPr>
        <p:spPr>
          <a:xfrm xmlns:a="http://schemas.openxmlformats.org/drawingml/2006/main">
            <a:off x="6572250" y="5162550"/>
            <a:ext cx="4762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7 celdas   54,775 MW</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Fitness 0,4597</a:t>
            </a:r>
          </a:p>
        </p:txBody>
      </p:sp>
      <p:sp>
        <p:nvSpPr>
          <p:cNvPr id="9" name="">
            <a:extLst xmlns:a="http://schemas.openxmlformats.org/drawingml/2006/main">
              <a:ext uri="{FF2B5EF4-FFF2-40B4-BE49-F238E27FC236}">
                <a16:creationId xmlns:a16="http://schemas.microsoft.com/office/drawing/2014/main" id="{16927B3B-98B2-4C61-8F5A-E5B74C7B2C85}"/>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La nueva celda 381148 cambia la forma, el área y el centroide del parque</a:t>
            </a:r>
          </a:p>
        </p:txBody>
      </p:sp>
      <p:sp>
        <p:nvSpPr>
          <p:cNvPr id="11" name="">
            <a:extLst xmlns:a="http://schemas.openxmlformats.org/drawingml/2006/main">
              <a:ext uri="{FF2B5EF4-FFF2-40B4-BE49-F238E27FC236}">
                <a16:creationId xmlns:a16="http://schemas.microsoft.com/office/drawing/2014/main" id="{2828190A-3D3A-4B12-B1A2-EA5168B3F119}"/>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18</a:t>
            </a:r>
          </a:p>
        </p:txBody>
      </p:sp>
    </p:spTree>
    <p:extLst>
      <p:ext uri="{BB962C8B-B14F-4D97-AF65-F5344CB8AC3E}">
        <p14:creationId xmlns:p14="http://schemas.microsoft.com/office/powerpoint/2010/main" val="228384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BB91B3-B32B-4ED8-A90B-8B26DAA56D56}"/>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Evolución observada en 200 generaciones</a:t>
            </a:r>
          </a:p>
        </p:txBody>
      </p:sp>
      <p:graphicFrame>
        <p:nvGraphicFramePr>
          <p:cNvPr id="3" name="Chart">
            <a:extLst xmlns:a="http://schemas.openxmlformats.org/drawingml/2006/main">
              <a:ext uri="{FF2B5EF4-FFF2-40B4-BE49-F238E27FC236}">
                <a16:creationId xmlns:a16="http://schemas.microsoft.com/office/drawing/2014/main" id="{DD772410-E11D-41EB-B662-96F2C4DDC926}"/>
              </a:ext>
            </a:extLst>
          </p:cNvPr>
          <p:cNvGraphicFramePr/>
          <p:nvPr/>
        </p:nvGraphicFramePr>
        <p:xfrm>
          <a:off xmlns:a="http://schemas.openxmlformats.org/drawingml/2006/main" x="571500" y="1504950"/>
          <a:ext xmlns:a="http://schemas.openxmlformats.org/drawingml/2006/main" cx="10953750" cy="3800475"/>
        </p:xfrm>
        <a:graphic xmlns:a="http://schemas.openxmlformats.org/drawingml/2006/main">
          <a:graphicData uri="http://schemas.openxmlformats.org/drawingml/2006/chart">
            <c:chart xmlns:r="http://schemas.openxmlformats.org/officeDocument/2006/relationships" xmlns:c="http://schemas.openxmlformats.org/drawingml/2006/chart" r:id="R6b75e0dd452e4e22"/>
          </a:graphicData>
        </a:graphic>
      </p:graphicFrame>
      <p:sp>
        <p:nvSpPr>
          <p:cNvPr id="4" name="">
            <a:extLst xmlns:a="http://schemas.openxmlformats.org/drawingml/2006/main">
              <a:ext uri="{FF2B5EF4-FFF2-40B4-BE49-F238E27FC236}">
                <a16:creationId xmlns:a16="http://schemas.microsoft.com/office/drawing/2014/main" id="{DA119A34-4C06-41D6-A503-E11DCA96CDD5}"/>
              </a:ext>
            </a:extLst>
          </p:cNvPr>
          <p:cNvSpPr>
            <a:spLocks xmlns:a="http://schemas.openxmlformats.org/drawingml/2006/main" noGrp="1"/>
          </p:cNvSpPr>
          <p:nvPr/>
        </p:nvSpPr>
        <p:spPr>
          <a:xfrm xmlns:a="http://schemas.openxmlformats.org/drawingml/2006/main">
            <a:off x="571500" y="54673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102A43"/>
                </a:solidFill>
                <a:latin typeface="Arial"/>
                <a:ea typeface="Arial"/>
                <a:cs typeface="Arial"/>
              </a:defRPr>
            </a:defPPr>
          </a:lstStyle>
          <a:p xmlns:a="http://schemas.openxmlformats.org/drawingml/2006/main">
            <a:pPr>
              <a:buNone/>
              <a:defRPr sz="2325" b="1">
                <a:solidFill>
                  <a:srgbClr val="102A43"/>
                </a:solidFill>
                <a:latin typeface="Arial"/>
                <a:ea typeface="Arial"/>
                <a:cs typeface="Arial"/>
              </a:defRPr>
            </a:pPr>
            <a:r>
              <a:rPr sz="2325" b="1">
                <a:solidFill>
                  <a:srgbClr val="102A43"/>
                </a:solidFill>
                <a:latin typeface="Arial"/>
                <a:ea typeface="Arial"/>
                <a:cs typeface="Arial"/>
              </a:rPr>
              <a:t>0,6470 inicial</a:t>
            </a:r>
          </a:p>
        </p:txBody>
      </p:sp>
      <p:sp>
        <p:nvSpPr>
          <p:cNvPr id="5" name="">
            <a:extLst xmlns:a="http://schemas.openxmlformats.org/drawingml/2006/main">
              <a:ext uri="{FF2B5EF4-FFF2-40B4-BE49-F238E27FC236}">
                <a16:creationId xmlns:a16="http://schemas.microsoft.com/office/drawing/2014/main" id="{CED3768D-E995-4BA6-A38D-D1F2A98E9C0A}"/>
              </a:ext>
            </a:extLst>
          </p:cNvPr>
          <p:cNvSpPr>
            <a:spLocks xmlns:a="http://schemas.openxmlformats.org/drawingml/2006/main" noGrp="1"/>
          </p:cNvSpPr>
          <p:nvPr/>
        </p:nvSpPr>
        <p:spPr>
          <a:xfrm xmlns:a="http://schemas.openxmlformats.org/drawingml/2006/main">
            <a:off x="4591050" y="5467350"/>
            <a:ext cx="3524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087F8C"/>
                </a:solidFill>
                <a:latin typeface="Arial"/>
                <a:ea typeface="Arial"/>
                <a:cs typeface="Arial"/>
              </a:defRPr>
            </a:defPPr>
          </a:lstStyle>
          <a:p xmlns:a="http://schemas.openxmlformats.org/drawingml/2006/main">
            <a:pPr>
              <a:buNone/>
              <a:defRPr sz="2325" b="1">
                <a:solidFill>
                  <a:srgbClr val="087F8C"/>
                </a:solidFill>
                <a:latin typeface="Arial"/>
                <a:ea typeface="Arial"/>
                <a:cs typeface="Arial"/>
              </a:defRPr>
            </a:pPr>
            <a:r>
              <a:rPr sz="2325" b="1">
                <a:solidFill>
                  <a:srgbClr val="087F8C"/>
                </a:solidFill>
                <a:latin typeface="Arial"/>
                <a:ea typeface="Arial"/>
                <a:cs typeface="Arial"/>
              </a:rPr>
              <a:t>0,7255 final</a:t>
            </a:r>
          </a:p>
        </p:txBody>
      </p:sp>
      <p:sp>
        <p:nvSpPr>
          <p:cNvPr id="6" name="">
            <a:extLst xmlns:a="http://schemas.openxmlformats.org/drawingml/2006/main">
              <a:ext uri="{FF2B5EF4-FFF2-40B4-BE49-F238E27FC236}">
                <a16:creationId xmlns:a16="http://schemas.microsoft.com/office/drawing/2014/main" id="{62008F9A-CB0A-4E74-B5E4-583C18DC88AF}"/>
              </a:ext>
            </a:extLst>
          </p:cNvPr>
          <p:cNvSpPr>
            <a:spLocks xmlns:a="http://schemas.openxmlformats.org/drawingml/2006/main" noGrp="1"/>
          </p:cNvSpPr>
          <p:nvPr/>
        </p:nvSpPr>
        <p:spPr>
          <a:xfrm xmlns:a="http://schemas.openxmlformats.org/drawingml/2006/main">
            <a:off x="8343900" y="5467350"/>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183B4E"/>
                </a:solidFill>
                <a:latin typeface="Arial"/>
                <a:ea typeface="Arial"/>
                <a:cs typeface="Arial"/>
              </a:defRPr>
            </a:defPPr>
          </a:lstStyle>
          <a:p xmlns:a="http://schemas.openxmlformats.org/drawingml/2006/main">
            <a:pPr>
              <a:buNone/>
              <a:defRPr sz="1950" b="1">
                <a:solidFill>
                  <a:srgbClr val="183B4E"/>
                </a:solidFill>
                <a:latin typeface="Arial"/>
                <a:ea typeface="Arial"/>
                <a:cs typeface="Arial"/>
              </a:defRPr>
            </a:pPr>
            <a:r>
              <a:rPr sz="1950" b="1">
                <a:solidFill>
                  <a:srgbClr val="183B4E"/>
                </a:solidFill>
                <a:latin typeface="Arial"/>
                <a:ea typeface="Arial"/>
                <a:cs typeface="Arial"/>
              </a:rPr>
              <a:t>6.214 parques visitados</a:t>
            </a:r>
          </a:p>
        </p:txBody>
      </p:sp>
      <p:sp>
        <p:nvSpPr>
          <p:cNvPr id="8" name="">
            <a:extLst xmlns:a="http://schemas.openxmlformats.org/drawingml/2006/main">
              <a:ext uri="{FF2B5EF4-FFF2-40B4-BE49-F238E27FC236}">
                <a16:creationId xmlns:a16="http://schemas.microsoft.com/office/drawing/2014/main" id="{41491DDA-EE2A-40A0-9187-14BED19A457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19</a:t>
            </a:r>
          </a:p>
        </p:txBody>
      </p:sp>
    </p:spTree>
    <p:extLst>
      <p:ext uri="{BB962C8B-B14F-4D97-AF65-F5344CB8AC3E}">
        <p14:creationId xmlns:p14="http://schemas.microsoft.com/office/powerpoint/2010/main" val="10413629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23A1F6-865C-45F1-9449-332360AE3D00}"/>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Cómo cambia el mejor individuo</a:t>
            </a:r>
          </a:p>
        </p:txBody>
      </p:sp>
      <p:graphicFrame>
        <p:nvGraphicFramePr>
          <p:cNvPr id="3" name="">
            <a:extLst xmlns:a="http://schemas.openxmlformats.org/drawingml/2006/main">
              <a:ext uri="{FF2B5EF4-FFF2-40B4-BE49-F238E27FC236}">
                <a16:creationId xmlns:a16="http://schemas.microsoft.com/office/drawing/2014/main" id="{A3523EF7-E5F6-439C-BE62-3482427E2686}"/>
              </a:ext>
            </a:extLst>
          </p:cNvPr>
          <p:cNvGraphicFramePr/>
          <p:nvPr/>
        </p:nvGraphicFramePr>
        <p:xfrm>
          <a:off xmlns:a="http://schemas.openxmlformats.org/drawingml/2006/main" x="571500" y="1609725"/>
          <a:ext xmlns:a="http://schemas.openxmlformats.org/drawingml/2006/main" cx="11049000" cy="3686175"/>
        </p:xfrm>
        <a:graphic xmlns:a="http://schemas.openxmlformats.org/drawingml/2006/main">
          <a:graphicData uri="http://schemas.openxmlformats.org/drawingml/2006/table">
            <a:tbl>
              <a:tblPr/>
              <a:tblGrid>
                <a:gridCol w="1905000"/>
                <a:gridCol w="2286000"/>
                <a:gridCol w="1333500"/>
                <a:gridCol w="1333500"/>
                <a:gridCol w="2286000"/>
                <a:gridCol w="1905000"/>
              </a:tblGrid>
              <a:tr h="526596">
                <a:tc>
                  <a:txBody>
                    <a:bodyPr/>
                    <a:lstStyle/>
                    <a:p>
                      <a:r>
                        <a:rPr sz="1950" b="1">
                          <a:solidFill>
                            <a:srgbClr val="FFFFFF"/>
                          </a:solidFill>
                          <a:latin typeface="Arial"/>
                          <a:ea typeface="Arial"/>
                          <a:cs typeface="Arial"/>
                        </a:rPr>
                        <a:t>Generación</a:t>
                      </a:r>
                    </a:p>
                  </a:txBody>
                  <a:tcPr marL="91440" marR="91440" marT="45720" marB="45720">
                    <a:solidFill>
                      <a:srgbClr val="102A43"/>
                    </a:solidFill>
                  </a:tcPr>
                </a:tc>
                <a:tc>
                  <a:txBody>
                    <a:bodyPr/>
                    <a:lstStyle/>
                    <a:p>
                      <a:r>
                        <a:rPr sz="1950" b="1">
                          <a:solidFill>
                            <a:srgbClr val="FFFFFF"/>
                          </a:solidFill>
                          <a:latin typeface="Arial"/>
                          <a:ea typeface="Arial"/>
                          <a:cs typeface="Arial"/>
                        </a:rPr>
                        <a:t>Semilla</a:t>
                      </a:r>
                    </a:p>
                  </a:txBody>
                  <a:tcPr marL="91440" marR="91440" marT="45720" marB="45720">
                    <a:solidFill>
                      <a:srgbClr val="102A43"/>
                    </a:solidFill>
                  </a:tcPr>
                </a:tc>
                <a:tc>
                  <a:txBody>
                    <a:bodyPr/>
                    <a:lstStyle/>
                    <a:p>
                      <a:r>
                        <a:rPr sz="1950" b="1">
                          <a:solidFill>
                            <a:srgbClr val="FFFFFF"/>
                          </a:solidFill>
                          <a:latin typeface="Arial"/>
                          <a:ea typeface="Arial"/>
                          <a:cs typeface="Arial"/>
                        </a:rPr>
                        <a:t>Genes</a:t>
                      </a:r>
                    </a:p>
                  </a:txBody>
                  <a:tcPr marL="91440" marR="91440" marT="45720" marB="45720">
                    <a:solidFill>
                      <a:srgbClr val="102A43"/>
                    </a:solidFill>
                  </a:tcPr>
                </a:tc>
                <a:tc>
                  <a:txBody>
                    <a:bodyPr/>
                    <a:lstStyle/>
                    <a:p>
                      <a:r>
                        <a:rPr sz="1950" b="1">
                          <a:solidFill>
                            <a:srgbClr val="FFFFFF"/>
                          </a:solidFill>
                          <a:latin typeface="Arial"/>
                          <a:ea typeface="Arial"/>
                          <a:cs typeface="Arial"/>
                        </a:rPr>
                        <a:t>Celdas</a:t>
                      </a:r>
                    </a:p>
                  </a:txBody>
                  <a:tcPr marL="91440" marR="91440" marT="45720" marB="45720">
                    <a:solidFill>
                      <a:srgbClr val="102A43"/>
                    </a:solidFill>
                  </a:tcPr>
                </a:tc>
                <a:tc>
                  <a:txBody>
                    <a:bodyPr/>
                    <a:lstStyle/>
                    <a:p>
                      <a:r>
                        <a:rPr sz="1950" b="1">
                          <a:solidFill>
                            <a:srgbClr val="FFFFFF"/>
                          </a:solidFill>
                          <a:latin typeface="Arial"/>
                          <a:ea typeface="Arial"/>
                          <a:cs typeface="Arial"/>
                        </a:rPr>
                        <a:t>Potencia MW</a:t>
                      </a:r>
                    </a:p>
                  </a:txBody>
                  <a:tcPr marL="91440" marR="91440" marT="45720" marB="45720">
                    <a:solidFill>
                      <a:srgbClr val="102A43"/>
                    </a:solidFill>
                  </a:tcPr>
                </a:tc>
                <a:tc>
                  <a:txBody>
                    <a:bodyPr/>
                    <a:lstStyle/>
                    <a:p>
                      <a:r>
                        <a:rPr sz="1950" b="1">
                          <a:solidFill>
                            <a:srgbClr val="FFFFFF"/>
                          </a:solidFill>
                          <a:latin typeface="Arial"/>
                          <a:ea typeface="Arial"/>
                          <a:cs typeface="Arial"/>
                        </a:rPr>
                        <a:t>Fitness</a:t>
                      </a:r>
                    </a:p>
                  </a:txBody>
                  <a:tcPr marL="91440" marR="91440" marT="45720" marB="45720">
                    <a:solidFill>
                      <a:srgbClr val="102A43"/>
                    </a:solidFill>
                  </a:tcPr>
                </a:tc>
              </a:tr>
              <a:tr h="526596">
                <a:tc>
                  <a:txBody>
                    <a:bodyPr/>
                    <a:lstStyle/>
                    <a:p>
                      <a:r>
                        <a:rPr sz="1950" b="0">
                          <a:solidFill>
                            <a:srgbClr val="183B4E"/>
                          </a:solidFill>
                          <a:latin typeface="Arial"/>
                          <a:ea typeface="Arial"/>
                          <a:cs typeface="Arial"/>
                        </a:rPr>
                        <a:t>0</a:t>
                      </a:r>
                    </a:p>
                  </a:txBody>
                  <a:tcPr marL="91440" marR="91440" marT="45720" marB="45720">
                    <a:solidFill>
                      <a:srgbClr val="FFFFFF"/>
                    </a:solidFill>
                  </a:tcPr>
                </a:tc>
                <a:tc>
                  <a:txBody>
                    <a:bodyPr/>
                    <a:lstStyle/>
                    <a:p>
                      <a:r>
                        <a:rPr sz="1950" b="0">
                          <a:solidFill>
                            <a:srgbClr val="183B4E"/>
                          </a:solidFill>
                          <a:latin typeface="Arial"/>
                          <a:ea typeface="Arial"/>
                          <a:cs typeface="Arial"/>
                        </a:rPr>
                        <a:t>106.712</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0,6470</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1</a:t>
                      </a:r>
                    </a:p>
                  </a:txBody>
                  <a:tcPr marL="91440" marR="91440" marT="45720" marB="45720">
                    <a:solidFill>
                      <a:srgbClr val="EEF5F5"/>
                    </a:solidFill>
                  </a:tcPr>
                </a:tc>
                <a:tc>
                  <a:txBody>
                    <a:bodyPr/>
                    <a:lstStyle/>
                    <a:p>
                      <a:r>
                        <a:rPr sz="1950" b="0">
                          <a:solidFill>
                            <a:srgbClr val="183B4E"/>
                          </a:solidFill>
                          <a:latin typeface="Arial"/>
                          <a:ea typeface="Arial"/>
                          <a:cs typeface="Arial"/>
                        </a:rPr>
                        <a:t>106.712</a:t>
                      </a:r>
                    </a:p>
                  </a:txBody>
                  <a:tcPr marL="91440" marR="91440" marT="45720" marB="45720">
                    <a:solidFill>
                      <a:srgbClr val="EEF5F5"/>
                    </a:solidFill>
                  </a:tcPr>
                </a:tc>
                <a:tc>
                  <a:txBody>
                    <a:bodyPr/>
                    <a:lstStyle/>
                    <a:p>
                      <a:r>
                        <a:rPr sz="1950" b="0">
                          <a:solidFill>
                            <a:srgbClr val="183B4E"/>
                          </a:solidFill>
                          <a:latin typeface="Arial"/>
                          <a:ea typeface="Arial"/>
                          <a:cs typeface="Arial"/>
                        </a:rPr>
                        <a:t>11</a:t>
                      </a:r>
                    </a:p>
                  </a:txBody>
                  <a:tcPr marL="91440" marR="91440" marT="45720" marB="45720">
                    <a:solidFill>
                      <a:srgbClr val="EEF5F5"/>
                    </a:solidFill>
                  </a:tcPr>
                </a:tc>
                <a:tc>
                  <a:txBody>
                    <a:bodyPr/>
                    <a:lstStyle/>
                    <a:p>
                      <a:r>
                        <a:rPr sz="1950" b="0">
                          <a:solidFill>
                            <a:srgbClr val="183B4E"/>
                          </a:solidFill>
                          <a:latin typeface="Arial"/>
                          <a:ea typeface="Arial"/>
                          <a:cs typeface="Arial"/>
                        </a:rPr>
                        <a:t>10</a:t>
                      </a:r>
                    </a:p>
                  </a:txBody>
                  <a:tcPr marL="91440" marR="91440" marT="45720" marB="45720">
                    <a:solidFill>
                      <a:srgbClr val="EEF5F5"/>
                    </a:solidFill>
                  </a:tcPr>
                </a:tc>
                <a:tc>
                  <a:txBody>
                    <a:bodyPr/>
                    <a:lstStyle/>
                    <a:p>
                      <a:r>
                        <a:rPr sz="1950" b="0">
                          <a:solidFill>
                            <a:srgbClr val="183B4E"/>
                          </a:solidFill>
                          <a:latin typeface="Arial"/>
                          <a:ea typeface="Arial"/>
                          <a:cs typeface="Arial"/>
                        </a:rPr>
                        <a:t>78,25</a:t>
                      </a:r>
                    </a:p>
                  </a:txBody>
                  <a:tcPr marL="91440" marR="91440" marT="45720" marB="45720">
                    <a:solidFill>
                      <a:srgbClr val="EEF5F5"/>
                    </a:solidFill>
                  </a:tcPr>
                </a:tc>
                <a:tc>
                  <a:txBody>
                    <a:bodyPr/>
                    <a:lstStyle/>
                    <a:p>
                      <a:r>
                        <a:rPr sz="1950" b="0">
                          <a:solidFill>
                            <a:srgbClr val="183B4E"/>
                          </a:solidFill>
                          <a:latin typeface="Arial"/>
                          <a:ea typeface="Arial"/>
                          <a:cs typeface="Arial"/>
                        </a:rPr>
                        <a:t>0,6477</a:t>
                      </a:r>
                    </a:p>
                  </a:txBody>
                  <a:tcPr marL="91440" marR="91440" marT="45720" marB="45720">
                    <a:solidFill>
                      <a:srgbClr val="EEF5F5"/>
                    </a:solidFill>
                  </a:tcPr>
                </a:tc>
              </a:tr>
              <a:tr h="526596">
                <a:tc>
                  <a:txBody>
                    <a:bodyPr/>
                    <a:lstStyle/>
                    <a:p>
                      <a:r>
                        <a:rPr sz="1950" b="0">
                          <a:solidFill>
                            <a:srgbClr val="183B4E"/>
                          </a:solidFill>
                          <a:latin typeface="Arial"/>
                          <a:ea typeface="Arial"/>
                          <a:cs typeface="Arial"/>
                        </a:rPr>
                        <a:t>5</a:t>
                      </a:r>
                    </a:p>
                  </a:txBody>
                  <a:tcPr marL="91440" marR="91440" marT="45720" marB="45720">
                    <a:solidFill>
                      <a:srgbClr val="FFFFFF"/>
                    </a:solidFill>
                  </a:tcPr>
                </a:tc>
                <a:tc>
                  <a:txBody>
                    <a:bodyPr/>
                    <a:lstStyle/>
                    <a:p>
                      <a:r>
                        <a:rPr sz="1950" b="0">
                          <a:solidFill>
                            <a:srgbClr val="183B4E"/>
                          </a:solidFill>
                          <a:latin typeface="Arial"/>
                          <a:ea typeface="Arial"/>
                          <a:cs typeface="Arial"/>
                        </a:rPr>
                        <a:t>249.997</a:t>
                      </a:r>
                    </a:p>
                  </a:txBody>
                  <a:tcPr marL="91440" marR="91440" marT="45720" marB="45720">
                    <a:solidFill>
                      <a:srgbClr val="FFFFFF"/>
                    </a:solidFill>
                  </a:tcPr>
                </a:tc>
                <a:tc>
                  <a:txBody>
                    <a:bodyPr/>
                    <a:lstStyle/>
                    <a:p>
                      <a:r>
                        <a:rPr sz="1950" b="0">
                          <a:solidFill>
                            <a:srgbClr val="183B4E"/>
                          </a:solidFill>
                          <a:latin typeface="Arial"/>
                          <a:ea typeface="Arial"/>
                          <a:cs typeface="Arial"/>
                        </a:rPr>
                        <a:t>11</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0,6659</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20</a:t>
                      </a:r>
                    </a:p>
                  </a:txBody>
                  <a:tcPr marL="91440" marR="91440" marT="45720" marB="45720">
                    <a:solidFill>
                      <a:srgbClr val="EEF5F5"/>
                    </a:solidFill>
                  </a:tcPr>
                </a:tc>
                <a:tc>
                  <a:txBody>
                    <a:bodyPr/>
                    <a:lstStyle/>
                    <a:p>
                      <a:r>
                        <a:rPr sz="1950" b="0">
                          <a:solidFill>
                            <a:srgbClr val="183B4E"/>
                          </a:solidFill>
                          <a:latin typeface="Arial"/>
                          <a:ea typeface="Arial"/>
                          <a:cs typeface="Arial"/>
                        </a:rPr>
                        <a:t>249.997</a:t>
                      </a:r>
                    </a:p>
                  </a:txBody>
                  <a:tcPr marL="91440" marR="91440" marT="45720" marB="45720">
                    <a:solidFill>
                      <a:srgbClr val="EEF5F5"/>
                    </a:solidFill>
                  </a:tcPr>
                </a:tc>
                <a:tc>
                  <a:txBody>
                    <a:bodyPr/>
                    <a:lstStyle/>
                    <a:p>
                      <a:r>
                        <a:rPr sz="1950" b="0">
                          <a:solidFill>
                            <a:srgbClr val="183B4E"/>
                          </a:solidFill>
                          <a:latin typeface="Arial"/>
                          <a:ea typeface="Arial"/>
                          <a:cs typeface="Arial"/>
                        </a:rPr>
                        <a:t>16</a:t>
                      </a:r>
                    </a:p>
                  </a:txBody>
                  <a:tcPr marL="91440" marR="91440" marT="45720" marB="45720">
                    <a:solidFill>
                      <a:srgbClr val="EEF5F5"/>
                    </a:solidFill>
                  </a:tcPr>
                </a:tc>
                <a:tc>
                  <a:txBody>
                    <a:bodyPr/>
                    <a:lstStyle/>
                    <a:p>
                      <a:r>
                        <a:rPr sz="1950" b="0">
                          <a:solidFill>
                            <a:srgbClr val="183B4E"/>
                          </a:solidFill>
                          <a:latin typeface="Arial"/>
                          <a:ea typeface="Arial"/>
                          <a:cs typeface="Arial"/>
                        </a:rPr>
                        <a:t>10</a:t>
                      </a:r>
                    </a:p>
                  </a:txBody>
                  <a:tcPr marL="91440" marR="91440" marT="45720" marB="45720">
                    <a:solidFill>
                      <a:srgbClr val="EEF5F5"/>
                    </a:solidFill>
                  </a:tcPr>
                </a:tc>
                <a:tc>
                  <a:txBody>
                    <a:bodyPr/>
                    <a:lstStyle/>
                    <a:p>
                      <a:r>
                        <a:rPr sz="1950" b="0">
                          <a:solidFill>
                            <a:srgbClr val="183B4E"/>
                          </a:solidFill>
                          <a:latin typeface="Arial"/>
                          <a:ea typeface="Arial"/>
                          <a:cs typeface="Arial"/>
                        </a:rPr>
                        <a:t>78,25</a:t>
                      </a:r>
                    </a:p>
                  </a:txBody>
                  <a:tcPr marL="91440" marR="91440" marT="45720" marB="45720">
                    <a:solidFill>
                      <a:srgbClr val="EEF5F5"/>
                    </a:solidFill>
                  </a:tcPr>
                </a:tc>
                <a:tc>
                  <a:txBody>
                    <a:bodyPr/>
                    <a:lstStyle/>
                    <a:p>
                      <a:r>
                        <a:rPr sz="1950" b="0">
                          <a:solidFill>
                            <a:srgbClr val="183B4E"/>
                          </a:solidFill>
                          <a:latin typeface="Arial"/>
                          <a:ea typeface="Arial"/>
                          <a:cs typeface="Arial"/>
                        </a:rPr>
                        <a:t>0,6665</a:t>
                      </a:r>
                    </a:p>
                  </a:txBody>
                  <a:tcPr marL="91440" marR="91440" marT="45720" marB="45720">
                    <a:solidFill>
                      <a:srgbClr val="EEF5F5"/>
                    </a:solidFill>
                  </a:tcPr>
                </a:tc>
              </a:tr>
              <a:tr h="526596">
                <a:tc>
                  <a:txBody>
                    <a:bodyPr/>
                    <a:lstStyle/>
                    <a:p>
                      <a:r>
                        <a:rPr sz="1950" b="0">
                          <a:solidFill>
                            <a:srgbClr val="183B4E"/>
                          </a:solidFill>
                          <a:latin typeface="Arial"/>
                          <a:ea typeface="Arial"/>
                          <a:cs typeface="Arial"/>
                        </a:rPr>
                        <a:t>100</a:t>
                      </a:r>
                    </a:p>
                  </a:txBody>
                  <a:tcPr marL="91440" marR="91440" marT="45720" marB="45720">
                    <a:solidFill>
                      <a:srgbClr val="FFFFFF"/>
                    </a:solidFill>
                  </a:tcPr>
                </a:tc>
                <a:tc>
                  <a:txBody>
                    <a:bodyPr/>
                    <a:lstStyle/>
                    <a:p>
                      <a:r>
                        <a:rPr sz="1950" b="0">
                          <a:solidFill>
                            <a:srgbClr val="183B4E"/>
                          </a:solidFill>
                          <a:latin typeface="Arial"/>
                          <a:ea typeface="Arial"/>
                          <a:cs typeface="Arial"/>
                        </a:rPr>
                        <a:t>264.333</a:t>
                      </a:r>
                    </a:p>
                  </a:txBody>
                  <a:tcPr marL="91440" marR="91440" marT="45720" marB="45720">
                    <a:solidFill>
                      <a:srgbClr val="FFFFFF"/>
                    </a:solidFill>
                  </a:tcPr>
                </a:tc>
                <a:tc>
                  <a:txBody>
                    <a:bodyPr/>
                    <a:lstStyle/>
                    <a:p>
                      <a:r>
                        <a:rPr sz="1950" b="0">
                          <a:solidFill>
                            <a:srgbClr val="183B4E"/>
                          </a:solidFill>
                          <a:latin typeface="Arial"/>
                          <a:ea typeface="Arial"/>
                          <a:cs typeface="Arial"/>
                        </a:rPr>
                        <a:t>22</a:t>
                      </a:r>
                    </a:p>
                  </a:txBody>
                  <a:tcPr marL="91440" marR="91440" marT="45720" marB="45720">
                    <a:solidFill>
                      <a:srgbClr val="FFFFFF"/>
                    </a:solidFill>
                  </a:tcPr>
                </a:tc>
                <a:tc>
                  <a:txBody>
                    <a:bodyPr/>
                    <a:lstStyle/>
                    <a:p>
                      <a:r>
                        <a:rPr sz="1950" b="0">
                          <a:solidFill>
                            <a:srgbClr val="183B4E"/>
                          </a:solidFill>
                          <a:latin typeface="Arial"/>
                          <a:ea typeface="Arial"/>
                          <a:cs typeface="Arial"/>
                        </a:rPr>
                        <a:t>10</a:t>
                      </a:r>
                    </a:p>
                  </a:txBody>
                  <a:tcPr marL="91440" marR="91440" marT="45720" marB="45720">
                    <a:solidFill>
                      <a:srgbClr val="FFFFFF"/>
                    </a:solidFill>
                  </a:tcPr>
                </a:tc>
                <a:tc>
                  <a:txBody>
                    <a:bodyPr/>
                    <a:lstStyle/>
                    <a:p>
                      <a:r>
                        <a:rPr sz="1950" b="0">
                          <a:solidFill>
                            <a:srgbClr val="183B4E"/>
                          </a:solidFill>
                          <a:latin typeface="Arial"/>
                          <a:ea typeface="Arial"/>
                          <a:cs typeface="Arial"/>
                        </a:rPr>
                        <a:t>78,25</a:t>
                      </a:r>
                    </a:p>
                  </a:txBody>
                  <a:tcPr marL="91440" marR="91440" marT="45720" marB="45720">
                    <a:solidFill>
                      <a:srgbClr val="FFFFFF"/>
                    </a:solidFill>
                  </a:tcPr>
                </a:tc>
                <a:tc>
                  <a:txBody>
                    <a:bodyPr/>
                    <a:lstStyle/>
                    <a:p>
                      <a:r>
                        <a:rPr sz="1950" b="0">
                          <a:solidFill>
                            <a:srgbClr val="183B4E"/>
                          </a:solidFill>
                          <a:latin typeface="Arial"/>
                          <a:ea typeface="Arial"/>
                          <a:cs typeface="Arial"/>
                        </a:rPr>
                        <a:t>0,6965</a:t>
                      </a:r>
                    </a:p>
                  </a:txBody>
                  <a:tcPr marL="91440" marR="91440" marT="45720" marB="45720">
                    <a:solidFill>
                      <a:srgbClr val="FFFFFF"/>
                    </a:solidFill>
                  </a:tcPr>
                </a:tc>
              </a:tr>
              <a:tr h="526596">
                <a:tc>
                  <a:txBody>
                    <a:bodyPr/>
                    <a:lstStyle/>
                    <a:p>
                      <a:r>
                        <a:rPr sz="1950" b="0">
                          <a:solidFill>
                            <a:srgbClr val="183B4E"/>
                          </a:solidFill>
                          <a:latin typeface="Arial"/>
                          <a:ea typeface="Arial"/>
                          <a:cs typeface="Arial"/>
                        </a:rPr>
                        <a:t>200</a:t>
                      </a:r>
                    </a:p>
                  </a:txBody>
                  <a:tcPr marL="91440" marR="91440" marT="45720" marB="45720">
                    <a:solidFill>
                      <a:srgbClr val="EEF5F5"/>
                    </a:solidFill>
                  </a:tcPr>
                </a:tc>
                <a:tc>
                  <a:txBody>
                    <a:bodyPr/>
                    <a:lstStyle/>
                    <a:p>
                      <a:r>
                        <a:rPr sz="1950" b="0">
                          <a:solidFill>
                            <a:srgbClr val="183B4E"/>
                          </a:solidFill>
                          <a:latin typeface="Arial"/>
                          <a:ea typeface="Arial"/>
                          <a:cs typeface="Arial"/>
                        </a:rPr>
                        <a:t>259.170</a:t>
                      </a:r>
                    </a:p>
                  </a:txBody>
                  <a:tcPr marL="91440" marR="91440" marT="45720" marB="45720">
                    <a:solidFill>
                      <a:srgbClr val="EEF5F5"/>
                    </a:solidFill>
                  </a:tcPr>
                </a:tc>
                <a:tc>
                  <a:txBody>
                    <a:bodyPr/>
                    <a:lstStyle/>
                    <a:p>
                      <a:r>
                        <a:rPr sz="1950" b="0">
                          <a:solidFill>
                            <a:srgbClr val="183B4E"/>
                          </a:solidFill>
                          <a:latin typeface="Arial"/>
                          <a:ea typeface="Arial"/>
                          <a:cs typeface="Arial"/>
                        </a:rPr>
                        <a:t>15</a:t>
                      </a:r>
                    </a:p>
                  </a:txBody>
                  <a:tcPr marL="91440" marR="91440" marT="45720" marB="45720">
                    <a:solidFill>
                      <a:srgbClr val="EEF5F5"/>
                    </a:solidFill>
                  </a:tcPr>
                </a:tc>
                <a:tc>
                  <a:txBody>
                    <a:bodyPr/>
                    <a:lstStyle/>
                    <a:p>
                      <a:r>
                        <a:rPr sz="1950" b="0">
                          <a:solidFill>
                            <a:srgbClr val="183B4E"/>
                          </a:solidFill>
                          <a:latin typeface="Arial"/>
                          <a:ea typeface="Arial"/>
                          <a:cs typeface="Arial"/>
                        </a:rPr>
                        <a:t>11</a:t>
                      </a:r>
                    </a:p>
                  </a:txBody>
                  <a:tcPr marL="91440" marR="91440" marT="45720" marB="45720">
                    <a:solidFill>
                      <a:srgbClr val="EEF5F5"/>
                    </a:solidFill>
                  </a:tcPr>
                </a:tc>
                <a:tc>
                  <a:txBody>
                    <a:bodyPr/>
                    <a:lstStyle/>
                    <a:p>
                      <a:r>
                        <a:rPr sz="1950" b="0">
                          <a:solidFill>
                            <a:srgbClr val="183B4E"/>
                          </a:solidFill>
                          <a:latin typeface="Arial"/>
                          <a:ea typeface="Arial"/>
                          <a:cs typeface="Arial"/>
                        </a:rPr>
                        <a:t>79,49</a:t>
                      </a:r>
                    </a:p>
                  </a:txBody>
                  <a:tcPr marL="91440" marR="91440" marT="45720" marB="45720">
                    <a:solidFill>
                      <a:srgbClr val="EEF5F5"/>
                    </a:solidFill>
                  </a:tcPr>
                </a:tc>
                <a:tc>
                  <a:txBody>
                    <a:bodyPr/>
                    <a:lstStyle/>
                    <a:p>
                      <a:r>
                        <a:rPr sz="1950" b="0">
                          <a:solidFill>
                            <a:srgbClr val="183B4E"/>
                          </a:solidFill>
                          <a:latin typeface="Arial"/>
                          <a:ea typeface="Arial"/>
                          <a:cs typeface="Arial"/>
                        </a:rPr>
                        <a:t>0,7255</a:t>
                      </a:r>
                    </a:p>
                  </a:txBody>
                  <a:tcPr marL="91440" marR="91440" marT="45720" marB="45720">
                    <a:solidFill>
                      <a:srgbClr val="EEF5F5"/>
                    </a:solidFill>
                  </a:tcPr>
                </a:tc>
              </a:tr>
            </a:tbl>
          </a:graphicData>
        </a:graphic>
      </p:graphicFrame>
      <p:sp>
        <p:nvSpPr>
          <p:cNvPr id="4" name="">
            <a:extLst xmlns:a="http://schemas.openxmlformats.org/drawingml/2006/main">
              <a:ext uri="{FF2B5EF4-FFF2-40B4-BE49-F238E27FC236}">
                <a16:creationId xmlns:a16="http://schemas.microsoft.com/office/drawing/2014/main" id="{6015E478-06F2-4244-9194-4DCDA8D1740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Son líderes sucesivos de la población. Cada fila puede pertenecer a otro linaje</a:t>
            </a:r>
          </a:p>
        </p:txBody>
      </p:sp>
      <p:sp>
        <p:nvSpPr>
          <p:cNvPr id="6" name="">
            <a:extLst xmlns:a="http://schemas.openxmlformats.org/drawingml/2006/main">
              <a:ext uri="{FF2B5EF4-FFF2-40B4-BE49-F238E27FC236}">
                <a16:creationId xmlns:a16="http://schemas.microsoft.com/office/drawing/2014/main" id="{9983E1AA-2FAB-486C-A4E9-5183F3C344AB}"/>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20</a:t>
            </a:r>
          </a:p>
        </p:txBody>
      </p:sp>
    </p:spTree>
    <p:extLst>
      <p:ext uri="{BB962C8B-B14F-4D97-AF65-F5344CB8AC3E}">
        <p14:creationId xmlns:p14="http://schemas.microsoft.com/office/powerpoint/2010/main" val="2952358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C6584A-C85B-4AD7-8F0B-F182DDA366DE}"/>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Resultados para explorar el territorio</a:t>
            </a:r>
          </a:p>
        </p:txBody>
      </p:sp>
      <p:graphicFrame>
        <p:nvGraphicFramePr>
          <p:cNvPr id="3" name="Chart">
            <a:extLst xmlns:a="http://schemas.openxmlformats.org/drawingml/2006/main">
              <a:ext uri="{FF2B5EF4-FFF2-40B4-BE49-F238E27FC236}">
                <a16:creationId xmlns:a16="http://schemas.microsoft.com/office/drawing/2014/main" id="{7DC10774-BB1F-47D3-8BA9-99B0E1189C81}"/>
              </a:ext>
            </a:extLst>
          </p:cNvPr>
          <p:cNvGraphicFramePr/>
          <p:nvPr/>
        </p:nvGraphicFramePr>
        <p:xfrm>
          <a:off xmlns:a="http://schemas.openxmlformats.org/drawingml/2006/main" x="571500" y="1495425"/>
          <a:ext xmlns:a="http://schemas.openxmlformats.org/drawingml/2006/main" cx="4191000" cy="4295775"/>
        </p:xfrm>
        <a:graphic xmlns:a="http://schemas.openxmlformats.org/drawingml/2006/main">
          <a:graphicData uri="http://schemas.openxmlformats.org/drawingml/2006/chart">
            <c:chart xmlns:r="http://schemas.openxmlformats.org/officeDocument/2006/relationships" xmlns:c="http://schemas.openxmlformats.org/drawingml/2006/chart" r:id="R9aebf1b6dfda452a"/>
          </a:graphicData>
        </a:graphic>
      </p:graphicFrame>
      <p:graphicFrame>
        <p:nvGraphicFramePr>
          <p:cNvPr id="4" name="">
            <a:extLst xmlns:a="http://schemas.openxmlformats.org/drawingml/2006/main">
              <a:ext uri="{FF2B5EF4-FFF2-40B4-BE49-F238E27FC236}">
                <a16:creationId xmlns:a16="http://schemas.microsoft.com/office/drawing/2014/main" id="{08B4C762-31A5-4485-AD5F-2BA977BA7E01}"/>
              </a:ext>
            </a:extLst>
          </p:cNvPr>
          <p:cNvGraphicFramePr/>
          <p:nvPr/>
        </p:nvGraphicFramePr>
        <p:xfrm>
          <a:off xmlns:a="http://schemas.openxmlformats.org/drawingml/2006/main" x="5276850" y="1628775"/>
          <a:ext xmlns:a="http://schemas.openxmlformats.org/drawingml/2006/main" cx="6257925" cy="2962275"/>
        </p:xfrm>
        <a:graphic xmlns:a="http://schemas.openxmlformats.org/drawingml/2006/main">
          <a:graphicData uri="http://schemas.openxmlformats.org/drawingml/2006/table">
            <a:tbl>
              <a:tblPr/>
              <a:tblGrid>
                <a:gridCol w="571500"/>
                <a:gridCol w="2762250"/>
                <a:gridCol w="1381125"/>
                <a:gridCol w="1543050"/>
              </a:tblGrid>
              <a:tr h="493713">
                <a:tc>
                  <a:txBody>
                    <a:bodyPr/>
                    <a:lstStyle/>
                    <a:p>
                      <a:r>
                        <a:rPr sz="1725" b="1">
                          <a:solidFill>
                            <a:srgbClr val="FFFFFF"/>
                          </a:solidFill>
                          <a:latin typeface="Arial"/>
                          <a:ea typeface="Arial"/>
                          <a:cs typeface="Arial"/>
                        </a:rPr>
                        <a:t>#</a:t>
                      </a:r>
                    </a:p>
                  </a:txBody>
                  <a:tcPr marL="91440" marR="91440" marT="45720" marB="45720">
                    <a:solidFill>
                      <a:srgbClr val="102A43"/>
                    </a:solidFill>
                  </a:tcPr>
                </a:tc>
                <a:tc>
                  <a:txBody>
                    <a:bodyPr/>
                    <a:lstStyle/>
                    <a:p>
                      <a:r>
                        <a:rPr sz="1725" b="1">
                          <a:solidFill>
                            <a:srgbClr val="FFFFFF"/>
                          </a:solidFill>
                          <a:latin typeface="Arial"/>
                          <a:ea typeface="Arial"/>
                          <a:cs typeface="Arial"/>
                        </a:rPr>
                        <a:t>ET de referencia</a:t>
                      </a:r>
                    </a:p>
                  </a:txBody>
                  <a:tcPr marL="91440" marR="91440" marT="45720" marB="45720">
                    <a:solidFill>
                      <a:srgbClr val="102A43"/>
                    </a:solidFill>
                  </a:tcPr>
                </a:tc>
                <a:tc>
                  <a:txBody>
                    <a:bodyPr/>
                    <a:lstStyle/>
                    <a:p>
                      <a:r>
                        <a:rPr sz="1725" b="1">
                          <a:solidFill>
                            <a:srgbClr val="FFFFFF"/>
                          </a:solidFill>
                          <a:latin typeface="Arial"/>
                          <a:ea typeface="Arial"/>
                          <a:cs typeface="Arial"/>
                        </a:rPr>
                        <a:t>MW</a:t>
                      </a:r>
                    </a:p>
                  </a:txBody>
                  <a:tcPr marL="91440" marR="91440" marT="45720" marB="45720">
                    <a:solidFill>
                      <a:srgbClr val="102A43"/>
                    </a:solidFill>
                  </a:tcPr>
                </a:tc>
                <a:tc>
                  <a:txBody>
                    <a:bodyPr/>
                    <a:lstStyle/>
                    <a:p>
                      <a:r>
                        <a:rPr sz="1725" b="1">
                          <a:solidFill>
                            <a:srgbClr val="FFFFFF"/>
                          </a:solidFill>
                          <a:latin typeface="Arial"/>
                          <a:ea typeface="Arial"/>
                          <a:cs typeface="Arial"/>
                        </a:rPr>
                        <a:t>Fitness</a:t>
                      </a:r>
                    </a:p>
                  </a:txBody>
                  <a:tcPr marL="91440" marR="91440" marT="45720" marB="45720">
                    <a:solidFill>
                      <a:srgbClr val="102A43"/>
                    </a:solidFill>
                  </a:tcPr>
                </a:tc>
              </a:tr>
              <a:tr h="493713">
                <a:tc>
                  <a:txBody>
                    <a:bodyPr/>
                    <a:lstStyle/>
                    <a:p>
                      <a:r>
                        <a:rPr sz="1725" b="0">
                          <a:solidFill>
                            <a:srgbClr val="183B4E"/>
                          </a:solidFill>
                          <a:latin typeface="Arial"/>
                          <a:ea typeface="Arial"/>
                          <a:cs typeface="Arial"/>
                        </a:rPr>
                        <a:t>1</a:t>
                      </a:r>
                    </a:p>
                  </a:txBody>
                  <a:tcPr marL="91440" marR="91440" marT="45720" marB="45720">
                    <a:solidFill>
                      <a:srgbClr val="FFFFFF"/>
                    </a:solidFill>
                  </a:tcPr>
                </a:tc>
                <a:tc>
                  <a:txBody>
                    <a:bodyPr/>
                    <a:lstStyle/>
                    <a:p>
                      <a:r>
                        <a:rPr sz="1725" b="0">
                          <a:solidFill>
                            <a:srgbClr val="183B4E"/>
                          </a:solidFill>
                          <a:latin typeface="Arial"/>
                          <a:ea typeface="Arial"/>
                          <a:cs typeface="Arial"/>
                        </a:rPr>
                        <a:t>SANTO TOME</a:t>
                      </a:r>
                    </a:p>
                  </a:txBody>
                  <a:tcPr marL="91440" marR="91440" marT="45720" marB="45720">
                    <a:solidFill>
                      <a:srgbClr val="FFFFFF"/>
                    </a:solidFill>
                  </a:tcPr>
                </a:tc>
                <a:tc>
                  <a:txBody>
                    <a:bodyPr/>
                    <a:lstStyle/>
                    <a:p>
                      <a:r>
                        <a:rPr sz="1725" b="0">
                          <a:solidFill>
                            <a:srgbClr val="183B4E"/>
                          </a:solidFill>
                          <a:latin typeface="Arial"/>
                          <a:ea typeface="Arial"/>
                          <a:cs typeface="Arial"/>
                        </a:rPr>
                        <a:t>79,49</a:t>
                      </a:r>
                    </a:p>
                  </a:txBody>
                  <a:tcPr marL="91440" marR="91440" marT="45720" marB="45720">
                    <a:solidFill>
                      <a:srgbClr val="FFFFFF"/>
                    </a:solidFill>
                  </a:tcPr>
                </a:tc>
                <a:tc>
                  <a:txBody>
                    <a:bodyPr/>
                    <a:lstStyle/>
                    <a:p>
                      <a:r>
                        <a:rPr sz="1725" b="0">
                          <a:solidFill>
                            <a:srgbClr val="183B4E"/>
                          </a:solidFill>
                          <a:latin typeface="Arial"/>
                          <a:ea typeface="Arial"/>
                          <a:cs typeface="Arial"/>
                        </a:rPr>
                        <a:t>0,7255</a:t>
                      </a:r>
                    </a:p>
                  </a:txBody>
                  <a:tcPr marL="91440" marR="91440" marT="45720" marB="45720">
                    <a:solidFill>
                      <a:srgbClr val="FFFFFF"/>
                    </a:solidFill>
                  </a:tcPr>
                </a:tc>
              </a:tr>
              <a:tr h="493713">
                <a:tc>
                  <a:txBody>
                    <a:bodyPr/>
                    <a:lstStyle/>
                    <a:p>
                      <a:r>
                        <a:rPr sz="1725" b="0">
                          <a:solidFill>
                            <a:srgbClr val="183B4E"/>
                          </a:solidFill>
                          <a:latin typeface="Arial"/>
                          <a:ea typeface="Arial"/>
                          <a:cs typeface="Arial"/>
                        </a:rPr>
                        <a:t>2</a:t>
                      </a:r>
                    </a:p>
                  </a:txBody>
                  <a:tcPr marL="91440" marR="91440" marT="45720" marB="45720">
                    <a:solidFill>
                      <a:srgbClr val="EEF5F5"/>
                    </a:solidFill>
                  </a:tcPr>
                </a:tc>
                <a:tc>
                  <a:txBody>
                    <a:bodyPr/>
                    <a:lstStyle/>
                    <a:p>
                      <a:r>
                        <a:rPr sz="1725" b="0">
                          <a:solidFill>
                            <a:srgbClr val="183B4E"/>
                          </a:solidFill>
                          <a:latin typeface="Arial"/>
                          <a:ea typeface="Arial"/>
                          <a:cs typeface="Arial"/>
                        </a:rPr>
                        <a:t>ROSARIO OESTE</a:t>
                      </a:r>
                    </a:p>
                  </a:txBody>
                  <a:tcPr marL="91440" marR="91440" marT="45720" marB="45720">
                    <a:solidFill>
                      <a:srgbClr val="EEF5F5"/>
                    </a:solidFill>
                  </a:tcPr>
                </a:tc>
                <a:tc>
                  <a:txBody>
                    <a:bodyPr/>
                    <a:lstStyle/>
                    <a:p>
                      <a:r>
                        <a:rPr sz="1725" b="0">
                          <a:solidFill>
                            <a:srgbClr val="183B4E"/>
                          </a:solidFill>
                          <a:latin typeface="Arial"/>
                          <a:ea typeface="Arial"/>
                          <a:cs typeface="Arial"/>
                        </a:rPr>
                        <a:t>78,25</a:t>
                      </a:r>
                    </a:p>
                  </a:txBody>
                  <a:tcPr marL="91440" marR="91440" marT="45720" marB="45720">
                    <a:solidFill>
                      <a:srgbClr val="EEF5F5"/>
                    </a:solidFill>
                  </a:tcPr>
                </a:tc>
                <a:tc>
                  <a:txBody>
                    <a:bodyPr/>
                    <a:lstStyle/>
                    <a:p>
                      <a:r>
                        <a:rPr sz="1725" b="0">
                          <a:solidFill>
                            <a:srgbClr val="183B4E"/>
                          </a:solidFill>
                          <a:latin typeface="Arial"/>
                          <a:ea typeface="Arial"/>
                          <a:cs typeface="Arial"/>
                        </a:rPr>
                        <a:t>0,6983</a:t>
                      </a:r>
                    </a:p>
                  </a:txBody>
                  <a:tcPr marL="91440" marR="91440" marT="45720" marB="45720">
                    <a:solidFill>
                      <a:srgbClr val="EEF5F5"/>
                    </a:solidFill>
                  </a:tcPr>
                </a:tc>
              </a:tr>
              <a:tr h="493713">
                <a:tc>
                  <a:txBody>
                    <a:bodyPr/>
                    <a:lstStyle/>
                    <a:p>
                      <a:r>
                        <a:rPr sz="1725" b="0">
                          <a:solidFill>
                            <a:srgbClr val="183B4E"/>
                          </a:solidFill>
                          <a:latin typeface="Arial"/>
                          <a:ea typeface="Arial"/>
                          <a:cs typeface="Arial"/>
                        </a:rPr>
                        <a:t>3</a:t>
                      </a:r>
                    </a:p>
                  </a:txBody>
                  <a:tcPr marL="91440" marR="91440" marT="45720" marB="45720">
                    <a:solidFill>
                      <a:srgbClr val="FFFFFF"/>
                    </a:solidFill>
                  </a:tcPr>
                </a:tc>
                <a:tc>
                  <a:txBody>
                    <a:bodyPr/>
                    <a:lstStyle/>
                    <a:p>
                      <a:r>
                        <a:rPr sz="1725" b="0">
                          <a:solidFill>
                            <a:srgbClr val="183B4E"/>
                          </a:solidFill>
                          <a:latin typeface="Arial"/>
                          <a:ea typeface="Arial"/>
                          <a:cs typeface="Arial"/>
                        </a:rPr>
                        <a:t>ROMANG</a:t>
                      </a:r>
                    </a:p>
                  </a:txBody>
                  <a:tcPr marL="91440" marR="91440" marT="45720" marB="45720">
                    <a:solidFill>
                      <a:srgbClr val="FFFFFF"/>
                    </a:solidFill>
                  </a:tcPr>
                </a:tc>
                <a:tc>
                  <a:txBody>
                    <a:bodyPr/>
                    <a:lstStyle/>
                    <a:p>
                      <a:r>
                        <a:rPr sz="1725" b="0">
                          <a:solidFill>
                            <a:srgbClr val="183B4E"/>
                          </a:solidFill>
                          <a:latin typeface="Arial"/>
                          <a:ea typeface="Arial"/>
                          <a:cs typeface="Arial"/>
                        </a:rPr>
                        <a:t>78,25</a:t>
                      </a:r>
                    </a:p>
                  </a:txBody>
                  <a:tcPr marL="91440" marR="91440" marT="45720" marB="45720">
                    <a:solidFill>
                      <a:srgbClr val="FFFFFF"/>
                    </a:solidFill>
                  </a:tcPr>
                </a:tc>
                <a:tc>
                  <a:txBody>
                    <a:bodyPr/>
                    <a:lstStyle/>
                    <a:p>
                      <a:r>
                        <a:rPr sz="1725" b="0">
                          <a:solidFill>
                            <a:srgbClr val="183B4E"/>
                          </a:solidFill>
                          <a:latin typeface="Arial"/>
                          <a:ea typeface="Arial"/>
                          <a:cs typeface="Arial"/>
                        </a:rPr>
                        <a:t>0,6854</a:t>
                      </a:r>
                    </a:p>
                  </a:txBody>
                  <a:tcPr marL="91440" marR="91440" marT="45720" marB="45720">
                    <a:solidFill>
                      <a:srgbClr val="FFFFFF"/>
                    </a:solidFill>
                  </a:tcPr>
                </a:tc>
              </a:tr>
              <a:tr h="493713">
                <a:tc>
                  <a:txBody>
                    <a:bodyPr/>
                    <a:lstStyle/>
                    <a:p>
                      <a:r>
                        <a:rPr sz="1725" b="0">
                          <a:solidFill>
                            <a:srgbClr val="183B4E"/>
                          </a:solidFill>
                          <a:latin typeface="Arial"/>
                          <a:ea typeface="Arial"/>
                          <a:cs typeface="Arial"/>
                        </a:rPr>
                        <a:t>4</a:t>
                      </a:r>
                    </a:p>
                  </a:txBody>
                  <a:tcPr marL="91440" marR="91440" marT="45720" marB="45720">
                    <a:solidFill>
                      <a:srgbClr val="EEF5F5"/>
                    </a:solidFill>
                  </a:tcPr>
                </a:tc>
                <a:tc>
                  <a:txBody>
                    <a:bodyPr/>
                    <a:lstStyle/>
                    <a:p>
                      <a:r>
                        <a:rPr sz="1725" b="0">
                          <a:solidFill>
                            <a:srgbClr val="183B4E"/>
                          </a:solidFill>
                          <a:latin typeface="Arial"/>
                          <a:ea typeface="Arial"/>
                          <a:cs typeface="Arial"/>
                        </a:rPr>
                        <a:t>ROMANG</a:t>
                      </a:r>
                    </a:p>
                  </a:txBody>
                  <a:tcPr marL="91440" marR="91440" marT="45720" marB="45720">
                    <a:solidFill>
                      <a:srgbClr val="EEF5F5"/>
                    </a:solidFill>
                  </a:tcPr>
                </a:tc>
                <a:tc>
                  <a:txBody>
                    <a:bodyPr/>
                    <a:lstStyle/>
                    <a:p>
                      <a:r>
                        <a:rPr sz="1725" b="0">
                          <a:solidFill>
                            <a:srgbClr val="183B4E"/>
                          </a:solidFill>
                          <a:latin typeface="Arial"/>
                          <a:ea typeface="Arial"/>
                          <a:cs typeface="Arial"/>
                        </a:rPr>
                        <a:t>78,25</a:t>
                      </a:r>
                    </a:p>
                  </a:txBody>
                  <a:tcPr marL="91440" marR="91440" marT="45720" marB="45720">
                    <a:solidFill>
                      <a:srgbClr val="EEF5F5"/>
                    </a:solidFill>
                  </a:tcPr>
                </a:tc>
                <a:tc>
                  <a:txBody>
                    <a:bodyPr/>
                    <a:lstStyle/>
                    <a:p>
                      <a:r>
                        <a:rPr sz="1725" b="0">
                          <a:solidFill>
                            <a:srgbClr val="183B4E"/>
                          </a:solidFill>
                          <a:latin typeface="Arial"/>
                          <a:ea typeface="Arial"/>
                          <a:cs typeface="Arial"/>
                        </a:rPr>
                        <a:t>0,6781</a:t>
                      </a:r>
                    </a:p>
                  </a:txBody>
                  <a:tcPr marL="91440" marR="91440" marT="45720" marB="45720">
                    <a:solidFill>
                      <a:srgbClr val="EEF5F5"/>
                    </a:solidFill>
                  </a:tcPr>
                </a:tc>
              </a:tr>
              <a:tr h="493713">
                <a:tc>
                  <a:txBody>
                    <a:bodyPr/>
                    <a:lstStyle/>
                    <a:p>
                      <a:r>
                        <a:rPr sz="1725" b="0">
                          <a:solidFill>
                            <a:srgbClr val="183B4E"/>
                          </a:solidFill>
                          <a:latin typeface="Arial"/>
                          <a:ea typeface="Arial"/>
                          <a:cs typeface="Arial"/>
                        </a:rPr>
                        <a:t>5</a:t>
                      </a:r>
                    </a:p>
                  </a:txBody>
                  <a:tcPr marL="91440" marR="91440" marT="45720" marB="45720">
                    <a:solidFill>
                      <a:srgbClr val="FFFFFF"/>
                    </a:solidFill>
                  </a:tcPr>
                </a:tc>
                <a:tc>
                  <a:txBody>
                    <a:bodyPr/>
                    <a:lstStyle/>
                    <a:p>
                      <a:r>
                        <a:rPr sz="1725" b="0">
                          <a:solidFill>
                            <a:srgbClr val="183B4E"/>
                          </a:solidFill>
                          <a:latin typeface="Arial"/>
                          <a:ea typeface="Arial"/>
                          <a:cs typeface="Arial"/>
                        </a:rPr>
                        <a:t>ROMANG</a:t>
                      </a:r>
                    </a:p>
                  </a:txBody>
                  <a:tcPr marL="91440" marR="91440" marT="45720" marB="45720">
                    <a:solidFill>
                      <a:srgbClr val="FFFFFF"/>
                    </a:solidFill>
                  </a:tcPr>
                </a:tc>
                <a:tc>
                  <a:txBody>
                    <a:bodyPr/>
                    <a:lstStyle/>
                    <a:p>
                      <a:r>
                        <a:rPr sz="1725" b="0">
                          <a:solidFill>
                            <a:srgbClr val="183B4E"/>
                          </a:solidFill>
                          <a:latin typeface="Arial"/>
                          <a:ea typeface="Arial"/>
                          <a:cs typeface="Arial"/>
                        </a:rPr>
                        <a:t>78,25</a:t>
                      </a:r>
                    </a:p>
                  </a:txBody>
                  <a:tcPr marL="91440" marR="91440" marT="45720" marB="45720">
                    <a:solidFill>
                      <a:srgbClr val="FFFFFF"/>
                    </a:solidFill>
                  </a:tcPr>
                </a:tc>
                <a:tc>
                  <a:txBody>
                    <a:bodyPr/>
                    <a:lstStyle/>
                    <a:p>
                      <a:r>
                        <a:rPr sz="1725" b="0">
                          <a:solidFill>
                            <a:srgbClr val="183B4E"/>
                          </a:solidFill>
                          <a:latin typeface="Arial"/>
                          <a:ea typeface="Arial"/>
                          <a:cs typeface="Arial"/>
                        </a:rPr>
                        <a:t>0,6775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7B66F5-1ABD-43BE-95B5-1E3A01426792}"/>
              </a:ext>
            </a:extLst>
          </p:cNvPr>
          <p:cNvSpPr>
            <a:spLocks xmlns:a="http://schemas.openxmlformats.org/drawingml/2006/main" noGrp="1"/>
          </p:cNvSpPr>
          <p:nvPr/>
        </p:nvSpPr>
        <p:spPr>
          <a:xfrm xmlns:a="http://schemas.openxmlformats.org/drawingml/2006/main">
            <a:off x="5286375" y="5038725"/>
            <a:ext cx="62388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83B4E"/>
                </a:solidFill>
                <a:latin typeface="Arial"/>
                <a:ea typeface="Arial"/>
                <a:cs typeface="Arial"/>
              </a:defRPr>
            </a:defPPr>
          </a:lstStyle>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CSV: métricas y genotipos</a:t>
            </a:r>
          </a:p>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GeoJSON: geometrías</a:t>
            </a:r>
          </a:p>
          <a:p xmlns:a="http://schemas.openxmlformats.org/drawingml/2006/main">
            <a:pPr>
              <a:buNone/>
              <a:defRPr sz="2025" b="0">
                <a:solidFill>
                  <a:srgbClr val="183B4E"/>
                </a:solidFill>
                <a:latin typeface="Arial"/>
                <a:ea typeface="Arial"/>
                <a:cs typeface="Arial"/>
              </a:defRPr>
            </a:pPr>
            <a:r>
              <a:rPr sz="2025" b="0">
                <a:solidFill>
                  <a:srgbClr val="183B4E"/>
                </a:solidFill>
                <a:latin typeface="Arial"/>
                <a:ea typeface="Arial"/>
                <a:cs typeface="Arial"/>
              </a:rPr>
              <a:t>HTML: mapa y evolución</a:t>
            </a:r>
          </a:p>
        </p:txBody>
      </p:sp>
      <p:sp>
        <p:nvSpPr>
          <p:cNvPr id="6" name="">
            <a:extLst xmlns:a="http://schemas.openxmlformats.org/drawingml/2006/main">
              <a:ext uri="{FF2B5EF4-FFF2-40B4-BE49-F238E27FC236}">
                <a16:creationId xmlns:a16="http://schemas.microsoft.com/office/drawing/2014/main" id="{3FBFFE8E-B9EC-4320-93E4-828E28409321}"/>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Centroides del TOP 5 territorial. La posición del símbolo no muestra el área</a:t>
            </a:r>
          </a:p>
        </p:txBody>
      </p:sp>
      <p:sp>
        <p:nvSpPr>
          <p:cNvPr id="8" name="">
            <a:extLst xmlns:a="http://schemas.openxmlformats.org/drawingml/2006/main">
              <a:ext uri="{FF2B5EF4-FFF2-40B4-BE49-F238E27FC236}">
                <a16:creationId xmlns:a16="http://schemas.microsoft.com/office/drawing/2014/main" id="{12726F10-B010-48ED-8AB3-7D974243B73E}"/>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21</a:t>
            </a:r>
          </a:p>
        </p:txBody>
      </p:sp>
    </p:spTree>
    <p:extLst>
      <p:ext uri="{BB962C8B-B14F-4D97-AF65-F5344CB8AC3E}">
        <p14:creationId xmlns:p14="http://schemas.microsoft.com/office/powerpoint/2010/main" val="13016296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1EE24B-CD8E-4E67-8519-61613BE0A074}"/>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Alcance eléctrico y límites del modelo</a:t>
            </a:r>
          </a:p>
        </p:txBody>
      </p:sp>
      <p:pic>
        <p:nvPicPr>
          <p:cNvPr id="3" name="">
            <a:extLst xmlns:a="http://schemas.openxmlformats.org/drawingml/2006/main">
              <a:ext uri="{FF2B5EF4-FFF2-40B4-BE49-F238E27FC236}">
                <a16:creationId xmlns:a16="http://schemas.microsoft.com/office/drawing/2014/main" id="{0814ABF3-7412-4E81-96C2-D6F60CB12DD2}"/>
              </a:ext>
            </a:extLst>
          </p:cNvPr>
          <p:cNvPicPr>
            <a:picLocks xmlns:a="http://schemas.openxmlformats.org/drawingml/2006/main" noChangeAspect="1"/>
          </p:cNvPicPr>
          <p:nvPr/>
        </p:nvPicPr>
        <p:blipFill>
          <a:blip xmlns:r="http://schemas.openxmlformats.org/officeDocument/2006/relationships" xmlns:a="http://schemas.openxmlformats.org/drawingml/2006/main" r:embed="Rf36c920e6c134f62"/>
          <a:stretch xmlns:a="http://schemas.openxmlformats.org/drawingml/2006/main"/>
        </p:blipFill>
        <p:spPr>
          <a:xfrm xmlns:a="http://schemas.openxmlformats.org/drawingml/2006/main">
            <a:off x="571500" y="1909426"/>
            <a:ext cx="4876800" cy="281054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4CD6464-0038-49EA-9825-CDB45DBD59E6}"/>
              </a:ext>
            </a:extLst>
          </p:cNvPr>
          <p:cNvSpPr>
            <a:spLocks xmlns:a="http://schemas.openxmlformats.org/drawingml/2006/main" noGrp="1"/>
          </p:cNvSpPr>
          <p:nvPr/>
        </p:nvSpPr>
        <p:spPr>
          <a:xfrm xmlns:a="http://schemas.openxmlformats.org/drawingml/2006/main">
            <a:off x="6000750" y="1704975"/>
            <a:ext cx="5619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02A43"/>
                </a:solidFill>
                <a:latin typeface="Arial"/>
                <a:ea typeface="Arial"/>
                <a:cs typeface="Arial"/>
              </a:defRPr>
            </a:defPPr>
          </a:lstStyle>
          <a:p xmlns:a="http://schemas.openxmlformats.org/drawingml/2006/main">
            <a:pPr>
              <a:buNone/>
              <a:defRPr sz="2400" b="1">
                <a:solidFill>
                  <a:srgbClr val="102A43"/>
                </a:solidFill>
                <a:latin typeface="Arial"/>
                <a:ea typeface="Arial"/>
                <a:cs typeface="Arial"/>
              </a:defRPr>
            </a:pPr>
            <a:r>
              <a:rPr sz="2400" b="1">
                <a:solidFill>
                  <a:srgbClr val="102A43"/>
                </a:solidFill>
                <a:latin typeface="Arial"/>
                <a:ea typeface="Arial"/>
                <a:cs typeface="Arial"/>
              </a:rPr>
              <a:t>kV = nivel de tensión</a:t>
            </a:r>
          </a:p>
          <a:p xmlns:a="http://schemas.openxmlformats.org/drawingml/2006/main">
            <a:pPr>
              <a:buNone/>
              <a:defRPr sz="2400" b="1">
                <a:solidFill>
                  <a:srgbClr val="102A43"/>
                </a:solidFill>
                <a:latin typeface="Arial"/>
                <a:ea typeface="Arial"/>
                <a:cs typeface="Arial"/>
              </a:defRPr>
            </a:pPr>
            <a:r>
              <a:rPr sz="2400" b="1">
                <a:solidFill>
                  <a:srgbClr val="102A43"/>
                </a:solidFill>
                <a:latin typeface="Arial"/>
                <a:ea typeface="Arial"/>
                <a:cs typeface="Arial"/>
              </a:rPr>
              <a:t>MVA = capacidad de transformación</a:t>
            </a:r>
          </a:p>
        </p:txBody>
      </p:sp>
      <p:sp>
        <p:nvSpPr>
          <p:cNvPr id="5" name="">
            <a:extLst xmlns:a="http://schemas.openxmlformats.org/drawingml/2006/main">
              <a:ext uri="{FF2B5EF4-FFF2-40B4-BE49-F238E27FC236}">
                <a16:creationId xmlns:a16="http://schemas.microsoft.com/office/drawing/2014/main" id="{03F93BBD-8832-46FF-ABFF-4765846FFE1F}"/>
              </a:ext>
            </a:extLst>
          </p:cNvPr>
          <p:cNvSpPr>
            <a:spLocks xmlns:a="http://schemas.openxmlformats.org/drawingml/2006/main" noGrp="1"/>
          </p:cNvSpPr>
          <p:nvPr/>
        </p:nvSpPr>
        <p:spPr>
          <a:xfrm xmlns:a="http://schemas.openxmlformats.org/drawingml/2006/main">
            <a:off x="6000750" y="3257550"/>
            <a:ext cx="56197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83B4E"/>
                </a:solidFill>
                <a:latin typeface="Arial"/>
                <a:ea typeface="Arial"/>
                <a:cs typeface="Arial"/>
              </a:defRPr>
            </a:defPPr>
          </a:lstStyle>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80 MW es un límite experimental</a:t>
            </a:r>
          </a:p>
          <a:p xmlns:a="http://schemas.openxmlformats.org/drawingml/2006/main">
            <a:r>
              <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La proximidad es un criterio geométrico</a:t>
            </a:r>
          </a:p>
          <a:p xmlns:a="http://schemas.openxmlformats.org/drawingml/2006/main">
            <a:r>
              <a:t/>
            </a:r>
          </a:p>
          <a:p xmlns:a="http://schemas.openxmlformats.org/drawingml/2006/main">
            <a:pPr>
              <a:buNone/>
              <a:defRPr sz="2175" b="0">
                <a:solidFill>
                  <a:srgbClr val="183B4E"/>
                </a:solidFill>
                <a:latin typeface="Arial"/>
                <a:ea typeface="Arial"/>
                <a:cs typeface="Arial"/>
              </a:defRPr>
            </a:pPr>
            <a:r>
              <a:rPr sz="2175" b="0">
                <a:solidFill>
                  <a:srgbClr val="183B4E"/>
                </a:solidFill>
                <a:latin typeface="Arial"/>
                <a:ea typeface="Arial"/>
                <a:cs typeface="Arial"/>
              </a:rPr>
              <a:t>La conexión requiere un estudio eléctrico</a:t>
            </a:r>
          </a:p>
        </p:txBody>
      </p:sp>
      <p:sp>
        <p:nvSpPr>
          <p:cNvPr id="6" name="">
            <a:extLst xmlns:a="http://schemas.openxmlformats.org/drawingml/2006/main">
              <a:ext uri="{FF2B5EF4-FFF2-40B4-BE49-F238E27FC236}">
                <a16:creationId xmlns:a16="http://schemas.microsoft.com/office/drawing/2014/main" id="{B80A9554-04A0-4163-904E-50C2699C731E}"/>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Mejor candidato: 0,081 km de una línea y 170,92 km de una ET de referencia</a:t>
            </a:r>
          </a:p>
        </p:txBody>
      </p:sp>
      <p:sp>
        <p:nvSpPr>
          <p:cNvPr id="8" name="">
            <a:extLst xmlns:a="http://schemas.openxmlformats.org/drawingml/2006/main">
              <a:ext uri="{FF2B5EF4-FFF2-40B4-BE49-F238E27FC236}">
                <a16:creationId xmlns:a16="http://schemas.microsoft.com/office/drawing/2014/main" id="{D936718D-2EBB-446F-B95F-9011013A0742}"/>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22</a:t>
            </a:r>
          </a:p>
        </p:txBody>
      </p:sp>
    </p:spTree>
    <p:extLst>
      <p:ext uri="{BB962C8B-B14F-4D97-AF65-F5344CB8AC3E}">
        <p14:creationId xmlns:p14="http://schemas.microsoft.com/office/powerpoint/2010/main" val="3073161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C428A3-1B4D-493E-A1FC-058EB54B7ADF}"/>
              </a:ext>
            </a:extLst>
          </p:cNvPr>
          <p:cNvSpPr>
            <a:spLocks xmlns:a="http://schemas.openxmlformats.org/drawingml/2006/main" noGrp="1"/>
          </p:cNvSpPr>
          <p:nvPr/>
        </p:nvSpPr>
        <p:spPr>
          <a:xfrm xmlns:a="http://schemas.openxmlformats.org/drawingml/2006/main">
            <a:off x="571500" y="381000"/>
            <a:ext cx="1104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225" b="1">
                <a:solidFill>
                  <a:srgbClr val="102A43"/>
                </a:solidFill>
                <a:latin typeface="Arial"/>
                <a:ea typeface="Arial"/>
                <a:cs typeface="Arial"/>
              </a:defRPr>
            </a:defPPr>
          </a:lstStyle>
          <a:p xmlns:a="http://schemas.openxmlformats.org/drawingml/2006/main">
            <a:pPr>
              <a:buNone/>
              <a:defRPr sz="3225" b="1">
                <a:solidFill>
                  <a:srgbClr val="102A43"/>
                </a:solidFill>
                <a:latin typeface="Arial"/>
                <a:ea typeface="Arial"/>
                <a:cs typeface="Arial"/>
              </a:defRPr>
            </a:pPr>
            <a:r>
              <a:rPr sz="3225" b="1">
                <a:solidFill>
                  <a:srgbClr val="102A43"/>
                </a:solidFill>
                <a:latin typeface="Arial"/>
                <a:ea typeface="Arial"/>
                <a:cs typeface="Arial"/>
              </a:rPr>
              <a:t>Preguntas para la defensa</a:t>
            </a:r>
          </a:p>
        </p:txBody>
      </p:sp>
      <p:graphicFrame>
        <p:nvGraphicFramePr>
          <p:cNvPr id="3" name="">
            <a:extLst xmlns:a="http://schemas.openxmlformats.org/drawingml/2006/main">
              <a:ext uri="{FF2B5EF4-FFF2-40B4-BE49-F238E27FC236}">
                <a16:creationId xmlns:a16="http://schemas.microsoft.com/office/drawing/2014/main" id="{1A1FAC80-2674-4648-9889-3581937C88D1}"/>
              </a:ext>
            </a:extLst>
          </p:cNvPr>
          <p:cNvGraphicFramePr/>
          <p:nvPr/>
        </p:nvGraphicFramePr>
        <p:xfrm>
          <a:off xmlns:a="http://schemas.openxmlformats.org/drawingml/2006/main" x="571500" y="1647825"/>
          <a:ext xmlns:a="http://schemas.openxmlformats.org/drawingml/2006/main" cx="11049000" cy="3724275"/>
        </p:xfrm>
        <a:graphic xmlns:a="http://schemas.openxmlformats.org/drawingml/2006/main">
          <a:graphicData uri="http://schemas.openxmlformats.org/drawingml/2006/table">
            <a:tbl>
              <a:tblPr/>
              <a:tblGrid>
                <a:gridCol w="4238625"/>
                <a:gridCol w="6810375"/>
              </a:tblGrid>
              <a:tr h="620713">
                <a:tc>
                  <a:txBody>
                    <a:bodyPr/>
                    <a:lstStyle/>
                    <a:p>
                      <a:r>
                        <a:rPr sz="1875" b="1">
                          <a:solidFill>
                            <a:srgbClr val="FFFFFF"/>
                          </a:solidFill>
                          <a:latin typeface="Arial"/>
                          <a:ea typeface="Arial"/>
                          <a:cs typeface="Arial"/>
                        </a:rPr>
                        <a:t>Pregunta</a:t>
                      </a:r>
                    </a:p>
                  </a:txBody>
                  <a:tcPr marL="91440" marR="91440" marT="45720" marB="45720">
                    <a:solidFill>
                      <a:srgbClr val="102A43"/>
                    </a:solidFill>
                  </a:tcPr>
                </a:tc>
                <a:tc>
                  <a:txBody>
                    <a:bodyPr/>
                    <a:lstStyle/>
                    <a:p>
                      <a:r>
                        <a:rPr sz="1875" b="1">
                          <a:solidFill>
                            <a:srgbClr val="FFFFFF"/>
                          </a:solidFill>
                          <a:latin typeface="Arial"/>
                          <a:ea typeface="Arial"/>
                          <a:cs typeface="Arial"/>
                        </a:rPr>
                        <a:t>Respuesta que sostiene el proyecto</a:t>
                      </a:r>
                    </a:p>
                  </a:txBody>
                  <a:tcPr marL="91440" marR="91440" marT="45720" marB="45720">
                    <a:solidFill>
                      <a:srgbClr val="102A43"/>
                    </a:solidFill>
                  </a:tcPr>
                </a:tc>
              </a:tr>
              <a:tr h="620713">
                <a:tc>
                  <a:txBody>
                    <a:bodyPr/>
                    <a:lstStyle/>
                    <a:p>
                      <a:r>
                        <a:rPr sz="1875" b="0">
                          <a:solidFill>
                            <a:srgbClr val="183B4E"/>
                          </a:solidFill>
                          <a:latin typeface="Arial"/>
                          <a:ea typeface="Arial"/>
                          <a:cs typeface="Arial"/>
                        </a:rPr>
                        <a:t>¿Qué optimiza?</a:t>
                      </a:r>
                    </a:p>
                  </a:txBody>
                  <a:tcPr marL="91440" marR="91440" marT="45720" marB="45720">
                    <a:solidFill>
                      <a:srgbClr val="FFFFFF"/>
                    </a:solidFill>
                  </a:tcPr>
                </a:tc>
                <a:tc>
                  <a:txBody>
                    <a:bodyPr/>
                    <a:lstStyle/>
                    <a:p>
                      <a:r>
                        <a:rPr sz="1875" b="0">
                          <a:solidFill>
                            <a:srgbClr val="183B4E"/>
                          </a:solidFill>
                          <a:latin typeface="Arial"/>
                          <a:ea typeface="Arial"/>
                          <a:cs typeface="Arial"/>
                        </a:rPr>
                        <a:t>Ubicación, forma y superficie según un fitness ponderado</a:t>
                      </a:r>
                    </a:p>
                  </a:txBody>
                  <a:tcPr marL="91440" marR="91440" marT="45720" marB="45720">
                    <a:solidFill>
                      <a:srgbClr val="FFFFFF"/>
                    </a:solidFill>
                  </a:tcPr>
                </a:tc>
              </a:tr>
              <a:tr h="620713">
                <a:tc>
                  <a:txBody>
                    <a:bodyPr/>
                    <a:lstStyle/>
                    <a:p>
                      <a:r>
                        <a:rPr sz="1875" b="0">
                          <a:solidFill>
                            <a:srgbClr val="183B4E"/>
                          </a:solidFill>
                          <a:latin typeface="Arial"/>
                          <a:ea typeface="Arial"/>
                          <a:cs typeface="Arial"/>
                        </a:rPr>
                        <a:t>¿Cómo asegura contigüidad?</a:t>
                      </a:r>
                    </a:p>
                  </a:txBody>
                  <a:tcPr marL="91440" marR="91440" marT="45720" marB="45720">
                    <a:solidFill>
                      <a:srgbClr val="EEF5F5"/>
                    </a:solidFill>
                  </a:tcPr>
                </a:tc>
                <a:tc>
                  <a:txBody>
                    <a:bodyPr/>
                    <a:lstStyle/>
                    <a:p>
                      <a:r>
                        <a:rPr sz="1875" b="0">
                          <a:solidFill>
                            <a:srgbClr val="183B4E"/>
                          </a:solidFill>
                          <a:latin typeface="Arial"/>
                          <a:ea typeface="Arial"/>
                          <a:cs typeface="Arial"/>
                        </a:rPr>
                        <a:t>Cada adición proviene de vecinos válidos por borde</a:t>
                      </a:r>
                    </a:p>
                  </a:txBody>
                  <a:tcPr marL="91440" marR="91440" marT="45720" marB="45720">
                    <a:solidFill>
                      <a:srgbClr val="EEF5F5"/>
                    </a:solidFill>
                  </a:tcPr>
                </a:tc>
              </a:tr>
              <a:tr h="620713">
                <a:tc>
                  <a:txBody>
                    <a:bodyPr/>
                    <a:lstStyle/>
                    <a:p>
                      <a:r>
                        <a:rPr sz="1875" b="0">
                          <a:solidFill>
                            <a:srgbClr val="183B4E"/>
                          </a:solidFill>
                          <a:latin typeface="Arial"/>
                          <a:ea typeface="Arial"/>
                          <a:cs typeface="Arial"/>
                        </a:rPr>
                        <a:t>¿Consulta APIs en cada generación?</a:t>
                      </a:r>
                    </a:p>
                  </a:txBody>
                  <a:tcPr marL="91440" marR="91440" marT="45720" marB="45720">
                    <a:solidFill>
                      <a:srgbClr val="FFFFFF"/>
                    </a:solidFill>
                  </a:tcPr>
                </a:tc>
                <a:tc>
                  <a:txBody>
                    <a:bodyPr/>
                    <a:lstStyle/>
                    <a:p>
                      <a:r>
                        <a:rPr sz="1875" b="0">
                          <a:solidFill>
                            <a:srgbClr val="183B4E"/>
                          </a:solidFill>
                          <a:latin typeface="Arial"/>
                          <a:ea typeface="Arial"/>
                          <a:cs typeface="Arial"/>
                        </a:rPr>
                        <a:t>El fitness lee el snapshot local y reutiliza evaluaciones</a:t>
                      </a:r>
                    </a:p>
                  </a:txBody>
                  <a:tcPr marL="91440" marR="91440" marT="45720" marB="45720">
                    <a:solidFill>
                      <a:srgbClr val="FFFFFF"/>
                    </a:solidFill>
                  </a:tcPr>
                </a:tc>
              </a:tr>
              <a:tr h="620713">
                <a:tc>
                  <a:txBody>
                    <a:bodyPr/>
                    <a:lstStyle/>
                    <a:p>
                      <a:r>
                        <a:rPr sz="1875" b="0">
                          <a:solidFill>
                            <a:srgbClr val="183B4E"/>
                          </a:solidFill>
                          <a:latin typeface="Arial"/>
                          <a:ea typeface="Arial"/>
                          <a:cs typeface="Arial"/>
                        </a:rPr>
                        <a:t>¿Encuentra el óptimo global?</a:t>
                      </a:r>
                    </a:p>
                  </a:txBody>
                  <a:tcPr marL="91440" marR="91440" marT="45720" marB="45720">
                    <a:solidFill>
                      <a:srgbClr val="EEF5F5"/>
                    </a:solidFill>
                  </a:tcPr>
                </a:tc>
                <a:tc>
                  <a:txBody>
                    <a:bodyPr/>
                    <a:lstStyle/>
                    <a:p>
                      <a:r>
                        <a:rPr sz="1875" b="0">
                          <a:solidFill>
                            <a:srgbClr val="183B4E"/>
                          </a:solidFill>
                          <a:latin typeface="Arial"/>
                          <a:ea typeface="Arial"/>
                          <a:cs typeface="Arial"/>
                        </a:rPr>
                        <a:t>Entrega el mejor encontrado en el experimento</a:t>
                      </a:r>
                    </a:p>
                  </a:txBody>
                  <a:tcPr marL="91440" marR="91440" marT="45720" marB="45720">
                    <a:solidFill>
                      <a:srgbClr val="EEF5F5"/>
                    </a:solidFill>
                  </a:tcPr>
                </a:tc>
              </a:tr>
              <a:tr h="620713">
                <a:tc>
                  <a:txBody>
                    <a:bodyPr/>
                    <a:lstStyle/>
                    <a:p>
                      <a:r>
                        <a:rPr sz="1875" b="0">
                          <a:solidFill>
                            <a:srgbClr val="183B4E"/>
                          </a:solidFill>
                          <a:latin typeface="Arial"/>
                          <a:ea typeface="Arial"/>
                          <a:cs typeface="Arial"/>
                        </a:rPr>
                        <a:t>¿Qué falta para decidir una obra?</a:t>
                      </a:r>
                    </a:p>
                  </a:txBody>
                  <a:tcPr marL="91440" marR="91440" marT="45720" marB="45720">
                    <a:solidFill>
                      <a:srgbClr val="FFFFFF"/>
                    </a:solidFill>
                  </a:tcPr>
                </a:tc>
                <a:tc>
                  <a:txBody>
                    <a:bodyPr/>
                    <a:lstStyle/>
                    <a:p>
                      <a:r>
                        <a:rPr sz="1875" b="0">
                          <a:solidFill>
                            <a:srgbClr val="183B4E"/>
                          </a:solidFill>
                          <a:latin typeface="Arial"/>
                          <a:ea typeface="Arial"/>
                          <a:cs typeface="Arial"/>
                        </a:rPr>
                        <a:t>Estudios de terreno, conexión eléctrica y economía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2F9BD2-56FE-4B8F-8BBB-8F7AB3C32797}"/>
              </a:ext>
            </a:extLst>
          </p:cNvPr>
          <p:cNvSpPr>
            <a:spLocks xmlns:a="http://schemas.openxmlformats.org/drawingml/2006/main" noGrp="1"/>
          </p:cNvSpPr>
          <p:nvPr/>
        </p:nvSpPr>
        <p:spPr>
          <a:xfrm xmlns:a="http://schemas.openxmlformats.org/drawingml/2006/main">
            <a:off x="571500" y="59817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526778"/>
                </a:solidFill>
                <a:latin typeface="Arial"/>
                <a:ea typeface="Arial"/>
                <a:cs typeface="Arial"/>
              </a:defRPr>
            </a:defPPr>
          </a:lstStyle>
          <a:p xmlns:a="http://schemas.openxmlformats.org/drawingml/2006/main">
            <a:pPr>
              <a:buNone/>
              <a:defRPr sz="1575" b="0">
                <a:solidFill>
                  <a:srgbClr val="526778"/>
                </a:solidFill>
                <a:latin typeface="Arial"/>
                <a:ea typeface="Arial"/>
                <a:cs typeface="Arial"/>
              </a:defRPr>
            </a:pPr>
            <a:r>
              <a:rPr sz="1575" b="0">
                <a:solidFill>
                  <a:srgbClr val="526778"/>
                </a:solidFill>
                <a:latin typeface="Arial"/>
                <a:ea typeface="Arial"/>
                <a:cs typeface="Arial"/>
              </a:rPr>
              <a:t>Próxima validación: varias semillas, sensibilidad de pesos y comparación con otra búsqueda</a:t>
            </a:r>
          </a:p>
        </p:txBody>
      </p:sp>
      <p:sp>
        <p:nvSpPr>
          <p:cNvPr id="6" name="">
            <a:extLst xmlns:a="http://schemas.openxmlformats.org/drawingml/2006/main">
              <a:ext uri="{FF2B5EF4-FFF2-40B4-BE49-F238E27FC236}">
                <a16:creationId xmlns:a16="http://schemas.microsoft.com/office/drawing/2014/main" id="{83B61CFE-3A47-42F2-866E-5CB9330155CD}"/>
              </a:ext>
            </a:extLst>
          </p:cNvPr>
          <p:cNvSpPr>
            <a:spLocks xmlns:a="http://schemas.openxmlformats.org/drawingml/2006/main" noGrp="1"/>
          </p:cNvSpPr>
          <p:nvPr/>
        </p:nvSpPr>
        <p:spPr>
          <a:xfrm xmlns:a="http://schemas.openxmlformats.org/drawingml/2006/main">
            <a:off x="11334750" y="63722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778"/>
                </a:solidFill>
                <a:latin typeface="Arial"/>
                <a:ea typeface="Arial"/>
                <a:cs typeface="Arial"/>
              </a:defRPr>
            </a:defPPr>
          </a:lstStyle>
          <a:p xmlns:a="http://schemas.openxmlformats.org/drawingml/2006/main">
            <a:pPr>
              <a:defRPr sz="1350" b="0">
                <a:solidFill>
                  <a:srgbClr val="526778"/>
                </a:solidFill>
                <a:latin typeface="Arial"/>
                <a:ea typeface="Arial"/>
                <a:cs typeface="Arial"/>
              </a:defRPr>
            </a:pPr>
            <a:r>
              <a:rPr sz="1350" b="0">
                <a:solidFill>
                  <a:srgbClr val="526778"/>
                </a:solidFill>
                <a:latin typeface="Arial"/>
                <a:ea typeface="Arial"/>
                <a:cs typeface="Arial"/>
              </a:rPr>
              <a:t>23</a:t>
            </a:r>
          </a:p>
        </p:txBody>
      </p:sp>
    </p:spTree>
    <p:extLst>
      <p:ext uri="{BB962C8B-B14F-4D97-AF65-F5344CB8AC3E}">
        <p14:creationId xmlns:p14="http://schemas.microsoft.com/office/powerpoint/2010/main" val="1110848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2026-10-06T13:23:50.2100000Z</dcterms:created>
  <dcterms:modified xsi:type="dcterms:W3CDTF">2026-10-06T13:23:50.2100000Z</dcterms:modified>
</coreProperties>
</file>