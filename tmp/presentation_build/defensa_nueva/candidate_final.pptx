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213fd85a514389" /><Relationship Type="http://schemas.openxmlformats.org/officeDocument/2006/relationships/extended-properties" Target="/docProps/app.xml" Id="Rfdac206275ae46bc" /><Relationship Type="http://schemas.openxmlformats.org/officeDocument/2006/relationships/officeDocument" Target="/ppt/presentation.xml" Id="Rcace3b5f6bf8452e" /></Relationships>
</file>

<file path=ppt/presentation.xml><?xml version="1.0" encoding="utf-8"?>
<p:presentation xmlns:p="http://schemas.openxmlformats.org/presentationml/2006/main">
  <p:sldMasterIdLst>
    <p:sldMasterId xmlns:r="http://schemas.openxmlformats.org/officeDocument/2006/relationships" id="2147483648" r:id="R01f0c33155c54fd3"/>
  </p:sldMasterIdLst>
  <p:notesMasterIdLst>
    <p:notesMasterId xmlns:r="http://schemas.openxmlformats.org/officeDocument/2006/relationships" r:id="R86bae72822d84e3a"/>
  </p:notesMasterIdLst>
  <p:sldIdLst>
    <p:sldId xmlns:r="http://schemas.openxmlformats.org/officeDocument/2006/relationships" id="256" r:id="Re577ea01c843403e"/>
    <p:sldId xmlns:r="http://schemas.openxmlformats.org/officeDocument/2006/relationships" id="257" r:id="R1e754e5f36ec46aa"/>
    <p:sldId xmlns:r="http://schemas.openxmlformats.org/officeDocument/2006/relationships" id="258" r:id="R240e9412c3c64e61"/>
    <p:sldId xmlns:r="http://schemas.openxmlformats.org/officeDocument/2006/relationships" id="259" r:id="R6bc5b276d21c4095"/>
    <p:sldId xmlns:r="http://schemas.openxmlformats.org/officeDocument/2006/relationships" id="260" r:id="R10a2be0db1ba4e90"/>
    <p:sldId xmlns:r="http://schemas.openxmlformats.org/officeDocument/2006/relationships" id="261" r:id="Ra3f631cab67f46ce"/>
    <p:sldId xmlns:r="http://schemas.openxmlformats.org/officeDocument/2006/relationships" id="262" r:id="R52cf1bbf44d649e2"/>
    <p:sldId xmlns:r="http://schemas.openxmlformats.org/officeDocument/2006/relationships" id="263" r:id="Rc55daeba9eb84d2e"/>
    <p:sldId xmlns:r="http://schemas.openxmlformats.org/officeDocument/2006/relationships" id="264" r:id="R89a05a9f74e54baf"/>
    <p:sldId xmlns:r="http://schemas.openxmlformats.org/officeDocument/2006/relationships" id="265" r:id="Ra1b0c25e16f146f4"/>
    <p:sldId xmlns:r="http://schemas.openxmlformats.org/officeDocument/2006/relationships" id="266" r:id="Rbf6fd160addf4f24"/>
    <p:sldId xmlns:r="http://schemas.openxmlformats.org/officeDocument/2006/relationships" id="267" r:id="Re27d03120d874d86"/>
    <p:sldId xmlns:r="http://schemas.openxmlformats.org/officeDocument/2006/relationships" id="268" r:id="R787a6e54cf964250"/>
    <p:sldId xmlns:r="http://schemas.openxmlformats.org/officeDocument/2006/relationships" id="269" r:id="R2cd93d0c84004c5e"/>
    <p:sldId xmlns:r="http://schemas.openxmlformats.org/officeDocument/2006/relationships" id="270" r:id="R78bde79910c94bd3"/>
    <p:sldId xmlns:r="http://schemas.openxmlformats.org/officeDocument/2006/relationships" id="271" r:id="Rc787dade0ac347e2"/>
    <p:sldId xmlns:r="http://schemas.openxmlformats.org/officeDocument/2006/relationships" id="272" r:id="R434eff66c88b4f2b"/>
    <p:sldId xmlns:r="http://schemas.openxmlformats.org/officeDocument/2006/relationships" id="273" r:id="Rad171f30366447b3"/>
    <p:sldId xmlns:r="http://schemas.openxmlformats.org/officeDocument/2006/relationships" id="274" r:id="R0446d65a733040ce"/>
    <p:sldId xmlns:r="http://schemas.openxmlformats.org/officeDocument/2006/relationships" id="275" r:id="Reb956dd3ccae4afd"/>
    <p:sldId xmlns:r="http://schemas.openxmlformats.org/officeDocument/2006/relationships" id="276" r:id="R6ea6b0b4fcc549a0"/>
    <p:sldId xmlns:r="http://schemas.openxmlformats.org/officeDocument/2006/relationships" id="277" r:id="R13091547f87b4edf"/>
    <p:sldId xmlns:r="http://schemas.openxmlformats.org/officeDocument/2006/relationships" id="278" r:id="Rb9c15ed13c8845d5"/>
    <p:sldId xmlns:r="http://schemas.openxmlformats.org/officeDocument/2006/relationships" id="279" r:id="Rcbdc2b1a21764144"/>
    <p:sldId xmlns:r="http://schemas.openxmlformats.org/officeDocument/2006/relationships" id="280" r:id="Rb0f2d94cf17e4ff6"/>
    <p:sldId xmlns:r="http://schemas.openxmlformats.org/officeDocument/2006/relationships" id="281" r:id="R3d20f3785c4a4081"/>
    <p:sldId xmlns:r="http://schemas.openxmlformats.org/officeDocument/2006/relationships" id="282" r:id="R28b5e77969de4b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d13b0689f34160" /><Relationship Type="http://schemas.openxmlformats.org/officeDocument/2006/relationships/slideMaster" Target="/ppt/slideMasters/slideMaster1.xml" Id="R01f0c33155c54fd3" /><Relationship Type="http://schemas.openxmlformats.org/officeDocument/2006/relationships/notesMaster" Target="/ppt/notesMasters/notesMaster1.xml" Id="R86bae72822d84e3a" /><Relationship Type="http://schemas.openxmlformats.org/officeDocument/2006/relationships/presProps" Target="/ppt/presProps.xml" Id="Rc5b90b031ecb4748" /><Relationship Type="http://schemas.openxmlformats.org/officeDocument/2006/relationships/tableStyles" Target="/ppt/tableStyles.xml" Id="Rb2e015fe3f214857" /><Relationship Type="http://schemas.openxmlformats.org/officeDocument/2006/relationships/slide" Target="/ppt/slides/slide1.xml" Id="Re577ea01c843403e" /><Relationship Type="http://schemas.openxmlformats.org/officeDocument/2006/relationships/slide" Target="/ppt/slides/slide2.xml" Id="R1e754e5f36ec46aa" /><Relationship Type="http://schemas.openxmlformats.org/officeDocument/2006/relationships/slide" Target="/ppt/slides/slide3.xml" Id="R240e9412c3c64e61" /><Relationship Type="http://schemas.openxmlformats.org/officeDocument/2006/relationships/slide" Target="/ppt/slides/slide4.xml" Id="R6bc5b276d21c4095" /><Relationship Type="http://schemas.openxmlformats.org/officeDocument/2006/relationships/slide" Target="/ppt/slides/slide5.xml" Id="R10a2be0db1ba4e90" /><Relationship Type="http://schemas.openxmlformats.org/officeDocument/2006/relationships/slide" Target="/ppt/slides/slide6.xml" Id="Ra3f631cab67f46ce" /><Relationship Type="http://schemas.openxmlformats.org/officeDocument/2006/relationships/slide" Target="/ppt/slides/slide7.xml" Id="R52cf1bbf44d649e2" /><Relationship Type="http://schemas.openxmlformats.org/officeDocument/2006/relationships/slide" Target="/ppt/slides/slide8.xml" Id="Rc55daeba9eb84d2e" /><Relationship Type="http://schemas.openxmlformats.org/officeDocument/2006/relationships/slide" Target="/ppt/slides/slide9.xml" Id="R89a05a9f74e54baf" /><Relationship Type="http://schemas.openxmlformats.org/officeDocument/2006/relationships/slide" Target="/ppt/slides/slide10.xml" Id="Ra1b0c25e16f146f4" /><Relationship Type="http://schemas.openxmlformats.org/officeDocument/2006/relationships/slide" Target="/ppt/slides/slide11.xml" Id="Rbf6fd160addf4f24" /><Relationship Type="http://schemas.openxmlformats.org/officeDocument/2006/relationships/slide" Target="/ppt/slides/slide12.xml" Id="Re27d03120d874d86" /><Relationship Type="http://schemas.openxmlformats.org/officeDocument/2006/relationships/slide" Target="/ppt/slides/slide13.xml" Id="R787a6e54cf964250" /><Relationship Type="http://schemas.openxmlformats.org/officeDocument/2006/relationships/slide" Target="/ppt/slides/slide14.xml" Id="R2cd93d0c84004c5e" /><Relationship Type="http://schemas.openxmlformats.org/officeDocument/2006/relationships/slide" Target="/ppt/slides/slide15.xml" Id="R78bde79910c94bd3" /><Relationship Type="http://schemas.openxmlformats.org/officeDocument/2006/relationships/slide" Target="/ppt/slides/slide16.xml" Id="Rc787dade0ac347e2" /><Relationship Type="http://schemas.openxmlformats.org/officeDocument/2006/relationships/slide" Target="/ppt/slides/slide17.xml" Id="R434eff66c88b4f2b" /><Relationship Type="http://schemas.openxmlformats.org/officeDocument/2006/relationships/slide" Target="/ppt/slides/slide18.xml" Id="Rad171f30366447b3" /><Relationship Type="http://schemas.openxmlformats.org/officeDocument/2006/relationships/slide" Target="/ppt/slides/slide19.xml" Id="R0446d65a733040ce" /><Relationship Type="http://schemas.openxmlformats.org/officeDocument/2006/relationships/slide" Target="/ppt/slides/slide20.xml" Id="Reb956dd3ccae4afd" /><Relationship Type="http://schemas.openxmlformats.org/officeDocument/2006/relationships/slide" Target="/ppt/slides/slide21.xml" Id="R6ea6b0b4fcc549a0" /><Relationship Type="http://schemas.openxmlformats.org/officeDocument/2006/relationships/slide" Target="/ppt/slides/slide22.xml" Id="R13091547f87b4edf" /><Relationship Type="http://schemas.openxmlformats.org/officeDocument/2006/relationships/slide" Target="/ppt/slides/slide23.xml" Id="Rb9c15ed13c8845d5" /><Relationship Type="http://schemas.openxmlformats.org/officeDocument/2006/relationships/slide" Target="/ppt/slides/slide24.xml" Id="Rcbdc2b1a21764144" /><Relationship Type="http://schemas.openxmlformats.org/officeDocument/2006/relationships/slide" Target="/ppt/slides/slide25.xml" Id="Rb0f2d94cf17e4ff6" /><Relationship Type="http://schemas.openxmlformats.org/officeDocument/2006/relationships/slide" Target="/ppt/slides/slide26.xml" Id="R3d20f3785c4a4081" /><Relationship Type="http://schemas.openxmlformats.org/officeDocument/2006/relationships/slide" Target="/ppt/slides/slide27.xml" Id="R28b5e77969de4b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1a5a8e33e644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604f60d4ca4fc5" /><Relationship Type="http://schemas.openxmlformats.org/officeDocument/2006/relationships/notesMaster" Target="/ppt/notesMasters/notesMaster1.xml" Id="Rb4666874c9e74f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61095800304f04" /><Relationship Type="http://schemas.openxmlformats.org/officeDocument/2006/relationships/notesMaster" Target="/ppt/notesMasters/notesMaster1.xml" Id="R94a25a07ad5047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e7876a4b9b41cf" /><Relationship Type="http://schemas.openxmlformats.org/officeDocument/2006/relationships/notesMaster" Target="/ppt/notesMasters/notesMaster1.xml" Id="Re3395bc6905c42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78c5ca31a945a1" /><Relationship Type="http://schemas.openxmlformats.org/officeDocument/2006/relationships/notesMaster" Target="/ppt/notesMasters/notesMaster1.xml" Id="R90b8eca37b3e48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61792028154b12" /><Relationship Type="http://schemas.openxmlformats.org/officeDocument/2006/relationships/notesMaster" Target="/ppt/notesMasters/notesMaster1.xml" Id="R7fe8fe07ff1343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900b9678774c46" /><Relationship Type="http://schemas.openxmlformats.org/officeDocument/2006/relationships/notesMaster" Target="/ppt/notesMasters/notesMaster1.xml" Id="R29cf0872386a4e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eaf3a6e99a4769" /><Relationship Type="http://schemas.openxmlformats.org/officeDocument/2006/relationships/notesMaster" Target="/ppt/notesMasters/notesMaster1.xml" Id="R93569bc5b3da4e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75004d42e84584" /><Relationship Type="http://schemas.openxmlformats.org/officeDocument/2006/relationships/notesMaster" Target="/ppt/notesMasters/notesMaster1.xml" Id="Race459b8f0e14e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fa09e227044bbc" /><Relationship Type="http://schemas.openxmlformats.org/officeDocument/2006/relationships/notesMaster" Target="/ppt/notesMasters/notesMaster1.xml" Id="R5b6d122bb58240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557ed0e9d04c29" /><Relationship Type="http://schemas.openxmlformats.org/officeDocument/2006/relationships/notesMaster" Target="/ppt/notesMasters/notesMaster1.xml" Id="Ra03c2c276b0240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8a6ed35d444d91" /><Relationship Type="http://schemas.openxmlformats.org/officeDocument/2006/relationships/notesMaster" Target="/ppt/notesMasters/notesMaster1.xml" Id="R68c34232a78c4e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a8d31881ec4c95" /><Relationship Type="http://schemas.openxmlformats.org/officeDocument/2006/relationships/notesMaster" Target="/ppt/notesMasters/notesMaster1.xml" Id="R60ccaf2b751941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0b8d3583f94d6a" /><Relationship Type="http://schemas.openxmlformats.org/officeDocument/2006/relationships/notesMaster" Target="/ppt/notesMasters/notesMaster1.xml" Id="R43184c72a99b46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7fc6ddf8ae4043" /><Relationship Type="http://schemas.openxmlformats.org/officeDocument/2006/relationships/notesMaster" Target="/ppt/notesMasters/notesMaster1.xml" Id="R3a6ddc7766f84d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351dd2357540a3" /><Relationship Type="http://schemas.openxmlformats.org/officeDocument/2006/relationships/notesMaster" Target="/ppt/notesMasters/notesMaster1.xml" Id="Rbe74e83caae847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8e62a51ac640fe" /><Relationship Type="http://schemas.openxmlformats.org/officeDocument/2006/relationships/notesMaster" Target="/ppt/notesMasters/notesMaster1.xml" Id="Rb50fa73897b447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a9c32935b0497d" /><Relationship Type="http://schemas.openxmlformats.org/officeDocument/2006/relationships/notesMaster" Target="/ppt/notesMasters/notesMaster1.xml" Id="R3abaaae0336849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5743bc033547dc" /><Relationship Type="http://schemas.openxmlformats.org/officeDocument/2006/relationships/notesMaster" Target="/ppt/notesMasters/notesMaster1.xml" Id="Rc9043b7c6a8d47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7880c6edbe4c89" /><Relationship Type="http://schemas.openxmlformats.org/officeDocument/2006/relationships/notesMaster" Target="/ppt/notesMasters/notesMaster1.xml" Id="R6d676518b5494f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4aa7868ab843d3" /><Relationship Type="http://schemas.openxmlformats.org/officeDocument/2006/relationships/notesMaster" Target="/ppt/notesMasters/notesMaster1.xml" Id="Re4cd75163b0f4e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9630f5d5584013" /><Relationship Type="http://schemas.openxmlformats.org/officeDocument/2006/relationships/notesMaster" Target="/ppt/notesMasters/notesMaster1.xml" Id="Rdf8ac87aa08847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132738ac4148b3" /><Relationship Type="http://schemas.openxmlformats.org/officeDocument/2006/relationships/notesMaster" Target="/ppt/notesMasters/notesMaster1.xml" Id="R7a452a19e58d4af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054ba8375e45d7" /><Relationship Type="http://schemas.openxmlformats.org/officeDocument/2006/relationships/notesMaster" Target="/ppt/notesMasters/notesMaster1.xml" Id="R421be7acadbe41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74d14dcba9423b" /><Relationship Type="http://schemas.openxmlformats.org/officeDocument/2006/relationships/notesMaster" Target="/ppt/notesMasters/notesMaster1.xml" Id="Rabbeab382f004f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5f0370d7a5433f" /><Relationship Type="http://schemas.openxmlformats.org/officeDocument/2006/relationships/notesMaster" Target="/ppt/notesMasters/notesMaster1.xml" Id="R8640766dbc0a41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8099d098a145d6" /><Relationship Type="http://schemas.openxmlformats.org/officeDocument/2006/relationships/notesMaster" Target="/ppt/notesMasters/notesMaster1.xml" Id="Rfbe40bf245b74c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ff23a700984742" /><Relationship Type="http://schemas.openxmlformats.org/officeDocument/2006/relationships/notesMaster" Target="/ppt/notesMasters/notesMaster1.xml" Id="Rfa0010aecf1b45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0.3 minutos</a:t>
            </a:r>
          </a:p>
          <a:p xmlns:a="http://schemas.openxmlformats.org/drawingml/2006/main">
            <a:r>
              <a:t/>
            </a:r>
          </a:p>
          <a:p xmlns:a="http://schemas.openxmlformats.org/drawingml/2006/main">
            <a:r>
              <a:t>EXPLICACIÓN</a:t>
            </a:r>
          </a:p>
          <a:p xmlns:a="http://schemas.openxmlformats.org/drawingml/2006/main">
            <a:r>
              <a:t>Presentar el objetivo: explorar ubicación, forma y superficie de parques solares mediante un algoritmo genético. La defensa dura unos 26 minutos y reserva las diapositivas de apoyo para preguntas.</a:t>
            </a:r>
          </a:p>
          <a:p xmlns:a="http://schemas.openxmlformats.org/drawingml/2006/main">
            <a:r>
              <a:t/>
            </a:r>
          </a:p>
          <a:p xmlns:a="http://schemas.openxmlformats.org/drawingml/2006/main">
            <a:r>
              <a:t>DECISIONES Y JUSTIFICACIÓN</a:t>
            </a:r>
          </a:p>
          <a:p xmlns:a="http://schemas.openxmlformats.org/drawingml/2006/main">
            <a:r>
              <a:t>Organizar el relato alrededor de una decisión territorial permite comprender el algoritmo antes de ver su implementación.</a:t>
            </a:r>
          </a:p>
          <a:p xmlns:a="http://schemas.openxmlformats.org/drawingml/2006/main">
            <a:r>
              <a:t/>
            </a:r>
          </a:p>
          <a:p xmlns:a="http://schemas.openxmlformats.org/drawingml/2006/main">
            <a:r>
              <a:t>ALCANCE Y LÍMITES</a:t>
            </a:r>
          </a:p>
          <a:p xmlns:a="http://schemas.openxmlformats.org/drawingml/2006/main">
            <a:r>
              <a:t>El resultado es una preselección computacional que requiere estudios posteriores.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Un parque necesita buen recurso solar, terreno suficiente y acceso a infraestructura. Elegir sólo la celda con más radiación omite la forma del parque y la conexión. La pregunta del proyecto es qué combinaciones de celdas conviene estudiar primero.</a:t>
            </a:r>
          </a:p>
          <a:p xmlns:a="http://schemas.openxmlformats.org/drawingml/2006/main">
            <a:r>
              <a:t/>
            </a:r>
          </a:p>
          <a:p xmlns:a="http://schemas.openxmlformats.org/drawingml/2006/main">
            <a:r>
              <a:t>DECISIONES Y JUSTIFICACIÓN</a:t>
            </a:r>
          </a:p>
          <a:p xmlns:a="http://schemas.openxmlformats.org/drawingml/2006/main">
            <a:r>
              <a:t>Santa Fe es el alcance geográfico fijado. Una búsqueda heurística permite explorar un espacio amplio de ubicaciones y configuraciones sin enumerar todas las formas posibles.</a:t>
            </a:r>
          </a:p>
          <a:p xmlns:a="http://schemas.openxmlformats.org/drawingml/2006/main">
            <a:r>
              <a:t/>
            </a:r>
          </a:p>
          <a:p xmlns:a="http://schemas.openxmlformats.org/drawingml/2006/main">
            <a:r>
              <a:t>ALCANCE Y LÍMITES</a:t>
            </a:r>
          </a:p>
          <a:p xmlns:a="http://schemas.openxmlformats.org/drawingml/2006/main">
            <a:r>
              <a:t>El proyecto no estima rentabilidad ni garantiza disponibilidad del suelo. Tampoco prueba que encontró el óptimo global.</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Los paneles convierten radiación en corriente continua. Los inversores la transforman en corriente alterna. Los transformadores adaptan la tensión y la infraestructura permite conectar la planta con la red.</a:t>
            </a:r>
          </a:p>
          <a:p xmlns:a="http://schemas.openxmlformats.org/drawingml/2006/main">
            <a:r>
              <a:t/>
            </a:r>
          </a:p>
          <a:p xmlns:a="http://schemas.openxmlformats.org/drawingml/2006/main">
            <a:r>
              <a:t>DECISIONES Y JUSTIFICACIÓN</a:t>
            </a:r>
          </a:p>
          <a:p xmlns:a="http://schemas.openxmlformats.org/drawingml/2006/main">
            <a:r>
              <a:t>Esta explicación identifica los elementos que motivan nuestras variables: recurso solar, superficie y proximidad a líneas y estaciones.</a:t>
            </a:r>
          </a:p>
          <a:p xmlns:a="http://schemas.openxmlformats.org/drawingml/2006/main">
            <a:r>
              <a:t/>
            </a:r>
          </a:p>
          <a:p xmlns:a="http://schemas.openxmlformats.org/drawingml/2006/main">
            <a:r>
              <a:t>ALCANCE Y LÍMITES</a:t>
            </a:r>
          </a:p>
          <a:p xmlns:a="http://schemas.openxmlformats.org/drawingml/2006/main">
            <a:r>
              <a:t>La simulación no dimensiona paneles, inversores, transformadores ni protecciones. La potencia representa capacidad instalada estimada y la energía una producción durante un período.</a:t>
            </a:r>
          </a:p>
          <a:p xmlns:a="http://schemas.openxmlformats.org/drawingml/2006/main">
            <a:r>
              <a:t/>
            </a:r>
          </a:p>
          <a:p xmlns:a="http://schemas.openxmlformats.org/drawingml/2006/main">
            <a:r>
              <a:t>FUENTES</a:t>
            </a:r>
          </a:p>
          <a:p xmlns:a="http://schemas.openxmlformats.org/drawingml/2006/main">
            <a:r>
              <a:t>https://www.nlr.gov/news/video/training-module-3-text-version</a:t>
            </a:r>
          </a:p>
          <a:p xmlns:a="http://schemas.openxmlformats.org/drawingml/2006/main">
            <a:r>
              <a:t>https://atb.nrel.gov/electricity/2024/utility-scale_pv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Los cuatro criterios del fitness son irradiación anual estimada, proximidad a líneas, proximidad a las cuatro estaciones de referencia y potencia instalada estimada por área. Las zonas urbanas son una exclusión previa.</a:t>
            </a:r>
          </a:p>
          <a:p xmlns:a="http://schemas.openxmlformats.org/drawingml/2006/main">
            <a:r>
              <a:t/>
            </a:r>
          </a:p>
          <a:p xmlns:a="http://schemas.openxmlformats.org/drawingml/2006/main">
            <a:r>
              <a:t>DECISIONES Y JUSTIFICACIÓN</a:t>
            </a:r>
          </a:p>
          <a:p xmlns:a="http://schemas.openxmlformats.org/drawingml/2006/main">
            <a:r>
              <a:t>Distinguir criterios graduables de restricciones evita que un puntaje alto compense una celda urbana. La potencia se deriva de la superficie, no de la radiación.</a:t>
            </a:r>
          </a:p>
          <a:p xmlns:a="http://schemas.openxmlformats.org/drawingml/2006/main">
            <a:r>
              <a:t/>
            </a:r>
          </a:p>
          <a:p xmlns:a="http://schemas.openxmlformats.org/drawingml/2006/main">
            <a:r>
              <a:t>ALCANCE Y LÍMITES</a:t>
            </a:r>
          </a:p>
          <a:p xmlns:a="http://schemas.openxmlformats.org/drawingml/2006/main">
            <a:r>
              <a:t>Las distancias se calculan desde el centroide del parque. Se usan las geometrías disponibles y cuatro ET seleccionadas, no una representación completa de todas las conexiones posibles.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La fuente ERA 5-Land entrega SSRD horario. El proyecto convierte J/m² a kWh/m², exige meses completos, promedia años por mes y pondera días de estación para enero, abril, julio y octubre. El parque usa una media ponderada por el área de sus celdas.</a:t>
            </a:r>
          </a:p>
          <a:p xmlns:a="http://schemas.openxmlformats.org/drawingml/2006/main">
            <a:r>
              <a:t/>
            </a:r>
          </a:p>
          <a:p xmlns:a="http://schemas.openxmlformats.org/drawingml/2006/main">
            <a:r>
              <a:t>DECISIONES Y JUSTIFICACIÓN</a:t>
            </a:r>
          </a:p>
          <a:p xmlns:a="http://schemas.openxmlformats.org/drawingml/2006/main">
            <a:r>
              <a:t>Los cuatro meses representan las estaciones y reducen el volumen de datos. El requisito de horas completas evita comparar un mes incompleto con otro completo.</a:t>
            </a:r>
          </a:p>
          <a:p xmlns:a="http://schemas.openxmlformats.org/drawingml/2006/main">
            <a:r>
              <a:t/>
            </a:r>
          </a:p>
          <a:p xmlns:a="http://schemas.openxmlformats.org/drawingml/2006/main">
            <a:r>
              <a:t>ALCANCE Y LÍMITES</a:t>
            </a:r>
          </a:p>
          <a:p xmlns:a="http://schemas.openxmlformats.org/drawingml/2006/main">
            <a:r>
              <a:t>Es una estimación estacional. El historial empieza en 2024 y cubre 11 períodos hasta julio de 2026. Es breve y no sustituye una climatología larga. Los puntos del mapa representan agregados por píxel climático, no una medición independiente por celda.</a:t>
            </a:r>
          </a:p>
          <a:p xmlns:a="http://schemas.openxmlformats.org/drawingml/2006/main">
            <a:r>
              <a:t/>
            </a:r>
          </a:p>
          <a:p xmlns:a="http://schemas.openxmlformats.org/drawingml/2006/main">
            <a:r>
              <a:t>FUENTES</a:t>
            </a:r>
          </a:p>
          <a:p xmlns:a="http://schemas.openxmlformats.org/drawingml/2006/main">
            <a:r>
              <a:t>C:/Users/creis/OneDrive/Escritorio/AG-ParqueSolar-2026/src/climate/arco.py</a:t>
            </a:r>
          </a:p>
          <a:p xmlns:a="http://schemas.openxmlformats.org/drawingml/2006/main">
            <a:r>
              <a:t>C:/Users/creis/OneDrive/Escritorio/AG-ParqueSolar-2026/src/climate/climatology.py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El modelo calcula la menor distancia entre el centroide del parque y las líneas disponibles y la menor distancia a las cuatro ET: Río Coronda, Romang, Rosario Oeste y Santo Tomé. Ambas son medidas geográficas en un sistema proyectado.</a:t>
            </a:r>
          </a:p>
          <a:p xmlns:a="http://schemas.openxmlformats.org/drawingml/2006/main">
            <a:r>
              <a:t/>
            </a:r>
          </a:p>
          <a:p xmlns:a="http://schemas.openxmlformats.org/drawingml/2006/main">
            <a:r>
              <a:t>DECISIONES Y JUSTIFICACIÓN</a:t>
            </a:r>
          </a:p>
          <a:p xmlns:a="http://schemas.openxmlformats.org/drawingml/2006/main">
            <a:r>
              <a:t>Usar distancias aporta un indicador simple de proximidad. Mantener cuatro identidades estables hace el escenario repetible y evita confundir entidades entre corridas.</a:t>
            </a:r>
          </a:p>
          <a:p xmlns:a="http://schemas.openxmlformats.org/drawingml/2006/main">
            <a:r>
              <a:t/>
            </a:r>
          </a:p>
          <a:p xmlns:a="http://schemas.openxmlformats.org/drawingml/2006/main">
            <a:r>
              <a:t>ALCANCE Y LÍMITES</a:t>
            </a:r>
          </a:p>
          <a:p xmlns:a="http://schemas.openxmlformats.org/drawingml/2006/main">
            <a:r>
              <a:t>La selección de cuatro ET es una delimitación del MVP que restringe los resultados. Cercanía no acredita posibilidad de conexión. No usamos capacidad libre, MVA, flujos eléctricos ni una ruta de cableado. La capa de líneas disponible no equivale a una red de transporte validada para conexión.</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Una preselección completa también debería considerar pendiente, inundaciones y cuerpos de agua, áreas protegidas, uso y propiedad del suelo, acceso vial y capacidad de conexión. Estos factores pueden modificar o invalidar los candidatos actuales.</a:t>
            </a:r>
          </a:p>
          <a:p xmlns:a="http://schemas.openxmlformats.org/drawingml/2006/main">
            <a:r>
              <a:t/>
            </a:r>
          </a:p>
          <a:p xmlns:a="http://schemas.openxmlformats.org/drawingml/2006/main">
            <a:r>
              <a:t>DECISIONES Y JUSTIFICACIÓN</a:t>
            </a:r>
          </a:p>
          <a:p xmlns:a="http://schemas.openxmlformats.org/drawingml/2006/main">
            <a:r>
              <a:t>No se implementaron porque el MVP prioriza la búsqueda espacial con las fuentes actualmente integradas. Cada factor necesita una fuente verificable, una regla y validación propia. Esto delimita el alcance, no demuestra irrelevancia.</a:t>
            </a:r>
          </a:p>
          <a:p xmlns:a="http://schemas.openxmlformats.org/drawingml/2006/main">
            <a:r>
              <a:t/>
            </a:r>
          </a:p>
          <a:p xmlns:a="http://schemas.openxmlformats.org/drawingml/2006/main">
            <a:r>
              <a:t>ALCANCE Y LÍMITES</a:t>
            </a:r>
          </a:p>
          <a:p xmlns:a="http://schemas.openxmlformats.org/drawingml/2006/main">
            <a:r>
              <a:t>Pendiente: falta integrar y validar un modelo de elevación. Inundaciones y agua: falta una máscara hídrica y de amenaza. Áreas protegidas: falta integrar zonificación ambiental. Propiedad, uso y accesos: faltan datos parcelarios, permisos y costos. Capacidad real: faltan capacidad disponible y un estudio eléctrico. Temperatura, inclinación, sombras y pérdidas requieren un modelo de producción fotovoltaica. Costos y tarifas requieren un modelo económico. Ninguna de estas omisiones autoriza construir en el candidato.</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https://atb.nrel.gov/electricity/2024/utility-scale_pv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Trabajamos con celdas de 500 metros y parques que crecen por bordes compartidos. Se excluyen las celdas que tocan la máscara urbana INDEC. La potencia es el área real por 31,3 MW/km² y el crecimiento se limita a 80 MW.</a:t>
            </a:r>
          </a:p>
          <a:p xmlns:a="http://schemas.openxmlformats.org/drawingml/2006/main">
            <a:r>
              <a:t/>
            </a:r>
          </a:p>
          <a:p xmlns:a="http://schemas.openxmlformats.org/drawingml/2006/main">
            <a:r>
              <a:t>DECISIONES Y JUSTIFICACIÓN</a:t>
            </a:r>
          </a:p>
          <a:p xmlns:a="http://schemas.openxmlformats.org/drawingml/2006/main">
            <a:r>
              <a:t>500 m es la discretización del problema. La contigüidad garantiza un conjunto conectado. La exclusión urbana es conservadora, con buffer cero y relleno de huecos internos. La densidad de potencia procede del estudio NREL de uso de tierra: 7,9 acres/MWac de área total en grandes plantas FV, equivalentes aproximadamente a 31,3 MWac/km². Los 80 MW son un escenario experimental configurable.</a:t>
            </a:r>
          </a:p>
          <a:p xmlns:a="http://schemas.openxmlformats.org/drawingml/2006/main">
            <a:r>
              <a:t/>
            </a:r>
          </a:p>
          <a:p xmlns:a="http://schemas.openxmlformats.org/drawingml/2006/main">
            <a:r>
              <a:t>ALCANCE Y LÍMITES</a:t>
            </a:r>
          </a:p>
          <a:p xmlns:a="http://schemas.openxmlformats.org/drawingml/2006/main">
            <a:r>
              <a:t>No existe calibración local de la densidad. El límite de 80 MW no corresponde a capacidad libre de ninguna ET. Los pesos 0,4/0,1/0,4/0,1 son iniciales y requieren análisis de sensibilidad. La exclusión urbana no cubre las restricciones hídricas o ambientales pendientes.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https://docs.nrel.gov/docs/fy13osti/56290.pdf</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Un individuo contiene una celda semilla y una secuencia variable de genes enteros. El decodificador empieza por la semilla y usa cada gen para elegir una celda de la frontera. Así aparecen ubicación, forma y superficie.</a:t>
            </a:r>
          </a:p>
          <a:p xmlns:a="http://schemas.openxmlformats.org/drawingml/2006/main">
            <a:r>
              <a:t/>
            </a:r>
          </a:p>
          <a:p xmlns:a="http://schemas.openxmlformats.org/drawingml/2006/main">
            <a:r>
              <a:t>DECISIONES Y JUSTIFICACIÓN</a:t>
            </a:r>
          </a:p>
          <a:p xmlns:a="http://schemas.openxmlformats.org/drawingml/2006/main">
            <a:r>
              <a:t>La representación construye contigüidad por crecimiento. Una longitud variable permite explorar distintos tamaños. La secuencia guarda decisiones de crecimiento, no coordenadas de cada panel.</a:t>
            </a:r>
          </a:p>
          <a:p xmlns:a="http://schemas.openxmlformats.org/drawingml/2006/main">
            <a:r>
              <a:t/>
            </a:r>
          </a:p>
          <a:p xmlns:a="http://schemas.openxmlformats.org/drawingml/2006/main">
            <a:r>
              <a:t>ALCANCE Y LÍMITES</a:t>
            </a:r>
          </a:p>
          <a:p xmlns:a="http://schemas.openxmlformats.org/drawingml/2006/main">
            <a:r>
              <a:t>Un gen no es una dirección fija. Su significado depende de la frontera actual. Genes distintos pueden dar el mismo conjunto de celdas. La longitud del cromosoma puede exceder la cantidad de genes que realmente produce crecimiento.</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fitness combina cuatro puntajes entre cero y uno. Más irradiación aumenta el puntaje solar, menos distancia aumenta la proximidad y más potencia aumenta el aprovechamiento del límite. Los pesos suman uno.</a:t>
            </a:r>
          </a:p>
          <a:p xmlns:a="http://schemas.openxmlformats.org/drawingml/2006/main">
            <a:r>
              <a:t/>
            </a:r>
          </a:p>
          <a:p xmlns:a="http://schemas.openxmlformats.org/drawingml/2006/main">
            <a:r>
              <a:t>DECISIONES Y JUSTIFICACIÓN</a:t>
            </a:r>
          </a:p>
          <a:p xmlns:a="http://schemas.openxmlformats.org/drawingml/2006/main">
            <a:r>
              <a:t>Una suma ponderada proporciona un orden explícito y fácil de auditar. Los pesos iniciales priorizan radiación y ET, con 40% cada una, y asignan 10% a líneas y 10% a potencia.</a:t>
            </a:r>
          </a:p>
          <a:p xmlns:a="http://schemas.openxmlformats.org/drawingml/2006/main">
            <a:r>
              <a:t/>
            </a:r>
          </a:p>
          <a:p xmlns:a="http://schemas.openxmlformats.org/drawingml/2006/main">
            <a:r>
              <a:t>ALCANCE Y LÍMITES</a:t>
            </a:r>
          </a:p>
          <a:p xmlns:a="http://schemas.openxmlformats.org/drawingml/2006/main">
            <a:r>
              <a:t>Estos pesos no se validaron científicamente y no representan euros, producción real ni probabilidad de éxito. Un fitness alto significa buen desempeño bajo el escenario configurado. Los criterios pueden compensarse dentro de esta suma.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Primero se obtienen las fuentes y se guarda la caché. Luego se validan geometrías y cobertura climática, se construye la grilla y sus vecinos, y se guarda un snapshot local. El AG carga ese dataset para buscar y exporta mapas, rankings e historial.</a:t>
            </a:r>
          </a:p>
          <a:p xmlns:a="http://schemas.openxmlformats.org/drawingml/2006/main">
            <a:r>
              <a:t/>
            </a:r>
          </a:p>
          <a:p xmlns:a="http://schemas.openxmlformats.org/drawingml/2006/main">
            <a:r>
              <a:t>DECISIONES Y JUSTIFICACIÓN</a:t>
            </a:r>
          </a:p>
          <a:p xmlns:a="http://schemas.openxmlformats.org/drawingml/2006/main">
            <a:r>
              <a:t>Separar preparación de optimización evita repetir descargas por individuo y permite ejecutar múltiples escenarios sobre el mismo conjunto de datos. El identificador del dataset y la configuración hacen trazable cada resultado.</a:t>
            </a:r>
          </a:p>
          <a:p xmlns:a="http://schemas.openxmlformats.org/drawingml/2006/main">
            <a:r>
              <a:t/>
            </a:r>
          </a:p>
          <a:p xmlns:a="http://schemas.openxmlformats.org/drawingml/2006/main">
            <a:r>
              <a:t>ALCANCE Y LÍMITES</a:t>
            </a:r>
          </a:p>
          <a:p xmlns:a="http://schemas.openxmlformats.org/drawingml/2006/main">
            <a:r>
              <a:t>El mapa puede usar teselas web, pero el bucle del AG trabaja sólo con datos locales. Cambios incompatibles de fuente o configuración espacial exigen reprocesar.</a:t>
            </a:r>
          </a:p>
          <a:p xmlns:a="http://schemas.openxmlformats.org/drawingml/2006/main">
            <a:r>
              <a:t/>
            </a:r>
          </a:p>
          <a:p xmlns:a="http://schemas.openxmlformats.org/drawingml/2006/main">
            <a:r>
              <a:t>FUENTES</a:t>
            </a:r>
          </a:p>
          <a:p xmlns:a="http://schemas.openxmlformats.org/drawingml/2006/main">
            <a:r>
              <a:t>C:/Users/creis/OneDrive/Escritorio/AG-ParqueSolar-2026/src/main.py</a:t>
            </a:r>
          </a:p>
          <a:p xmlns:a="http://schemas.openxmlformats.org/drawingml/2006/main">
            <a:r>
              <a:t>C:/Users/creis/OneDrive/Escritorio/AG-ParqueSolar-2026/src/pipeline/preprocess.py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La corrida del 6 de octubre usa semilla aleatoria 20261006, 50 individuos y 200 generaciones. Se mantienen 75% de cruce, 20% de mutación, dos élites y torneo de tres. El escenario es 80 MW, densidad 31,3 y pesos 0,4/0,1/0,4/0,1.</a:t>
            </a:r>
          </a:p>
          <a:p xmlns:a="http://schemas.openxmlformats.org/drawingml/2006/main">
            <a:r>
              <a:t/>
            </a:r>
          </a:p>
          <a:p xmlns:a="http://schemas.openxmlformats.org/drawingml/2006/main">
            <a:r>
              <a:t>DECISIONES Y JUSTIFICACIÓN</a:t>
            </a:r>
          </a:p>
          <a:p xmlns:a="http://schemas.openxmlformats.org/drawingml/2006/main">
            <a:r>
              <a:t>Mantener el escenario y cambiar la semilla respecto de la presentación anterior produce un experimento nuevo comparable. Los parámetros se conservaron para demostrar el comportamiento del proyecto actual, no se eligieron mediante una búsqueda de hiperparámetros.</a:t>
            </a:r>
          </a:p>
          <a:p xmlns:a="http://schemas.openxmlformats.org/drawingml/2006/main">
            <a:r>
              <a:t/>
            </a:r>
          </a:p>
          <a:p xmlns:a="http://schemas.openxmlformats.org/drawingml/2006/main">
            <a:r>
              <a:t>ALCANCE Y LÍMITES</a:t>
            </a:r>
          </a:p>
          <a:p xmlns:a="http://schemas.openxmlformats.org/drawingml/2006/main">
            <a:r>
              <a:t>La semilla reproduce la secuencia pseudoaleatoria bajo el mismo dataset y entorno. Una sola corrida no mide robustez estadística. El criterio de parada es completar 200 generaciones, con evaluación inicial en generación cero.</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C:/Users/creis/OneDrive/Escritorio/AG-ParqueSolar-2026/tmp/presentation_build/defensa_nueva/config_corrida.yaml</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padre A del cruce real tiene semilla 194480 y cuatro genes:2083272650,938200436,671673529,538685106. Mostrar tres pasos de decodificación: sólo semilla, primer par de genes y secuencia completa, que genera cinco celdas y 39,125 MW.</a:t>
            </a:r>
          </a:p>
          <a:p xmlns:a="http://schemas.openxmlformats.org/drawingml/2006/main">
            <a:r>
              <a:t/>
            </a:r>
          </a:p>
          <a:p xmlns:a="http://schemas.openxmlformats.org/drawingml/2006/main">
            <a:r>
              <a:t>DECISIONES Y JUSTIFICACIÓN</a:t>
            </a:r>
          </a:p>
          <a:p xmlns:a="http://schemas.openxmlformats.org/drawingml/2006/main">
            <a:r>
              <a:t>Seguir prefijos de un cromosoma permite ver cómo una secuencia se transforma en un parque sin inventar una geometría. El orden de la frontera es determinista y cada selección usa gen módulo cantidad de vecinos candidatos.</a:t>
            </a:r>
          </a:p>
          <a:p xmlns:a="http://schemas.openxmlformats.org/drawingml/2006/main">
            <a:r>
              <a:t/>
            </a:r>
          </a:p>
          <a:p xmlns:a="http://schemas.openxmlformats.org/drawingml/2006/main">
            <a:r>
              <a:t>ALCANCE Y LÍMITES</a:t>
            </a:r>
          </a:p>
          <a:p xmlns:a="http://schemas.openxmlformats.org/drawingml/2006/main">
            <a:r>
              <a:t>Estos son pasos de crecimiento dentro de un individuo, no generaciones del AG. El ejemplo se observó como padre del evento de cruce que produce la generación 2, no se afirma que fuera el mejor de la población.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 minutos</a:t>
            </a:r>
          </a:p>
          <a:p xmlns:a="http://schemas.openxmlformats.org/drawingml/2006/main">
            <a:r>
              <a:t/>
            </a:r>
          </a:p>
          <a:p xmlns:a="http://schemas.openxmlformats.org/drawingml/2006/main">
            <a:r>
              <a:t>EXPLICACIÓN</a:t>
            </a:r>
          </a:p>
          <a:p xmlns:a="http://schemas.openxmlformats.org/drawingml/2006/main">
            <a:r>
              <a:t>La inicialización recorre territorios ocupados de 50×50 km en orden aleatorio y escoge una semilla dentro de cada uno. Genera longitudes de secuencia aleatorias y evalúa 50 parques. En cada torneo extrae tres candidatos con reemplazo y conserva el de mayor fitness.</a:t>
            </a:r>
          </a:p>
          <a:p xmlns:a="http://schemas.openxmlformats.org/drawingml/2006/main">
            <a:r>
              <a:t/>
            </a:r>
          </a:p>
          <a:p xmlns:a="http://schemas.openxmlformats.org/drawingml/2006/main">
            <a:r>
              <a:t>DECISIONES Y JUSTIFICACIÓN</a:t>
            </a:r>
          </a:p>
          <a:p xmlns:a="http://schemas.openxmlformats.org/drawingml/2006/main">
            <a:r>
              <a:t>El muestreo por territorios favorece cobertura espacial en lugar de concentrar todas las semillas en una zona. El torneo ejerce presión selectiva conservando azar. Dos élites distintas por conjunto de celdas pasan directamente a la próxima población.</a:t>
            </a:r>
          </a:p>
          <a:p xmlns:a="http://schemas.openxmlformats.org/drawingml/2006/main">
            <a:r>
              <a:t/>
            </a:r>
          </a:p>
          <a:p xmlns:a="http://schemas.openxmlformats.org/drawingml/2006/main">
            <a:r>
              <a:t>ALCANCE Y LÍMITES</a:t>
            </a:r>
          </a:p>
          <a:p xmlns:a="http://schemas.openxmlformats.org/drawingml/2006/main">
            <a:r>
              <a:t>Cobertura equilibrada no es un muestreo uniforme por superficie. El gráfico ilustra el mecanismo, no un torneo observado. Los ejemplos de operadores de las siguientes slides sí son eventos registrados. Los parámetros de torneo y elitismo no se calibraron para demostrar optimalidad.</a:t>
            </a:r>
          </a:p>
          <a:p xmlns:a="http://schemas.openxmlformats.org/drawingml/2006/main">
            <a:r>
              <a:t/>
            </a:r>
          </a:p>
          <a:p xmlns:a="http://schemas.openxmlformats.org/drawingml/2006/main">
            <a:r>
              <a:t>FUENTES</a:t>
            </a:r>
          </a:p>
          <a:p xmlns:a="http://schemas.openxmlformats.org/drawingml/2006/main">
            <a:r>
              <a:t>C:/Users/creis/OneDrive/Escritorio/AG-ParqueSolar-2026/src/optimization/initialization.py</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En la generación 2, el padre A tiene semilla 194480 y cuatro genes; el B tiene semilla 78089 y seis. El cruce corta A tras el tercer gen y B tras el cuarto. El hijo A conserva la semilla A y combina A 1,A 2,A 3,B 5,B 6. Pasa de cinco a seis celdas y su fitness aumenta de 0,5273 a 0,5371.</a:t>
            </a:r>
          </a:p>
          <a:p xmlns:a="http://schemas.openxmlformats.org/drawingml/2006/main">
            <a:r>
              <a:t/>
            </a:r>
          </a:p>
          <a:p xmlns:a="http://schemas.openxmlformats.org/drawingml/2006/main">
            <a:r>
              <a:t>DECISIONES Y JUSTIFICACIÓN</a:t>
            </a:r>
          </a:p>
          <a:p xmlns:a="http://schemas.openxmlformats.org/drawingml/2006/main">
            <a:r>
              <a:t>El cruce de prefijo y sufijo admite secuencias de longitudes diferentes. Conservar la semilla del prefijo da un inicio definido para el nuevo decodificado. La probabilidad de 75% se aplica por pareja.</a:t>
            </a:r>
          </a:p>
          <a:p xmlns:a="http://schemas.openxmlformats.org/drawingml/2006/main">
            <a:r>
              <a:t/>
            </a:r>
          </a:p>
          <a:p xmlns:a="http://schemas.openxmlformats.org/drawingml/2006/main">
            <a:r>
              <a:t>ALCANCE Y LÍMITES</a:t>
            </a:r>
          </a:p>
          <a:p xmlns:a="http://schemas.openxmlformats.org/drawingml/2006/main">
            <a:r>
              <a:t>Los genes del otro padre se reinterpretan en la frontera del hijo, no transportan celdas físicas de B. El código también crea un hijo recíproco. Este evento mejoró al padre A, pero el cruce no garantiza mejora.</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a:p xmlns:a="http://schemas.openxmlformats.org/drawingml/2006/main">
            <a:r>
              <a:t>Genes A: [2083272650,938200436,671673529,538685106]</a:t>
            </a:r>
          </a:p>
          <a:p xmlns:a="http://schemas.openxmlformats.org/drawingml/2006/main">
            <a:r>
              <a:t>Genes B: [949832610,786802762,1753680651,1864815592,1486342001,1918520519]</a:t>
            </a:r>
          </a:p>
          <a:p xmlns:a="http://schemas.openxmlformats.org/drawingml/2006/main">
            <a:r>
              <a:t>Genes hijo A: [2083272650,938200436,671673529,1486342001,1918520519]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En la generación 1, el individuo de semilla 23162 añade el gen 7 a su secuencia. El parque crece de 7 a 8 celdas, de 54,775 a 62,6 MW. El fitness pasa de 0,5174 a 0,5273.</a:t>
            </a:r>
          </a:p>
          <a:p xmlns:a="http://schemas.openxmlformats.org/drawingml/2006/main">
            <a:r>
              <a:t/>
            </a:r>
          </a:p>
          <a:p xmlns:a="http://schemas.openxmlformats.org/drawingml/2006/main">
            <a:r>
              <a:t>DECISIONES Y JUSTIFICACIÓN</a:t>
            </a:r>
          </a:p>
          <a:p xmlns:a="http://schemas.openxmlformats.org/drawingml/2006/main">
            <a:r>
              <a:t>La mutación efectiva elige al azar entre operaciones aplicables: añadir un gen que permita crecer, borrar el último crecimiento aceptado, cambiar un gen aceptado o cambiar la semilla. Reintenta hasta cuatro veces buscando un cambio de celdas.</a:t>
            </a:r>
          </a:p>
          <a:p xmlns:a="http://schemas.openxmlformats.org/drawingml/2006/main">
            <a:r>
              <a:t/>
            </a:r>
          </a:p>
          <a:p xmlns:a="http://schemas.openxmlformats.org/drawingml/2006/main">
            <a:r>
              <a:t>ALCANCE Y LÍMITES</a:t>
            </a:r>
          </a:p>
          <a:p xmlns:a="http://schemas.openxmlformats.org/drawingml/2006/main">
            <a:r>
              <a:t>20% es probabilidad por hijo, no cantidad fija de mutaciones. Un cambio efectivo modifica el parque, pero no implica mejora del fitness. En el caso mostrado hubo un intento. Dorado señala semilla y nueva celda.</a:t>
            </a:r>
          </a:p>
          <a:p xmlns:a="http://schemas.openxmlformats.org/drawingml/2006/main">
            <a:r>
              <a:t/>
            </a:r>
          </a:p>
          <a:p xmlns:a="http://schemas.openxmlformats.org/drawingml/2006/main">
            <a:r>
              <a:t>FUENTES</a:t>
            </a:r>
          </a:p>
          <a:p xmlns:a="http://schemas.openxmlformats.org/drawingml/2006/main">
            <a:r>
              <a:t>C:/Users/creis/OneDrive/Escritorio/AG-ParqueSolar-2026/src/optimization/mutation.py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El ciclo evalúa los 50 parques, conserva dos élites, selecciona hijos por torneo, cruza parejas, muta hijos y controla duplicados antes de formar la próxima población. Repite hasta 200 generaciones.</a:t>
            </a:r>
          </a:p>
          <a:p xmlns:a="http://schemas.openxmlformats.org/drawingml/2006/main">
            <a:r>
              <a:t/>
            </a:r>
          </a:p>
          <a:p xmlns:a="http://schemas.openxmlformats.org/drawingml/2006/main">
            <a:r>
              <a:t>DECISIONES Y JUSTIFICACIÓN</a:t>
            </a:r>
          </a:p>
          <a:p xmlns:a="http://schemas.openxmlformats.org/drawingml/2006/main">
            <a:r>
              <a:t>El elitismo conserva soluciones buenas. Cruce y mutación exploran otras configuraciones. El control de duplicados intenta evitar repetir el mismo conjunto de celdas, con hasta ocho reemplazos por muestreo.</a:t>
            </a:r>
          </a:p>
          <a:p xmlns:a="http://schemas.openxmlformats.org/drawingml/2006/main">
            <a:r>
              <a:t/>
            </a:r>
          </a:p>
          <a:p xmlns:a="http://schemas.openxmlformats.org/drawingml/2006/main">
            <a:r>
              <a:t>ALCANCE Y LÍMITES</a:t>
            </a:r>
          </a:p>
          <a:p xmlns:a="http://schemas.openxmlformats.org/drawingml/2006/main">
            <a:r>
              <a:t>Las élites pasan directamente a la nueva población, sin aplicarles los operadores. El flujo es conceptual y no expresa esa bifurcación literalmente. Si los reintentos se agotan se conserva el candidato. Además del mejor actual, un archivo conserva hasta 10 candidatos por territorio.</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a:t>
            </a:r>
          </a:p>
          <a:p xmlns:a="http://schemas.openxmlformats.org/drawingml/2006/main">
            <a:r>
              <a:t>El mejor fitness crece de 0,6384 a 0,7174. La mejora relativa del puntaje es 12,4%. El historial registra 201 evaluaciones de población, de 0 a 200. La búsqueda visitó 6309 parques distintos.</a:t>
            </a:r>
          </a:p>
          <a:p xmlns:a="http://schemas.openxmlformats.org/drawingml/2006/main">
            <a:r>
              <a:t/>
            </a:r>
          </a:p>
          <a:p xmlns:a="http://schemas.openxmlformats.org/drawingml/2006/main">
            <a:r>
              <a:t>DECISIONES Y JUSTIFICACIÓN</a:t>
            </a:r>
          </a:p>
          <a:p xmlns:a="http://schemas.openxmlformats.org/drawingml/2006/main">
            <a:r>
              <a:t>Mostrar el mejor y la media permite distinguir progreso del líder y comportamiento de la población. Conservar el historial y métricas por generación permite auditar la búsqueda.</a:t>
            </a:r>
          </a:p>
          <a:p xmlns:a="http://schemas.openxmlformats.org/drawingml/2006/main">
            <a:r>
              <a:t/>
            </a:r>
          </a:p>
          <a:p xmlns:a="http://schemas.openxmlformats.org/drawingml/2006/main">
            <a:r>
              <a:t>ALCANCE Y LÍMITES</a:t>
            </a:r>
          </a:p>
          <a:p xmlns:a="http://schemas.openxmlformats.org/drawingml/2006/main">
            <a:r>
              <a:t>La mejora del fitness no es un aumento porcentual de producción. Una meseta no prueba óptimo global. Las élites reducen el riesgo de perder el mejor candidato y no eliminan la variabilidad entre semillas.</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a:t>
            </a:r>
          </a:p>
          <a:p xmlns:a="http://schemas.openxmlformats.org/drawingml/2006/main">
            <a:r>
              <a:t>El mejor parque tiene 10 celdas completas,2,5 km² o 250 ha y 78,25 MW estimados. Su irradiación media es 1.896,0 kWh/m²/año. Está a 14,9 m de la línea disponible más próxima y a 175,1 km de Santo Tomé, la ET de referencia más cercana.</a:t>
            </a:r>
          </a:p>
          <a:p xmlns:a="http://schemas.openxmlformats.org/drawingml/2006/main">
            <a:r>
              <a:t/>
            </a:r>
          </a:p>
          <a:p xmlns:a="http://schemas.openxmlformats.org/drawingml/2006/main">
            <a:r>
              <a:t>DECISIONES Y JUSTIFICACIÓN</a:t>
            </a:r>
          </a:p>
          <a:p xmlns:a="http://schemas.openxmlformats.org/drawingml/2006/main">
            <a:r>
              <a:t>La combinación favorece la irradiación máxima del dataset y proximidad a una línea. El score de potencia es 78,25/80=0,9781. En conjunto produce fitness 0,7174.</a:t>
            </a:r>
          </a:p>
          <a:p xmlns:a="http://schemas.openxmlformats.org/drawingml/2006/main">
            <a:r>
              <a:t/>
            </a:r>
          </a:p>
          <a:p xmlns:a="http://schemas.openxmlformats.org/drawingml/2006/main">
            <a:r>
              <a:t>ALCANCE Y LÍMITES</a:t>
            </a:r>
          </a:p>
          <a:p xmlns:a="http://schemas.openxmlformats.org/drawingml/2006/main">
            <a:r>
              <a:t>La gran distancia a la ET muestra una compensación de criterios y el efecto de trabajar con sólo cuatro estaciones. La distancia de 14,9 m se refiere al centroide y geometría de la línea, no a una traza viable. Deben revisarse las variables de viabilidad pendientes antes de interpretar el candidato como sitio construible.</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C:/Users/creis/OneDrive/Escritorio/AG-ParqueSolar-2026/results/spatial/run-20261006T231108-428e45c4/ranking.csv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El ranking general ordena por fitness y puede contener variantes superpuestas. El ranking territorial selecciona hasta cinco alternativas sin superposición desde el archivo de candidatos. El mapa muestra sus centroides.</a:t>
            </a:r>
          </a:p>
          <a:p xmlns:a="http://schemas.openxmlformats.org/drawingml/2006/main">
            <a:r>
              <a:t/>
            </a:r>
          </a:p>
          <a:p xmlns:a="http://schemas.openxmlformats.org/drawingml/2006/main">
            <a:r>
              <a:t>DECISIONES Y JUSTIFICACIÓN</a:t>
            </a:r>
          </a:p>
          <a:p xmlns:a="http://schemas.openxmlformats.org/drawingml/2006/main">
            <a:r>
              <a:t>Separar ambos rankings entrega opciones espaciales además de variaciones del líder. La separación adicional configurada es 0 km: se prohíbe solapar, pero pueden existir alternativas próximas.</a:t>
            </a:r>
          </a:p>
          <a:p xmlns:a="http://schemas.openxmlformats.org/drawingml/2006/main">
            <a:r>
              <a:t/>
            </a:r>
          </a:p>
          <a:p xmlns:a="http://schemas.openxmlformats.org/drawingml/2006/main">
            <a:r>
              <a:t>ALCANCE Y LÍMITES</a:t>
            </a:r>
          </a:p>
          <a:p xmlns:a="http://schemas.openxmlformats.org/drawingml/2006/main">
            <a:r>
              <a:t>Las alternativas territoriales dependen del archivo acotado, no de una búsqueda exhaustiva. El mapa de la diapositiva ubica centroides y no muestra dimensiones de los parques a escala provincial.</a:t>
            </a:r>
          </a:p>
          <a:p xmlns:a="http://schemas.openxmlformats.org/drawingml/2006/main">
            <a:r>
              <a:t/>
            </a:r>
          </a:p>
          <a:p xmlns:a="http://schemas.openxmlformats.org/drawingml/2006/main">
            <a:r>
              <a:t>FUENTES</a:t>
            </a:r>
          </a:p>
          <a:p xmlns:a="http://schemas.openxmlformats.org/drawingml/2006/main">
            <a:r>
              <a:t>C:/Users/creis/OneDrive/Escritorio/AG-ParqueSolar-2026/src/optimization/ranking.py</a:t>
            </a:r>
          </a:p>
          <a:p xmlns:a="http://schemas.openxmlformats.org/drawingml/2006/main">
            <a:r>
              <a:t>C:/Users/creis/OneDrive/Escritorio/AG-ParqueSolar-2026/results/spatial/run-20261006T231108-428e45c4/ranking_territorial.csv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1.4 minutos</a:t>
            </a:r>
          </a:p>
          <a:p xmlns:a="http://schemas.openxmlformats.org/drawingml/2006/main">
            <a:r>
              <a:t/>
            </a:r>
          </a:p>
          <a:p xmlns:a="http://schemas.openxmlformats.org/drawingml/2006/main">
            <a:r>
              <a:t>EXPLICACIÓN</a:t>
            </a:r>
          </a:p>
          <a:p xmlns:a="http://schemas.openxmlformats.org/drawingml/2006/main">
            <a:r>
              <a:t>La corrida demuestra que el AG construye parques conectados y mejora el puntaje bajo un escenario explícito. El proyecto entrega candidatos, un mapa y un historial reproducible. El resultado también muestra que buenas puntuaciones pueden coexistir con limitaciones de conexión.</a:t>
            </a:r>
          </a:p>
          <a:p xmlns:a="http://schemas.openxmlformats.org/drawingml/2006/main">
            <a:r>
              <a:t/>
            </a:r>
          </a:p>
          <a:p xmlns:a="http://schemas.openxmlformats.org/drawingml/2006/main">
            <a:r>
              <a:t>DECISIONES Y JUSTIFICACIÓN</a:t>
            </a:r>
          </a:p>
          <a:p xmlns:a="http://schemas.openxmlformats.org/drawingml/2006/main">
            <a:r>
              <a:t>La principal contribución es integrar crecimiento espacial, criterios comparables y trazabilidad de búsqueda. Separar la preparación de datos permite ensayar nuevas semillas y parámetros.</a:t>
            </a:r>
          </a:p>
          <a:p xmlns:a="http://schemas.openxmlformats.org/drawingml/2006/main">
            <a:r>
              <a:t/>
            </a:r>
          </a:p>
          <a:p xmlns:a="http://schemas.openxmlformats.org/drawingml/2006/main">
            <a:r>
              <a:t>ALCANCE Y LÍMITES</a:t>
            </a:r>
          </a:p>
          <a:p xmlns:a="http://schemas.openxmlformats.org/drawingml/2006/main">
            <a:r>
              <a:t>No se demostró optimalidad ni robustez con una sola corrida. Próximos pasos: integrar restricciones territoriales faltantes y capacidad de red, ampliar la referencia climática, repetir semillas, variar pesos y comparar con una búsqueda aleatoria bajo igual presupuesto. Modelar producción y economía requiere trabajo adicional.</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C:/Users/creis/OneDrive/Escritorio/AG-ParqueSolar-2026/results/spatial/run-20261006T231108-428e45c4/optimization_run.json</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Para irradiación se utiliza min-max: (x−mín)/(máx−mín). Para distancias se invierte:1−min-max. Los límites provienen de todas las celdas válidas y permanecen fijos en la corrida. La potencia se normaliza conP/80 MW.</a:t>
            </a:r>
          </a:p>
          <a:p xmlns:a="http://schemas.openxmlformats.org/drawingml/2006/main">
            <a:r>
              <a:t/>
            </a:r>
          </a:p>
          <a:p xmlns:a="http://schemas.openxmlformats.org/drawingml/2006/main">
            <a:r>
              <a:t>DECISIONES Y JUSTIFICACIÓN</a:t>
            </a:r>
          </a:p>
          <a:p xmlns:a="http://schemas.openxmlformats.org/drawingml/2006/main">
            <a:r>
              <a:t>Fijar los límites evita que cambiar la población altere la escala de comparación. Las métricas del parque usan irradiación media ponderada por área y distancias desde su centroide. Se recorta a[0,1]. Si mínimo y máximo coinciden, el criterio asigna 1 a todos.</a:t>
            </a:r>
          </a:p>
          <a:p xmlns:a="http://schemas.openxmlformats.org/drawingml/2006/main">
            <a:r>
              <a:t/>
            </a:r>
          </a:p>
          <a:p xmlns:a="http://schemas.openxmlformats.org/drawingml/2006/main">
            <a:r>
              <a:t>ALCANCE Y LÍMITES</a:t>
            </a:r>
          </a:p>
          <a:p xmlns:a="http://schemas.openxmlformats.org/drawingml/2006/main">
            <a:r>
              <a:t>No usamos z-score ni renormalizamos por generación. Estos puntajes son relativos al dataset y escenario. No comparar directamente fitness entre escenarios de distinto límite sin analizar sus componentes.</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a:t>
            </a:r>
          </a:p>
          <a:p xmlns:a="http://schemas.openxmlformats.org/drawingml/2006/main">
            <a:r>
              <a:t>Python organiza el pipeline y el AG propio. NumPy gestiona azar y cálculos, pandas los registros, GeoPandas y Shapely las geometrías y distancias, y PyProj los sistemas de coordenadas. xarray,Zarr,Dask y fsspec leen el clima. SQLAlchemy y SQLite persisten datasets y corridas. Folium y HTML presentan resultados.</a:t>
            </a:r>
          </a:p>
          <a:p xmlns:a="http://schemas.openxmlformats.org/drawingml/2006/main">
            <a:r>
              <a:t/>
            </a:r>
          </a:p>
          <a:p xmlns:a="http://schemas.openxmlformats.org/drawingml/2006/main">
            <a:r>
              <a:t>DECISIONES Y JUSTIFICACIÓN</a:t>
            </a:r>
          </a:p>
          <a:p xmlns:a="http://schemas.openxmlformats.org/drawingml/2006/main">
            <a:r>
              <a:t>Separar módulos de datos, procesamiento, optimización y visualización permite cambiar una fuente o probar un escenario sin mezclar acceso remoto con evaluación. Pydantic valida configuración y requests realiza los accesos HTTP vectoriales.</a:t>
            </a:r>
          </a:p>
          <a:p xmlns:a="http://schemas.openxmlformats.org/drawingml/2006/main">
            <a:r>
              <a:t/>
            </a:r>
          </a:p>
          <a:p xmlns:a="http://schemas.openxmlformats.org/drawingml/2006/main">
            <a:r>
              <a:t>ALCANCE Y LÍMITES</a:t>
            </a:r>
          </a:p>
          <a:p xmlns:a="http://schemas.openxmlformats.org/drawingml/2006/main">
            <a:r>
              <a:t>El AG no depende de DEAP. La librería específica de dibujo de gráficas es JavaScript embebido del proyecto. El mapa puede requerir teselas de OpenStreetMap. Las versiones efectivas de las bibliotecas principales están en los metadatos de la corrida.</a:t>
            </a:r>
          </a:p>
          <a:p xmlns:a="http://schemas.openxmlformats.org/drawingml/2006/main">
            <a:r>
              <a:t/>
            </a:r>
          </a:p>
          <a:p xmlns:a="http://schemas.openxmlformats.org/drawingml/2006/main">
            <a:r>
              <a:t>FUENTES</a:t>
            </a:r>
          </a:p>
          <a:p xmlns:a="http://schemas.openxmlformats.org/drawingml/2006/main">
            <a:r>
              <a:t>C:/Users/creis/OneDrive/Escritorio/AG-ParqueSolar-2026/requirements.txt</a:t>
            </a:r>
          </a:p>
          <a:p xmlns:a="http://schemas.openxmlformats.org/drawingml/2006/main">
            <a:r>
              <a:t>C:/Users/creis/OneDrive/Escritorio/AG-ParqueSolar-2026/src/main.py</a:t>
            </a:r>
          </a:p>
          <a:p xmlns:a="http://schemas.openxmlformats.org/drawingml/2006/main">
            <a:r>
              <a:t>C:/Users/creis/OneDrive/Escritorio/AG-ParqueSolar-2026/src/optimization/genetic_algorithm.py</a:t>
            </a:r>
          </a:p>
          <a:p xmlns:a="http://schemas.openxmlformats.org/drawingml/2006/main">
            <a:r>
              <a:t>C:/Users/creis/OneDrive/Escritorio/AG-ParqueSolar-2026/src/pipeline/reporting.py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a:t>
            </a:r>
          </a:p>
          <a:p xmlns:a="http://schemas.openxmlformats.org/drawingml/2006/main">
            <a:r>
              <a:t>IGN se obtiene como ZIP con shapefile. INDEC usa GET WFS paginado, con 500 registros por página. Las líneas usan CKAN datastore_search paginado y las ET un CSV directo. El clima usa lectura de bloques ARCO Zarr. Se valida la respuesta y se conserva la caché antes de preparar el dataset.</a:t>
            </a:r>
          </a:p>
          <a:p xmlns:a="http://schemas.openxmlformats.org/drawingml/2006/main">
            <a:r>
              <a:t/>
            </a:r>
          </a:p>
          <a:p xmlns:a="http://schemas.openxmlformats.org/drawingml/2006/main">
            <a:r>
              <a:t>DECISIONES Y JUSTIFICACIÓN</a:t>
            </a:r>
          </a:p>
          <a:p xmlns:a="http://schemas.openxmlformats.org/drawingml/2006/main">
            <a:r>
              <a:t>WFS requiere controles de IDs, páginas y total para evitar capas incompletas. El clima exige horas únicas y finitas para cada mes. La caché reduce transferencias repetidas. SQLite conserva snapshots de contenido y la corrida guarda semilla, configuración, versiones y límites de normalización.</a:t>
            </a:r>
          </a:p>
          <a:p xmlns:a="http://schemas.openxmlformats.org/drawingml/2006/main">
            <a:r>
              <a:t/>
            </a:r>
          </a:p>
          <a:p xmlns:a="http://schemas.openxmlformats.org/drawingml/2006/main">
            <a:r>
              <a:t>ALCANCE Y LÍMITES</a:t>
            </a:r>
          </a:p>
          <a:p xmlns:a="http://schemas.openxmlformats.org/drawingml/2006/main">
            <a:r>
              <a:t>La credencial de Copernicus se toma del entorno y se excluye de los resultados. Si falta una fuente activa, el pipeline se detiene. El código no inventa ET ni valores solares. La exclusión urbana siempre permanece activa.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C:/Users/creis/OneDrive/Escritorio/AG-ParqueSolar-2026/src/api/indec.py</a:t>
            </a:r>
          </a:p>
          <a:p xmlns:a="http://schemas.openxmlformats.org/drawingml/2006/main">
            <a:r>
              <a:t>C:/Users/creis/OneDrive/Escritorio/AG-ParqueSolar-2026/src/api/datos_gob_ar.py</a:t>
            </a:r>
          </a:p>
          <a:p xmlns:a="http://schemas.openxmlformats.org/drawingml/2006/main">
            <a:r>
              <a:t>C:/Users/creis/OneDrive/Escritorio/AG-ParqueSolar-2026/src/climate/arco.py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a:t>
            </a:r>
          </a:p>
          <a:p xmlns:a="http://schemas.openxmlformats.org/drawingml/2006/main">
            <a:r>
              <a:t/>
            </a:r>
          </a:p>
          <a:p xmlns:a="http://schemas.openxmlformats.org/drawingml/2006/main">
            <a:r>
              <a:t>EXPLICACIÓN</a:t>
            </a:r>
          </a:p>
          <a:p xmlns:a="http://schemas.openxmlformats.org/drawingml/2006/main">
            <a:r>
              <a:t>Consultar durante preguntas los rangos fijos de normalización y principales supuestos.</a:t>
            </a:r>
          </a:p>
          <a:p xmlns:a="http://schemas.openxmlformats.org/drawingml/2006/main">
            <a:r>
              <a:t/>
            </a:r>
          </a:p>
          <a:p xmlns:a="http://schemas.openxmlformats.org/drawingml/2006/main">
            <a:r>
              <a:t>DECISIONES Y JUSTIFICACIÓN</a:t>
            </a:r>
          </a:p>
          <a:p xmlns:a="http://schemas.openxmlformats.org/drawingml/2006/main">
            <a:r>
              <a:t>Estos valores proceden directamente de optimization_run.json y no se recalcularon a partir de la población.</a:t>
            </a:r>
          </a:p>
          <a:p xmlns:a="http://schemas.openxmlformats.org/drawingml/2006/main">
            <a:r>
              <a:t/>
            </a:r>
          </a:p>
          <a:p xmlns:a="http://schemas.openxmlformats.org/drawingml/2006/main">
            <a:r>
              <a:t>ALCANCE Y LÍMITES</a:t>
            </a:r>
          </a:p>
          <a:p xmlns:a="http://schemas.openxmlformats.org/drawingml/2006/main">
            <a:r>
              <a:t>Los rangos reflejan el dataset utilizado. No son valores universales.</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a:t>
            </a:r>
          </a:p>
          <a:p xmlns:a="http://schemas.openxmlformats.org/drawingml/2006/main">
            <a:r>
              <a:t/>
            </a:r>
          </a:p>
          <a:p xmlns:a="http://schemas.openxmlformats.org/drawingml/2006/main">
            <a:r>
              <a:t>EXPLICACIÓN</a:t>
            </a:r>
          </a:p>
          <a:p xmlns:a="http://schemas.openxmlformats.org/drawingml/2006/main">
            <a:r>
              <a:t>Los alias del diagrama corresponden a los enteros indicados en esta tabla. La semilla del hijo A es 194480.</a:t>
            </a:r>
          </a:p>
          <a:p xmlns:a="http://schemas.openxmlformats.org/drawingml/2006/main">
            <a:r>
              <a:t/>
            </a:r>
          </a:p>
          <a:p xmlns:a="http://schemas.openxmlformats.org/drawingml/2006/main">
            <a:r>
              <a:t>DECISIONES Y JUSTIFICACIÓN</a:t>
            </a:r>
          </a:p>
          <a:p xmlns:a="http://schemas.openxmlformats.org/drawingml/2006/main">
            <a:r>
              <a:t>La tabla permite auditar el ejemplo sin cargar la explicación principal con enteros largos. Los cortes son 3 y 4.</a:t>
            </a:r>
          </a:p>
          <a:p xmlns:a="http://schemas.openxmlformats.org/drawingml/2006/main">
            <a:r>
              <a:t/>
            </a:r>
          </a:p>
          <a:p xmlns:a="http://schemas.openxmlformats.org/drawingml/2006/main">
            <a:r>
              <a:t>ALCANCE Y LÍMITES</a:t>
            </a:r>
          </a:p>
          <a:p xmlns:a="http://schemas.openxmlformats.org/drawingml/2006/main">
            <a:r>
              <a:t>Los enteros se interpretan mediante módulo sobre la frontera actual. Un alias no identifica una dirección fija.</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 minutos (apoyo para preguntas)</a:t>
            </a:r>
          </a:p>
          <a:p xmlns:a="http://schemas.openxmlformats.org/drawingml/2006/main">
            <a:r>
              <a:t/>
            </a:r>
          </a:p>
          <a:p xmlns:a="http://schemas.openxmlformats.org/drawingml/2006/main">
            <a:r>
              <a:t>EXPLICACIÓN</a:t>
            </a:r>
          </a:p>
          <a:p xmlns:a="http://schemas.openxmlformats.org/drawingml/2006/main">
            <a:r>
              <a:t>Comparar formas del mejor candidato en generaciones 0,50 y 200. Los tres son resultados reales de la nueva corrida.</a:t>
            </a:r>
          </a:p>
          <a:p xmlns:a="http://schemas.openxmlformats.org/drawingml/2006/main">
            <a:r>
              <a:t/>
            </a:r>
          </a:p>
          <a:p xmlns:a="http://schemas.openxmlformats.org/drawingml/2006/main">
            <a:r>
              <a:t>DECISIONES Y JUSTIFICACIÓN</a:t>
            </a:r>
          </a:p>
          <a:p xmlns:a="http://schemas.openxmlformats.org/drawingml/2006/main">
            <a:r>
              <a:t>Esta comparación ilustra cambios en el liderazgo de la población.</a:t>
            </a:r>
          </a:p>
          <a:p xmlns:a="http://schemas.openxmlformats.org/drawingml/2006/main">
            <a:r>
              <a:t/>
            </a:r>
          </a:p>
          <a:p xmlns:a="http://schemas.openxmlformats.org/drawingml/2006/main">
            <a:r>
              <a:t>ALCANCE Y LÍMITES</a:t>
            </a:r>
          </a:p>
          <a:p xmlns:a="http://schemas.openxmlformats.org/drawingml/2006/main">
            <a:r>
              <a:t>No es una genealogía: distintos líderes pueden proceder de diferentes padres y ubicaciones. El líder final conserva 32 genes, de los cuales 9 producen crecimiento, y termina con 10 celdas.</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C:/Users/creis/OneDrive/Escritorio/AG-ParqueSolar-2026/tmp/presentation_build/defensa_nueva/evidence.json</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Las ilustraciones son conceptuales. Todos los contornos de Santa Fe proceden de la geometría oficial IGN del dataset existente. Los eventos de cruce y mutación son registros de la corrida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e451c2b8624f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9a1149f89a44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4cbaaa91e94c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7ee252f84c42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c2eaec122b41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48c7fe217f4a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C81E6-DC0E-41AA-90E7-85859F01B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277E67-1FD4-42D7-8055-2F00077C2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237D7-D92B-43CF-A4F2-52F132B1A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67B5A-969D-4C62-B279-6FEC62C19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1C360-BB42-4BE2-81D0-8376222E8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2FF8FB-73FA-4785-9BBE-C1C8A23FB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062D7-6A38-484B-B29A-FBF3257E2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5674-6782-4CA2-9285-7578E4BD9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50DCC-61FF-418C-8611-CAB499F79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63681-445B-4C62-900F-B8F16402EB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e7e683a7c04122" /><Relationship Type="http://schemas.openxmlformats.org/officeDocument/2006/relationships/slideLayout" Target="/ppt/slideLayouts/slideLayout1.xml" Id="R2a7a06b464734cce" /><Relationship Type="http://schemas.openxmlformats.org/officeDocument/2006/relationships/slideLayout" Target="/ppt/slideLayouts/slideLayout2.xml" Id="R637b9e28d45a4184" /><Relationship Type="http://schemas.openxmlformats.org/officeDocument/2006/relationships/slideLayout" Target="/ppt/slideLayouts/slideLayout3.xml" Id="R63264d1f4505475a" /><Relationship Type="http://schemas.openxmlformats.org/officeDocument/2006/relationships/slideLayout" Target="/ppt/slideLayouts/slideLayout4.xml" Id="R9f93729729c44704" /><Relationship Type="http://schemas.openxmlformats.org/officeDocument/2006/relationships/slideLayout" Target="/ppt/slideLayouts/slideLayout5.xml" Id="R65e78a7b55c849b9" /><Relationship Type="http://schemas.openxmlformats.org/officeDocument/2006/relationships/slideLayout" Target="/ppt/slideLayouts/slideLayout6.xml" Id="R5651cbc8a45f4d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7a06b464734cce"/>
    <p:sldLayoutId xmlns:r="http://schemas.openxmlformats.org/officeDocument/2006/relationships" id="2147483650" r:id="R637b9e28d45a4184"/>
    <p:sldLayoutId xmlns:r="http://schemas.openxmlformats.org/officeDocument/2006/relationships" id="2147483651" r:id="R63264d1f4505475a"/>
    <p:sldLayoutId xmlns:r="http://schemas.openxmlformats.org/officeDocument/2006/relationships" id="2147483652" r:id="R9f93729729c44704"/>
    <p:sldLayoutId xmlns:r="http://schemas.openxmlformats.org/officeDocument/2006/relationships" id="2147483653" r:id="R65e78a7b55c849b9"/>
    <p:sldLayoutId xmlns:r="http://schemas.openxmlformats.org/officeDocument/2006/relationships" id="2147483654" r:id="R5651cbc8a45f4d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5c5ba4666c442d" /><Relationship Type="http://schemas.openxmlformats.org/officeDocument/2006/relationships/image" Target="/ppt/media/image.png" Id="Rd2ce7885c65d4d2f" /><Relationship Type="http://schemas.openxmlformats.org/officeDocument/2006/relationships/notesSlide" Target="/ppt/notesSlides/notesSlide1.xml" Id="R057d2c59c6c941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c7dcf718e84a8d" /><Relationship Type="http://schemas.openxmlformats.org/officeDocument/2006/relationships/image" Target="/ppt/media/image2.png" Id="R1c64ad76458247b2" /><Relationship Type="http://schemas.openxmlformats.org/officeDocument/2006/relationships/notesSlide" Target="/ppt/notesSlides/notesSlide2.xml" Id="R1fc91b962c3841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797bffeabc4b74" /><Relationship Type="http://schemas.openxmlformats.org/officeDocument/2006/relationships/image" Target="/ppt/media/image3.png" Id="Rb8daf35302b64df7" /><Relationship Type="http://schemas.openxmlformats.org/officeDocument/2006/relationships/notesSlide" Target="/ppt/notesSlides/notesSlide3.xml" Id="Rc82dae81f21947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dbb7451f47404b" /><Relationship Type="http://schemas.openxmlformats.org/officeDocument/2006/relationships/image" Target="/ppt/media/image4.png" Id="Ra8579cea8fec4401" /><Relationship Type="http://schemas.openxmlformats.org/officeDocument/2006/relationships/notesSlide" Target="/ppt/notesSlides/notesSlide4.xml" Id="R2af9a9b4debb4a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deb5c90f4b44e4" /><Relationship Type="http://schemas.openxmlformats.org/officeDocument/2006/relationships/image" Target="/ppt/media/image5.png" Id="Rc78eed4b10df4bdd" /><Relationship Type="http://schemas.openxmlformats.org/officeDocument/2006/relationships/notesSlide" Target="/ppt/notesSlides/notesSlide5.xml" Id="Redba7c1ce82643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fdf164a62c4d68" /><Relationship Type="http://schemas.openxmlformats.org/officeDocument/2006/relationships/image" Target="/ppt/media/image6.png" Id="R326ddfab853a49fa" /><Relationship Type="http://schemas.openxmlformats.org/officeDocument/2006/relationships/notesSlide" Target="/ppt/notesSlides/notesSlide6.xml" Id="Rcca75ba577e44d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4a5df533ca43f7" /><Relationship Type="http://schemas.openxmlformats.org/officeDocument/2006/relationships/image" Target="/ppt/media/image7.png" Id="R52584c00ccd24455" /><Relationship Type="http://schemas.openxmlformats.org/officeDocument/2006/relationships/notesSlide" Target="/ppt/notesSlides/notesSlide7.xml" Id="Rca9329884f0144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6a23896b064a5b" /><Relationship Type="http://schemas.openxmlformats.org/officeDocument/2006/relationships/image" Target="/ppt/media/image8.png" Id="R1c102e4dad414377" /><Relationship Type="http://schemas.openxmlformats.org/officeDocument/2006/relationships/notesSlide" Target="/ppt/notesSlides/notesSlide8.xml" Id="R0c71ace874e346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ad7ce0f0fb44fe9" /><Relationship Type="http://schemas.openxmlformats.org/officeDocument/2006/relationships/image" Target="/ppt/media/image9.png" Id="R0be0b9dfb4394e62" /><Relationship Type="http://schemas.openxmlformats.org/officeDocument/2006/relationships/notesSlide" Target="/ppt/notesSlides/notesSlide9.xml" Id="R52464a8e8be346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7fc436b96b4d75" /><Relationship Type="http://schemas.openxmlformats.org/officeDocument/2006/relationships/chart" Target="/ppt/slides/charts/chart1.xml" Id="R653055a6da564329" /><Relationship Type="http://schemas.openxmlformats.org/officeDocument/2006/relationships/notesSlide" Target="/ppt/notesSlides/notesSlide10.xml" Id="Rfd4f8019e23e46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eead3b467548cd" /><Relationship Type="http://schemas.openxmlformats.org/officeDocument/2006/relationships/image" Target="/ppt/media/image10.png" Id="Rff51f0987000431f" /><Relationship Type="http://schemas.openxmlformats.org/officeDocument/2006/relationships/notesSlide" Target="/ppt/notesSlides/notesSlide11.xml" Id="R653c06ebc5a547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d268cd691b42af" /><Relationship Type="http://schemas.openxmlformats.org/officeDocument/2006/relationships/notesSlide" Target="/ppt/notesSlides/notesSlide12.xml" Id="R420753fdea004e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db07b4075b4d16" /><Relationship Type="http://schemas.openxmlformats.org/officeDocument/2006/relationships/image" Target="/ppt/media/image11.png" Id="R2b0c7ae4427a4bde" /><Relationship Type="http://schemas.openxmlformats.org/officeDocument/2006/relationships/image" Target="/ppt/media/image12.png" Id="Rcc3e60722c354982" /><Relationship Type="http://schemas.openxmlformats.org/officeDocument/2006/relationships/image" Target="/ppt/media/image13.png" Id="R3628e24c01bc4065" /><Relationship Type="http://schemas.openxmlformats.org/officeDocument/2006/relationships/notesSlide" Target="/ppt/notesSlides/notesSlide13.xml" Id="Rd65e226bbfdc41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8804e2ef4d4693" /><Relationship Type="http://schemas.openxmlformats.org/officeDocument/2006/relationships/image" Target="/ppt/media/image14.png" Id="R969f37aa88484c19" /><Relationship Type="http://schemas.openxmlformats.org/officeDocument/2006/relationships/notesSlide" Target="/ppt/notesSlides/notesSlide14.xml" Id="Rc30eca30f99541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f437f9da6b44c2e" /><Relationship Type="http://schemas.openxmlformats.org/officeDocument/2006/relationships/image" Target="/ppt/media/image15.png" Id="R2511f6c34b4b466c" /><Relationship Type="http://schemas.openxmlformats.org/officeDocument/2006/relationships/notesSlide" Target="/ppt/notesSlides/notesSlide15.xml" Id="R95448188d0e74a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3071f2b9b64e10" /><Relationship Type="http://schemas.openxmlformats.org/officeDocument/2006/relationships/image" Target="/ppt/media/image16.png" Id="R8e1fd46e07e745de" /><Relationship Type="http://schemas.openxmlformats.org/officeDocument/2006/relationships/image" Target="/ppt/media/image17.png" Id="R29233763cddd4054" /><Relationship Type="http://schemas.openxmlformats.org/officeDocument/2006/relationships/notesSlide" Target="/ppt/notesSlides/notesSlide16.xml" Id="R536ecb4bb7e949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1b084de34654d2b" /><Relationship Type="http://schemas.openxmlformats.org/officeDocument/2006/relationships/image" Target="/ppt/media/image18.png" Id="R0d725794d11b4d55" /><Relationship Type="http://schemas.openxmlformats.org/officeDocument/2006/relationships/notesSlide" Target="/ppt/notesSlides/notesSlide17.xml" Id="Rd365838070e740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e3223a2093c4e2d" /><Relationship Type="http://schemas.openxmlformats.org/officeDocument/2006/relationships/chart" Target="/ppt/slides/charts/chart2.xml" Id="R4fe48902a3e842e5" /><Relationship Type="http://schemas.openxmlformats.org/officeDocument/2006/relationships/notesSlide" Target="/ppt/notesSlides/notesSlide18.xml" Id="R58947cb3ccea42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e03710419524c9f" /><Relationship Type="http://schemas.openxmlformats.org/officeDocument/2006/relationships/image" Target="/ppt/media/image19.png" Id="R8cc8fa72466e4e94" /><Relationship Type="http://schemas.openxmlformats.org/officeDocument/2006/relationships/notesSlide" Target="/ppt/notesSlides/notesSlide19.xml" Id="Red3d0cb7349841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d704c4442b427d" /><Relationship Type="http://schemas.openxmlformats.org/officeDocument/2006/relationships/image" Target="/ppt/media/image20.png" Id="R104710617866466d" /><Relationship Type="http://schemas.openxmlformats.org/officeDocument/2006/relationships/chart" Target="/ppt/slides/charts/chart3.xml" Id="Rcda8b5823ada4397" /><Relationship Type="http://schemas.openxmlformats.org/officeDocument/2006/relationships/notesSlide" Target="/ppt/notesSlides/notesSlide20.xml" Id="Rb4791565e34045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f026556f37949ec" /><Relationship Type="http://schemas.openxmlformats.org/officeDocument/2006/relationships/notesSlide" Target="/ppt/notesSlides/notesSlide21.xml" Id="Rc99993dc5ba342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822607387d84173" /><Relationship Type="http://schemas.openxmlformats.org/officeDocument/2006/relationships/notesSlide" Target="/ppt/notesSlides/notesSlide22.xml" Id="R3829f51615a84f5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46a3c99e5624e52" /><Relationship Type="http://schemas.openxmlformats.org/officeDocument/2006/relationships/notesSlide" Target="/ppt/notesSlides/notesSlide23.xml" Id="R55d9b60b31e743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e9987d724a6463e" /><Relationship Type="http://schemas.openxmlformats.org/officeDocument/2006/relationships/notesSlide" Target="/ppt/notesSlides/notesSlide24.xml" Id="R9667da960cf541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3f059000bfd44b3" /><Relationship Type="http://schemas.openxmlformats.org/officeDocument/2006/relationships/notesSlide" Target="/ppt/notesSlides/notesSlide25.xml" Id="R54988a81c07e46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ad51801d1254866" /><Relationship Type="http://schemas.openxmlformats.org/officeDocument/2006/relationships/notesSlide" Target="/ppt/notesSlides/notesSlide26.xml" Id="R79239bff805549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6390c60dd414e36" /><Relationship Type="http://schemas.openxmlformats.org/officeDocument/2006/relationships/image" Target="/ppt/media/image21.png" Id="R20765cce94a54a83" /><Relationship Type="http://schemas.openxmlformats.org/officeDocument/2006/relationships/image" Target="/ppt/media/image22.png" Id="R20bb259a735e4806" /><Relationship Type="http://schemas.openxmlformats.org/officeDocument/2006/relationships/image" Target="/ppt/media/image23.png" Id="R24f67883eeee46cf" /><Relationship Type="http://schemas.openxmlformats.org/officeDocument/2006/relationships/notesSlide" Target="/ppt/notesSlides/notesSlide27.xml" Id="R9313fc821b0542a0" /></Relationships>
</file>

<file path=ppt/slides/charts/chart1.xml><?xml version="1.0" encoding="utf-8"?>
<c:chartSpace xmlns:c="http://schemas.openxmlformats.org/drawingml/2006/chart">
  <c:lang val="en-US"/>
  <c:chart>
    <c:plotArea>
      <c:barChart>
        <c:barDir val="bar"/>
        <c:grouping val="clustered"/>
        <c:varyColors val="0"/>
        <c:ser>
          <c:idx val="0"/>
          <c:order val="0"/>
          <c:tx>
            <c:v>Peso</c:v>
          </c:tx>
          <c:spPr>
            <a:solidFill xmlns:a="http://schemas.openxmlformats.org/drawingml/2006/main">
              <a:srgbClr val="367C86"/>
            </a:solidFill>
          </c:spPr>
          <c:cat>
            <c:strLit>
              <c:ptCount val="4"/>
              <c:pt idx="0">
                <c:v>Solar</c:v>
              </c:pt>
              <c:pt idx="1">
                <c:v>Líneas</c:v>
              </c:pt>
              <c:pt idx="2">
                <c:v>ET</c:v>
              </c:pt>
              <c:pt idx="3">
                <c:v>Potencia</c:v>
              </c:pt>
            </c:strLit>
          </c:cat>
          <c:val>
            <c:numLit>
              <c:formatCode>General</c:formatCode>
              <c:ptCount val="4"/>
              <c:pt idx="0">
                <c:v>0.4</c:v>
              </c:pt>
              <c:pt idx="1">
                <c:v>0.1</c:v>
              </c:pt>
              <c:pt idx="2">
                <c:v>0.4</c:v>
              </c:pt>
              <c:pt idx="3">
                <c:v>0.1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5"/>
          <c:min val="0"/>
        </c:scaling>
        <c:delete val="1"/>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Mejor</c:v>
          </c:tx>
          <c:spPr>
            <a:ln xmlns:a="http://schemas.openxmlformats.org/drawingml/2006/main" w="28575">
              <a:solidFill>
                <a:srgbClr val="367C8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0.6383617392902701</c:v>
              </c:pt>
              <c:pt idx="1">
                <c:v>0.6742131451538586</c:v>
              </c:pt>
              <c:pt idx="2">
                <c:v>0.6742131451538586</c:v>
              </c:pt>
              <c:pt idx="3">
                <c:v>0.6756692977935892</c:v>
              </c:pt>
              <c:pt idx="4">
                <c:v>0.6757743830326968</c:v>
              </c:pt>
              <c:pt idx="5">
                <c:v>0.6769001895258484</c:v>
              </c:pt>
              <c:pt idx="6">
                <c:v>0.6769001895258484</c:v>
              </c:pt>
              <c:pt idx="7">
                <c:v>0.6769001895258484</c:v>
              </c:pt>
              <c:pt idx="8">
                <c:v>0.6769001895258484</c:v>
              </c:pt>
              <c:pt idx="9">
                <c:v>0.6770687036843585</c:v>
              </c:pt>
              <c:pt idx="10">
                <c:v>0.6778325343365604</c:v>
              </c:pt>
              <c:pt idx="11">
                <c:v>0.6778325343365604</c:v>
              </c:pt>
              <c:pt idx="12">
                <c:v>0.6783477934003085</c:v>
              </c:pt>
              <c:pt idx="13">
                <c:v>0.6783477934003085</c:v>
              </c:pt>
              <c:pt idx="14">
                <c:v>0.6785205185250182</c:v>
              </c:pt>
              <c:pt idx="15">
                <c:v>0.6785736812336771</c:v>
              </c:pt>
              <c:pt idx="16">
                <c:v>0.6785736812336771</c:v>
              </c:pt>
              <c:pt idx="17">
                <c:v>0.6785822140389123</c:v>
              </c:pt>
              <c:pt idx="18">
                <c:v>0.6785822140389123</c:v>
              </c:pt>
              <c:pt idx="19">
                <c:v>0.6785822140389123</c:v>
              </c:pt>
              <c:pt idx="20">
                <c:v>0.6785822140389123</c:v>
              </c:pt>
              <c:pt idx="21">
                <c:v>0.6785822140389123</c:v>
              </c:pt>
              <c:pt idx="22">
                <c:v>0.6785822140389123</c:v>
              </c:pt>
              <c:pt idx="23">
                <c:v>0.6785822140389123</c:v>
              </c:pt>
              <c:pt idx="24">
                <c:v>0.6788973687519909</c:v>
              </c:pt>
              <c:pt idx="25">
                <c:v>0.6788973687519909</c:v>
              </c:pt>
              <c:pt idx="26">
                <c:v>0.6880133945789766</c:v>
              </c:pt>
              <c:pt idx="27">
                <c:v>0.688743251193518</c:v>
              </c:pt>
              <c:pt idx="28">
                <c:v>0.6899504778726561</c:v>
              </c:pt>
              <c:pt idx="29">
                <c:v>0.6899504778726561</c:v>
              </c:pt>
              <c:pt idx="30">
                <c:v>0.6899504778726561</c:v>
              </c:pt>
              <c:pt idx="31">
                <c:v>0.690076684729217</c:v>
              </c:pt>
              <c:pt idx="32">
                <c:v>0.6904421829372597</c:v>
              </c:pt>
              <c:pt idx="33">
                <c:v>0.6904421829372597</c:v>
              </c:pt>
              <c:pt idx="34">
                <c:v>0.6904421829372597</c:v>
              </c:pt>
              <c:pt idx="35">
                <c:v>0.6904421829372597</c:v>
              </c:pt>
              <c:pt idx="36">
                <c:v>0.6904421829372597</c:v>
              </c:pt>
              <c:pt idx="37">
                <c:v>0.6905026270435315</c:v>
              </c:pt>
              <c:pt idx="38">
                <c:v>0.6905145613428085</c:v>
              </c:pt>
              <c:pt idx="39">
                <c:v>0.6905145613428085</c:v>
              </c:pt>
              <c:pt idx="40">
                <c:v>0.6905145613428085</c:v>
              </c:pt>
              <c:pt idx="41">
                <c:v>0.6905145613428085</c:v>
              </c:pt>
              <c:pt idx="42">
                <c:v>0.6905145613428085</c:v>
              </c:pt>
              <c:pt idx="43">
                <c:v>0.6905145613428085</c:v>
              </c:pt>
              <c:pt idx="44">
                <c:v>0.6906894993341748</c:v>
              </c:pt>
              <c:pt idx="45">
                <c:v>0.6906894993341748</c:v>
              </c:pt>
              <c:pt idx="46">
                <c:v>0.6906894993341748</c:v>
              </c:pt>
              <c:pt idx="47">
                <c:v>0.6906894993341748</c:v>
              </c:pt>
              <c:pt idx="48">
                <c:v>0.6906894993341748</c:v>
              </c:pt>
              <c:pt idx="49">
                <c:v>0.6906894993341748</c:v>
              </c:pt>
              <c:pt idx="50">
                <c:v>0.6906894993341748</c:v>
              </c:pt>
              <c:pt idx="51">
                <c:v>0.6906894993341748</c:v>
              </c:pt>
              <c:pt idx="52">
                <c:v>0.6906894993341748</c:v>
              </c:pt>
              <c:pt idx="53">
                <c:v>0.6906894993341748</c:v>
              </c:pt>
              <c:pt idx="54">
                <c:v>0.6906894993341748</c:v>
              </c:pt>
              <c:pt idx="55">
                <c:v>0.6906894993341748</c:v>
              </c:pt>
              <c:pt idx="56">
                <c:v>0.6947280822340257</c:v>
              </c:pt>
              <c:pt idx="57">
                <c:v>0.7143743494888697</c:v>
              </c:pt>
              <c:pt idx="58">
                <c:v>0.7143743494888697</c:v>
              </c:pt>
              <c:pt idx="59">
                <c:v>0.7147810546500238</c:v>
              </c:pt>
              <c:pt idx="60">
                <c:v>0.7147810546500238</c:v>
              </c:pt>
              <c:pt idx="61">
                <c:v>0.7147810546500238</c:v>
              </c:pt>
              <c:pt idx="62">
                <c:v>0.7147810546500238</c:v>
              </c:pt>
              <c:pt idx="63">
                <c:v>0.7151038522861519</c:v>
              </c:pt>
              <c:pt idx="64">
                <c:v>0.7151038522861519</c:v>
              </c:pt>
              <c:pt idx="65">
                <c:v>0.7151038522861519</c:v>
              </c:pt>
              <c:pt idx="66">
                <c:v>0.7151038522861519</c:v>
              </c:pt>
              <c:pt idx="67">
                <c:v>0.715110629566293</c:v>
              </c:pt>
              <c:pt idx="68">
                <c:v>0.7151385882067705</c:v>
              </c:pt>
              <c:pt idx="69">
                <c:v>0.7151385882067705</c:v>
              </c:pt>
              <c:pt idx="70">
                <c:v>0.7151385882067705</c:v>
              </c:pt>
              <c:pt idx="71">
                <c:v>0.7151595448207423</c:v>
              </c:pt>
              <c:pt idx="72">
                <c:v>0.7151595448207423</c:v>
              </c:pt>
              <c:pt idx="73">
                <c:v>0.7151595448207423</c:v>
              </c:pt>
              <c:pt idx="74">
                <c:v>0.7151595448207423</c:v>
              </c:pt>
              <c:pt idx="75">
                <c:v>0.7151595448207423</c:v>
              </c:pt>
              <c:pt idx="76">
                <c:v>0.7151595448207423</c:v>
              </c:pt>
              <c:pt idx="77">
                <c:v>0.7151595448207423</c:v>
              </c:pt>
              <c:pt idx="78">
                <c:v>0.7151595448207423</c:v>
              </c:pt>
              <c:pt idx="79">
                <c:v>0.7151595448207423</c:v>
              </c:pt>
              <c:pt idx="80">
                <c:v>0.7151595448207423</c:v>
              </c:pt>
              <c:pt idx="81">
                <c:v>0.7151595448207423</c:v>
              </c:pt>
              <c:pt idx="82">
                <c:v>0.7151595448207423</c:v>
              </c:pt>
              <c:pt idx="83">
                <c:v>0.7151595448207423</c:v>
              </c:pt>
              <c:pt idx="84">
                <c:v>0.7151595448207423</c:v>
              </c:pt>
              <c:pt idx="85">
                <c:v>0.7151595448207423</c:v>
              </c:pt>
              <c:pt idx="86">
                <c:v>0.7151595448207423</c:v>
              </c:pt>
              <c:pt idx="87">
                <c:v>0.7151595448207423</c:v>
              </c:pt>
              <c:pt idx="88">
                <c:v>0.7151595448207423</c:v>
              </c:pt>
              <c:pt idx="89">
                <c:v>0.7151595448207423</c:v>
              </c:pt>
              <c:pt idx="90">
                <c:v>0.7151595448207423</c:v>
              </c:pt>
              <c:pt idx="91">
                <c:v>0.7151595448207423</c:v>
              </c:pt>
              <c:pt idx="92">
                <c:v>0.7151595448207423</c:v>
              </c:pt>
              <c:pt idx="93">
                <c:v>0.7151595448207423</c:v>
              </c:pt>
              <c:pt idx="94">
                <c:v>0.7151595448207423</c:v>
              </c:pt>
              <c:pt idx="95">
                <c:v>0.7151595448207423</c:v>
              </c:pt>
              <c:pt idx="96">
                <c:v>0.7151595448207423</c:v>
              </c:pt>
              <c:pt idx="97">
                <c:v>0.7151595448207423</c:v>
              </c:pt>
              <c:pt idx="98">
                <c:v>0.7151595448207423</c:v>
              </c:pt>
              <c:pt idx="99">
                <c:v>0.7151595448207423</c:v>
              </c:pt>
              <c:pt idx="100">
                <c:v>0.7156464256904072</c:v>
              </c:pt>
              <c:pt idx="101">
                <c:v>0.7156464256904072</c:v>
              </c:pt>
              <c:pt idx="102">
                <c:v>0.7156464256904072</c:v>
              </c:pt>
              <c:pt idx="103">
                <c:v>0.7156464256904072</c:v>
              </c:pt>
              <c:pt idx="104">
                <c:v>0.7156464256904072</c:v>
              </c:pt>
              <c:pt idx="105">
                <c:v>0.7156464256904072</c:v>
              </c:pt>
              <c:pt idx="106">
                <c:v>0.7156464256904072</c:v>
              </c:pt>
              <c:pt idx="107">
                <c:v>0.7164029361570337</c:v>
              </c:pt>
              <c:pt idx="108">
                <c:v>0.7164029361570337</c:v>
              </c:pt>
              <c:pt idx="109">
                <c:v>0.7164029361570337</c:v>
              </c:pt>
              <c:pt idx="110">
                <c:v>0.7164029361570337</c:v>
              </c:pt>
              <c:pt idx="111">
                <c:v>0.71649331271315</c:v>
              </c:pt>
              <c:pt idx="112">
                <c:v>0.71649331271315</c:v>
              </c:pt>
              <c:pt idx="113">
                <c:v>0.71649331271315</c:v>
              </c:pt>
              <c:pt idx="114">
                <c:v>0.71649331271315</c:v>
              </c:pt>
              <c:pt idx="115">
                <c:v>0.71649331271315</c:v>
              </c:pt>
              <c:pt idx="116">
                <c:v>0.71649331271315</c:v>
              </c:pt>
              <c:pt idx="117">
                <c:v>0.7169167284194761</c:v>
              </c:pt>
              <c:pt idx="118">
                <c:v>0.7169167284194761</c:v>
              </c:pt>
              <c:pt idx="119">
                <c:v>0.7169167284194761</c:v>
              </c:pt>
              <c:pt idx="120">
                <c:v>0.7169167284194761</c:v>
              </c:pt>
              <c:pt idx="121">
                <c:v>0.7169167284194761</c:v>
              </c:pt>
              <c:pt idx="122">
                <c:v>0.7169167284194761</c:v>
              </c:pt>
              <c:pt idx="123">
                <c:v>0.7169167284194761</c:v>
              </c:pt>
              <c:pt idx="124">
                <c:v>0.7169167284194761</c:v>
              </c:pt>
              <c:pt idx="125">
                <c:v>0.7169167284194761</c:v>
              </c:pt>
              <c:pt idx="126">
                <c:v>0.7169167284194761</c:v>
              </c:pt>
              <c:pt idx="127">
                <c:v>0.7169167284194761</c:v>
              </c:pt>
              <c:pt idx="128">
                <c:v>0.7169167284194761</c:v>
              </c:pt>
              <c:pt idx="129">
                <c:v>0.7169167284194761</c:v>
              </c:pt>
              <c:pt idx="130">
                <c:v>0.7169167284194761</c:v>
              </c:pt>
              <c:pt idx="131">
                <c:v>0.7173606738841091</c:v>
              </c:pt>
              <c:pt idx="132">
                <c:v>0.7173606738841091</c:v>
              </c:pt>
              <c:pt idx="133">
                <c:v>0.7173606738841091</c:v>
              </c:pt>
              <c:pt idx="134">
                <c:v>0.7173606738841091</c:v>
              </c:pt>
              <c:pt idx="135">
                <c:v>0.7173606738841091</c:v>
              </c:pt>
              <c:pt idx="136">
                <c:v>0.7173606738841091</c:v>
              </c:pt>
              <c:pt idx="137">
                <c:v>0.7173606738841091</c:v>
              </c:pt>
              <c:pt idx="138">
                <c:v>0.7173606738841091</c:v>
              </c:pt>
              <c:pt idx="139">
                <c:v>0.7173606738841091</c:v>
              </c:pt>
              <c:pt idx="140">
                <c:v>0.7173606738841091</c:v>
              </c:pt>
              <c:pt idx="141">
                <c:v>0.7173606738841091</c:v>
              </c:pt>
              <c:pt idx="142">
                <c:v>0.7173606738841091</c:v>
              </c:pt>
              <c:pt idx="143">
                <c:v>0.7173606738841091</c:v>
              </c:pt>
              <c:pt idx="144">
                <c:v>0.7173606738841091</c:v>
              </c:pt>
              <c:pt idx="145">
                <c:v>0.7173606738841091</c:v>
              </c:pt>
              <c:pt idx="146">
                <c:v>0.7173606738841091</c:v>
              </c:pt>
              <c:pt idx="147">
                <c:v>0.7173606738841091</c:v>
              </c:pt>
              <c:pt idx="148">
                <c:v>0.7173606738841091</c:v>
              </c:pt>
              <c:pt idx="149">
                <c:v>0.7173606738841091</c:v>
              </c:pt>
              <c:pt idx="150">
                <c:v>0.7173606738841091</c:v>
              </c:pt>
              <c:pt idx="151">
                <c:v>0.7173606738841091</c:v>
              </c:pt>
              <c:pt idx="152">
                <c:v>0.7173606738841091</c:v>
              </c:pt>
              <c:pt idx="153">
                <c:v>0.7173606738841091</c:v>
              </c:pt>
              <c:pt idx="154">
                <c:v>0.7173606738841091</c:v>
              </c:pt>
              <c:pt idx="155">
                <c:v>0.7173606738841091</c:v>
              </c:pt>
              <c:pt idx="156">
                <c:v>0.7173606738841091</c:v>
              </c:pt>
              <c:pt idx="157">
                <c:v>0.7173606738841091</c:v>
              </c:pt>
              <c:pt idx="158">
                <c:v>0.7173606738841091</c:v>
              </c:pt>
              <c:pt idx="159">
                <c:v>0.7173606738841091</c:v>
              </c:pt>
              <c:pt idx="160">
                <c:v>0.7173606738841091</c:v>
              </c:pt>
              <c:pt idx="161">
                <c:v>0.7173606738841091</c:v>
              </c:pt>
              <c:pt idx="162">
                <c:v>0.7173606738841091</c:v>
              </c:pt>
              <c:pt idx="163">
                <c:v>0.7173606738841091</c:v>
              </c:pt>
              <c:pt idx="164">
                <c:v>0.7173606738841091</c:v>
              </c:pt>
              <c:pt idx="165">
                <c:v>0.7173606738841091</c:v>
              </c:pt>
              <c:pt idx="166">
                <c:v>0.7173606738841091</c:v>
              </c:pt>
              <c:pt idx="167">
                <c:v>0.7173606738841091</c:v>
              </c:pt>
              <c:pt idx="168">
                <c:v>0.7173606738841091</c:v>
              </c:pt>
              <c:pt idx="169">
                <c:v>0.7173606738841091</c:v>
              </c:pt>
              <c:pt idx="170">
                <c:v>0.7173606738841091</c:v>
              </c:pt>
              <c:pt idx="171">
                <c:v>0.7173606738841091</c:v>
              </c:pt>
              <c:pt idx="172">
                <c:v>0.7173606738841091</c:v>
              </c:pt>
              <c:pt idx="173">
                <c:v>0.7173606738841091</c:v>
              </c:pt>
              <c:pt idx="174">
                <c:v>0.7173606738841091</c:v>
              </c:pt>
              <c:pt idx="175">
                <c:v>0.7173606738841091</c:v>
              </c:pt>
              <c:pt idx="176">
                <c:v>0.7173606738841091</c:v>
              </c:pt>
              <c:pt idx="177">
                <c:v>0.7173606738841091</c:v>
              </c:pt>
              <c:pt idx="178">
                <c:v>0.7173606738841091</c:v>
              </c:pt>
              <c:pt idx="179">
                <c:v>0.7174265280936394</c:v>
              </c:pt>
              <c:pt idx="180">
                <c:v>0.7174265280936394</c:v>
              </c:pt>
              <c:pt idx="181">
                <c:v>0.7174265280936394</c:v>
              </c:pt>
              <c:pt idx="182">
                <c:v>0.7174265280936394</c:v>
              </c:pt>
              <c:pt idx="183">
                <c:v>0.7174265280936394</c:v>
              </c:pt>
              <c:pt idx="184">
                <c:v>0.7174265280936394</c:v>
              </c:pt>
              <c:pt idx="185">
                <c:v>0.7174265280936394</c:v>
              </c:pt>
              <c:pt idx="186">
                <c:v>0.7174265280936394</c:v>
              </c:pt>
              <c:pt idx="187">
                <c:v>0.7174265280936394</c:v>
              </c:pt>
              <c:pt idx="188">
                <c:v>0.7174265280936394</c:v>
              </c:pt>
              <c:pt idx="189">
                <c:v>0.7174265280936394</c:v>
              </c:pt>
              <c:pt idx="190">
                <c:v>0.7174265280936394</c:v>
              </c:pt>
              <c:pt idx="191">
                <c:v>0.7174265280936394</c:v>
              </c:pt>
              <c:pt idx="192">
                <c:v>0.7174265280936394</c:v>
              </c:pt>
              <c:pt idx="193">
                <c:v>0.7174265280936394</c:v>
              </c:pt>
              <c:pt idx="194">
                <c:v>0.7174265280936394</c:v>
              </c:pt>
              <c:pt idx="195">
                <c:v>0.7174265280936394</c:v>
              </c:pt>
              <c:pt idx="196">
                <c:v>0.7174265280936394</c:v>
              </c:pt>
              <c:pt idx="197">
                <c:v>0.7174265280936394</c:v>
              </c:pt>
              <c:pt idx="198">
                <c:v>0.7174265280936394</c:v>
              </c:pt>
              <c:pt idx="199">
                <c:v>0.7174265280936394</c:v>
              </c:pt>
              <c:pt idx="200">
                <c:v>0.7174265280936394</c:v>
              </c:pt>
            </c:numLit>
          </c:val>
        </c:ser>
        <c:ser>
          <c:idx val="1"/>
          <c:order val="1"/>
          <c:tx>
            <c:v>Media</c:v>
          </c:tx>
          <c:spPr>
            <a:ln xmlns:a="http://schemas.openxmlformats.org/drawingml/2006/main" w="19050">
              <a:solidFill>
                <a:srgbClr val="C7953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0.4842412793556551</c:v>
              </c:pt>
              <c:pt idx="1">
                <c:v>0.5523824493430259</c:v>
              </c:pt>
              <c:pt idx="2">
                <c:v>0.5825978668132641</c:v>
              </c:pt>
              <c:pt idx="3">
                <c:v>0.6087318421062863</c:v>
              </c:pt>
              <c:pt idx="4">
                <c:v>0.6352649426993268</c:v>
              </c:pt>
              <c:pt idx="5">
                <c:v>0.6218750936156485</c:v>
              </c:pt>
              <c:pt idx="6">
                <c:v>0.6320923517580688</c:v>
              </c:pt>
              <c:pt idx="7">
                <c:v>0.6048274740888032</c:v>
              </c:pt>
              <c:pt idx="8">
                <c:v>0.6279189381706511</c:v>
              </c:pt>
              <c:pt idx="9">
                <c:v>0.6327777024915314</c:v>
              </c:pt>
              <c:pt idx="10">
                <c:v>0.6379189895667358</c:v>
              </c:pt>
              <c:pt idx="11">
                <c:v>0.6294433305631466</c:v>
              </c:pt>
              <c:pt idx="12">
                <c:v>0.6292820490887991</c:v>
              </c:pt>
              <c:pt idx="13">
                <c:v>0.6194520541002497</c:v>
              </c:pt>
              <c:pt idx="14">
                <c:v>0.607083524125741</c:v>
              </c:pt>
              <c:pt idx="15">
                <c:v>0.6252188213331474</c:v>
              </c:pt>
              <c:pt idx="16">
                <c:v>0.6317480133917381</c:v>
              </c:pt>
              <c:pt idx="17">
                <c:v>0.6201058445720173</c:v>
              </c:pt>
              <c:pt idx="18">
                <c:v>0.6121462566807964</c:v>
              </c:pt>
              <c:pt idx="19">
                <c:v>0.6143920979197877</c:v>
              </c:pt>
              <c:pt idx="20">
                <c:v>0.617115308608298</c:v>
              </c:pt>
              <c:pt idx="21">
                <c:v>0.5757603113487764</c:v>
              </c:pt>
              <c:pt idx="22">
                <c:v>0.5992503059038683</c:v>
              </c:pt>
              <c:pt idx="23">
                <c:v>0.602303365681023</c:v>
              </c:pt>
              <c:pt idx="24">
                <c:v>0.6153171878848546</c:v>
              </c:pt>
              <c:pt idx="25">
                <c:v>0.6371169054067353</c:v>
              </c:pt>
              <c:pt idx="26">
                <c:v>0.6168475664098789</c:v>
              </c:pt>
              <c:pt idx="27">
                <c:v>0.620411326882861</c:v>
              </c:pt>
              <c:pt idx="28">
                <c:v>0.620846867625282</c:v>
              </c:pt>
              <c:pt idx="29">
                <c:v>0.6028868422024753</c:v>
              </c:pt>
              <c:pt idx="30">
                <c:v>0.6323557675651961</c:v>
              </c:pt>
              <c:pt idx="31">
                <c:v>0.6124195234992641</c:v>
              </c:pt>
              <c:pt idx="32">
                <c:v>0.631310493445062</c:v>
              </c:pt>
              <c:pt idx="33">
                <c:v>0.6422708450027322</c:v>
              </c:pt>
              <c:pt idx="34">
                <c:v>0.637264033319602</c:v>
              </c:pt>
              <c:pt idx="35">
                <c:v>0.6310010699736928</c:v>
              </c:pt>
              <c:pt idx="36">
                <c:v>0.6232359999811155</c:v>
              </c:pt>
              <c:pt idx="37">
                <c:v>0.6349918562068695</c:v>
              </c:pt>
              <c:pt idx="38">
                <c:v>0.6029513172111798</c:v>
              </c:pt>
              <c:pt idx="39">
                <c:v>0.6339891859407661</c:v>
              </c:pt>
              <c:pt idx="40">
                <c:v>0.5922412132437128</c:v>
              </c:pt>
              <c:pt idx="41">
                <c:v>0.6113149299705184</c:v>
              </c:pt>
              <c:pt idx="42">
                <c:v>0.6144882574977234</c:v>
              </c:pt>
              <c:pt idx="43">
                <c:v>0.6258625998020713</c:v>
              </c:pt>
              <c:pt idx="44">
                <c:v>0.6325100954167551</c:v>
              </c:pt>
              <c:pt idx="45">
                <c:v>0.6062866945308552</c:v>
              </c:pt>
              <c:pt idx="46">
                <c:v>0.6221737928116826</c:v>
              </c:pt>
              <c:pt idx="47">
                <c:v>0.6275953195799459</c:v>
              </c:pt>
              <c:pt idx="48">
                <c:v>0.614328574415674</c:v>
              </c:pt>
              <c:pt idx="49">
                <c:v>0.6209685482627801</c:v>
              </c:pt>
              <c:pt idx="50">
                <c:v>0.64084578283048</c:v>
              </c:pt>
              <c:pt idx="51">
                <c:v>0.6032736193373127</c:v>
              </c:pt>
              <c:pt idx="52">
                <c:v>0.615453912348355</c:v>
              </c:pt>
              <c:pt idx="53">
                <c:v>0.6047596587937342</c:v>
              </c:pt>
              <c:pt idx="54">
                <c:v>0.6093808227805758</c:v>
              </c:pt>
              <c:pt idx="55">
                <c:v>0.6406553619796931</c:v>
              </c:pt>
              <c:pt idx="56">
                <c:v>0.6142505728317105</c:v>
              </c:pt>
              <c:pt idx="57">
                <c:v>0.62693564575165</c:v>
              </c:pt>
              <c:pt idx="58">
                <c:v>0.6221214204137206</c:v>
              </c:pt>
              <c:pt idx="59">
                <c:v>0.6144379699157679</c:v>
              </c:pt>
              <c:pt idx="60">
                <c:v>0.642914399487683</c:v>
              </c:pt>
              <c:pt idx="61">
                <c:v>0.6565690381267015</c:v>
              </c:pt>
              <c:pt idx="62">
                <c:v>0.6417335037633576</c:v>
              </c:pt>
              <c:pt idx="63">
                <c:v>0.6263571927971335</c:v>
              </c:pt>
              <c:pt idx="64">
                <c:v>0.61350045305812</c:v>
              </c:pt>
              <c:pt idx="65">
                <c:v>0.6485760970969966</c:v>
              </c:pt>
              <c:pt idx="66">
                <c:v>0.6485731513926867</c:v>
              </c:pt>
              <c:pt idx="67">
                <c:v>0.6428531948212951</c:v>
              </c:pt>
              <c:pt idx="68">
                <c:v>0.6543902638730088</c:v>
              </c:pt>
              <c:pt idx="69">
                <c:v>0.6179119653839635</c:v>
              </c:pt>
              <c:pt idx="70">
                <c:v>0.6153245061104474</c:v>
              </c:pt>
              <c:pt idx="71">
                <c:v>0.6701363670390147</c:v>
              </c:pt>
              <c:pt idx="72">
                <c:v>0.6431424603874504</c:v>
              </c:pt>
              <c:pt idx="73">
                <c:v>0.6442809156306454</c:v>
              </c:pt>
              <c:pt idx="74">
                <c:v>0.6565509357398222</c:v>
              </c:pt>
              <c:pt idx="75">
                <c:v>0.6419831053046291</c:v>
              </c:pt>
              <c:pt idx="76">
                <c:v>0.6385699369804599</c:v>
              </c:pt>
              <c:pt idx="77">
                <c:v>0.650403141778585</c:v>
              </c:pt>
              <c:pt idx="78">
                <c:v>0.6363619222483665</c:v>
              </c:pt>
              <c:pt idx="79">
                <c:v>0.6543603518715941</c:v>
              </c:pt>
              <c:pt idx="80">
                <c:v>0.6270871560453041</c:v>
              </c:pt>
              <c:pt idx="81">
                <c:v>0.6489862029497567</c:v>
              </c:pt>
              <c:pt idx="82">
                <c:v>0.6228535943794987</c:v>
              </c:pt>
              <c:pt idx="83">
                <c:v>0.6479474208361399</c:v>
              </c:pt>
              <c:pt idx="84">
                <c:v>0.6611697495306269</c:v>
              </c:pt>
              <c:pt idx="85">
                <c:v>0.6437754932401196</c:v>
              </c:pt>
              <c:pt idx="86">
                <c:v>0.6325872341798077</c:v>
              </c:pt>
              <c:pt idx="87">
                <c:v>0.6483748823621639</c:v>
              </c:pt>
              <c:pt idx="88">
                <c:v>0.6395999768524968</c:v>
              </c:pt>
              <c:pt idx="89">
                <c:v>0.62592341259306</c:v>
              </c:pt>
              <c:pt idx="90">
                <c:v>0.633252546087367</c:v>
              </c:pt>
              <c:pt idx="91">
                <c:v>0.6307234303937347</c:v>
              </c:pt>
              <c:pt idx="92">
                <c:v>0.6433380058925663</c:v>
              </c:pt>
              <c:pt idx="93">
                <c:v>0.6260596118083418</c:v>
              </c:pt>
              <c:pt idx="94">
                <c:v>0.6736700479435846</c:v>
              </c:pt>
              <c:pt idx="95">
                <c:v>0.6286221899639157</c:v>
              </c:pt>
              <c:pt idx="96">
                <c:v>0.6520718614816393</c:v>
              </c:pt>
              <c:pt idx="97">
                <c:v>0.6387818190818602</c:v>
              </c:pt>
              <c:pt idx="98">
                <c:v>0.6351362498613161</c:v>
              </c:pt>
              <c:pt idx="99">
                <c:v>0.646783716171463</c:v>
              </c:pt>
              <c:pt idx="100">
                <c:v>0.6528360911558048</c:v>
              </c:pt>
              <c:pt idx="101">
                <c:v>0.6389471809380541</c:v>
              </c:pt>
              <c:pt idx="102">
                <c:v>0.6473570209655786</c:v>
              </c:pt>
              <c:pt idx="103">
                <c:v>0.628793155900157</c:v>
              </c:pt>
              <c:pt idx="104">
                <c:v>0.6098815966495794</c:v>
              </c:pt>
              <c:pt idx="105">
                <c:v>0.633497657509472</c:v>
              </c:pt>
              <c:pt idx="106">
                <c:v>0.6737003001816408</c:v>
              </c:pt>
              <c:pt idx="107">
                <c:v>0.6431893442238986</c:v>
              </c:pt>
              <c:pt idx="108">
                <c:v>0.6393550944979579</c:v>
              </c:pt>
              <c:pt idx="109">
                <c:v>0.6500829034198157</c:v>
              </c:pt>
              <c:pt idx="110">
                <c:v>0.6253267220391282</c:v>
              </c:pt>
              <c:pt idx="111">
                <c:v>0.6408998861353957</c:v>
              </c:pt>
              <c:pt idx="112">
                <c:v>0.630423468081863</c:v>
              </c:pt>
              <c:pt idx="113">
                <c:v>0.6394303775270841</c:v>
              </c:pt>
              <c:pt idx="114">
                <c:v>0.614665392883037</c:v>
              </c:pt>
              <c:pt idx="115">
                <c:v>0.6429020643346963</c:v>
              </c:pt>
              <c:pt idx="116">
                <c:v>0.6364732316371124</c:v>
              </c:pt>
              <c:pt idx="117">
                <c:v>0.5966143555958867</c:v>
              </c:pt>
              <c:pt idx="118">
                <c:v>0.6305415864795834</c:v>
              </c:pt>
              <c:pt idx="119">
                <c:v>0.6320762897759171</c:v>
              </c:pt>
              <c:pt idx="120">
                <c:v>0.6162160134849357</c:v>
              </c:pt>
              <c:pt idx="121">
                <c:v>0.6299521507416805</c:v>
              </c:pt>
              <c:pt idx="122">
                <c:v>0.6315980433020949</c:v>
              </c:pt>
              <c:pt idx="123">
                <c:v>0.6395201373285668</c:v>
              </c:pt>
              <c:pt idx="124">
                <c:v>0.642187908059269</c:v>
              </c:pt>
              <c:pt idx="125">
                <c:v>0.6460276522279575</c:v>
              </c:pt>
              <c:pt idx="126">
                <c:v>0.6147902677324262</c:v>
              </c:pt>
              <c:pt idx="127">
                <c:v>0.6250315508044342</c:v>
              </c:pt>
              <c:pt idx="128">
                <c:v>0.6162462351190918</c:v>
              </c:pt>
              <c:pt idx="129">
                <c:v>0.6169056931560806</c:v>
              </c:pt>
              <c:pt idx="130">
                <c:v>0.6187999306862906</c:v>
              </c:pt>
              <c:pt idx="131">
                <c:v>0.6275890289924941</c:v>
              </c:pt>
              <c:pt idx="132">
                <c:v>0.633141934398953</c:v>
              </c:pt>
              <c:pt idx="133">
                <c:v>0.6318881296745965</c:v>
              </c:pt>
              <c:pt idx="134">
                <c:v>0.6553854034363336</c:v>
              </c:pt>
              <c:pt idx="135">
                <c:v>0.6189638067606638</c:v>
              </c:pt>
              <c:pt idx="136">
                <c:v>0.627584015999756</c:v>
              </c:pt>
              <c:pt idx="137">
                <c:v>0.6340371010017162</c:v>
              </c:pt>
              <c:pt idx="138">
                <c:v>0.6409546820376018</c:v>
              </c:pt>
              <c:pt idx="139">
                <c:v>0.643572395994693</c:v>
              </c:pt>
              <c:pt idx="140">
                <c:v>0.6607303019131118</c:v>
              </c:pt>
              <c:pt idx="141">
                <c:v>0.6519429877293231</c:v>
              </c:pt>
              <c:pt idx="142">
                <c:v>0.6424715621474867</c:v>
              </c:pt>
              <c:pt idx="143">
                <c:v>0.6403701444944804</c:v>
              </c:pt>
              <c:pt idx="144">
                <c:v>0.6282039742149178</c:v>
              </c:pt>
              <c:pt idx="145">
                <c:v>0.6264492258502151</c:v>
              </c:pt>
              <c:pt idx="146">
                <c:v>0.6552607512457369</c:v>
              </c:pt>
              <c:pt idx="147">
                <c:v>0.6270115871124448</c:v>
              </c:pt>
              <c:pt idx="148">
                <c:v>0.6471686386610256</c:v>
              </c:pt>
              <c:pt idx="149">
                <c:v>0.6246290490788238</c:v>
              </c:pt>
              <c:pt idx="150">
                <c:v>0.6108593041194258</c:v>
              </c:pt>
              <c:pt idx="151">
                <c:v>0.6394329320385388</c:v>
              </c:pt>
              <c:pt idx="152">
                <c:v>0.6321624877713276</c:v>
              </c:pt>
              <c:pt idx="153">
                <c:v>0.6512546932906359</c:v>
              </c:pt>
              <c:pt idx="154">
                <c:v>0.638041592927184</c:v>
              </c:pt>
              <c:pt idx="155">
                <c:v>0.6259886637430103</c:v>
              </c:pt>
              <c:pt idx="156">
                <c:v>0.6487538821214962</c:v>
              </c:pt>
              <c:pt idx="157">
                <c:v>0.6376370274757763</c:v>
              </c:pt>
              <c:pt idx="158">
                <c:v>0.6303888479574684</c:v>
              </c:pt>
              <c:pt idx="159">
                <c:v>0.6422063642428824</c:v>
              </c:pt>
              <c:pt idx="160">
                <c:v>0.6437464688636045</c:v>
              </c:pt>
              <c:pt idx="161">
                <c:v>0.6462124339310458</c:v>
              </c:pt>
              <c:pt idx="162">
                <c:v>0.6234645991019225</c:v>
              </c:pt>
              <c:pt idx="163">
                <c:v>0.6177745855443368</c:v>
              </c:pt>
              <c:pt idx="164">
                <c:v>0.6322678053946692</c:v>
              </c:pt>
              <c:pt idx="165">
                <c:v>0.6321431169362846</c:v>
              </c:pt>
              <c:pt idx="166">
                <c:v>0.6471723874861505</c:v>
              </c:pt>
              <c:pt idx="167">
                <c:v>0.6436041178858994</c:v>
              </c:pt>
              <c:pt idx="168">
                <c:v>0.664317553427559</c:v>
              </c:pt>
              <c:pt idx="169">
                <c:v>0.6502920718002165</c:v>
              </c:pt>
              <c:pt idx="170">
                <c:v>0.6387687611209094</c:v>
              </c:pt>
              <c:pt idx="171">
                <c:v>0.6466995455428165</c:v>
              </c:pt>
              <c:pt idx="172">
                <c:v>0.6292605568797347</c:v>
              </c:pt>
              <c:pt idx="173">
                <c:v>0.6558643874357503</c:v>
              </c:pt>
              <c:pt idx="174">
                <c:v>0.6322835323508552</c:v>
              </c:pt>
              <c:pt idx="175">
                <c:v>0.6487771025812201</c:v>
              </c:pt>
              <c:pt idx="176">
                <c:v>0.635753970545305</c:v>
              </c:pt>
              <c:pt idx="177">
                <c:v>0.6177844837217149</c:v>
              </c:pt>
              <c:pt idx="178">
                <c:v>0.6333694577610629</c:v>
              </c:pt>
              <c:pt idx="179">
                <c:v>0.6252423349484286</c:v>
              </c:pt>
              <c:pt idx="180">
                <c:v>0.6150818523717847</c:v>
              </c:pt>
              <c:pt idx="181">
                <c:v>0.6523413147188422</c:v>
              </c:pt>
              <c:pt idx="182">
                <c:v>0.6479838371702813</c:v>
              </c:pt>
              <c:pt idx="183">
                <c:v>0.6378366014544039</c:v>
              </c:pt>
              <c:pt idx="184">
                <c:v>0.6157963930565731</c:v>
              </c:pt>
              <c:pt idx="185">
                <c:v>0.6536449140591851</c:v>
              </c:pt>
              <c:pt idx="186">
                <c:v>0.6337327169269033</c:v>
              </c:pt>
              <c:pt idx="187">
                <c:v>0.6448272111115488</c:v>
              </c:pt>
              <c:pt idx="188">
                <c:v>0.6593186599033569</c:v>
              </c:pt>
              <c:pt idx="189">
                <c:v>0.6260712863374752</c:v>
              </c:pt>
              <c:pt idx="190">
                <c:v>0.6516165118565886</c:v>
              </c:pt>
              <c:pt idx="191">
                <c:v>0.6656549722553666</c:v>
              </c:pt>
              <c:pt idx="192">
                <c:v>0.6253445551135325</c:v>
              </c:pt>
              <c:pt idx="193">
                <c:v>0.6446246689767685</c:v>
              </c:pt>
              <c:pt idx="194">
                <c:v>0.63531519827675</c:v>
              </c:pt>
              <c:pt idx="195">
                <c:v>0.6523432685959003</c:v>
              </c:pt>
              <c:pt idx="196">
                <c:v>0.6288659533716585</c:v>
              </c:pt>
              <c:pt idx="197">
                <c:v>0.6331084478339556</c:v>
              </c:pt>
              <c:pt idx="198">
                <c:v>0.633894308242135</c:v>
              </c:pt>
              <c:pt idx="199">
                <c:v>0.6253668472578482</c:v>
              </c:pt>
              <c:pt idx="200">
                <c:v>0.6202476975932734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0"/>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75"/>
          <c:min val="0.45"/>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Fitness</c:v>
          </c:tx>
          <c:spPr>
            <a:solidFill xmlns:a="http://schemas.openxmlformats.org/drawingml/2006/main">
              <a:srgbClr val="367C86"/>
            </a:solidFill>
          </c:spPr>
          <c:cat>
            <c:strLit>
              <c:ptCount val="5"/>
              <c:pt idx="0">
                <c:v>#1</c:v>
              </c:pt>
              <c:pt idx="1">
                <c:v>#2</c:v>
              </c:pt>
              <c:pt idx="2">
                <c:v>#3</c:v>
              </c:pt>
              <c:pt idx="3">
                <c:v>#4</c:v>
              </c:pt>
              <c:pt idx="4">
                <c:v>#5</c:v>
              </c:pt>
            </c:strLit>
          </c:cat>
          <c:val>
            <c:numLit>
              <c:formatCode>General</c:formatCode>
              <c:ptCount val="5"/>
              <c:pt idx="0">
                <c:v>0.7174265280936394</c:v>
              </c:pt>
              <c:pt idx="1">
                <c:v>0.6969636332525062</c:v>
              </c:pt>
              <c:pt idx="2">
                <c:v>0.6924046397778476</c:v>
              </c:pt>
              <c:pt idx="3">
                <c:v>0.6906894993341748</c:v>
              </c:pt>
              <c:pt idx="4">
                <c:v>0.6827931168405614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8"/>
          <c:min val="0"/>
        </c:scaling>
        <c:delete val="1"/>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84619-30DC-4E70-AA3B-F21FBB482F67}"/>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Parques solares en Santa Fe</a:t>
            </a:r>
          </a:p>
        </p:txBody>
      </p:sp>
      <p:sp>
        <p:nvSpPr>
          <p:cNvPr id="2" name="">
            <a:extLst xmlns:a="http://schemas.openxmlformats.org/drawingml/2006/main">
              <a:ext uri="{FF2B5EF4-FFF2-40B4-BE49-F238E27FC236}">
                <a16:creationId xmlns:a16="http://schemas.microsoft.com/office/drawing/2014/main" id="{FE2C64C0-C263-468C-B909-796DDAC51D5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069D90-1A52-4BEA-A742-DADA7E3EC8C5}"/>
              </a:ext>
            </a:extLst>
          </p:cNvPr>
          <p:cNvSpPr>
            <a:spLocks xmlns:a="http://schemas.openxmlformats.org/drawingml/2006/main" noGrp="1"/>
          </p:cNvSpPr>
          <p:nvPr/>
        </p:nvSpPr>
        <p:spPr>
          <a:xfrm xmlns:a="http://schemas.openxmlformats.org/drawingml/2006/main">
            <a:off x="638175" y="17049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367C86"/>
                </a:solidFill>
                <a:latin typeface="Arial"/>
                <a:ea typeface="Arial"/>
                <a:cs typeface="Arial"/>
              </a:defRPr>
            </a:defPPr>
          </a:lstStyle>
          <a:p xmlns:a="http://schemas.openxmlformats.org/drawingml/2006/main">
            <a:pPr>
              <a:buNone/>
              <a:defRPr sz="2850" b="0">
                <a:solidFill>
                  <a:srgbClr val="367C86"/>
                </a:solidFill>
                <a:latin typeface="Arial"/>
                <a:ea typeface="Arial"/>
                <a:cs typeface="Arial"/>
              </a:defRPr>
            </a:pPr>
            <a:r>
              <a:rPr sz="2850" b="0">
                <a:solidFill>
                  <a:srgbClr val="367C86"/>
                </a:solidFill>
                <a:latin typeface="Arial"/>
                <a:ea typeface="Arial"/>
                <a:cs typeface="Arial"/>
              </a:rPr>
              <a:t>Ubicación, forma y superficie</a:t>
            </a:r>
          </a:p>
        </p:txBody>
      </p:sp>
      <p:sp>
        <p:nvSpPr>
          <p:cNvPr id="4" name="">
            <a:extLst xmlns:a="http://schemas.openxmlformats.org/drawingml/2006/main">
              <a:ext uri="{FF2B5EF4-FFF2-40B4-BE49-F238E27FC236}">
                <a16:creationId xmlns:a16="http://schemas.microsoft.com/office/drawing/2014/main" id="{C1272478-6B2C-43AE-99C9-B7FFA7A259F5}"/>
              </a:ext>
            </a:extLst>
          </p:cNvPr>
          <p:cNvSpPr>
            <a:spLocks xmlns:a="http://schemas.openxmlformats.org/drawingml/2006/main" noGrp="1"/>
          </p:cNvSpPr>
          <p:nvPr/>
        </p:nvSpPr>
        <p:spPr>
          <a:xfrm xmlns:a="http://schemas.openxmlformats.org/drawingml/2006/main">
            <a:off x="638175" y="27717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72F3E"/>
                </a:solidFill>
                <a:latin typeface="Georgia"/>
                <a:ea typeface="Georgia"/>
                <a:cs typeface="Georgia"/>
              </a:defRPr>
            </a:defPPr>
          </a:lstStyle>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Una búsqueda con</a:t>
            </a:r>
          </a:p>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algoritmo genético</a:t>
            </a:r>
          </a:p>
        </p:txBody>
      </p:sp>
      <p:sp>
        <p:nvSpPr>
          <p:cNvPr id="5" name="">
            <a:extLst xmlns:a="http://schemas.openxmlformats.org/drawingml/2006/main">
              <a:ext uri="{FF2B5EF4-FFF2-40B4-BE49-F238E27FC236}">
                <a16:creationId xmlns:a16="http://schemas.microsoft.com/office/drawing/2014/main" id="{D03E349B-862F-4FD9-9CC3-0C8299E1CB9C}"/>
              </a:ext>
            </a:extLst>
          </p:cNvPr>
          <p:cNvSpPr>
            <a:spLocks xmlns:a="http://schemas.openxmlformats.org/drawingml/2006/main" noGrp="1"/>
          </p:cNvSpPr>
          <p:nvPr/>
        </p:nvSpPr>
        <p:spPr>
          <a:xfrm xmlns:a="http://schemas.openxmlformats.org/drawingml/2006/main">
            <a:off x="647700" y="51625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60747C"/>
                </a:solidFill>
                <a:latin typeface="Arial"/>
                <a:ea typeface="Arial"/>
                <a:cs typeface="Arial"/>
              </a:defRPr>
            </a:defPPr>
          </a:lstStyle>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Defensa del proyecto</a:t>
            </a:r>
          </a:p>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Octubre de 2026</a:t>
            </a:r>
          </a:p>
        </p:txBody>
      </p:sp>
      <p:pic>
        <p:nvPicPr>
          <p:cNvPr id="6" name="">
            <a:extLst xmlns:a="http://schemas.openxmlformats.org/drawingml/2006/main">
              <a:ext uri="{FF2B5EF4-FFF2-40B4-BE49-F238E27FC236}">
                <a16:creationId xmlns:a16="http://schemas.microsoft.com/office/drawing/2014/main" id="{1A6BFE3D-D1DF-497C-A819-7D7DE0791CD7}"/>
              </a:ext>
            </a:extLst>
          </p:cNvPr>
          <p:cNvPicPr>
            <a:picLocks xmlns:a="http://schemas.openxmlformats.org/drawingml/2006/main" noChangeAspect="1"/>
          </p:cNvPicPr>
          <p:nvPr/>
        </p:nvPicPr>
        <p:blipFill>
          <a:blip xmlns:r="http://schemas.openxmlformats.org/officeDocument/2006/relationships" xmlns:a="http://schemas.openxmlformats.org/drawingml/2006/main" r:embed="Rd2ce7885c65d4d2f"/>
          <a:stretch xmlns:a="http://schemas.openxmlformats.org/drawingml/2006/main"/>
        </p:blipFill>
        <p:spPr>
          <a:xfrm xmlns:a="http://schemas.openxmlformats.org/drawingml/2006/main">
            <a:off x="8191500" y="1779134"/>
            <a:ext cx="2952750" cy="3585482"/>
          </a:xfrm>
          <a:prstGeom xmlns:a="http://schemas.openxmlformats.org/drawingml/2006/main" prst="rect">
            <a:avLst/>
          </a:prstGeom>
        </p:spPr>
      </p:pic>
    </p:spTree>
    <p:extLst>
      <p:ext uri="{BB962C8B-B14F-4D97-AF65-F5344CB8AC3E}">
        <p14:creationId xmlns:p14="http://schemas.microsoft.com/office/powerpoint/2010/main" val="1729393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B35F8-E5A3-4C0C-98CC-F12099453BD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La decisión territorial</a:t>
            </a:r>
          </a:p>
        </p:txBody>
      </p:sp>
      <p:sp>
        <p:nvSpPr>
          <p:cNvPr id="2" name="">
            <a:extLst xmlns:a="http://schemas.openxmlformats.org/drawingml/2006/main">
              <a:ext uri="{FF2B5EF4-FFF2-40B4-BE49-F238E27FC236}">
                <a16:creationId xmlns:a16="http://schemas.microsoft.com/office/drawing/2014/main" id="{A7D45C94-5E37-4F0D-93F9-56F1C906539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79318788-F284-4BF9-B54C-08C9896518A4}"/>
              </a:ext>
            </a:extLst>
          </p:cNvPr>
          <p:cNvPicPr>
            <a:picLocks xmlns:a="http://schemas.openxmlformats.org/drawingml/2006/main" noChangeAspect="1"/>
          </p:cNvPicPr>
          <p:nvPr/>
        </p:nvPicPr>
        <p:blipFill>
          <a:blip xmlns:r="http://schemas.openxmlformats.org/officeDocument/2006/relationships" xmlns:a="http://schemas.openxmlformats.org/drawingml/2006/main" r:embed="R1c64ad76458247b2"/>
          <a:stretch xmlns:a="http://schemas.openxmlformats.org/drawingml/2006/main"/>
        </p:blipFill>
        <p:spPr>
          <a:xfrm xmlns:a="http://schemas.openxmlformats.org/drawingml/2006/main">
            <a:off x="6537232" y="1352550"/>
            <a:ext cx="3451412"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88CA04-D8A4-4735-AC4E-EDD716F06824}"/>
              </a:ext>
            </a:extLst>
          </p:cNvPr>
          <p:cNvSpPr>
            <a:spLocks xmlns:a="http://schemas.openxmlformats.org/drawingml/2006/main" noGrp="1"/>
          </p:cNvSpPr>
          <p:nvPr/>
        </p:nvSpPr>
        <p:spPr>
          <a:xfrm xmlns:a="http://schemas.openxmlformats.org/drawingml/2006/main">
            <a:off x="638175" y="1714500"/>
            <a:ext cx="4429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¿Dónde ubicarlo?</a:t>
            </a:r>
          </a:p>
          <a:p xmlns:a="http://schemas.openxmlformats.org/drawingml/2006/main">
            <a:r>
              <a:t/>
            </a:r>
          </a:p>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¿Qué forma puede tener?</a:t>
            </a:r>
          </a:p>
          <a:p xmlns:a="http://schemas.openxmlformats.org/drawingml/2006/main">
            <a:r>
              <a:t/>
            </a:r>
          </a:p>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¿Cuánto puede crecer?</a:t>
            </a:r>
          </a:p>
        </p:txBody>
      </p:sp>
      <p:sp>
        <p:nvSpPr>
          <p:cNvPr id="5" name="">
            <a:extLst xmlns:a="http://schemas.openxmlformats.org/drawingml/2006/main">
              <a:ext uri="{FF2B5EF4-FFF2-40B4-BE49-F238E27FC236}">
                <a16:creationId xmlns:a16="http://schemas.microsoft.com/office/drawing/2014/main" id="{BC823288-F30E-4EDC-A0A7-ED402F4250A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Objetivo: proponer candidatos comparables para una evaluación posterior</a:t>
            </a:r>
          </a:p>
        </p:txBody>
      </p:sp>
    </p:spTree>
    <p:extLst>
      <p:ext uri="{BB962C8B-B14F-4D97-AF65-F5344CB8AC3E}">
        <p14:creationId xmlns:p14="http://schemas.microsoft.com/office/powerpoint/2010/main" val="972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BE6781-E9B8-4133-8227-7DC0E81B0D3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Funcionamiento de un parque solar</a:t>
            </a:r>
          </a:p>
        </p:txBody>
      </p:sp>
      <p:sp>
        <p:nvSpPr>
          <p:cNvPr id="2" name="">
            <a:extLst xmlns:a="http://schemas.openxmlformats.org/drawingml/2006/main">
              <a:ext uri="{FF2B5EF4-FFF2-40B4-BE49-F238E27FC236}">
                <a16:creationId xmlns:a16="http://schemas.microsoft.com/office/drawing/2014/main" id="{379EE1CA-70DE-42F4-BC15-032113123A2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A4435668-EBF9-47A2-97C7-E3C7071B6004}"/>
              </a:ext>
            </a:extLst>
          </p:cNvPr>
          <p:cNvPicPr>
            <a:picLocks xmlns:a="http://schemas.openxmlformats.org/drawingml/2006/main" noChangeAspect="1"/>
          </p:cNvPicPr>
          <p:nvPr/>
        </p:nvPicPr>
        <p:blipFill>
          <a:blip xmlns:r="http://schemas.openxmlformats.org/officeDocument/2006/relationships" xmlns:a="http://schemas.openxmlformats.org/drawingml/2006/main" r:embed="Rb8daf35302b64df7"/>
          <a:srcRect xmlns:a="http://schemas.openxmlformats.org/drawingml/2006/main" l="0" t="17000" r="0" b="15000"/>
          <a:stretch xmlns:a="http://schemas.openxmlformats.org/drawingml/2006/main"/>
        </p:blipFill>
        <p:spPr>
          <a:xfrm xmlns:a="http://schemas.openxmlformats.org/drawingml/2006/main">
            <a:off x="571500" y="1457325"/>
            <a:ext cx="11049000" cy="3762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B59DC0B-B2ED-4D71-BA31-046C2455473F}"/>
              </a:ext>
            </a:extLst>
          </p:cNvPr>
          <p:cNvSpPr>
            <a:spLocks xmlns:a="http://schemas.openxmlformats.org/drawingml/2006/main" noGrp="1"/>
          </p:cNvSpPr>
          <p:nvPr/>
        </p:nvSpPr>
        <p:spPr>
          <a:xfrm xmlns:a="http://schemas.openxmlformats.org/drawingml/2006/main">
            <a:off x="619125"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Paneles</a:t>
            </a:r>
          </a:p>
        </p:txBody>
      </p:sp>
      <p:sp>
        <p:nvSpPr>
          <p:cNvPr id="5" name="">
            <a:extLst xmlns:a="http://schemas.openxmlformats.org/drawingml/2006/main">
              <a:ext uri="{FF2B5EF4-FFF2-40B4-BE49-F238E27FC236}">
                <a16:creationId xmlns:a16="http://schemas.microsoft.com/office/drawing/2014/main" id="{6330D92B-391A-4AA7-A952-BF5C8B058536}"/>
              </a:ext>
            </a:extLst>
          </p:cNvPr>
          <p:cNvSpPr>
            <a:spLocks xmlns:a="http://schemas.openxmlformats.org/drawingml/2006/main" noGrp="1"/>
          </p:cNvSpPr>
          <p:nvPr/>
        </p:nvSpPr>
        <p:spPr>
          <a:xfrm xmlns:a="http://schemas.openxmlformats.org/drawingml/2006/main">
            <a:off x="3448050"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Inversor</a:t>
            </a:r>
          </a:p>
        </p:txBody>
      </p:sp>
      <p:sp>
        <p:nvSpPr>
          <p:cNvPr id="6" name="">
            <a:extLst xmlns:a="http://schemas.openxmlformats.org/drawingml/2006/main">
              <a:ext uri="{FF2B5EF4-FFF2-40B4-BE49-F238E27FC236}">
                <a16:creationId xmlns:a16="http://schemas.microsoft.com/office/drawing/2014/main" id="{E5026579-CDB4-4B0C-93EE-A26AB001F26E}"/>
              </a:ext>
            </a:extLst>
          </p:cNvPr>
          <p:cNvSpPr>
            <a:spLocks xmlns:a="http://schemas.openxmlformats.org/drawingml/2006/main" noGrp="1"/>
          </p:cNvSpPr>
          <p:nvPr/>
        </p:nvSpPr>
        <p:spPr>
          <a:xfrm xmlns:a="http://schemas.openxmlformats.org/drawingml/2006/main">
            <a:off x="6276975"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Transformador</a:t>
            </a:r>
          </a:p>
        </p:txBody>
      </p:sp>
      <p:sp>
        <p:nvSpPr>
          <p:cNvPr id="7" name="">
            <a:extLst xmlns:a="http://schemas.openxmlformats.org/drawingml/2006/main">
              <a:ext uri="{FF2B5EF4-FFF2-40B4-BE49-F238E27FC236}">
                <a16:creationId xmlns:a16="http://schemas.microsoft.com/office/drawing/2014/main" id="{A9FC9DC3-5CDE-4611-A97E-B297037CF65F}"/>
              </a:ext>
            </a:extLst>
          </p:cNvPr>
          <p:cNvSpPr>
            <a:spLocks xmlns:a="http://schemas.openxmlformats.org/drawingml/2006/main" noGrp="1"/>
          </p:cNvSpPr>
          <p:nvPr/>
        </p:nvSpPr>
        <p:spPr>
          <a:xfrm xmlns:a="http://schemas.openxmlformats.org/drawingml/2006/main">
            <a:off x="9105900" y="52197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Red eléctrica</a:t>
            </a:r>
          </a:p>
        </p:txBody>
      </p:sp>
      <p:sp>
        <p:nvSpPr>
          <p:cNvPr id="8" name="">
            <a:extLst xmlns:a="http://schemas.openxmlformats.org/drawingml/2006/main">
              <a:ext uri="{FF2B5EF4-FFF2-40B4-BE49-F238E27FC236}">
                <a16:creationId xmlns:a16="http://schemas.microsoft.com/office/drawing/2014/main" id="{07E0B465-4305-477D-98EC-27963E861A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MW expresan potencia. MWh expresan energía producida durante un período</a:t>
            </a:r>
          </a:p>
        </p:txBody>
      </p:sp>
    </p:spTree>
    <p:extLst>
      <p:ext uri="{BB962C8B-B14F-4D97-AF65-F5344CB8AC3E}">
        <p14:creationId xmlns:p14="http://schemas.microsoft.com/office/powerpoint/2010/main" val="430102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8FE5F-3003-494F-8602-D180F2B850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que usa el modelo</a:t>
            </a:r>
          </a:p>
        </p:txBody>
      </p:sp>
      <p:sp>
        <p:nvSpPr>
          <p:cNvPr id="2" name="">
            <a:extLst xmlns:a="http://schemas.openxmlformats.org/drawingml/2006/main">
              <a:ext uri="{FF2B5EF4-FFF2-40B4-BE49-F238E27FC236}">
                <a16:creationId xmlns:a16="http://schemas.microsoft.com/office/drawing/2014/main" id="{E3F33C52-C9B0-46CD-A340-BF0E8E4558C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733FB6EE-7406-47ED-9E8E-B274744806E1}"/>
              </a:ext>
            </a:extLst>
          </p:cNvPr>
          <p:cNvPicPr>
            <a:picLocks xmlns:a="http://schemas.openxmlformats.org/drawingml/2006/main" noChangeAspect="1"/>
          </p:cNvPicPr>
          <p:nvPr/>
        </p:nvPicPr>
        <p:blipFill>
          <a:blip xmlns:r="http://schemas.openxmlformats.org/officeDocument/2006/relationships" xmlns:a="http://schemas.openxmlformats.org/drawingml/2006/main" r:embed="Ra8579cea8fec4401"/>
          <a:stretch xmlns:a="http://schemas.openxmlformats.org/drawingml/2006/main"/>
        </p:blipFill>
        <p:spPr>
          <a:xfrm xmlns:a="http://schemas.openxmlformats.org/drawingml/2006/main">
            <a:off x="619125" y="1693069"/>
            <a:ext cx="3000375" cy="3643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F1AA34-88A5-40F4-8562-C06224ECFAD5}"/>
              </a:ext>
            </a:extLst>
          </p:cNvPr>
          <p:cNvSpPr>
            <a:spLocks xmlns:a="http://schemas.openxmlformats.org/drawingml/2006/main" noGrp="1"/>
          </p:cNvSpPr>
          <p:nvPr/>
        </p:nvSpPr>
        <p:spPr>
          <a:xfrm xmlns:a="http://schemas.openxmlformats.org/drawingml/2006/main">
            <a:off x="4191000" y="14573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Radiación</a:t>
            </a:r>
          </a:p>
        </p:txBody>
      </p:sp>
      <p:sp>
        <p:nvSpPr>
          <p:cNvPr id="5" name="">
            <a:extLst xmlns:a="http://schemas.openxmlformats.org/drawingml/2006/main">
              <a:ext uri="{FF2B5EF4-FFF2-40B4-BE49-F238E27FC236}">
                <a16:creationId xmlns:a16="http://schemas.microsoft.com/office/drawing/2014/main" id="{FBE1376A-660C-4DF9-8EB2-BA438B1C5123}"/>
              </a:ext>
            </a:extLst>
          </p:cNvPr>
          <p:cNvSpPr>
            <a:spLocks xmlns:a="http://schemas.openxmlformats.org/drawingml/2006/main" noGrp="1"/>
          </p:cNvSpPr>
          <p:nvPr/>
        </p:nvSpPr>
        <p:spPr>
          <a:xfrm xmlns:a="http://schemas.openxmlformats.org/drawingml/2006/main">
            <a:off x="4191000" y="18669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Recurso disponible</a:t>
            </a:r>
          </a:p>
        </p:txBody>
      </p:sp>
      <p:sp>
        <p:nvSpPr>
          <p:cNvPr id="6" name="">
            <a:extLst xmlns:a="http://schemas.openxmlformats.org/drawingml/2006/main">
              <a:ext uri="{FF2B5EF4-FFF2-40B4-BE49-F238E27FC236}">
                <a16:creationId xmlns:a16="http://schemas.microsoft.com/office/drawing/2014/main" id="{8B23C77D-0FC7-4240-A21F-DBB421BA4568}"/>
              </a:ext>
            </a:extLst>
          </p:cNvPr>
          <p:cNvSpPr>
            <a:spLocks xmlns:a="http://schemas.openxmlformats.org/drawingml/2006/main" noGrp="1"/>
          </p:cNvSpPr>
          <p:nvPr/>
        </p:nvSpPr>
        <p:spPr>
          <a:xfrm xmlns:a="http://schemas.openxmlformats.org/drawingml/2006/main">
            <a:off x="4191000" y="24860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Distancia a líneas</a:t>
            </a:r>
          </a:p>
        </p:txBody>
      </p:sp>
      <p:sp>
        <p:nvSpPr>
          <p:cNvPr id="7" name="">
            <a:extLst xmlns:a="http://schemas.openxmlformats.org/drawingml/2006/main">
              <a:ext uri="{FF2B5EF4-FFF2-40B4-BE49-F238E27FC236}">
                <a16:creationId xmlns:a16="http://schemas.microsoft.com/office/drawing/2014/main" id="{870D5ACC-107F-4172-A313-9E15D0486F54}"/>
              </a:ext>
            </a:extLst>
          </p:cNvPr>
          <p:cNvSpPr>
            <a:spLocks xmlns:a="http://schemas.openxmlformats.org/drawingml/2006/main" noGrp="1"/>
          </p:cNvSpPr>
          <p:nvPr/>
        </p:nvSpPr>
        <p:spPr>
          <a:xfrm xmlns:a="http://schemas.openxmlformats.org/drawingml/2006/main">
            <a:off x="4191000" y="2895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Proximidad a la infraestructura</a:t>
            </a:r>
          </a:p>
        </p:txBody>
      </p:sp>
      <p:sp>
        <p:nvSpPr>
          <p:cNvPr id="8" name="">
            <a:extLst xmlns:a="http://schemas.openxmlformats.org/drawingml/2006/main">
              <a:ext uri="{FF2B5EF4-FFF2-40B4-BE49-F238E27FC236}">
                <a16:creationId xmlns:a16="http://schemas.microsoft.com/office/drawing/2014/main" id="{9A5CC736-2864-4955-9202-143BFC6B7F8A}"/>
              </a:ext>
            </a:extLst>
          </p:cNvPr>
          <p:cNvSpPr>
            <a:spLocks xmlns:a="http://schemas.openxmlformats.org/drawingml/2006/main" noGrp="1"/>
          </p:cNvSpPr>
          <p:nvPr/>
        </p:nvSpPr>
        <p:spPr>
          <a:xfrm xmlns:a="http://schemas.openxmlformats.org/drawingml/2006/main">
            <a:off x="4191000" y="35147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Distancia a ET</a:t>
            </a:r>
          </a:p>
        </p:txBody>
      </p:sp>
      <p:sp>
        <p:nvSpPr>
          <p:cNvPr id="9" name="">
            <a:extLst xmlns:a="http://schemas.openxmlformats.org/drawingml/2006/main">
              <a:ext uri="{FF2B5EF4-FFF2-40B4-BE49-F238E27FC236}">
                <a16:creationId xmlns:a16="http://schemas.microsoft.com/office/drawing/2014/main" id="{2F1650A7-7DEF-4AAE-9BC5-AD380AB7F700}"/>
              </a:ext>
            </a:extLst>
          </p:cNvPr>
          <p:cNvSpPr>
            <a:spLocks xmlns:a="http://schemas.openxmlformats.org/drawingml/2006/main" noGrp="1"/>
          </p:cNvSpPr>
          <p:nvPr/>
        </p:nvSpPr>
        <p:spPr>
          <a:xfrm xmlns:a="http://schemas.openxmlformats.org/drawingml/2006/main">
            <a:off x="4191000" y="39243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Proximidad a estaciones de referencia</a:t>
            </a:r>
          </a:p>
        </p:txBody>
      </p:sp>
      <p:sp>
        <p:nvSpPr>
          <p:cNvPr id="10" name="">
            <a:extLst xmlns:a="http://schemas.openxmlformats.org/drawingml/2006/main">
              <a:ext uri="{FF2B5EF4-FFF2-40B4-BE49-F238E27FC236}">
                <a16:creationId xmlns:a16="http://schemas.microsoft.com/office/drawing/2014/main" id="{5C94EDB0-9209-4BBE-885F-19B2AFA027C0}"/>
              </a:ext>
            </a:extLst>
          </p:cNvPr>
          <p:cNvSpPr>
            <a:spLocks xmlns:a="http://schemas.openxmlformats.org/drawingml/2006/main" noGrp="1"/>
          </p:cNvSpPr>
          <p:nvPr/>
        </p:nvSpPr>
        <p:spPr>
          <a:xfrm xmlns:a="http://schemas.openxmlformats.org/drawingml/2006/main">
            <a:off x="4191000" y="4543425"/>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Superficie</a:t>
            </a:r>
          </a:p>
        </p:txBody>
      </p:sp>
      <p:sp>
        <p:nvSpPr>
          <p:cNvPr id="11" name="">
            <a:extLst xmlns:a="http://schemas.openxmlformats.org/drawingml/2006/main">
              <a:ext uri="{FF2B5EF4-FFF2-40B4-BE49-F238E27FC236}">
                <a16:creationId xmlns:a16="http://schemas.microsoft.com/office/drawing/2014/main" id="{5B4D9C81-D609-41C0-A59F-3DE4BD2C84B8}"/>
              </a:ext>
            </a:extLst>
          </p:cNvPr>
          <p:cNvSpPr>
            <a:spLocks xmlns:a="http://schemas.openxmlformats.org/drawingml/2006/main" noGrp="1"/>
          </p:cNvSpPr>
          <p:nvPr/>
        </p:nvSpPr>
        <p:spPr>
          <a:xfrm xmlns:a="http://schemas.openxmlformats.org/drawingml/2006/main">
            <a:off x="4191000" y="49530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12" name="">
            <a:extLst xmlns:a="http://schemas.openxmlformats.org/drawingml/2006/main">
              <a:ext uri="{FF2B5EF4-FFF2-40B4-BE49-F238E27FC236}">
                <a16:creationId xmlns:a16="http://schemas.microsoft.com/office/drawing/2014/main" id="{76A2BDB9-C2C5-4621-96F4-204821D21DD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Exclusión urbana y contigüidad determinan qué parques puede construir el AG</a:t>
            </a:r>
          </a:p>
        </p:txBody>
      </p:sp>
    </p:spTree>
    <p:extLst>
      <p:ext uri="{BB962C8B-B14F-4D97-AF65-F5344CB8AC3E}">
        <p14:creationId xmlns:p14="http://schemas.microsoft.com/office/powerpoint/2010/main" val="1737717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7CA2A-BA8D-414F-9107-9F45BF35C0C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Radiación solar en Santa Fe</a:t>
            </a:r>
          </a:p>
        </p:txBody>
      </p:sp>
      <p:sp>
        <p:nvSpPr>
          <p:cNvPr id="2" name="">
            <a:extLst xmlns:a="http://schemas.openxmlformats.org/drawingml/2006/main">
              <a:ext uri="{FF2B5EF4-FFF2-40B4-BE49-F238E27FC236}">
                <a16:creationId xmlns:a16="http://schemas.microsoft.com/office/drawing/2014/main" id="{8187EF65-4D7F-4B2A-94AE-C864CB2CF5C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62E5E11F-B719-481E-BFCB-4E655349BBE7}"/>
              </a:ext>
            </a:extLst>
          </p:cNvPr>
          <p:cNvPicPr>
            <a:picLocks xmlns:a="http://schemas.openxmlformats.org/drawingml/2006/main" noChangeAspect="1"/>
          </p:cNvPicPr>
          <p:nvPr/>
        </p:nvPicPr>
        <p:blipFill>
          <a:blip xmlns:r="http://schemas.openxmlformats.org/officeDocument/2006/relationships" xmlns:a="http://schemas.openxmlformats.org/drawingml/2006/main" r:embed="Rc78eed4b10df4bdd"/>
          <a:stretch xmlns:a="http://schemas.openxmlformats.org/drawingml/2006/main"/>
        </p:blipFill>
        <p:spPr>
          <a:xfrm xmlns:a="http://schemas.openxmlformats.org/drawingml/2006/main">
            <a:off x="767883" y="1323975"/>
            <a:ext cx="3655359" cy="4438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20B251-376A-4C44-AD1B-214EA9C4265D}"/>
              </a:ext>
            </a:extLst>
          </p:cNvPr>
          <p:cNvSpPr>
            <a:spLocks xmlns:a="http://schemas.openxmlformats.org/drawingml/2006/main" noGrp="1"/>
          </p:cNvSpPr>
          <p:nvPr/>
        </p:nvSpPr>
        <p:spPr>
          <a:xfrm xmlns:a="http://schemas.openxmlformats.org/drawingml/2006/main">
            <a:off x="5095875" y="1514475"/>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Horas completas</a:t>
            </a:r>
          </a:p>
        </p:txBody>
      </p:sp>
      <p:sp>
        <p:nvSpPr>
          <p:cNvPr id="5" name="">
            <a:extLst xmlns:a="http://schemas.openxmlformats.org/drawingml/2006/main">
              <a:ext uri="{FF2B5EF4-FFF2-40B4-BE49-F238E27FC236}">
                <a16:creationId xmlns:a16="http://schemas.microsoft.com/office/drawing/2014/main" id="{BB25476A-D8F0-4D6F-A378-579FB5434784}"/>
              </a:ext>
            </a:extLst>
          </p:cNvPr>
          <p:cNvSpPr>
            <a:spLocks xmlns:a="http://schemas.openxmlformats.org/drawingml/2006/main" noGrp="1"/>
          </p:cNvSpPr>
          <p:nvPr/>
        </p:nvSpPr>
        <p:spPr>
          <a:xfrm xmlns:a="http://schemas.openxmlformats.org/drawingml/2006/main">
            <a:off x="5095875" y="20193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Enero, abril, julio y octubre</a:t>
            </a:r>
          </a:p>
        </p:txBody>
      </p:sp>
      <p:sp>
        <p:nvSpPr>
          <p:cNvPr id="6" name="">
            <a:extLst xmlns:a="http://schemas.openxmlformats.org/drawingml/2006/main">
              <a:ext uri="{FF2B5EF4-FFF2-40B4-BE49-F238E27FC236}">
                <a16:creationId xmlns:a16="http://schemas.microsoft.com/office/drawing/2014/main" id="{EB9E9ABB-20BC-4BDE-B2D3-5E8E2D2F563B}"/>
              </a:ext>
            </a:extLst>
          </p:cNvPr>
          <p:cNvSpPr>
            <a:spLocks xmlns:a="http://schemas.openxmlformats.org/drawingml/2006/main" noGrp="1"/>
          </p:cNvSpPr>
          <p:nvPr/>
        </p:nvSpPr>
        <p:spPr>
          <a:xfrm xmlns:a="http://schemas.openxmlformats.org/drawingml/2006/main">
            <a:off x="5095875" y="2924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Promedio entre años</a:t>
            </a:r>
          </a:p>
        </p:txBody>
      </p:sp>
      <p:sp>
        <p:nvSpPr>
          <p:cNvPr id="7" name="">
            <a:extLst xmlns:a="http://schemas.openxmlformats.org/drawingml/2006/main">
              <a:ext uri="{FF2B5EF4-FFF2-40B4-BE49-F238E27FC236}">
                <a16:creationId xmlns:a16="http://schemas.microsoft.com/office/drawing/2014/main" id="{ED0DCE16-17D4-462C-97F0-BD05DEDDB1C5}"/>
              </a:ext>
            </a:extLst>
          </p:cNvPr>
          <p:cNvSpPr>
            <a:spLocks xmlns:a="http://schemas.openxmlformats.org/drawingml/2006/main" noGrp="1"/>
          </p:cNvSpPr>
          <p:nvPr/>
        </p:nvSpPr>
        <p:spPr>
          <a:xfrm xmlns:a="http://schemas.openxmlformats.org/drawingml/2006/main">
            <a:off x="5095875" y="34194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Media diaria × días de cada estación</a:t>
            </a:r>
          </a:p>
        </p:txBody>
      </p:sp>
      <p:sp>
        <p:nvSpPr>
          <p:cNvPr id="8" name="">
            <a:extLst xmlns:a="http://schemas.openxmlformats.org/drawingml/2006/main">
              <a:ext uri="{FF2B5EF4-FFF2-40B4-BE49-F238E27FC236}">
                <a16:creationId xmlns:a16="http://schemas.microsoft.com/office/drawing/2014/main" id="{8ED61924-FAB4-4391-AE58-0AF11FD427A2}"/>
              </a:ext>
            </a:extLst>
          </p:cNvPr>
          <p:cNvSpPr>
            <a:spLocks xmlns:a="http://schemas.openxmlformats.org/drawingml/2006/main" noGrp="1"/>
          </p:cNvSpPr>
          <p:nvPr/>
        </p:nvSpPr>
        <p:spPr>
          <a:xfrm xmlns:a="http://schemas.openxmlformats.org/drawingml/2006/main">
            <a:off x="5095875" y="4705350"/>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Indicador anual estimado</a:t>
            </a:r>
          </a:p>
        </p:txBody>
      </p:sp>
      <p:sp>
        <p:nvSpPr>
          <p:cNvPr id="9" name="">
            <a:extLst xmlns:a="http://schemas.openxmlformats.org/drawingml/2006/main">
              <a:ext uri="{FF2B5EF4-FFF2-40B4-BE49-F238E27FC236}">
                <a16:creationId xmlns:a16="http://schemas.microsoft.com/office/drawing/2014/main" id="{4E7BFFA2-C692-412C-91C4-D57F2DF2AF6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Mapa de datos procesados: tonos más oscuros indican mayor irradiación</a:t>
            </a:r>
          </a:p>
        </p:txBody>
      </p:sp>
    </p:spTree>
    <p:extLst>
      <p:ext uri="{BB962C8B-B14F-4D97-AF65-F5344CB8AC3E}">
        <p14:creationId xmlns:p14="http://schemas.microsoft.com/office/powerpoint/2010/main" val="903359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7F09-A2BB-4226-B0E1-1EC4496ABD1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Infraestructura eléctrica de referencia</a:t>
            </a:r>
          </a:p>
        </p:txBody>
      </p:sp>
      <p:sp>
        <p:nvSpPr>
          <p:cNvPr id="2" name="">
            <a:extLst xmlns:a="http://schemas.openxmlformats.org/drawingml/2006/main">
              <a:ext uri="{FF2B5EF4-FFF2-40B4-BE49-F238E27FC236}">
                <a16:creationId xmlns:a16="http://schemas.microsoft.com/office/drawing/2014/main" id="{0D14F60F-3744-46A1-8169-04D7951352F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3C2E0F36-56E6-425B-AD28-B0058F76214B}"/>
              </a:ext>
            </a:extLst>
          </p:cNvPr>
          <p:cNvPicPr>
            <a:picLocks xmlns:a="http://schemas.openxmlformats.org/drawingml/2006/main" noChangeAspect="1"/>
          </p:cNvPicPr>
          <p:nvPr/>
        </p:nvPicPr>
        <p:blipFill>
          <a:blip xmlns:r="http://schemas.openxmlformats.org/officeDocument/2006/relationships" xmlns:a="http://schemas.openxmlformats.org/drawingml/2006/main" r:embed="R326ddfab853a49fa"/>
          <a:stretch xmlns:a="http://schemas.openxmlformats.org/drawingml/2006/main"/>
        </p:blipFill>
        <p:spPr>
          <a:xfrm xmlns:a="http://schemas.openxmlformats.org/drawingml/2006/main">
            <a:off x="828395" y="1304925"/>
            <a:ext cx="368673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B56DAE-4341-452A-9C56-E2E078745479}"/>
              </a:ext>
            </a:extLst>
          </p:cNvPr>
          <p:cNvSpPr>
            <a:spLocks xmlns:a="http://schemas.openxmlformats.org/drawingml/2006/main" noGrp="1"/>
          </p:cNvSpPr>
          <p:nvPr/>
        </p:nvSpPr>
        <p:spPr>
          <a:xfrm xmlns:a="http://schemas.openxmlformats.org/drawingml/2006/main">
            <a:off x="5095875" y="164782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Líneas disponibles</a:t>
            </a:r>
          </a:p>
        </p:txBody>
      </p:sp>
      <p:sp>
        <p:nvSpPr>
          <p:cNvPr id="5" name="">
            <a:extLst xmlns:a="http://schemas.openxmlformats.org/drawingml/2006/main">
              <a:ext uri="{FF2B5EF4-FFF2-40B4-BE49-F238E27FC236}">
                <a16:creationId xmlns:a16="http://schemas.microsoft.com/office/drawing/2014/main" id="{D6F065A2-80DB-40CC-A375-7E70762279D4}"/>
              </a:ext>
            </a:extLst>
          </p:cNvPr>
          <p:cNvSpPr>
            <a:spLocks xmlns:a="http://schemas.openxmlformats.org/drawingml/2006/main" noGrp="1"/>
          </p:cNvSpPr>
          <p:nvPr/>
        </p:nvSpPr>
        <p:spPr>
          <a:xfrm xmlns:a="http://schemas.openxmlformats.org/drawingml/2006/main">
            <a:off x="5095875" y="2143125"/>
            <a:ext cx="6143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Distancia mínima desde el centroide</a:t>
            </a:r>
          </a:p>
        </p:txBody>
      </p:sp>
      <p:sp>
        <p:nvSpPr>
          <p:cNvPr id="6" name="">
            <a:extLst xmlns:a="http://schemas.openxmlformats.org/drawingml/2006/main">
              <a:ext uri="{FF2B5EF4-FFF2-40B4-BE49-F238E27FC236}">
                <a16:creationId xmlns:a16="http://schemas.microsoft.com/office/drawing/2014/main" id="{CBCC28A7-919D-4C96-AF4B-E66FCFEA748C}"/>
              </a:ext>
            </a:extLst>
          </p:cNvPr>
          <p:cNvSpPr>
            <a:spLocks xmlns:a="http://schemas.openxmlformats.org/drawingml/2006/main" noGrp="1"/>
          </p:cNvSpPr>
          <p:nvPr/>
        </p:nvSpPr>
        <p:spPr>
          <a:xfrm xmlns:a="http://schemas.openxmlformats.org/drawingml/2006/main">
            <a:off x="5095875" y="313372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Cuatro estaciones</a:t>
            </a:r>
          </a:p>
        </p:txBody>
      </p:sp>
      <p:sp>
        <p:nvSpPr>
          <p:cNvPr id="7" name="">
            <a:extLst xmlns:a="http://schemas.openxmlformats.org/drawingml/2006/main">
              <a:ext uri="{FF2B5EF4-FFF2-40B4-BE49-F238E27FC236}">
                <a16:creationId xmlns:a16="http://schemas.microsoft.com/office/drawing/2014/main" id="{983615BE-E050-4223-922B-7E9489EE3AE5}"/>
              </a:ext>
            </a:extLst>
          </p:cNvPr>
          <p:cNvSpPr>
            <a:spLocks xmlns:a="http://schemas.openxmlformats.org/drawingml/2006/main" noGrp="1"/>
          </p:cNvSpPr>
          <p:nvPr/>
        </p:nvSpPr>
        <p:spPr>
          <a:xfrm xmlns:a="http://schemas.openxmlformats.org/drawingml/2006/main">
            <a:off x="5095875" y="3676650"/>
            <a:ext cx="6143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CN: Río Coronda</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RM: Romang</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RO: Rosario Oeste</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ST: Santo Tomé</a:t>
            </a:r>
          </a:p>
        </p:txBody>
      </p:sp>
      <p:sp>
        <p:nvSpPr>
          <p:cNvPr id="8" name="">
            <a:extLst xmlns:a="http://schemas.openxmlformats.org/drawingml/2006/main">
              <a:ext uri="{FF2B5EF4-FFF2-40B4-BE49-F238E27FC236}">
                <a16:creationId xmlns:a16="http://schemas.microsoft.com/office/drawing/2014/main" id="{29FACD53-C68E-43CE-AD2F-CE990F8CBF7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ubicaciones orientan la búsqueda. La capacidad real queda pendiente</a:t>
            </a:r>
          </a:p>
        </p:txBody>
      </p:sp>
    </p:spTree>
    <p:extLst>
      <p:ext uri="{BB962C8B-B14F-4D97-AF65-F5344CB8AC3E}">
        <p14:creationId xmlns:p14="http://schemas.microsoft.com/office/powerpoint/2010/main" val="347309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4D6020-BEC0-4F38-8EE3-BC30C7A48D75}"/>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pendientes para evaluar viabilidad</a:t>
            </a:r>
          </a:p>
        </p:txBody>
      </p:sp>
      <p:sp>
        <p:nvSpPr>
          <p:cNvPr id="2" name="">
            <a:extLst xmlns:a="http://schemas.openxmlformats.org/drawingml/2006/main">
              <a:ext uri="{FF2B5EF4-FFF2-40B4-BE49-F238E27FC236}">
                <a16:creationId xmlns:a16="http://schemas.microsoft.com/office/drawing/2014/main" id="{66D887DA-2DBB-4E69-968B-ADD4E44CD841}"/>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F42F748C-3D59-4A97-A692-C2250A7D94DE}"/>
              </a:ext>
            </a:extLst>
          </p:cNvPr>
          <p:cNvPicPr>
            <a:picLocks xmlns:a="http://schemas.openxmlformats.org/drawingml/2006/main" noChangeAspect="1"/>
          </p:cNvPicPr>
          <p:nvPr/>
        </p:nvPicPr>
        <p:blipFill>
          <a:blip xmlns:r="http://schemas.openxmlformats.org/officeDocument/2006/relationships" xmlns:a="http://schemas.openxmlformats.org/drawingml/2006/main" r:embed="R52584c00ccd24455"/>
          <a:srcRect xmlns:a="http://schemas.openxmlformats.org/drawingml/2006/main" l="0" t="12000" r="0" b="16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542368-1172-4952-8450-670F4293D8C4}"/>
              </a:ext>
            </a:extLst>
          </p:cNvPr>
          <p:cNvSpPr>
            <a:spLocks xmlns:a="http://schemas.openxmlformats.org/drawingml/2006/main" noGrp="1"/>
          </p:cNvSpPr>
          <p:nvPr/>
        </p:nvSpPr>
        <p:spPr>
          <a:xfrm xmlns:a="http://schemas.openxmlformats.org/drawingml/2006/main">
            <a:off x="5905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Pendiente</a:t>
            </a:r>
          </a:p>
        </p:txBody>
      </p:sp>
      <p:sp>
        <p:nvSpPr>
          <p:cNvPr id="5" name="">
            <a:extLst xmlns:a="http://schemas.openxmlformats.org/drawingml/2006/main">
              <a:ext uri="{FF2B5EF4-FFF2-40B4-BE49-F238E27FC236}">
                <a16:creationId xmlns:a16="http://schemas.microsoft.com/office/drawing/2014/main" id="{2B2F8EC7-1E59-4099-B49B-B6AD58ED4473}"/>
              </a:ext>
            </a:extLst>
          </p:cNvPr>
          <p:cNvSpPr>
            <a:spLocks xmlns:a="http://schemas.openxmlformats.org/drawingml/2006/main" noGrp="1"/>
          </p:cNvSpPr>
          <p:nvPr/>
        </p:nvSpPr>
        <p:spPr>
          <a:xfrm xmlns:a="http://schemas.openxmlformats.org/drawingml/2006/main">
            <a:off x="282892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Agua e inundación</a:t>
            </a:r>
          </a:p>
        </p:txBody>
      </p:sp>
      <p:sp>
        <p:nvSpPr>
          <p:cNvPr id="6" name="">
            <a:extLst xmlns:a="http://schemas.openxmlformats.org/drawingml/2006/main">
              <a:ext uri="{FF2B5EF4-FFF2-40B4-BE49-F238E27FC236}">
                <a16:creationId xmlns:a16="http://schemas.microsoft.com/office/drawing/2014/main" id="{BF8937B3-EE76-48F8-B1FC-1C17B05D4A6C}"/>
              </a:ext>
            </a:extLst>
          </p:cNvPr>
          <p:cNvSpPr>
            <a:spLocks xmlns:a="http://schemas.openxmlformats.org/drawingml/2006/main" noGrp="1"/>
          </p:cNvSpPr>
          <p:nvPr/>
        </p:nvSpPr>
        <p:spPr>
          <a:xfrm xmlns:a="http://schemas.openxmlformats.org/drawingml/2006/main">
            <a:off x="506730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Protección ambiental</a:t>
            </a:r>
          </a:p>
        </p:txBody>
      </p:sp>
      <p:sp>
        <p:nvSpPr>
          <p:cNvPr id="7" name="">
            <a:extLst xmlns:a="http://schemas.openxmlformats.org/drawingml/2006/main">
              <a:ext uri="{FF2B5EF4-FFF2-40B4-BE49-F238E27FC236}">
                <a16:creationId xmlns:a16="http://schemas.microsoft.com/office/drawing/2014/main" id="{FB5B68DE-B17E-4A1B-997F-6F6B9C7BCD34}"/>
              </a:ext>
            </a:extLst>
          </p:cNvPr>
          <p:cNvSpPr>
            <a:spLocks xmlns:a="http://schemas.openxmlformats.org/drawingml/2006/main" noGrp="1"/>
          </p:cNvSpPr>
          <p:nvPr/>
        </p:nvSpPr>
        <p:spPr>
          <a:xfrm xmlns:a="http://schemas.openxmlformats.org/drawingml/2006/main">
            <a:off x="730567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Suelo y acceso</a:t>
            </a:r>
          </a:p>
        </p:txBody>
      </p:sp>
      <p:sp>
        <p:nvSpPr>
          <p:cNvPr id="8" name="">
            <a:extLst xmlns:a="http://schemas.openxmlformats.org/drawingml/2006/main">
              <a:ext uri="{FF2B5EF4-FFF2-40B4-BE49-F238E27FC236}">
                <a16:creationId xmlns:a16="http://schemas.microsoft.com/office/drawing/2014/main" id="{274800E8-03E4-4CE8-A1B1-211B37F0CCA0}"/>
              </a:ext>
            </a:extLst>
          </p:cNvPr>
          <p:cNvSpPr>
            <a:spLocks xmlns:a="http://schemas.openxmlformats.org/drawingml/2006/main" noGrp="1"/>
          </p:cNvSpPr>
          <p:nvPr/>
        </p:nvSpPr>
        <p:spPr>
          <a:xfrm xmlns:a="http://schemas.openxmlformats.org/drawingml/2006/main">
            <a:off x="95440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Capacidad de red</a:t>
            </a:r>
          </a:p>
        </p:txBody>
      </p:sp>
      <p:sp>
        <p:nvSpPr>
          <p:cNvPr id="9" name="">
            <a:extLst xmlns:a="http://schemas.openxmlformats.org/drawingml/2006/main">
              <a:ext uri="{FF2B5EF4-FFF2-40B4-BE49-F238E27FC236}">
                <a16:creationId xmlns:a16="http://schemas.microsoft.com/office/drawing/2014/main" id="{5D405EC5-C597-4F9B-B9C7-33CD2B73DA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Estas variables pueden cambiar o invalidar los candidatos actuales</a:t>
            </a:r>
          </a:p>
        </p:txBody>
      </p:sp>
    </p:spTree>
    <p:extLst>
      <p:ext uri="{BB962C8B-B14F-4D97-AF65-F5344CB8AC3E}">
        <p14:creationId xmlns:p14="http://schemas.microsoft.com/office/powerpoint/2010/main" val="1523737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7E1047-54F1-46C3-AEC1-801F2BE0FB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Supuestos y restricciones</a:t>
            </a:r>
          </a:p>
        </p:txBody>
      </p:sp>
      <p:sp>
        <p:nvSpPr>
          <p:cNvPr id="2" name="">
            <a:extLst xmlns:a="http://schemas.openxmlformats.org/drawingml/2006/main">
              <a:ext uri="{FF2B5EF4-FFF2-40B4-BE49-F238E27FC236}">
                <a16:creationId xmlns:a16="http://schemas.microsoft.com/office/drawing/2014/main" id="{F434DB20-3D8E-4F4B-8140-4BE6A5B2E18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7BC098BE-7BAD-43DA-A492-66076AB74E06}"/>
              </a:ext>
            </a:extLst>
          </p:cNvPr>
          <p:cNvPicPr>
            <a:picLocks xmlns:a="http://schemas.openxmlformats.org/drawingml/2006/main" noChangeAspect="1"/>
          </p:cNvPicPr>
          <p:nvPr/>
        </p:nvPicPr>
        <p:blipFill>
          <a:blip xmlns:r="http://schemas.openxmlformats.org/officeDocument/2006/relationships" xmlns:a="http://schemas.openxmlformats.org/drawingml/2006/main" r:embed="R1c102e4dad414377"/>
          <a:srcRect xmlns:a="http://schemas.openxmlformats.org/drawingml/2006/main" l="0" t="18000" r="0" b="18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A16122-B1A3-4541-A69C-BF6ECA3DE7B4}"/>
              </a:ext>
            </a:extLst>
          </p:cNvPr>
          <p:cNvSpPr>
            <a:spLocks xmlns:a="http://schemas.openxmlformats.org/drawingml/2006/main" noGrp="1"/>
          </p:cNvSpPr>
          <p:nvPr/>
        </p:nvSpPr>
        <p:spPr>
          <a:xfrm xmlns:a="http://schemas.openxmlformats.org/drawingml/2006/main">
            <a:off x="6191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Contiguo</a:t>
            </a:r>
          </a:p>
        </p:txBody>
      </p:sp>
      <p:sp>
        <p:nvSpPr>
          <p:cNvPr id="5" name="">
            <a:extLst xmlns:a="http://schemas.openxmlformats.org/drawingml/2006/main">
              <a:ext uri="{FF2B5EF4-FFF2-40B4-BE49-F238E27FC236}">
                <a16:creationId xmlns:a16="http://schemas.microsoft.com/office/drawing/2014/main" id="{6EDB3BDD-4911-4FCF-B2BC-13C0AC65A279}"/>
              </a:ext>
            </a:extLst>
          </p:cNvPr>
          <p:cNvSpPr>
            <a:spLocks xmlns:a="http://schemas.openxmlformats.org/drawingml/2006/main" noGrp="1"/>
          </p:cNvSpPr>
          <p:nvPr/>
        </p:nvSpPr>
        <p:spPr>
          <a:xfrm xmlns:a="http://schemas.openxmlformats.org/drawingml/2006/main">
            <a:off x="33813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Fuera de ciudades</a:t>
            </a:r>
          </a:p>
        </p:txBody>
      </p:sp>
      <p:sp>
        <p:nvSpPr>
          <p:cNvPr id="6" name="">
            <a:extLst xmlns:a="http://schemas.openxmlformats.org/drawingml/2006/main">
              <a:ext uri="{FF2B5EF4-FFF2-40B4-BE49-F238E27FC236}">
                <a16:creationId xmlns:a16="http://schemas.microsoft.com/office/drawing/2014/main" id="{E8F31449-4A9B-4434-A442-9A62988801A3}"/>
              </a:ext>
            </a:extLst>
          </p:cNvPr>
          <p:cNvSpPr>
            <a:spLocks xmlns:a="http://schemas.openxmlformats.org/drawingml/2006/main" noGrp="1"/>
          </p:cNvSpPr>
          <p:nvPr/>
        </p:nvSpPr>
        <p:spPr>
          <a:xfrm xmlns:a="http://schemas.openxmlformats.org/drawingml/2006/main">
            <a:off x="61436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Potencia por superficie</a:t>
            </a:r>
          </a:p>
        </p:txBody>
      </p:sp>
      <p:sp>
        <p:nvSpPr>
          <p:cNvPr id="7" name="">
            <a:extLst xmlns:a="http://schemas.openxmlformats.org/drawingml/2006/main">
              <a:ext uri="{FF2B5EF4-FFF2-40B4-BE49-F238E27FC236}">
                <a16:creationId xmlns:a16="http://schemas.microsoft.com/office/drawing/2014/main" id="{72E294BC-43D0-4ABF-8642-0A78D2C654B0}"/>
              </a:ext>
            </a:extLst>
          </p:cNvPr>
          <p:cNvSpPr>
            <a:spLocks xmlns:a="http://schemas.openxmlformats.org/drawingml/2006/main" noGrp="1"/>
          </p:cNvSpPr>
          <p:nvPr/>
        </p:nvSpPr>
        <p:spPr>
          <a:xfrm xmlns:a="http://schemas.openxmlformats.org/drawingml/2006/main">
            <a:off x="89058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 ≤ 80 MW</a:t>
            </a:r>
          </a:p>
        </p:txBody>
      </p:sp>
      <p:sp>
        <p:nvSpPr>
          <p:cNvPr id="8" name="">
            <a:extLst xmlns:a="http://schemas.openxmlformats.org/drawingml/2006/main">
              <a:ext uri="{FF2B5EF4-FFF2-40B4-BE49-F238E27FC236}">
                <a16:creationId xmlns:a16="http://schemas.microsoft.com/office/drawing/2014/main" id="{7A100E23-3133-4A69-B097-0C297D1AAA7C}"/>
              </a:ext>
            </a:extLst>
          </p:cNvPr>
          <p:cNvSpPr>
            <a:spLocks xmlns:a="http://schemas.openxmlformats.org/drawingml/2006/main" noGrp="1"/>
          </p:cNvSpPr>
          <p:nvPr/>
        </p:nvSpPr>
        <p:spPr>
          <a:xfrm xmlns:a="http://schemas.openxmlformats.org/drawingml/2006/main">
            <a:off x="619125" y="54102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Celda completa: 0,25 km² × 31,3 = 7,825 MW</a:t>
            </a:r>
          </a:p>
        </p:txBody>
      </p:sp>
      <p:sp>
        <p:nvSpPr>
          <p:cNvPr id="9" name="">
            <a:extLst xmlns:a="http://schemas.openxmlformats.org/drawingml/2006/main">
              <a:ext uri="{FF2B5EF4-FFF2-40B4-BE49-F238E27FC236}">
                <a16:creationId xmlns:a16="http://schemas.microsoft.com/office/drawing/2014/main" id="{1058052D-3982-42AC-AFD5-495C936BD06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celda recortada aporta su área real</a:t>
            </a:r>
          </a:p>
        </p:txBody>
      </p:sp>
    </p:spTree>
    <p:extLst>
      <p:ext uri="{BB962C8B-B14F-4D97-AF65-F5344CB8AC3E}">
        <p14:creationId xmlns:p14="http://schemas.microsoft.com/office/powerpoint/2010/main" val="747886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35CDE-8BBF-412F-B1CE-95F749D0254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Representación de un parque</a:t>
            </a:r>
          </a:p>
        </p:txBody>
      </p:sp>
      <p:sp>
        <p:nvSpPr>
          <p:cNvPr id="2" name="">
            <a:extLst xmlns:a="http://schemas.openxmlformats.org/drawingml/2006/main">
              <a:ext uri="{FF2B5EF4-FFF2-40B4-BE49-F238E27FC236}">
                <a16:creationId xmlns:a16="http://schemas.microsoft.com/office/drawing/2014/main" id="{B3262DD3-1387-47DF-A770-CF4CD1D6C98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388AACF2-A5B4-4140-932C-E518C9D9FBED}"/>
              </a:ext>
            </a:extLst>
          </p:cNvPr>
          <p:cNvPicPr>
            <a:picLocks xmlns:a="http://schemas.openxmlformats.org/drawingml/2006/main" noChangeAspect="1"/>
          </p:cNvPicPr>
          <p:nvPr/>
        </p:nvPicPr>
        <p:blipFill>
          <a:blip xmlns:r="http://schemas.openxmlformats.org/officeDocument/2006/relationships" xmlns:a="http://schemas.openxmlformats.org/drawingml/2006/main" r:embed="R0be0b9dfb4394e62"/>
          <a:stretch xmlns:a="http://schemas.openxmlformats.org/drawingml/2006/main"/>
        </p:blipFill>
        <p:spPr>
          <a:xfrm xmlns:a="http://schemas.openxmlformats.org/drawingml/2006/main">
            <a:off x="843395" y="1447800"/>
            <a:ext cx="4885459"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36083D-30EF-4160-9F45-AAF499DEF8EA}"/>
              </a:ext>
            </a:extLst>
          </p:cNvPr>
          <p:cNvSpPr>
            <a:spLocks xmlns:a="http://schemas.openxmlformats.org/drawingml/2006/main" noGrp="1"/>
          </p:cNvSpPr>
          <p:nvPr/>
        </p:nvSpPr>
        <p:spPr>
          <a:xfrm xmlns:a="http://schemas.openxmlformats.org/drawingml/2006/main">
            <a:off x="6572250" y="15525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7EAAAEBA-6F05-4CEE-8BB4-3E2F0D94A841}"/>
              </a:ext>
            </a:extLst>
          </p:cNvPr>
          <p:cNvSpPr>
            <a:spLocks xmlns:a="http://schemas.openxmlformats.org/drawingml/2006/main" noGrp="1"/>
          </p:cNvSpPr>
          <p:nvPr/>
        </p:nvSpPr>
        <p:spPr>
          <a:xfrm xmlns:a="http://schemas.openxmlformats.org/drawingml/2006/main">
            <a:off x="6572250" y="20478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Define el inicio del parque</a:t>
            </a:r>
          </a:p>
        </p:txBody>
      </p:sp>
      <p:sp>
        <p:nvSpPr>
          <p:cNvPr id="6" name="">
            <a:extLst xmlns:a="http://schemas.openxmlformats.org/drawingml/2006/main">
              <a:ext uri="{FF2B5EF4-FFF2-40B4-BE49-F238E27FC236}">
                <a16:creationId xmlns:a16="http://schemas.microsoft.com/office/drawing/2014/main" id="{E0CA9924-E4CE-411C-A562-EFE3F4EB13D9}"/>
              </a:ext>
            </a:extLst>
          </p:cNvPr>
          <p:cNvSpPr>
            <a:spLocks xmlns:a="http://schemas.openxmlformats.org/drawingml/2006/main" noGrp="1"/>
          </p:cNvSpPr>
          <p:nvPr/>
        </p:nvSpPr>
        <p:spPr>
          <a:xfrm xmlns:a="http://schemas.openxmlformats.org/drawingml/2006/main">
            <a:off x="6572250" y="3067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Genes de crecimiento</a:t>
            </a:r>
          </a:p>
        </p:txBody>
      </p:sp>
      <p:sp>
        <p:nvSpPr>
          <p:cNvPr id="7" name="">
            <a:extLst xmlns:a="http://schemas.openxmlformats.org/drawingml/2006/main">
              <a:ext uri="{FF2B5EF4-FFF2-40B4-BE49-F238E27FC236}">
                <a16:creationId xmlns:a16="http://schemas.microsoft.com/office/drawing/2014/main" id="{03192A83-95EA-4992-A4F8-7A27C6044BF3}"/>
              </a:ext>
            </a:extLst>
          </p:cNvPr>
          <p:cNvSpPr>
            <a:spLocks xmlns:a="http://schemas.openxmlformats.org/drawingml/2006/main" noGrp="1"/>
          </p:cNvSpPr>
          <p:nvPr/>
        </p:nvSpPr>
        <p:spPr>
          <a:xfrm xmlns:a="http://schemas.openxmlformats.org/drawingml/2006/main">
            <a:off x="6572250" y="35718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Eligen celdas vecinas</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en cada paso</a:t>
            </a:r>
          </a:p>
        </p:txBody>
      </p:sp>
      <p:sp>
        <p:nvSpPr>
          <p:cNvPr id="8" name="">
            <a:extLst xmlns:a="http://schemas.openxmlformats.org/drawingml/2006/main">
              <a:ext uri="{FF2B5EF4-FFF2-40B4-BE49-F238E27FC236}">
                <a16:creationId xmlns:a16="http://schemas.microsoft.com/office/drawing/2014/main" id="{BD1605CD-36B1-4F76-9ABB-82F8E5DBE4A8}"/>
              </a:ext>
            </a:extLst>
          </p:cNvPr>
          <p:cNvSpPr>
            <a:spLocks xmlns:a="http://schemas.openxmlformats.org/drawingml/2006/main" noGrp="1"/>
          </p:cNvSpPr>
          <p:nvPr/>
        </p:nvSpPr>
        <p:spPr>
          <a:xfrm xmlns:a="http://schemas.openxmlformats.org/drawingml/2006/main">
            <a:off x="619125" y="528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El cromosoma produce una geometría</a:t>
            </a:r>
          </a:p>
        </p:txBody>
      </p:sp>
      <p:sp>
        <p:nvSpPr>
          <p:cNvPr id="9" name="">
            <a:extLst xmlns:a="http://schemas.openxmlformats.org/drawingml/2006/main">
              <a:ext uri="{FF2B5EF4-FFF2-40B4-BE49-F238E27FC236}">
                <a16:creationId xmlns:a16="http://schemas.microsoft.com/office/drawing/2014/main" id="{41FE852F-558D-428F-9960-7634EF66F3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Figura: parque real del ejemplo. La celda semilla aparece en dorado</a:t>
            </a:r>
          </a:p>
        </p:txBody>
      </p:sp>
    </p:spTree>
    <p:extLst>
      <p:ext uri="{BB962C8B-B14F-4D97-AF65-F5344CB8AC3E}">
        <p14:creationId xmlns:p14="http://schemas.microsoft.com/office/powerpoint/2010/main" val="151415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A1459-904E-468A-A3A9-7CBA35C5402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Fitness: cómo comparamos parques</a:t>
            </a:r>
          </a:p>
        </p:txBody>
      </p:sp>
      <p:sp>
        <p:nvSpPr>
          <p:cNvPr id="2" name="">
            <a:extLst xmlns:a="http://schemas.openxmlformats.org/drawingml/2006/main">
              <a:ext uri="{FF2B5EF4-FFF2-40B4-BE49-F238E27FC236}">
                <a16:creationId xmlns:a16="http://schemas.microsoft.com/office/drawing/2014/main" id="{A5C18105-D19E-45DA-8FC6-55757107386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1A8DF2CF-BCBE-41DF-964A-42AF91E5B1E4}"/>
              </a:ext>
            </a:extLst>
          </p:cNvPr>
          <p:cNvGraphicFramePr/>
          <p:nvPr/>
        </p:nvGraphicFramePr>
        <p:xfrm>
          <a:off xmlns:a="http://schemas.openxmlformats.org/drawingml/2006/main" x="571500" y="15621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653055a6da564329"/>
          </a:graphicData>
        </a:graphic>
      </p:graphicFrame>
      <p:sp>
        <p:nvSpPr>
          <p:cNvPr id="4" name="">
            <a:extLst xmlns:a="http://schemas.openxmlformats.org/drawingml/2006/main">
              <a:ext uri="{FF2B5EF4-FFF2-40B4-BE49-F238E27FC236}">
                <a16:creationId xmlns:a16="http://schemas.microsoft.com/office/drawing/2014/main" id="{EEFAAE90-2BB0-42B5-949C-2DEF9514D59E}"/>
              </a:ext>
            </a:extLst>
          </p:cNvPr>
          <p:cNvSpPr>
            <a:spLocks xmlns:a="http://schemas.openxmlformats.org/drawingml/2006/main" noGrp="1"/>
          </p:cNvSpPr>
          <p:nvPr/>
        </p:nvSpPr>
        <p:spPr>
          <a:xfrm xmlns:a="http://schemas.openxmlformats.org/drawingml/2006/main">
            <a:off x="7019925" y="1752600"/>
            <a:ext cx="4381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Cuatro criterios</a:t>
            </a:r>
          </a:p>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en una escala común</a:t>
            </a:r>
          </a:p>
        </p:txBody>
      </p:sp>
      <p:sp>
        <p:nvSpPr>
          <p:cNvPr id="5" name="">
            <a:extLst xmlns:a="http://schemas.openxmlformats.org/drawingml/2006/main">
              <a:ext uri="{FF2B5EF4-FFF2-40B4-BE49-F238E27FC236}">
                <a16:creationId xmlns:a16="http://schemas.microsoft.com/office/drawing/2014/main" id="{CF25C8CB-BDC3-4060-86B4-DE91EAE30075}"/>
              </a:ext>
            </a:extLst>
          </p:cNvPr>
          <p:cNvSpPr>
            <a:spLocks xmlns:a="http://schemas.openxmlformats.org/drawingml/2006/main" noGrp="1"/>
          </p:cNvSpPr>
          <p:nvPr/>
        </p:nvSpPr>
        <p:spPr>
          <a:xfrm xmlns:a="http://schemas.openxmlformats.org/drawingml/2006/main">
            <a:off x="7019925" y="3324225"/>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0 = menor preferencia</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1 = mayor preferencia</a:t>
            </a:r>
          </a:p>
        </p:txBody>
      </p:sp>
      <p:sp>
        <p:nvSpPr>
          <p:cNvPr id="6" name="">
            <a:extLst xmlns:a="http://schemas.openxmlformats.org/drawingml/2006/main">
              <a:ext uri="{FF2B5EF4-FFF2-40B4-BE49-F238E27FC236}">
                <a16:creationId xmlns:a16="http://schemas.microsoft.com/office/drawing/2014/main" id="{CFEB2971-F594-4D5A-AC37-FC46AB860CE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Pesos iniciales que requieren análisis de sensibilidad</a:t>
            </a:r>
          </a:p>
        </p:txBody>
      </p:sp>
    </p:spTree>
    <p:extLst>
      <p:ext uri="{BB962C8B-B14F-4D97-AF65-F5344CB8AC3E}">
        <p14:creationId xmlns:p14="http://schemas.microsoft.com/office/powerpoint/2010/main" val="531181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5C5E74-BE33-4FD0-B188-79B4333E143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Flujo de trabajo del proyecto</a:t>
            </a:r>
          </a:p>
        </p:txBody>
      </p:sp>
      <p:sp>
        <p:nvSpPr>
          <p:cNvPr id="2" name="">
            <a:extLst xmlns:a="http://schemas.openxmlformats.org/drawingml/2006/main">
              <a:ext uri="{FF2B5EF4-FFF2-40B4-BE49-F238E27FC236}">
                <a16:creationId xmlns:a16="http://schemas.microsoft.com/office/drawing/2014/main" id="{D7C7517D-AB65-4640-B272-35C46957500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4B1770BD-AD71-48EB-826B-EB02D233ED8E}"/>
              </a:ext>
            </a:extLst>
          </p:cNvPr>
          <p:cNvPicPr>
            <a:picLocks xmlns:a="http://schemas.openxmlformats.org/drawingml/2006/main" noChangeAspect="1"/>
          </p:cNvPicPr>
          <p:nvPr/>
        </p:nvPicPr>
        <p:blipFill>
          <a:blip xmlns:r="http://schemas.openxmlformats.org/officeDocument/2006/relationships" xmlns:a="http://schemas.openxmlformats.org/drawingml/2006/main" r:embed="Rff51f0987000431f"/>
          <a:srcRect xmlns:a="http://schemas.openxmlformats.org/drawingml/2006/main" l="0" t="14000" r="0" b="12000"/>
          <a:stretch xmlns:a="http://schemas.openxmlformats.org/drawingml/2006/main"/>
        </p:blipFill>
        <p:spPr>
          <a:xfrm xmlns:a="http://schemas.openxmlformats.org/drawingml/2006/main">
            <a:off x="542925" y="1381125"/>
            <a:ext cx="11106150" cy="3514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30FEEC-0306-4478-875D-B6AB759F5F6F}"/>
              </a:ext>
            </a:extLst>
          </p:cNvPr>
          <p:cNvSpPr>
            <a:spLocks xmlns:a="http://schemas.openxmlformats.org/drawingml/2006/main" noGrp="1"/>
          </p:cNvSpPr>
          <p:nvPr/>
        </p:nvSpPr>
        <p:spPr>
          <a:xfrm xmlns:a="http://schemas.openxmlformats.org/drawingml/2006/main">
            <a:off x="5905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3394EF01-1D18-43D0-9AF3-E22C57AA570B}"/>
              </a:ext>
            </a:extLst>
          </p:cNvPr>
          <p:cNvSpPr>
            <a:spLocks xmlns:a="http://schemas.openxmlformats.org/drawingml/2006/main" noGrp="1"/>
          </p:cNvSpPr>
          <p:nvPr/>
        </p:nvSpPr>
        <p:spPr>
          <a:xfrm xmlns:a="http://schemas.openxmlformats.org/drawingml/2006/main">
            <a:off x="28384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Caché</a:t>
            </a:r>
          </a:p>
        </p:txBody>
      </p:sp>
      <p:sp>
        <p:nvSpPr>
          <p:cNvPr id="6" name="">
            <a:extLst xmlns:a="http://schemas.openxmlformats.org/drawingml/2006/main">
              <a:ext uri="{FF2B5EF4-FFF2-40B4-BE49-F238E27FC236}">
                <a16:creationId xmlns:a16="http://schemas.microsoft.com/office/drawing/2014/main" id="{9A955AB5-72D7-4461-B547-F4D43FC261D7}"/>
              </a:ext>
            </a:extLst>
          </p:cNvPr>
          <p:cNvSpPr>
            <a:spLocks xmlns:a="http://schemas.openxmlformats.org/drawingml/2006/main" noGrp="1"/>
          </p:cNvSpPr>
          <p:nvPr/>
        </p:nvSpPr>
        <p:spPr>
          <a:xfrm xmlns:a="http://schemas.openxmlformats.org/drawingml/2006/main">
            <a:off x="50863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Preparación</a:t>
            </a:r>
          </a:p>
        </p:txBody>
      </p:sp>
      <p:sp>
        <p:nvSpPr>
          <p:cNvPr id="7" name="">
            <a:extLst xmlns:a="http://schemas.openxmlformats.org/drawingml/2006/main">
              <a:ext uri="{FF2B5EF4-FFF2-40B4-BE49-F238E27FC236}">
                <a16:creationId xmlns:a16="http://schemas.microsoft.com/office/drawing/2014/main" id="{BB8FF6E9-B6EB-4A7A-8B1F-D078C7673F29}"/>
              </a:ext>
            </a:extLst>
          </p:cNvPr>
          <p:cNvSpPr>
            <a:spLocks xmlns:a="http://schemas.openxmlformats.org/drawingml/2006/main" noGrp="1"/>
          </p:cNvSpPr>
          <p:nvPr/>
        </p:nvSpPr>
        <p:spPr>
          <a:xfrm xmlns:a="http://schemas.openxmlformats.org/drawingml/2006/main">
            <a:off x="73342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Dataset local</a:t>
            </a:r>
          </a:p>
        </p:txBody>
      </p:sp>
      <p:sp>
        <p:nvSpPr>
          <p:cNvPr id="8" name="">
            <a:extLst xmlns:a="http://schemas.openxmlformats.org/drawingml/2006/main">
              <a:ext uri="{FF2B5EF4-FFF2-40B4-BE49-F238E27FC236}">
                <a16:creationId xmlns:a16="http://schemas.microsoft.com/office/drawing/2014/main" id="{8C65A187-53ED-44C5-818F-C2CC6274E82E}"/>
              </a:ext>
            </a:extLst>
          </p:cNvPr>
          <p:cNvSpPr>
            <a:spLocks xmlns:a="http://schemas.openxmlformats.org/drawingml/2006/main" noGrp="1"/>
          </p:cNvSpPr>
          <p:nvPr/>
        </p:nvSpPr>
        <p:spPr>
          <a:xfrm xmlns:a="http://schemas.openxmlformats.org/drawingml/2006/main">
            <a:off x="95821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C6AD2BA8-9A51-48E2-93BF-4F80E888EB0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peticiones externas terminan antes del ciclo de generaciones</a:t>
            </a:r>
          </a:p>
        </p:txBody>
      </p:sp>
    </p:spTree>
    <p:extLst>
      <p:ext uri="{BB962C8B-B14F-4D97-AF65-F5344CB8AC3E}">
        <p14:creationId xmlns:p14="http://schemas.microsoft.com/office/powerpoint/2010/main" val="24163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0EF55D-F1C8-49AE-9CAC-B175AA5633D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Parámetros de la nueva corrida</a:t>
            </a:r>
          </a:p>
        </p:txBody>
      </p:sp>
      <p:sp>
        <p:nvSpPr>
          <p:cNvPr id="2" name="">
            <a:extLst xmlns:a="http://schemas.openxmlformats.org/drawingml/2006/main">
              <a:ext uri="{FF2B5EF4-FFF2-40B4-BE49-F238E27FC236}">
                <a16:creationId xmlns:a16="http://schemas.microsoft.com/office/drawing/2014/main" id="{15653329-73DF-4F6A-8DC5-CF1B8A8CFE4E}"/>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E28FF7F-8D54-4ECF-B884-52004BB0E89E}"/>
              </a:ext>
            </a:extLst>
          </p:cNvPr>
          <p:cNvSpPr>
            <a:spLocks xmlns:a="http://schemas.openxmlformats.org/drawingml/2006/main" noGrp="1"/>
          </p:cNvSpPr>
          <p:nvPr/>
        </p:nvSpPr>
        <p:spPr>
          <a:xfrm xmlns:a="http://schemas.openxmlformats.org/drawingml/2006/main">
            <a:off x="6667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BB33EE19-CE0F-4E7C-92A7-0CE5C96E236A}"/>
              </a:ext>
            </a:extLst>
          </p:cNvPr>
          <p:cNvSpPr>
            <a:spLocks xmlns:a="http://schemas.openxmlformats.org/drawingml/2006/main" noGrp="1"/>
          </p:cNvSpPr>
          <p:nvPr/>
        </p:nvSpPr>
        <p:spPr>
          <a:xfrm xmlns:a="http://schemas.openxmlformats.org/drawingml/2006/main">
            <a:off x="6667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CA58276A-1304-4E56-80F5-D9FF61B245D2}"/>
              </a:ext>
            </a:extLst>
          </p:cNvPr>
          <p:cNvSpPr>
            <a:spLocks xmlns:a="http://schemas.openxmlformats.org/drawingml/2006/main" noGrp="1"/>
          </p:cNvSpPr>
          <p:nvPr/>
        </p:nvSpPr>
        <p:spPr>
          <a:xfrm xmlns:a="http://schemas.openxmlformats.org/drawingml/2006/main">
            <a:off x="438150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1DBD6B-EEDE-4D1F-9DF8-0168F582DBFC}"/>
              </a:ext>
            </a:extLst>
          </p:cNvPr>
          <p:cNvSpPr>
            <a:spLocks xmlns:a="http://schemas.openxmlformats.org/drawingml/2006/main" noGrp="1"/>
          </p:cNvSpPr>
          <p:nvPr/>
        </p:nvSpPr>
        <p:spPr>
          <a:xfrm xmlns:a="http://schemas.openxmlformats.org/drawingml/2006/main">
            <a:off x="438150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928C23A3-96CD-4D79-8F00-46777B9067BF}"/>
              </a:ext>
            </a:extLst>
          </p:cNvPr>
          <p:cNvSpPr>
            <a:spLocks xmlns:a="http://schemas.openxmlformats.org/drawingml/2006/main" noGrp="1"/>
          </p:cNvSpPr>
          <p:nvPr/>
        </p:nvSpPr>
        <p:spPr>
          <a:xfrm xmlns:a="http://schemas.openxmlformats.org/drawingml/2006/main">
            <a:off x="80962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84241AB4-F964-4BC5-BE3A-0E826F8E88DD}"/>
              </a:ext>
            </a:extLst>
          </p:cNvPr>
          <p:cNvSpPr>
            <a:spLocks xmlns:a="http://schemas.openxmlformats.org/drawingml/2006/main" noGrp="1"/>
          </p:cNvSpPr>
          <p:nvPr/>
        </p:nvSpPr>
        <p:spPr>
          <a:xfrm xmlns:a="http://schemas.openxmlformats.org/drawingml/2006/main">
            <a:off x="80962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cruce</a:t>
            </a:r>
          </a:p>
        </p:txBody>
      </p:sp>
      <p:sp>
        <p:nvSpPr>
          <p:cNvPr id="9" name="">
            <a:extLst xmlns:a="http://schemas.openxmlformats.org/drawingml/2006/main">
              <a:ext uri="{FF2B5EF4-FFF2-40B4-BE49-F238E27FC236}">
                <a16:creationId xmlns:a16="http://schemas.microsoft.com/office/drawing/2014/main" id="{2C2209A8-E666-464D-A8A8-F49A9CDB3A01}"/>
              </a:ext>
            </a:extLst>
          </p:cNvPr>
          <p:cNvSpPr>
            <a:spLocks xmlns:a="http://schemas.openxmlformats.org/drawingml/2006/main" noGrp="1"/>
          </p:cNvSpPr>
          <p:nvPr/>
        </p:nvSpPr>
        <p:spPr>
          <a:xfrm xmlns:a="http://schemas.openxmlformats.org/drawingml/2006/main">
            <a:off x="6667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a:t>
            </a:r>
          </a:p>
        </p:txBody>
      </p:sp>
      <p:sp>
        <p:nvSpPr>
          <p:cNvPr id="10" name="">
            <a:extLst xmlns:a="http://schemas.openxmlformats.org/drawingml/2006/main">
              <a:ext uri="{FF2B5EF4-FFF2-40B4-BE49-F238E27FC236}">
                <a16:creationId xmlns:a16="http://schemas.microsoft.com/office/drawing/2014/main" id="{18FBBC31-1BCE-4850-9A71-48EB85B3CAF7}"/>
              </a:ext>
            </a:extLst>
          </p:cNvPr>
          <p:cNvSpPr>
            <a:spLocks xmlns:a="http://schemas.openxmlformats.org/drawingml/2006/main" noGrp="1"/>
          </p:cNvSpPr>
          <p:nvPr/>
        </p:nvSpPr>
        <p:spPr>
          <a:xfrm xmlns:a="http://schemas.openxmlformats.org/drawingml/2006/main">
            <a:off x="6667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mutación</a:t>
            </a:r>
          </a:p>
        </p:txBody>
      </p:sp>
      <p:sp>
        <p:nvSpPr>
          <p:cNvPr id="11" name="">
            <a:extLst xmlns:a="http://schemas.openxmlformats.org/drawingml/2006/main">
              <a:ext uri="{FF2B5EF4-FFF2-40B4-BE49-F238E27FC236}">
                <a16:creationId xmlns:a16="http://schemas.microsoft.com/office/drawing/2014/main" id="{07261084-251B-4889-8E35-071297C06C47}"/>
              </a:ext>
            </a:extLst>
          </p:cNvPr>
          <p:cNvSpPr>
            <a:spLocks xmlns:a="http://schemas.openxmlformats.org/drawingml/2006/main" noGrp="1"/>
          </p:cNvSpPr>
          <p:nvPr/>
        </p:nvSpPr>
        <p:spPr>
          <a:xfrm xmlns:a="http://schemas.openxmlformats.org/drawingml/2006/main">
            <a:off x="438150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1F133C4-9AF2-45FE-A24C-5EB0FB88A7D0}"/>
              </a:ext>
            </a:extLst>
          </p:cNvPr>
          <p:cNvSpPr>
            <a:spLocks xmlns:a="http://schemas.openxmlformats.org/drawingml/2006/main" noGrp="1"/>
          </p:cNvSpPr>
          <p:nvPr/>
        </p:nvSpPr>
        <p:spPr>
          <a:xfrm xmlns:a="http://schemas.openxmlformats.org/drawingml/2006/main">
            <a:off x="438150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élites</a:t>
            </a:r>
          </a:p>
        </p:txBody>
      </p:sp>
      <p:sp>
        <p:nvSpPr>
          <p:cNvPr id="13" name="">
            <a:extLst xmlns:a="http://schemas.openxmlformats.org/drawingml/2006/main">
              <a:ext uri="{FF2B5EF4-FFF2-40B4-BE49-F238E27FC236}">
                <a16:creationId xmlns:a16="http://schemas.microsoft.com/office/drawing/2014/main" id="{B9D92512-9C67-43B3-ACE1-B3527F7B6787}"/>
              </a:ext>
            </a:extLst>
          </p:cNvPr>
          <p:cNvSpPr>
            <a:spLocks xmlns:a="http://schemas.openxmlformats.org/drawingml/2006/main" noGrp="1"/>
          </p:cNvSpPr>
          <p:nvPr/>
        </p:nvSpPr>
        <p:spPr>
          <a:xfrm xmlns:a="http://schemas.openxmlformats.org/drawingml/2006/main">
            <a:off x="80962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E50BBF8-A061-4569-AB5F-24D8B86CFA9E}"/>
              </a:ext>
            </a:extLst>
          </p:cNvPr>
          <p:cNvSpPr>
            <a:spLocks xmlns:a="http://schemas.openxmlformats.org/drawingml/2006/main" noGrp="1"/>
          </p:cNvSpPr>
          <p:nvPr/>
        </p:nvSpPr>
        <p:spPr>
          <a:xfrm xmlns:a="http://schemas.openxmlformats.org/drawingml/2006/main">
            <a:off x="80962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candidatos por torneo</a:t>
            </a:r>
          </a:p>
        </p:txBody>
      </p:sp>
      <p:sp>
        <p:nvSpPr>
          <p:cNvPr id="15" name="">
            <a:extLst xmlns:a="http://schemas.openxmlformats.org/drawingml/2006/main">
              <a:ext uri="{FF2B5EF4-FFF2-40B4-BE49-F238E27FC236}">
                <a16:creationId xmlns:a16="http://schemas.microsoft.com/office/drawing/2014/main" id="{F3E70981-8006-4D5D-9740-68ED3DD9BC46}"/>
              </a:ext>
            </a:extLst>
          </p:cNvPr>
          <p:cNvSpPr>
            <a:spLocks xmlns:a="http://schemas.openxmlformats.org/drawingml/2006/main" noGrp="1"/>
          </p:cNvSpPr>
          <p:nvPr/>
        </p:nvSpPr>
        <p:spPr>
          <a:xfrm xmlns:a="http://schemas.openxmlformats.org/drawingml/2006/main">
            <a:off x="66675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buNone/>
              <a:defRPr sz="2175" b="1">
                <a:solidFill>
                  <a:srgbClr val="172F3E"/>
                </a:solidFill>
                <a:latin typeface="Arial"/>
                <a:ea typeface="Arial"/>
                <a:cs typeface="Arial"/>
              </a:defRPr>
            </a:pPr>
            <a:r>
              <a:rPr sz="2175" b="1">
                <a:solidFill>
                  <a:srgbClr val="172F3E"/>
                </a:solidFill>
                <a:latin typeface="Arial"/>
                <a:ea typeface="Arial"/>
                <a:cs typeface="Arial"/>
              </a:rPr>
              <a:t>Semilla aleatoria 20261006</a:t>
            </a:r>
          </a:p>
        </p:txBody>
      </p:sp>
      <p:sp>
        <p:nvSpPr>
          <p:cNvPr id="16" name="">
            <a:extLst xmlns:a="http://schemas.openxmlformats.org/drawingml/2006/main">
              <a:ext uri="{FF2B5EF4-FFF2-40B4-BE49-F238E27FC236}">
                <a16:creationId xmlns:a16="http://schemas.microsoft.com/office/drawing/2014/main" id="{FE4D5D91-D924-42FA-949D-DF22B7E4E14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Mismo dataset preparado, nuevas decisiones aleatorias</a:t>
            </a:r>
          </a:p>
        </p:txBody>
      </p:sp>
    </p:spTree>
    <p:extLst>
      <p:ext uri="{BB962C8B-B14F-4D97-AF65-F5344CB8AC3E}">
        <p14:creationId xmlns:p14="http://schemas.microsoft.com/office/powerpoint/2010/main" val="7239599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90819-5742-4C8C-90A9-D56327A18FA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Un cromosoma real y su crecimiento</a:t>
            </a:r>
          </a:p>
        </p:txBody>
      </p:sp>
      <p:sp>
        <p:nvSpPr>
          <p:cNvPr id="2" name="">
            <a:extLst xmlns:a="http://schemas.openxmlformats.org/drawingml/2006/main">
              <a:ext uri="{FF2B5EF4-FFF2-40B4-BE49-F238E27FC236}">
                <a16:creationId xmlns:a16="http://schemas.microsoft.com/office/drawing/2014/main" id="{479E5BB4-821E-435C-97A5-E63B979C23D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E5F56F10-5785-45CE-97DF-C9597DC4C130}"/>
              </a:ext>
            </a:extLst>
          </p:cNvPr>
          <p:cNvPicPr>
            <a:picLocks xmlns:a="http://schemas.openxmlformats.org/drawingml/2006/main" noChangeAspect="1"/>
          </p:cNvPicPr>
          <p:nvPr/>
        </p:nvPicPr>
        <p:blipFill>
          <a:blip xmlns:r="http://schemas.openxmlformats.org/officeDocument/2006/relationships" xmlns:a="http://schemas.openxmlformats.org/drawingml/2006/main" r:embed="R2b0c7ae4427a4bde"/>
          <a:stretch xmlns:a="http://schemas.openxmlformats.org/drawingml/2006/main"/>
        </p:blipFill>
        <p:spPr>
          <a:xfrm xmlns:a="http://schemas.openxmlformats.org/drawingml/2006/main">
            <a:off x="526906" y="1543050"/>
            <a:ext cx="3661064" cy="2876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149F4-68AB-41BA-B92F-482E64A8C74A}"/>
              </a:ext>
            </a:extLst>
          </p:cNvPr>
          <p:cNvSpPr>
            <a:spLocks xmlns:a="http://schemas.openxmlformats.org/drawingml/2006/main" noGrp="1"/>
          </p:cNvSpPr>
          <p:nvPr/>
        </p:nvSpPr>
        <p:spPr>
          <a:xfrm xmlns:a="http://schemas.openxmlformats.org/drawingml/2006/main">
            <a:off x="6191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8681A036-2D47-4AC8-A5C8-35DC9132A062}"/>
              </a:ext>
            </a:extLst>
          </p:cNvPr>
          <p:cNvSpPr>
            <a:spLocks xmlns:a="http://schemas.openxmlformats.org/drawingml/2006/main" noGrp="1"/>
          </p:cNvSpPr>
          <p:nvPr/>
        </p:nvSpPr>
        <p:spPr>
          <a:xfrm xmlns:a="http://schemas.openxmlformats.org/drawingml/2006/main">
            <a:off x="6191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1 celda</a:t>
            </a:r>
          </a:p>
        </p:txBody>
      </p:sp>
      <p:pic>
        <p:nvPicPr>
          <p:cNvPr id="6" name="">
            <a:extLst xmlns:a="http://schemas.openxmlformats.org/drawingml/2006/main">
              <a:ext uri="{FF2B5EF4-FFF2-40B4-BE49-F238E27FC236}">
                <a16:creationId xmlns:a16="http://schemas.microsoft.com/office/drawing/2014/main" id="{B0A196BA-21F0-45C1-B779-4709DF106F99}"/>
              </a:ext>
            </a:extLst>
          </p:cNvPr>
          <p:cNvPicPr>
            <a:picLocks xmlns:a="http://schemas.openxmlformats.org/drawingml/2006/main" noChangeAspect="1"/>
          </p:cNvPicPr>
          <p:nvPr/>
        </p:nvPicPr>
        <p:blipFill>
          <a:blip xmlns:r="http://schemas.openxmlformats.org/officeDocument/2006/relationships" xmlns:a="http://schemas.openxmlformats.org/drawingml/2006/main" r:embed="Rcc3e60722c354982"/>
          <a:stretch xmlns:a="http://schemas.openxmlformats.org/drawingml/2006/main"/>
        </p:blipFill>
        <p:spPr>
          <a:xfrm xmlns:a="http://schemas.openxmlformats.org/drawingml/2006/main">
            <a:off x="4375006" y="1543050"/>
            <a:ext cx="3661064" cy="2876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52440F-9B79-44DB-B77D-04622416FACC}"/>
              </a:ext>
            </a:extLst>
          </p:cNvPr>
          <p:cNvSpPr>
            <a:spLocks xmlns:a="http://schemas.openxmlformats.org/drawingml/2006/main" noGrp="1"/>
          </p:cNvSpPr>
          <p:nvPr/>
        </p:nvSpPr>
        <p:spPr>
          <a:xfrm xmlns:a="http://schemas.openxmlformats.org/drawingml/2006/main">
            <a:off x="44672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2 genes procesados</a:t>
            </a:r>
          </a:p>
        </p:txBody>
      </p:sp>
      <p:sp>
        <p:nvSpPr>
          <p:cNvPr id="8" name="">
            <a:extLst xmlns:a="http://schemas.openxmlformats.org/drawingml/2006/main">
              <a:ext uri="{FF2B5EF4-FFF2-40B4-BE49-F238E27FC236}">
                <a16:creationId xmlns:a16="http://schemas.microsoft.com/office/drawing/2014/main" id="{FFCA3F8E-3555-4869-BD4E-F4C0BD215B06}"/>
              </a:ext>
            </a:extLst>
          </p:cNvPr>
          <p:cNvSpPr>
            <a:spLocks xmlns:a="http://schemas.openxmlformats.org/drawingml/2006/main" noGrp="1"/>
          </p:cNvSpPr>
          <p:nvPr/>
        </p:nvSpPr>
        <p:spPr>
          <a:xfrm xmlns:a="http://schemas.openxmlformats.org/drawingml/2006/main">
            <a:off x="44672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3 celdas</a:t>
            </a:r>
          </a:p>
        </p:txBody>
      </p:sp>
      <p:pic>
        <p:nvPicPr>
          <p:cNvPr id="9" name="">
            <a:extLst xmlns:a="http://schemas.openxmlformats.org/drawingml/2006/main">
              <a:ext uri="{FF2B5EF4-FFF2-40B4-BE49-F238E27FC236}">
                <a16:creationId xmlns:a16="http://schemas.microsoft.com/office/drawing/2014/main" id="{F78E4F8B-B6D0-4EC1-B26C-07604472B945}"/>
              </a:ext>
            </a:extLst>
          </p:cNvPr>
          <p:cNvPicPr>
            <a:picLocks xmlns:a="http://schemas.openxmlformats.org/drawingml/2006/main" noChangeAspect="1"/>
          </p:cNvPicPr>
          <p:nvPr/>
        </p:nvPicPr>
        <p:blipFill>
          <a:blip xmlns:r="http://schemas.openxmlformats.org/officeDocument/2006/relationships" xmlns:a="http://schemas.openxmlformats.org/drawingml/2006/main" r:embed="R3628e24c01bc4065"/>
          <a:stretch xmlns:a="http://schemas.openxmlformats.org/drawingml/2006/main"/>
        </p:blipFill>
        <p:spPr>
          <a:xfrm xmlns:a="http://schemas.openxmlformats.org/drawingml/2006/main">
            <a:off x="8223106" y="1543050"/>
            <a:ext cx="3661064" cy="2876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8A2948F-0A51-447F-A33D-B16D440A7203}"/>
              </a:ext>
            </a:extLst>
          </p:cNvPr>
          <p:cNvSpPr>
            <a:spLocks xmlns:a="http://schemas.openxmlformats.org/drawingml/2006/main" noGrp="1"/>
          </p:cNvSpPr>
          <p:nvPr/>
        </p:nvSpPr>
        <p:spPr>
          <a:xfrm xmlns:a="http://schemas.openxmlformats.org/drawingml/2006/main">
            <a:off x="83153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4 genes procesados</a:t>
            </a:r>
          </a:p>
        </p:txBody>
      </p:sp>
      <p:sp>
        <p:nvSpPr>
          <p:cNvPr id="11" name="">
            <a:extLst xmlns:a="http://schemas.openxmlformats.org/drawingml/2006/main">
              <a:ext uri="{FF2B5EF4-FFF2-40B4-BE49-F238E27FC236}">
                <a16:creationId xmlns:a16="http://schemas.microsoft.com/office/drawing/2014/main" id="{5C877C91-7D99-4AE4-BD7E-DDB97FADE6FB}"/>
              </a:ext>
            </a:extLst>
          </p:cNvPr>
          <p:cNvSpPr>
            <a:spLocks xmlns:a="http://schemas.openxmlformats.org/drawingml/2006/main" noGrp="1"/>
          </p:cNvSpPr>
          <p:nvPr/>
        </p:nvSpPr>
        <p:spPr>
          <a:xfrm xmlns:a="http://schemas.openxmlformats.org/drawingml/2006/main">
            <a:off x="83153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5 celdas</a:t>
            </a:r>
          </a:p>
        </p:txBody>
      </p:sp>
      <p:sp>
        <p:nvSpPr>
          <p:cNvPr id="12" name="">
            <a:extLst xmlns:a="http://schemas.openxmlformats.org/drawingml/2006/main">
              <a:ext uri="{FF2B5EF4-FFF2-40B4-BE49-F238E27FC236}">
                <a16:creationId xmlns:a16="http://schemas.microsoft.com/office/drawing/2014/main" id="{68B01576-0DCA-4C64-8068-64AC546B201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Semilla 194480. Secuencia completa: 5 celdas y 39,125 MW estimados</a:t>
            </a:r>
          </a:p>
        </p:txBody>
      </p:sp>
    </p:spTree>
    <p:extLst>
      <p:ext uri="{BB962C8B-B14F-4D97-AF65-F5344CB8AC3E}">
        <p14:creationId xmlns:p14="http://schemas.microsoft.com/office/powerpoint/2010/main" val="116943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B8185-8928-4DD5-8130-6F307185425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Población inicial y selección</a:t>
            </a:r>
          </a:p>
        </p:txBody>
      </p:sp>
      <p:sp>
        <p:nvSpPr>
          <p:cNvPr id="2" name="">
            <a:extLst xmlns:a="http://schemas.openxmlformats.org/drawingml/2006/main">
              <a:ext uri="{FF2B5EF4-FFF2-40B4-BE49-F238E27FC236}">
                <a16:creationId xmlns:a16="http://schemas.microsoft.com/office/drawing/2014/main" id="{7B69CC64-3462-436D-8E6E-A80869B7456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106C69D7-6224-4DE3-B457-07E3196CC35B}"/>
              </a:ext>
            </a:extLst>
          </p:cNvPr>
          <p:cNvPicPr>
            <a:picLocks xmlns:a="http://schemas.openxmlformats.org/drawingml/2006/main" noChangeAspect="1"/>
          </p:cNvPicPr>
          <p:nvPr/>
        </p:nvPicPr>
        <p:blipFill>
          <a:blip xmlns:r="http://schemas.openxmlformats.org/officeDocument/2006/relationships" xmlns:a="http://schemas.openxmlformats.org/drawingml/2006/main" r:embed="R969f37aa88484c19"/>
          <a:srcRect xmlns:a="http://schemas.openxmlformats.org/drawingml/2006/main" l="0" t="6000" r="0" b="3000"/>
          <a:stretch xmlns:a="http://schemas.openxmlformats.org/drawingml/2006/main"/>
        </p:blipFill>
        <p:spPr>
          <a:xfrm xmlns:a="http://schemas.openxmlformats.org/drawingml/2006/main">
            <a:off x="561975" y="1381125"/>
            <a:ext cx="11049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105C5-F150-453E-9348-0603504D37E0}"/>
              </a:ext>
            </a:extLst>
          </p:cNvPr>
          <p:cNvSpPr>
            <a:spLocks xmlns:a="http://schemas.openxmlformats.org/drawingml/2006/main" noGrp="1"/>
          </p:cNvSpPr>
          <p:nvPr/>
        </p:nvSpPr>
        <p:spPr>
          <a:xfrm xmlns:a="http://schemas.openxmlformats.org/drawingml/2006/main">
            <a:off x="619125" y="4781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72F3E"/>
                </a:solidFill>
                <a:latin typeface="Arial"/>
                <a:ea typeface="Arial"/>
                <a:cs typeface="Arial"/>
              </a:defRPr>
            </a:defPPr>
          </a:lstStyle>
          <a:p xmlns:a="http://schemas.openxmlformats.org/drawingml/2006/main">
            <a:pPr>
              <a:buNone/>
              <a:defRPr sz="2550" b="1">
                <a:solidFill>
                  <a:srgbClr val="172F3E"/>
                </a:solidFill>
                <a:latin typeface="Arial"/>
                <a:ea typeface="Arial"/>
                <a:cs typeface="Arial"/>
              </a:defRPr>
            </a:pPr>
            <a:r>
              <a:rPr sz="2550" b="1">
                <a:solidFill>
                  <a:srgbClr val="172F3E"/>
                </a:solidFill>
                <a:latin typeface="Arial"/>
                <a:ea typeface="Arial"/>
                <a:cs typeface="Arial"/>
              </a:rPr>
              <a:t>50 parques con cobertura territorial</a:t>
            </a:r>
          </a:p>
        </p:txBody>
      </p:sp>
      <p:sp>
        <p:nvSpPr>
          <p:cNvPr id="5" name="">
            <a:extLst xmlns:a="http://schemas.openxmlformats.org/drawingml/2006/main">
              <a:ext uri="{FF2B5EF4-FFF2-40B4-BE49-F238E27FC236}">
                <a16:creationId xmlns:a16="http://schemas.microsoft.com/office/drawing/2014/main" id="{7B43ACB4-E2B2-4901-B4AA-0B25319B6AA2}"/>
              </a:ext>
            </a:extLst>
          </p:cNvPr>
          <p:cNvSpPr>
            <a:spLocks xmlns:a="http://schemas.openxmlformats.org/drawingml/2006/main" noGrp="1"/>
          </p:cNvSpPr>
          <p:nvPr/>
        </p:nvSpPr>
        <p:spPr>
          <a:xfrm xmlns:a="http://schemas.openxmlformats.org/drawingml/2006/main">
            <a:off x="619125" y="53816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Torneo de 3 y preservación de 2 élites</a:t>
            </a:r>
          </a:p>
        </p:txBody>
      </p:sp>
      <p:sp>
        <p:nvSpPr>
          <p:cNvPr id="6" name="">
            <a:extLst xmlns:a="http://schemas.openxmlformats.org/drawingml/2006/main">
              <a:ext uri="{FF2B5EF4-FFF2-40B4-BE49-F238E27FC236}">
                <a16:creationId xmlns:a16="http://schemas.microsoft.com/office/drawing/2014/main" id="{F876E30F-4E4D-41AD-AC90-31CE2B2553F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torneo prefiere un candidato. El azar sigue presente en la búsqueda</a:t>
            </a:r>
          </a:p>
        </p:txBody>
      </p:sp>
    </p:spTree>
    <p:extLst>
      <p:ext uri="{BB962C8B-B14F-4D97-AF65-F5344CB8AC3E}">
        <p14:creationId xmlns:p14="http://schemas.microsoft.com/office/powerpoint/2010/main" val="382549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223E3-8F08-460C-817F-5C6212931B5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Cruce de secuencias: evento real</a:t>
            </a:r>
          </a:p>
        </p:txBody>
      </p:sp>
      <p:sp>
        <p:nvSpPr>
          <p:cNvPr id="2" name="">
            <a:extLst xmlns:a="http://schemas.openxmlformats.org/drawingml/2006/main">
              <a:ext uri="{FF2B5EF4-FFF2-40B4-BE49-F238E27FC236}">
                <a16:creationId xmlns:a16="http://schemas.microsoft.com/office/drawing/2014/main" id="{3C624708-F312-4EF3-B1D7-EB641477682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3EFEF2AB-A516-4152-933E-7BC282400ED0}"/>
              </a:ext>
            </a:extLst>
          </p:cNvPr>
          <p:cNvPicPr>
            <a:picLocks xmlns:a="http://schemas.openxmlformats.org/drawingml/2006/main" noChangeAspect="1"/>
          </p:cNvPicPr>
          <p:nvPr/>
        </p:nvPicPr>
        <p:blipFill>
          <a:blip xmlns:r="http://schemas.openxmlformats.org/officeDocument/2006/relationships" xmlns:a="http://schemas.openxmlformats.org/drawingml/2006/main" r:embed="R2511f6c34b4b466c"/>
          <a:srcRect xmlns:a="http://schemas.openxmlformats.org/drawingml/2006/main" l="0" t="4000" r="0" b="2000"/>
          <a:stretch xmlns:a="http://schemas.openxmlformats.org/drawingml/2006/main"/>
        </p:blipFill>
        <p:spPr>
          <a:xfrm xmlns:a="http://schemas.openxmlformats.org/drawingml/2006/main">
            <a:off x="600075" y="1352550"/>
            <a:ext cx="110109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70841A-416B-4552-878B-5A194AA69EC3}"/>
              </a:ext>
            </a:extLst>
          </p:cNvPr>
          <p:cNvSpPr>
            <a:spLocks xmlns:a="http://schemas.openxmlformats.org/drawingml/2006/main" noGrp="1"/>
          </p:cNvSpPr>
          <p:nvPr/>
        </p:nvSpPr>
        <p:spPr>
          <a:xfrm xmlns:a="http://schemas.openxmlformats.org/drawingml/2006/main">
            <a:off x="628650"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72F3E"/>
                </a:solidFill>
                <a:latin typeface="Arial"/>
                <a:ea typeface="Arial"/>
                <a:cs typeface="Arial"/>
              </a:defRPr>
            </a:defPPr>
          </a:lstStyle>
          <a:p xmlns:a="http://schemas.openxmlformats.org/drawingml/2006/main">
            <a:pPr>
              <a:buNone/>
              <a:defRPr sz="2250" b="1">
                <a:solidFill>
                  <a:srgbClr val="172F3E"/>
                </a:solidFill>
                <a:latin typeface="Arial"/>
                <a:ea typeface="Arial"/>
                <a:cs typeface="Arial"/>
              </a:defRPr>
            </a:pPr>
            <a:r>
              <a:rPr sz="2250" b="1">
                <a:solidFill>
                  <a:srgbClr val="172F3E"/>
                </a:solidFill>
                <a:latin typeface="Arial"/>
                <a:ea typeface="Arial"/>
                <a:cs typeface="Arial"/>
              </a:rPr>
              <a:t>Padre A: F = 0,5273</a:t>
            </a:r>
          </a:p>
        </p:txBody>
      </p:sp>
      <p:sp>
        <p:nvSpPr>
          <p:cNvPr id="5" name="">
            <a:extLst xmlns:a="http://schemas.openxmlformats.org/drawingml/2006/main">
              <a:ext uri="{FF2B5EF4-FFF2-40B4-BE49-F238E27FC236}">
                <a16:creationId xmlns:a16="http://schemas.microsoft.com/office/drawing/2014/main" id="{DD5F93FC-527C-44B9-9AB4-98D9D246E379}"/>
              </a:ext>
            </a:extLst>
          </p:cNvPr>
          <p:cNvSpPr>
            <a:spLocks xmlns:a="http://schemas.openxmlformats.org/drawingml/2006/main" noGrp="1"/>
          </p:cNvSpPr>
          <p:nvPr/>
        </p:nvSpPr>
        <p:spPr>
          <a:xfrm xmlns:a="http://schemas.openxmlformats.org/drawingml/2006/main">
            <a:off x="6543675"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Hijo A: F = 0,5371</a:t>
            </a:r>
          </a:p>
        </p:txBody>
      </p:sp>
      <p:sp>
        <p:nvSpPr>
          <p:cNvPr id="6" name="">
            <a:extLst xmlns:a="http://schemas.openxmlformats.org/drawingml/2006/main">
              <a:ext uri="{FF2B5EF4-FFF2-40B4-BE49-F238E27FC236}">
                <a16:creationId xmlns:a16="http://schemas.microsoft.com/office/drawing/2014/main" id="{F0C4610B-2E2E-4A1D-8913-E543E3B01F2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Los alias A1 y B5 facilitan la lectura. Los enteros reales están en las notas</a:t>
            </a:r>
          </a:p>
        </p:txBody>
      </p:sp>
    </p:spTree>
    <p:extLst>
      <p:ext uri="{BB962C8B-B14F-4D97-AF65-F5344CB8AC3E}">
        <p14:creationId xmlns:p14="http://schemas.microsoft.com/office/powerpoint/2010/main" val="329336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EF256B-091F-429B-AB57-96184F5B819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Mutación: una celda nueva</a:t>
            </a:r>
          </a:p>
        </p:txBody>
      </p:sp>
      <p:sp>
        <p:nvSpPr>
          <p:cNvPr id="2" name="">
            <a:extLst xmlns:a="http://schemas.openxmlformats.org/drawingml/2006/main">
              <a:ext uri="{FF2B5EF4-FFF2-40B4-BE49-F238E27FC236}">
                <a16:creationId xmlns:a16="http://schemas.microsoft.com/office/drawing/2014/main" id="{2E24C11B-9B61-4DA4-94E6-AECB4456C40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E6C6931C-AFD6-4A67-9865-58EDDC9F3E56}"/>
              </a:ext>
            </a:extLst>
          </p:cNvPr>
          <p:cNvPicPr>
            <a:picLocks xmlns:a="http://schemas.openxmlformats.org/drawingml/2006/main" noChangeAspect="1"/>
          </p:cNvPicPr>
          <p:nvPr/>
        </p:nvPicPr>
        <p:blipFill>
          <a:blip xmlns:r="http://schemas.openxmlformats.org/officeDocument/2006/relationships" xmlns:a="http://schemas.openxmlformats.org/drawingml/2006/main" r:embed="R8e1fd46e07e745de"/>
          <a:stretch xmlns:a="http://schemas.openxmlformats.org/drawingml/2006/main"/>
        </p:blipFill>
        <p:spPr>
          <a:xfrm xmlns:a="http://schemas.openxmlformats.org/drawingml/2006/main">
            <a:off x="1103601" y="1504950"/>
            <a:ext cx="4145973" cy="32575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25F4DCB-AA70-4878-94E9-5931E1247227}"/>
              </a:ext>
            </a:extLst>
          </p:cNvPr>
          <p:cNvPicPr>
            <a:picLocks xmlns:a="http://schemas.openxmlformats.org/drawingml/2006/main" noChangeAspect="1"/>
          </p:cNvPicPr>
          <p:nvPr/>
        </p:nvPicPr>
        <p:blipFill>
          <a:blip xmlns:r="http://schemas.openxmlformats.org/officeDocument/2006/relationships" xmlns:a="http://schemas.openxmlformats.org/drawingml/2006/main" r:embed="R29233763cddd4054"/>
          <a:stretch xmlns:a="http://schemas.openxmlformats.org/drawingml/2006/main"/>
        </p:blipFill>
        <p:spPr>
          <a:xfrm xmlns:a="http://schemas.openxmlformats.org/drawingml/2006/main">
            <a:off x="6942426" y="1504950"/>
            <a:ext cx="4145973" cy="3257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7B692-EEA0-4721-AD55-F4E839B84703}"/>
              </a:ext>
            </a:extLst>
          </p:cNvPr>
          <p:cNvSpPr>
            <a:spLocks xmlns:a="http://schemas.openxmlformats.org/drawingml/2006/main" noGrp="1"/>
          </p:cNvSpPr>
          <p:nvPr/>
        </p:nvSpPr>
        <p:spPr>
          <a:xfrm xmlns:a="http://schemas.openxmlformats.org/drawingml/2006/main">
            <a:off x="6477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Antes: 54,775 MW</a:t>
            </a:r>
          </a:p>
        </p:txBody>
      </p:sp>
      <p:sp>
        <p:nvSpPr>
          <p:cNvPr id="6" name="">
            <a:extLst xmlns:a="http://schemas.openxmlformats.org/drawingml/2006/main">
              <a:ext uri="{FF2B5EF4-FFF2-40B4-BE49-F238E27FC236}">
                <a16:creationId xmlns:a16="http://schemas.microsoft.com/office/drawing/2014/main" id="{64CBC0AF-F807-45C2-A474-5C2B716CDD3A}"/>
              </a:ext>
            </a:extLst>
          </p:cNvPr>
          <p:cNvSpPr>
            <a:spLocks xmlns:a="http://schemas.openxmlformats.org/drawingml/2006/main" noGrp="1"/>
          </p:cNvSpPr>
          <p:nvPr/>
        </p:nvSpPr>
        <p:spPr>
          <a:xfrm xmlns:a="http://schemas.openxmlformats.org/drawingml/2006/main">
            <a:off x="64770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Después: 62,6 MW</a:t>
            </a:r>
          </a:p>
        </p:txBody>
      </p:sp>
      <p:sp>
        <p:nvSpPr>
          <p:cNvPr id="7" name="">
            <a:extLst xmlns:a="http://schemas.openxmlformats.org/drawingml/2006/main">
              <a:ext uri="{FF2B5EF4-FFF2-40B4-BE49-F238E27FC236}">
                <a16:creationId xmlns:a16="http://schemas.microsoft.com/office/drawing/2014/main" id="{81B130A8-5263-4E77-A8F1-BF20FBBC8D97}"/>
              </a:ext>
            </a:extLst>
          </p:cNvPr>
          <p:cNvSpPr>
            <a:spLocks xmlns:a="http://schemas.openxmlformats.org/drawingml/2006/main" noGrp="1"/>
          </p:cNvSpPr>
          <p:nvPr/>
        </p:nvSpPr>
        <p:spPr>
          <a:xfrm xmlns:a="http://schemas.openxmlformats.org/drawingml/2006/main">
            <a:off x="6477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0,5174</a:t>
            </a:r>
          </a:p>
        </p:txBody>
      </p:sp>
      <p:sp>
        <p:nvSpPr>
          <p:cNvPr id="8" name="">
            <a:extLst xmlns:a="http://schemas.openxmlformats.org/drawingml/2006/main">
              <a:ext uri="{FF2B5EF4-FFF2-40B4-BE49-F238E27FC236}">
                <a16:creationId xmlns:a16="http://schemas.microsoft.com/office/drawing/2014/main" id="{EF23B7F2-CE39-44E9-B67C-816A6B8D635E}"/>
              </a:ext>
            </a:extLst>
          </p:cNvPr>
          <p:cNvSpPr>
            <a:spLocks xmlns:a="http://schemas.openxmlformats.org/drawingml/2006/main" noGrp="1"/>
          </p:cNvSpPr>
          <p:nvPr/>
        </p:nvSpPr>
        <p:spPr>
          <a:xfrm xmlns:a="http://schemas.openxmlformats.org/drawingml/2006/main">
            <a:off x="64770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0,5273</a:t>
            </a:r>
          </a:p>
        </p:txBody>
      </p:sp>
      <p:sp>
        <p:nvSpPr>
          <p:cNvPr id="9" name="">
            <a:extLst xmlns:a="http://schemas.openxmlformats.org/drawingml/2006/main">
              <a:ext uri="{FF2B5EF4-FFF2-40B4-BE49-F238E27FC236}">
                <a16:creationId xmlns:a16="http://schemas.microsoft.com/office/drawing/2014/main" id="{D85E3545-3368-4A67-949E-BC7BC414C15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Evento real de la generación 1. Mutación por adición de un gen</a:t>
            </a:r>
          </a:p>
        </p:txBody>
      </p:sp>
    </p:spTree>
    <p:extLst>
      <p:ext uri="{BB962C8B-B14F-4D97-AF65-F5344CB8AC3E}">
        <p14:creationId xmlns:p14="http://schemas.microsoft.com/office/powerpoint/2010/main" val="5302962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AB211-96A3-4526-B933-D08F702EB9B0}"/>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Ciclo de una generación</a:t>
            </a:r>
          </a:p>
        </p:txBody>
      </p:sp>
      <p:sp>
        <p:nvSpPr>
          <p:cNvPr id="2" name="">
            <a:extLst xmlns:a="http://schemas.openxmlformats.org/drawingml/2006/main">
              <a:ext uri="{FF2B5EF4-FFF2-40B4-BE49-F238E27FC236}">
                <a16:creationId xmlns:a16="http://schemas.microsoft.com/office/drawing/2014/main" id="{7B6E97D1-D453-4952-B672-F58353CC1FEC}"/>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46C12115-5F97-4D6E-8938-DBE00E6E88FE}"/>
              </a:ext>
            </a:extLst>
          </p:cNvPr>
          <p:cNvPicPr>
            <a:picLocks xmlns:a="http://schemas.openxmlformats.org/drawingml/2006/main" noChangeAspect="1"/>
          </p:cNvPicPr>
          <p:nvPr/>
        </p:nvPicPr>
        <p:blipFill>
          <a:blip xmlns:r="http://schemas.openxmlformats.org/officeDocument/2006/relationships" xmlns:a="http://schemas.openxmlformats.org/drawingml/2006/main" r:embed="R0d725794d11b4d55"/>
          <a:stretch xmlns:a="http://schemas.openxmlformats.org/drawingml/2006/main"/>
        </p:blipFill>
        <p:spPr>
          <a:xfrm xmlns:a="http://schemas.openxmlformats.org/drawingml/2006/main">
            <a:off x="2281688" y="1323975"/>
            <a:ext cx="7666724"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AF8FD-525A-4934-89B5-AE2D828FC1B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2 élites pasan directamente a la población siguiente</a:t>
            </a:r>
          </a:p>
        </p:txBody>
      </p:sp>
    </p:spTree>
    <p:extLst>
      <p:ext uri="{BB962C8B-B14F-4D97-AF65-F5344CB8AC3E}">
        <p14:creationId xmlns:p14="http://schemas.microsoft.com/office/powerpoint/2010/main" val="189853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3BD4-5AA9-44A0-891D-68751A95580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Evolución de la nueva corrida</a:t>
            </a:r>
          </a:p>
        </p:txBody>
      </p:sp>
      <p:sp>
        <p:nvSpPr>
          <p:cNvPr id="2" name="">
            <a:extLst xmlns:a="http://schemas.openxmlformats.org/drawingml/2006/main">
              <a:ext uri="{FF2B5EF4-FFF2-40B4-BE49-F238E27FC236}">
                <a16:creationId xmlns:a16="http://schemas.microsoft.com/office/drawing/2014/main" id="{76D01D45-0763-446A-A773-E9F5CB37361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8DEE24AE-247D-4D07-AF4F-5951D84EFD13}"/>
              </a:ext>
            </a:extLst>
          </p:cNvPr>
          <p:cNvGraphicFramePr/>
          <p:nvPr/>
        </p:nvGraphicFramePr>
        <p:xfrm>
          <a:off xmlns:a="http://schemas.openxmlformats.org/drawingml/2006/main" x="571500" y="1447800"/>
          <a:ext xmlns:a="http://schemas.openxmlformats.org/drawingml/2006/main" cx="10953750" cy="3857625"/>
        </p:xfrm>
        <a:graphic xmlns:a="http://schemas.openxmlformats.org/drawingml/2006/main">
          <a:graphicData uri="http://schemas.openxmlformats.org/drawingml/2006/chart">
            <c:chart xmlns:r="http://schemas.openxmlformats.org/officeDocument/2006/relationships" xmlns:c="http://schemas.openxmlformats.org/drawingml/2006/chart" r:id="R4fe48902a3e842e5"/>
          </a:graphicData>
        </a:graphic>
      </p:graphicFrame>
      <p:sp>
        <p:nvSpPr>
          <p:cNvPr id="4" name="">
            <a:extLst xmlns:a="http://schemas.openxmlformats.org/drawingml/2006/main">
              <a:ext uri="{FF2B5EF4-FFF2-40B4-BE49-F238E27FC236}">
                <a16:creationId xmlns:a16="http://schemas.microsoft.com/office/drawing/2014/main" id="{790A8521-75AA-4416-8EEA-158B9293CE36}"/>
              </a:ext>
            </a:extLst>
          </p:cNvPr>
          <p:cNvSpPr>
            <a:spLocks xmlns:a="http://schemas.openxmlformats.org/drawingml/2006/main" noGrp="1"/>
          </p:cNvSpPr>
          <p:nvPr/>
        </p:nvSpPr>
        <p:spPr>
          <a:xfrm xmlns:a="http://schemas.openxmlformats.org/drawingml/2006/main">
            <a:off x="609600" y="551497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0,6384   a   0,7174</a:t>
            </a:r>
          </a:p>
        </p:txBody>
      </p:sp>
      <p:sp>
        <p:nvSpPr>
          <p:cNvPr id="5" name="">
            <a:extLst xmlns:a="http://schemas.openxmlformats.org/drawingml/2006/main">
              <a:ext uri="{FF2B5EF4-FFF2-40B4-BE49-F238E27FC236}">
                <a16:creationId xmlns:a16="http://schemas.microsoft.com/office/drawing/2014/main" id="{28490A9F-6F7F-490F-8EFA-73EC87034783}"/>
              </a:ext>
            </a:extLst>
          </p:cNvPr>
          <p:cNvSpPr>
            <a:spLocks xmlns:a="http://schemas.openxmlformats.org/drawingml/2006/main" noGrp="1"/>
          </p:cNvSpPr>
          <p:nvPr/>
        </p:nvSpPr>
        <p:spPr>
          <a:xfrm xmlns:a="http://schemas.openxmlformats.org/drawingml/2006/main">
            <a:off x="7524750" y="55149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72F3E"/>
                </a:solidFill>
                <a:latin typeface="Arial"/>
                <a:ea typeface="Arial"/>
                <a:cs typeface="Arial"/>
              </a:defRPr>
            </a:defPPr>
          </a:lstStyle>
          <a:p xmlns:a="http://schemas.openxmlformats.org/drawingml/2006/main">
            <a:pPr>
              <a:buNone/>
              <a:defRPr sz="2100" b="1">
                <a:solidFill>
                  <a:srgbClr val="172F3E"/>
                </a:solidFill>
                <a:latin typeface="Arial"/>
                <a:ea typeface="Arial"/>
                <a:cs typeface="Arial"/>
              </a:defRPr>
            </a:pPr>
            <a:r>
              <a:rPr sz="2100" b="1">
                <a:solidFill>
                  <a:srgbClr val="172F3E"/>
                </a:solidFill>
                <a:latin typeface="Arial"/>
                <a:ea typeface="Arial"/>
                <a:cs typeface="Arial"/>
              </a:rPr>
              <a:t>6.309 parques distintos</a:t>
            </a:r>
          </a:p>
        </p:txBody>
      </p:sp>
      <p:sp>
        <p:nvSpPr>
          <p:cNvPr id="6" name="">
            <a:extLst xmlns:a="http://schemas.openxmlformats.org/drawingml/2006/main">
              <a:ext uri="{FF2B5EF4-FFF2-40B4-BE49-F238E27FC236}">
                <a16:creationId xmlns:a16="http://schemas.microsoft.com/office/drawing/2014/main" id="{49A0ABEE-B85C-4176-98EC-EA1738F4CE3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El fitness mide el desempeño bajo los criterios del escenario</a:t>
            </a:r>
          </a:p>
        </p:txBody>
      </p:sp>
    </p:spTree>
    <p:extLst>
      <p:ext uri="{BB962C8B-B14F-4D97-AF65-F5344CB8AC3E}">
        <p14:creationId xmlns:p14="http://schemas.microsoft.com/office/powerpoint/2010/main" val="21308290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06B790-7A81-4741-AA06-06A22DC1024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Mejor candidato encontrado</a:t>
            </a:r>
          </a:p>
        </p:txBody>
      </p:sp>
      <p:sp>
        <p:nvSpPr>
          <p:cNvPr id="2" name="">
            <a:extLst xmlns:a="http://schemas.openxmlformats.org/drawingml/2006/main">
              <a:ext uri="{FF2B5EF4-FFF2-40B4-BE49-F238E27FC236}">
                <a16:creationId xmlns:a16="http://schemas.microsoft.com/office/drawing/2014/main" id="{E2DA5F02-135C-442C-B106-FEEEC803D57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B794BC92-318B-4D74-B177-70FFFA491CA7}"/>
              </a:ext>
            </a:extLst>
          </p:cNvPr>
          <p:cNvPicPr>
            <a:picLocks xmlns:a="http://schemas.openxmlformats.org/drawingml/2006/main" noChangeAspect="1"/>
          </p:cNvPicPr>
          <p:nvPr/>
        </p:nvPicPr>
        <p:blipFill>
          <a:blip xmlns:r="http://schemas.openxmlformats.org/officeDocument/2006/relationships" xmlns:a="http://schemas.openxmlformats.org/drawingml/2006/main" r:embed="R8cc8fa72466e4e94"/>
          <a:stretch xmlns:a="http://schemas.openxmlformats.org/drawingml/2006/main"/>
        </p:blipFill>
        <p:spPr>
          <a:xfrm xmlns:a="http://schemas.openxmlformats.org/drawingml/2006/main">
            <a:off x="703984" y="1428750"/>
            <a:ext cx="5164282"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B7ADA-ECF6-4235-84DD-88948F1667C4}"/>
              </a:ext>
            </a:extLst>
          </p:cNvPr>
          <p:cNvSpPr>
            <a:spLocks xmlns:a="http://schemas.openxmlformats.org/drawingml/2006/main" noGrp="1"/>
          </p:cNvSpPr>
          <p:nvPr/>
        </p:nvSpPr>
        <p:spPr>
          <a:xfrm xmlns:a="http://schemas.openxmlformats.org/drawingml/2006/main">
            <a:off x="6657975" y="14859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250 ha</a:t>
            </a:r>
          </a:p>
        </p:txBody>
      </p:sp>
      <p:sp>
        <p:nvSpPr>
          <p:cNvPr id="5" name="">
            <a:extLst xmlns:a="http://schemas.openxmlformats.org/drawingml/2006/main">
              <a:ext uri="{FF2B5EF4-FFF2-40B4-BE49-F238E27FC236}">
                <a16:creationId xmlns:a16="http://schemas.microsoft.com/office/drawing/2014/main" id="{940C0F45-4421-4CA9-BCBA-7053F2CD74AC}"/>
              </a:ext>
            </a:extLst>
          </p:cNvPr>
          <p:cNvSpPr>
            <a:spLocks xmlns:a="http://schemas.openxmlformats.org/drawingml/2006/main" noGrp="1"/>
          </p:cNvSpPr>
          <p:nvPr/>
        </p:nvSpPr>
        <p:spPr>
          <a:xfrm xmlns:a="http://schemas.openxmlformats.org/drawingml/2006/main">
            <a:off x="6657975" y="21050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Superficie del parque</a:t>
            </a:r>
          </a:p>
        </p:txBody>
      </p:sp>
      <p:sp>
        <p:nvSpPr>
          <p:cNvPr id="6" name="">
            <a:extLst xmlns:a="http://schemas.openxmlformats.org/drawingml/2006/main">
              <a:ext uri="{FF2B5EF4-FFF2-40B4-BE49-F238E27FC236}">
                <a16:creationId xmlns:a16="http://schemas.microsoft.com/office/drawing/2014/main" id="{13B88794-AEC3-49E3-85DA-4F835C3BD8E6}"/>
              </a:ext>
            </a:extLst>
          </p:cNvPr>
          <p:cNvSpPr>
            <a:spLocks xmlns:a="http://schemas.openxmlformats.org/drawingml/2006/main" noGrp="1"/>
          </p:cNvSpPr>
          <p:nvPr/>
        </p:nvSpPr>
        <p:spPr>
          <a:xfrm xmlns:a="http://schemas.openxmlformats.org/drawingml/2006/main">
            <a:off x="6657975" y="2924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78,25 MW</a:t>
            </a:r>
          </a:p>
        </p:txBody>
      </p:sp>
      <p:sp>
        <p:nvSpPr>
          <p:cNvPr id="7" name="">
            <a:extLst xmlns:a="http://schemas.openxmlformats.org/drawingml/2006/main">
              <a:ext uri="{FF2B5EF4-FFF2-40B4-BE49-F238E27FC236}">
                <a16:creationId xmlns:a16="http://schemas.microsoft.com/office/drawing/2014/main" id="{1BE8FA75-BCEF-4D66-B763-A50516C7E4E8}"/>
              </a:ext>
            </a:extLst>
          </p:cNvPr>
          <p:cNvSpPr>
            <a:spLocks xmlns:a="http://schemas.openxmlformats.org/drawingml/2006/main" noGrp="1"/>
          </p:cNvSpPr>
          <p:nvPr/>
        </p:nvSpPr>
        <p:spPr>
          <a:xfrm xmlns:a="http://schemas.openxmlformats.org/drawingml/2006/main">
            <a:off x="6657975" y="35433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8" name="">
            <a:extLst xmlns:a="http://schemas.openxmlformats.org/drawingml/2006/main">
              <a:ext uri="{FF2B5EF4-FFF2-40B4-BE49-F238E27FC236}">
                <a16:creationId xmlns:a16="http://schemas.microsoft.com/office/drawing/2014/main" id="{936EACD3-4AAF-42CB-8D13-6EFD476306E4}"/>
              </a:ext>
            </a:extLst>
          </p:cNvPr>
          <p:cNvSpPr>
            <a:spLocks xmlns:a="http://schemas.openxmlformats.org/drawingml/2006/main" noGrp="1"/>
          </p:cNvSpPr>
          <p:nvPr/>
        </p:nvSpPr>
        <p:spPr>
          <a:xfrm xmlns:a="http://schemas.openxmlformats.org/drawingml/2006/main">
            <a:off x="6657975" y="43624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C79536"/>
                </a:solidFill>
                <a:latin typeface="Arial"/>
                <a:ea typeface="Arial"/>
                <a:cs typeface="Arial"/>
              </a:defRPr>
            </a:defPPr>
          </a:lstStyle>
          <a:p xmlns:a="http://schemas.openxmlformats.org/drawingml/2006/main">
            <a:pPr>
              <a:buNone/>
              <a:defRPr sz="3300" b="1">
                <a:solidFill>
                  <a:srgbClr val="C79536"/>
                </a:solidFill>
                <a:latin typeface="Arial"/>
                <a:ea typeface="Arial"/>
                <a:cs typeface="Arial"/>
              </a:defRPr>
            </a:pPr>
            <a:r>
              <a:rPr sz="3300" b="1">
                <a:solidFill>
                  <a:srgbClr val="C79536"/>
                </a:solidFill>
                <a:latin typeface="Arial"/>
                <a:ea typeface="Arial"/>
                <a:cs typeface="Arial"/>
              </a:rPr>
              <a:t>175,1 km</a:t>
            </a:r>
          </a:p>
        </p:txBody>
      </p:sp>
      <p:sp>
        <p:nvSpPr>
          <p:cNvPr id="9" name="">
            <a:extLst xmlns:a="http://schemas.openxmlformats.org/drawingml/2006/main">
              <a:ext uri="{FF2B5EF4-FFF2-40B4-BE49-F238E27FC236}">
                <a16:creationId xmlns:a16="http://schemas.microsoft.com/office/drawing/2014/main" id="{E6237DF1-F32C-47A3-9E31-6D6EAD72D187}"/>
              </a:ext>
            </a:extLst>
          </p:cNvPr>
          <p:cNvSpPr>
            <a:spLocks xmlns:a="http://schemas.openxmlformats.org/drawingml/2006/main" noGrp="1"/>
          </p:cNvSpPr>
          <p:nvPr/>
        </p:nvSpPr>
        <p:spPr>
          <a:xfrm xmlns:a="http://schemas.openxmlformats.org/drawingml/2006/main">
            <a:off x="6657975" y="498157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Distancia a ET de referencia</a:t>
            </a:r>
          </a:p>
        </p:txBody>
      </p:sp>
      <p:sp>
        <p:nvSpPr>
          <p:cNvPr id="10" name="">
            <a:extLst xmlns:a="http://schemas.openxmlformats.org/drawingml/2006/main">
              <a:ext uri="{FF2B5EF4-FFF2-40B4-BE49-F238E27FC236}">
                <a16:creationId xmlns:a16="http://schemas.microsoft.com/office/drawing/2014/main" id="{69E8332B-B79E-4B46-BF15-EEE2D9343BC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Irradiación: 1.896,0 kWh/m²/año. Línea: 14,9 m</a:t>
            </a:r>
          </a:p>
        </p:txBody>
      </p:sp>
    </p:spTree>
    <p:extLst>
      <p:ext uri="{BB962C8B-B14F-4D97-AF65-F5344CB8AC3E}">
        <p14:creationId xmlns:p14="http://schemas.microsoft.com/office/powerpoint/2010/main" val="6653792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261DA-4CA7-4EEA-8151-5978C7CB2333}"/>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Alternativas territoriales</a:t>
            </a:r>
          </a:p>
        </p:txBody>
      </p:sp>
      <p:sp>
        <p:nvSpPr>
          <p:cNvPr id="2" name="">
            <a:extLst xmlns:a="http://schemas.openxmlformats.org/drawingml/2006/main">
              <a:ext uri="{FF2B5EF4-FFF2-40B4-BE49-F238E27FC236}">
                <a16:creationId xmlns:a16="http://schemas.microsoft.com/office/drawing/2014/main" id="{941E0324-DE18-4214-B02F-0F65D37018D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DF690DA0-C8FB-48A1-A808-EE13EC966B3C}"/>
              </a:ext>
            </a:extLst>
          </p:cNvPr>
          <p:cNvPicPr>
            <a:picLocks xmlns:a="http://schemas.openxmlformats.org/drawingml/2006/main" noChangeAspect="1"/>
          </p:cNvPicPr>
          <p:nvPr/>
        </p:nvPicPr>
        <p:blipFill>
          <a:blip xmlns:r="http://schemas.openxmlformats.org/officeDocument/2006/relationships" xmlns:a="http://schemas.openxmlformats.org/drawingml/2006/main" r:embed="R104710617866466d"/>
          <a:stretch xmlns:a="http://schemas.openxmlformats.org/drawingml/2006/main"/>
        </p:blipFill>
        <p:spPr>
          <a:xfrm xmlns:a="http://schemas.openxmlformats.org/drawingml/2006/main">
            <a:off x="702889" y="1304925"/>
            <a:ext cx="3671047" cy="4457700"/>
          </a:xfrm>
          <a:prstGeom xmlns:a="http://schemas.openxmlformats.org/drawingml/2006/main" prst="rect">
            <a:avLst/>
          </a:prstGeom>
        </p:spPr>
      </p:pic>
      <p:graphicFrame>
        <p:nvGraphicFramePr>
          <p:cNvPr id="4" name="Chart">
            <a:extLst xmlns:a="http://schemas.openxmlformats.org/drawingml/2006/main">
              <a:ext uri="{FF2B5EF4-FFF2-40B4-BE49-F238E27FC236}">
                <a16:creationId xmlns:a16="http://schemas.microsoft.com/office/drawing/2014/main" id="{4882EB5E-F11B-4B8C-9371-B8B86BFCB19D}"/>
              </a:ext>
            </a:extLst>
          </p:cNvPr>
          <p:cNvGraphicFramePr/>
          <p:nvPr/>
        </p:nvGraphicFramePr>
        <p:xfrm>
          <a:off xmlns:a="http://schemas.openxmlformats.org/drawingml/2006/main" x="4829175" y="1533525"/>
          <a:ext xmlns:a="http://schemas.openxmlformats.org/drawingml/2006/main" cx="6638925" cy="3429000"/>
        </p:xfrm>
        <a:graphic xmlns:a="http://schemas.openxmlformats.org/drawingml/2006/main">
          <a:graphicData uri="http://schemas.openxmlformats.org/drawingml/2006/chart">
            <c:chart xmlns:r="http://schemas.openxmlformats.org/officeDocument/2006/relationships" xmlns:c="http://schemas.openxmlformats.org/drawingml/2006/chart" r:id="Rcda8b5823ada4397"/>
          </a:graphicData>
        </a:graphic>
      </p:graphicFrame>
      <p:sp>
        <p:nvSpPr>
          <p:cNvPr id="5" name="">
            <a:extLst xmlns:a="http://schemas.openxmlformats.org/drawingml/2006/main">
              <a:ext uri="{FF2B5EF4-FFF2-40B4-BE49-F238E27FC236}">
                <a16:creationId xmlns:a16="http://schemas.microsoft.com/office/drawing/2014/main" id="{45BA6649-A18E-4649-9DCC-DE49580A507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Cinco alternativas sin superposición, con separación adicional de 0 km</a:t>
            </a:r>
          </a:p>
        </p:txBody>
      </p:sp>
    </p:spTree>
    <p:extLst>
      <p:ext uri="{BB962C8B-B14F-4D97-AF65-F5344CB8AC3E}">
        <p14:creationId xmlns:p14="http://schemas.microsoft.com/office/powerpoint/2010/main" val="1741338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9D463-7ACD-4FD1-833F-5D7FA179573D}"/>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Conclusiones y próximos pasos</a:t>
            </a:r>
          </a:p>
        </p:txBody>
      </p:sp>
      <p:sp>
        <p:nvSpPr>
          <p:cNvPr id="2" name="">
            <a:extLst xmlns:a="http://schemas.openxmlformats.org/drawingml/2006/main">
              <a:ext uri="{FF2B5EF4-FFF2-40B4-BE49-F238E27FC236}">
                <a16:creationId xmlns:a16="http://schemas.microsoft.com/office/drawing/2014/main" id="{DBD28875-5937-4127-BC67-B4ED3D78134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DF0D9928-FA9F-4B8C-B816-DB13E7009F80}"/>
              </a:ext>
            </a:extLst>
          </p:cNvPr>
          <p:cNvSpPr>
            <a:spLocks xmlns:a="http://schemas.openxmlformats.org/drawingml/2006/main" noGrp="1"/>
          </p:cNvSpPr>
          <p:nvPr/>
        </p:nvSpPr>
        <p:spPr>
          <a:xfrm xmlns:a="http://schemas.openxmlformats.org/drawingml/2006/main">
            <a:off x="638175" y="14382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Qué aporta</a:t>
            </a:r>
          </a:p>
        </p:txBody>
      </p:sp>
      <p:sp>
        <p:nvSpPr>
          <p:cNvPr id="4" name="">
            <a:extLst xmlns:a="http://schemas.openxmlformats.org/drawingml/2006/main">
              <a:ext uri="{FF2B5EF4-FFF2-40B4-BE49-F238E27FC236}">
                <a16:creationId xmlns:a16="http://schemas.microsoft.com/office/drawing/2014/main" id="{D3894E76-312F-4536-8C32-C2FE4CB570FA}"/>
              </a:ext>
            </a:extLst>
          </p:cNvPr>
          <p:cNvSpPr>
            <a:spLocks xmlns:a="http://schemas.openxmlformats.org/drawingml/2006/main" noGrp="1"/>
          </p:cNvSpPr>
          <p:nvPr/>
        </p:nvSpPr>
        <p:spPr>
          <a:xfrm xmlns:a="http://schemas.openxmlformats.org/drawingml/2006/main">
            <a:off x="638175" y="20097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Búsqueda de ubicación, forma y superficie</a:t>
            </a:r>
          </a:p>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Candidatos y evolución verificables</a:t>
            </a:r>
          </a:p>
        </p:txBody>
      </p:sp>
      <p:sp>
        <p:nvSpPr>
          <p:cNvPr id="5" name="">
            <a:extLst xmlns:a="http://schemas.openxmlformats.org/drawingml/2006/main">
              <a:ext uri="{FF2B5EF4-FFF2-40B4-BE49-F238E27FC236}">
                <a16:creationId xmlns:a16="http://schemas.microsoft.com/office/drawing/2014/main" id="{72B97277-A0CE-458C-AF6A-2E16F1EF50EC}"/>
              </a:ext>
            </a:extLst>
          </p:cNvPr>
          <p:cNvSpPr>
            <a:spLocks xmlns:a="http://schemas.openxmlformats.org/drawingml/2006/main" noGrp="1"/>
          </p:cNvSpPr>
          <p:nvPr/>
        </p:nvSpPr>
        <p:spPr>
          <a:xfrm xmlns:a="http://schemas.openxmlformats.org/drawingml/2006/main">
            <a:off x="638175" y="3362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C79536"/>
                </a:solidFill>
                <a:latin typeface="Arial"/>
                <a:ea typeface="Arial"/>
                <a:cs typeface="Arial"/>
              </a:defRPr>
            </a:defPPr>
          </a:lstStyle>
          <a:p xmlns:a="http://schemas.openxmlformats.org/drawingml/2006/main">
            <a:pPr>
              <a:buNone/>
              <a:defRPr sz="2550" b="1">
                <a:solidFill>
                  <a:srgbClr val="C79536"/>
                </a:solidFill>
                <a:latin typeface="Arial"/>
                <a:ea typeface="Arial"/>
                <a:cs typeface="Arial"/>
              </a:defRPr>
            </a:pPr>
            <a:r>
              <a:rPr sz="2550" b="1">
                <a:solidFill>
                  <a:srgbClr val="C79536"/>
                </a:solidFill>
                <a:latin typeface="Arial"/>
                <a:ea typeface="Arial"/>
                <a:cs typeface="Arial"/>
              </a:rPr>
              <a:t>Qué falta validar</a:t>
            </a:r>
          </a:p>
        </p:txBody>
      </p:sp>
      <p:sp>
        <p:nvSpPr>
          <p:cNvPr id="6" name="">
            <a:extLst xmlns:a="http://schemas.openxmlformats.org/drawingml/2006/main">
              <a:ext uri="{FF2B5EF4-FFF2-40B4-BE49-F238E27FC236}">
                <a16:creationId xmlns:a16="http://schemas.microsoft.com/office/drawing/2014/main" id="{74DA7D31-EF09-4279-BC8B-99B1E73ED487}"/>
              </a:ext>
            </a:extLst>
          </p:cNvPr>
          <p:cNvSpPr>
            <a:spLocks xmlns:a="http://schemas.openxmlformats.org/drawingml/2006/main" noGrp="1"/>
          </p:cNvSpPr>
          <p:nvPr/>
        </p:nvSpPr>
        <p:spPr>
          <a:xfrm xmlns:a="http://schemas.openxmlformats.org/drawingml/2006/main">
            <a:off x="638175" y="39624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Viabilidad territorial y eléctrica</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Sensibilidad a pesos y semillas</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Producción y costos del parque</a:t>
            </a:r>
          </a:p>
        </p:txBody>
      </p:sp>
      <p:sp>
        <p:nvSpPr>
          <p:cNvPr id="7" name="">
            <a:extLst xmlns:a="http://schemas.openxmlformats.org/drawingml/2006/main">
              <a:ext uri="{FF2B5EF4-FFF2-40B4-BE49-F238E27FC236}">
                <a16:creationId xmlns:a16="http://schemas.microsoft.com/office/drawing/2014/main" id="{6BB1746E-CFF5-4C74-B964-D0611A5A628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 conclusión se limita al escenario evaluado</a:t>
            </a:r>
          </a:p>
        </p:txBody>
      </p:sp>
    </p:spTree>
    <p:extLst>
      <p:ext uri="{BB962C8B-B14F-4D97-AF65-F5344CB8AC3E}">
        <p14:creationId xmlns:p14="http://schemas.microsoft.com/office/powerpoint/2010/main" val="135826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2D004-AAFE-4B52-A758-61696C0BF3E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Detalle técnico: normalización</a:t>
            </a:r>
          </a:p>
        </p:txBody>
      </p:sp>
      <p:sp>
        <p:nvSpPr>
          <p:cNvPr id="2" name="">
            <a:extLst xmlns:a="http://schemas.openxmlformats.org/drawingml/2006/main">
              <a:ext uri="{FF2B5EF4-FFF2-40B4-BE49-F238E27FC236}">
                <a16:creationId xmlns:a16="http://schemas.microsoft.com/office/drawing/2014/main" id="{A257CFFB-F488-436E-9A7D-97AF206D08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27BC9B4-C0F5-444D-BEED-3033176F1B74}"/>
              </a:ext>
            </a:extLst>
          </p:cNvPr>
          <p:cNvSpPr>
            <a:spLocks xmlns:a="http://schemas.openxmlformats.org/drawingml/2006/main" noGrp="1"/>
          </p:cNvSpPr>
          <p:nvPr/>
        </p:nvSpPr>
        <p:spPr>
          <a:xfrm xmlns:a="http://schemas.openxmlformats.org/drawingml/2006/main">
            <a:off x="647700" y="15716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Solar</a:t>
            </a:r>
          </a:p>
        </p:txBody>
      </p:sp>
      <p:sp>
        <p:nvSpPr>
          <p:cNvPr id="4" name="">
            <a:extLst xmlns:a="http://schemas.openxmlformats.org/drawingml/2006/main">
              <a:ext uri="{FF2B5EF4-FFF2-40B4-BE49-F238E27FC236}">
                <a16:creationId xmlns:a16="http://schemas.microsoft.com/office/drawing/2014/main" id="{331B7838-65CC-4392-8CA4-6D6C323A1810}"/>
              </a:ext>
            </a:extLst>
          </p:cNvPr>
          <p:cNvSpPr>
            <a:spLocks xmlns:a="http://schemas.openxmlformats.org/drawingml/2006/main" noGrp="1"/>
          </p:cNvSpPr>
          <p:nvPr/>
        </p:nvSpPr>
        <p:spPr>
          <a:xfrm xmlns:a="http://schemas.openxmlformats.org/drawingml/2006/main">
            <a:off x="3257550" y="157162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(x − mínimo) / (máximo − mínimo)</a:t>
            </a:r>
          </a:p>
        </p:txBody>
      </p:sp>
      <p:sp>
        <p:nvSpPr>
          <p:cNvPr id="5" name="">
            <a:extLst xmlns:a="http://schemas.openxmlformats.org/drawingml/2006/main">
              <a:ext uri="{FF2B5EF4-FFF2-40B4-BE49-F238E27FC236}">
                <a16:creationId xmlns:a16="http://schemas.microsoft.com/office/drawing/2014/main" id="{F63F04FE-AEE1-4EFB-BD20-D73401839158}"/>
              </a:ext>
            </a:extLst>
          </p:cNvPr>
          <p:cNvSpPr>
            <a:spLocks xmlns:a="http://schemas.openxmlformats.org/drawingml/2006/main" noGrp="1"/>
          </p:cNvSpPr>
          <p:nvPr/>
        </p:nvSpPr>
        <p:spPr>
          <a:xfrm xmlns:a="http://schemas.openxmlformats.org/drawingml/2006/main">
            <a:off x="647700" y="26479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Distancias</a:t>
            </a:r>
          </a:p>
        </p:txBody>
      </p:sp>
      <p:sp>
        <p:nvSpPr>
          <p:cNvPr id="6" name="">
            <a:extLst xmlns:a="http://schemas.openxmlformats.org/drawingml/2006/main">
              <a:ext uri="{FF2B5EF4-FFF2-40B4-BE49-F238E27FC236}">
                <a16:creationId xmlns:a16="http://schemas.microsoft.com/office/drawing/2014/main" id="{B2F363ED-4A8F-4365-9DB8-00C0EC9E5D93}"/>
              </a:ext>
            </a:extLst>
          </p:cNvPr>
          <p:cNvSpPr>
            <a:spLocks xmlns:a="http://schemas.openxmlformats.org/drawingml/2006/main" noGrp="1"/>
          </p:cNvSpPr>
          <p:nvPr/>
        </p:nvSpPr>
        <p:spPr>
          <a:xfrm xmlns:a="http://schemas.openxmlformats.org/drawingml/2006/main">
            <a:off x="3257550" y="264795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1 − (d − mínimo) / (máximo − mínimo)</a:t>
            </a:r>
          </a:p>
        </p:txBody>
      </p:sp>
      <p:sp>
        <p:nvSpPr>
          <p:cNvPr id="7" name="">
            <a:extLst xmlns:a="http://schemas.openxmlformats.org/drawingml/2006/main">
              <a:ext uri="{FF2B5EF4-FFF2-40B4-BE49-F238E27FC236}">
                <a16:creationId xmlns:a16="http://schemas.microsoft.com/office/drawing/2014/main" id="{A5E172FF-14FD-4E8B-ACCA-81C3ED9A5F73}"/>
              </a:ext>
            </a:extLst>
          </p:cNvPr>
          <p:cNvSpPr>
            <a:spLocks xmlns:a="http://schemas.openxmlformats.org/drawingml/2006/main" noGrp="1"/>
          </p:cNvSpPr>
          <p:nvPr/>
        </p:nvSpPr>
        <p:spPr>
          <a:xfrm xmlns:a="http://schemas.openxmlformats.org/drawingml/2006/main">
            <a:off x="647700" y="3724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Potencia</a:t>
            </a:r>
          </a:p>
        </p:txBody>
      </p:sp>
      <p:sp>
        <p:nvSpPr>
          <p:cNvPr id="8" name="">
            <a:extLst xmlns:a="http://schemas.openxmlformats.org/drawingml/2006/main">
              <a:ext uri="{FF2B5EF4-FFF2-40B4-BE49-F238E27FC236}">
                <a16:creationId xmlns:a16="http://schemas.microsoft.com/office/drawing/2014/main" id="{BB8151C8-8D6B-4A45-B4C0-2C12EEDB4A7E}"/>
              </a:ext>
            </a:extLst>
          </p:cNvPr>
          <p:cNvSpPr>
            <a:spLocks xmlns:a="http://schemas.openxmlformats.org/drawingml/2006/main" noGrp="1"/>
          </p:cNvSpPr>
          <p:nvPr/>
        </p:nvSpPr>
        <p:spPr>
          <a:xfrm xmlns:a="http://schemas.openxmlformats.org/drawingml/2006/main">
            <a:off x="3257550" y="372427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72F3E"/>
                </a:solidFill>
                <a:latin typeface="Arial"/>
                <a:ea typeface="Arial"/>
                <a:cs typeface="Arial"/>
              </a:defRPr>
            </a:defPPr>
          </a:lstStyle>
          <a:p xmlns:a="http://schemas.openxmlformats.org/drawingml/2006/main">
            <a:pPr>
              <a:buNone/>
              <a:defRPr sz="2700" b="1">
                <a:solidFill>
                  <a:srgbClr val="172F3E"/>
                </a:solidFill>
                <a:latin typeface="Arial"/>
                <a:ea typeface="Arial"/>
                <a:cs typeface="Arial"/>
              </a:defRPr>
            </a:pPr>
            <a:r>
              <a:rPr sz="2700" b="1">
                <a:solidFill>
                  <a:srgbClr val="172F3E"/>
                </a:solidFill>
                <a:latin typeface="Arial"/>
                <a:ea typeface="Arial"/>
                <a:cs typeface="Arial"/>
              </a:rPr>
              <a:t>P / 80 MW</a:t>
            </a:r>
          </a:p>
        </p:txBody>
      </p:sp>
      <p:sp>
        <p:nvSpPr>
          <p:cNvPr id="9" name="">
            <a:extLst xmlns:a="http://schemas.openxmlformats.org/drawingml/2006/main">
              <a:ext uri="{FF2B5EF4-FFF2-40B4-BE49-F238E27FC236}">
                <a16:creationId xmlns:a16="http://schemas.microsoft.com/office/drawing/2014/main" id="{282203A3-5F1B-41EB-9A1D-369FCB3FAF73}"/>
              </a:ext>
            </a:extLst>
          </p:cNvPr>
          <p:cNvSpPr>
            <a:spLocks xmlns:a="http://schemas.openxmlformats.org/drawingml/2006/main" noGrp="1"/>
          </p:cNvSpPr>
          <p:nvPr/>
        </p:nvSpPr>
        <p:spPr>
          <a:xfrm xmlns:a="http://schemas.openxmlformats.org/drawingml/2006/main">
            <a:off x="647700" y="5010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253C49"/>
                </a:solidFill>
                <a:latin typeface="Arial"/>
                <a:ea typeface="Arial"/>
                <a:cs typeface="Arial"/>
              </a:defRPr>
            </a:defPPr>
          </a:lstStyle>
          <a:p xmlns:a="http://schemas.openxmlformats.org/drawingml/2006/main">
            <a:pPr>
              <a:buNone/>
              <a:defRPr sz="2325" b="0">
                <a:solidFill>
                  <a:srgbClr val="253C49"/>
                </a:solidFill>
                <a:latin typeface="Arial"/>
                <a:ea typeface="Arial"/>
                <a:cs typeface="Arial"/>
              </a:defRPr>
            </a:pPr>
            <a:r>
              <a:rPr sz="2325" b="0">
                <a:solidFill>
                  <a:srgbClr val="253C49"/>
                </a:solidFill>
                <a:latin typeface="Arial"/>
                <a:ea typeface="Arial"/>
                <a:cs typeface="Arial"/>
              </a:rPr>
              <a:t>Límites fijos calculados sobre las celdas válidas</a:t>
            </a:r>
          </a:p>
        </p:txBody>
      </p:sp>
      <p:sp>
        <p:nvSpPr>
          <p:cNvPr id="10" name="">
            <a:extLst xmlns:a="http://schemas.openxmlformats.org/drawingml/2006/main">
              <a:ext uri="{FF2B5EF4-FFF2-40B4-BE49-F238E27FC236}">
                <a16:creationId xmlns:a16="http://schemas.microsoft.com/office/drawing/2014/main" id="{0F39FB98-1A57-4F4E-A1DA-D49E159B27A0}"/>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Min-max para criterios espaciales y cociente para potencia instalada</a:t>
            </a:r>
          </a:p>
        </p:txBody>
      </p:sp>
    </p:spTree>
    <p:extLst>
      <p:ext uri="{BB962C8B-B14F-4D97-AF65-F5344CB8AC3E}">
        <p14:creationId xmlns:p14="http://schemas.microsoft.com/office/powerpoint/2010/main" val="461565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848655-A19E-4BED-AF58-C7610512654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Implementación y bibliotecas</a:t>
            </a:r>
          </a:p>
        </p:txBody>
      </p:sp>
      <p:sp>
        <p:nvSpPr>
          <p:cNvPr id="2" name="">
            <a:extLst xmlns:a="http://schemas.openxmlformats.org/drawingml/2006/main">
              <a:ext uri="{FF2B5EF4-FFF2-40B4-BE49-F238E27FC236}">
                <a16:creationId xmlns:a16="http://schemas.microsoft.com/office/drawing/2014/main" id="{29D648D1-06B0-4918-A060-AA6B1A1D37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87629A0D-E0A6-4F70-B217-9A5D58604EF8}"/>
              </a:ext>
            </a:extLst>
          </p:cNvPr>
          <p:cNvSpPr>
            <a:spLocks xmlns:a="http://schemas.openxmlformats.org/drawingml/2006/main" noGrp="1"/>
          </p:cNvSpPr>
          <p:nvPr/>
        </p:nvSpPr>
        <p:spPr>
          <a:xfrm xmlns:a="http://schemas.openxmlformats.org/drawingml/2006/main">
            <a:off x="638175" y="14001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Python y NumPy</a:t>
            </a:r>
          </a:p>
        </p:txBody>
      </p:sp>
      <p:sp>
        <p:nvSpPr>
          <p:cNvPr id="4" name="">
            <a:extLst xmlns:a="http://schemas.openxmlformats.org/drawingml/2006/main">
              <a:ext uri="{FF2B5EF4-FFF2-40B4-BE49-F238E27FC236}">
                <a16:creationId xmlns:a16="http://schemas.microsoft.com/office/drawing/2014/main" id="{6536C896-C7C8-4B95-9850-2653334B0EA4}"/>
              </a:ext>
            </a:extLst>
          </p:cNvPr>
          <p:cNvSpPr>
            <a:spLocks xmlns:a="http://schemas.openxmlformats.org/drawingml/2006/main" noGrp="1"/>
          </p:cNvSpPr>
          <p:nvPr/>
        </p:nvSpPr>
        <p:spPr>
          <a:xfrm xmlns:a="http://schemas.openxmlformats.org/drawingml/2006/main">
            <a:off x="6991350" y="14001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Búsqueda, cálculo y azar</a:t>
            </a:r>
          </a:p>
        </p:txBody>
      </p:sp>
      <p:sp>
        <p:nvSpPr>
          <p:cNvPr id="5" name="">
            <a:extLst xmlns:a="http://schemas.openxmlformats.org/drawingml/2006/main">
              <a:ext uri="{FF2B5EF4-FFF2-40B4-BE49-F238E27FC236}">
                <a16:creationId xmlns:a16="http://schemas.microsoft.com/office/drawing/2014/main" id="{D9ED493E-B6E4-4C01-9D86-5BCB1900CFBF}"/>
              </a:ext>
            </a:extLst>
          </p:cNvPr>
          <p:cNvSpPr>
            <a:spLocks xmlns:a="http://schemas.openxmlformats.org/drawingml/2006/main" noGrp="1"/>
          </p:cNvSpPr>
          <p:nvPr/>
        </p:nvSpPr>
        <p:spPr>
          <a:xfrm xmlns:a="http://schemas.openxmlformats.org/drawingml/2006/main">
            <a:off x="638175" y="226695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GeoPandas, Shapely y PyProj</a:t>
            </a:r>
          </a:p>
        </p:txBody>
      </p:sp>
      <p:sp>
        <p:nvSpPr>
          <p:cNvPr id="6" name="">
            <a:extLst xmlns:a="http://schemas.openxmlformats.org/drawingml/2006/main">
              <a:ext uri="{FF2B5EF4-FFF2-40B4-BE49-F238E27FC236}">
                <a16:creationId xmlns:a16="http://schemas.microsoft.com/office/drawing/2014/main" id="{6D553822-F7A2-48E3-9EE4-93B1B76A9109}"/>
              </a:ext>
            </a:extLst>
          </p:cNvPr>
          <p:cNvSpPr>
            <a:spLocks xmlns:a="http://schemas.openxmlformats.org/drawingml/2006/main" noGrp="1"/>
          </p:cNvSpPr>
          <p:nvPr/>
        </p:nvSpPr>
        <p:spPr>
          <a:xfrm xmlns:a="http://schemas.openxmlformats.org/drawingml/2006/main">
            <a:off x="6991350" y="226695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Geometría y distancias</a:t>
            </a:r>
          </a:p>
        </p:txBody>
      </p:sp>
      <p:sp>
        <p:nvSpPr>
          <p:cNvPr id="7" name="">
            <a:extLst xmlns:a="http://schemas.openxmlformats.org/drawingml/2006/main">
              <a:ext uri="{FF2B5EF4-FFF2-40B4-BE49-F238E27FC236}">
                <a16:creationId xmlns:a16="http://schemas.microsoft.com/office/drawing/2014/main" id="{5AC4598A-D6A3-4CC0-8046-810EC852C732}"/>
              </a:ext>
            </a:extLst>
          </p:cNvPr>
          <p:cNvSpPr>
            <a:spLocks xmlns:a="http://schemas.openxmlformats.org/drawingml/2006/main" noGrp="1"/>
          </p:cNvSpPr>
          <p:nvPr/>
        </p:nvSpPr>
        <p:spPr>
          <a:xfrm xmlns:a="http://schemas.openxmlformats.org/drawingml/2006/main">
            <a:off x="638175" y="313372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xarray, Zarr y Dask</a:t>
            </a:r>
          </a:p>
        </p:txBody>
      </p:sp>
      <p:sp>
        <p:nvSpPr>
          <p:cNvPr id="8" name="">
            <a:extLst xmlns:a="http://schemas.openxmlformats.org/drawingml/2006/main">
              <a:ext uri="{FF2B5EF4-FFF2-40B4-BE49-F238E27FC236}">
                <a16:creationId xmlns:a16="http://schemas.microsoft.com/office/drawing/2014/main" id="{09BF9144-1607-4A03-A311-FB67CF34165E}"/>
              </a:ext>
            </a:extLst>
          </p:cNvPr>
          <p:cNvSpPr>
            <a:spLocks xmlns:a="http://schemas.openxmlformats.org/drawingml/2006/main" noGrp="1"/>
          </p:cNvSpPr>
          <p:nvPr/>
        </p:nvSpPr>
        <p:spPr>
          <a:xfrm xmlns:a="http://schemas.openxmlformats.org/drawingml/2006/main">
            <a:off x="6991350" y="313372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Lectura climática</a:t>
            </a:r>
          </a:p>
        </p:txBody>
      </p:sp>
      <p:sp>
        <p:nvSpPr>
          <p:cNvPr id="9" name="">
            <a:extLst xmlns:a="http://schemas.openxmlformats.org/drawingml/2006/main">
              <a:ext uri="{FF2B5EF4-FFF2-40B4-BE49-F238E27FC236}">
                <a16:creationId xmlns:a16="http://schemas.microsoft.com/office/drawing/2014/main" id="{D74612A9-33BF-4375-84B1-3CCBB0A54603}"/>
              </a:ext>
            </a:extLst>
          </p:cNvPr>
          <p:cNvSpPr>
            <a:spLocks xmlns:a="http://schemas.openxmlformats.org/drawingml/2006/main" noGrp="1"/>
          </p:cNvSpPr>
          <p:nvPr/>
        </p:nvSpPr>
        <p:spPr>
          <a:xfrm xmlns:a="http://schemas.openxmlformats.org/drawingml/2006/main">
            <a:off x="638175" y="400050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SQLite y SQLAlchemy</a:t>
            </a:r>
          </a:p>
        </p:txBody>
      </p:sp>
      <p:sp>
        <p:nvSpPr>
          <p:cNvPr id="10" name="">
            <a:extLst xmlns:a="http://schemas.openxmlformats.org/drawingml/2006/main">
              <a:ext uri="{FF2B5EF4-FFF2-40B4-BE49-F238E27FC236}">
                <a16:creationId xmlns:a16="http://schemas.microsoft.com/office/drawing/2014/main" id="{E226C4B4-9019-4B85-B960-006F5072FC22}"/>
              </a:ext>
            </a:extLst>
          </p:cNvPr>
          <p:cNvSpPr>
            <a:spLocks xmlns:a="http://schemas.openxmlformats.org/drawingml/2006/main" noGrp="1"/>
          </p:cNvSpPr>
          <p:nvPr/>
        </p:nvSpPr>
        <p:spPr>
          <a:xfrm xmlns:a="http://schemas.openxmlformats.org/drawingml/2006/main">
            <a:off x="6991350" y="40005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Persistencia y trazabilidad</a:t>
            </a:r>
          </a:p>
        </p:txBody>
      </p:sp>
      <p:sp>
        <p:nvSpPr>
          <p:cNvPr id="11" name="">
            <a:extLst xmlns:a="http://schemas.openxmlformats.org/drawingml/2006/main">
              <a:ext uri="{FF2B5EF4-FFF2-40B4-BE49-F238E27FC236}">
                <a16:creationId xmlns:a16="http://schemas.microsoft.com/office/drawing/2014/main" id="{CE018524-EE80-465F-B3E6-56D5A7A60002}"/>
              </a:ext>
            </a:extLst>
          </p:cNvPr>
          <p:cNvSpPr>
            <a:spLocks xmlns:a="http://schemas.openxmlformats.org/drawingml/2006/main" noGrp="1"/>
          </p:cNvSpPr>
          <p:nvPr/>
        </p:nvSpPr>
        <p:spPr>
          <a:xfrm xmlns:a="http://schemas.openxmlformats.org/drawingml/2006/main">
            <a:off x="638175" y="48672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Folium y HTML</a:t>
            </a:r>
          </a:p>
        </p:txBody>
      </p:sp>
      <p:sp>
        <p:nvSpPr>
          <p:cNvPr id="12" name="">
            <a:extLst xmlns:a="http://schemas.openxmlformats.org/drawingml/2006/main">
              <a:ext uri="{FF2B5EF4-FFF2-40B4-BE49-F238E27FC236}">
                <a16:creationId xmlns:a16="http://schemas.microsoft.com/office/drawing/2014/main" id="{0CDA840E-DD1C-49B9-9219-88F49D2508B3}"/>
              </a:ext>
            </a:extLst>
          </p:cNvPr>
          <p:cNvSpPr>
            <a:spLocks xmlns:a="http://schemas.openxmlformats.org/drawingml/2006/main" noGrp="1"/>
          </p:cNvSpPr>
          <p:nvPr/>
        </p:nvSpPr>
        <p:spPr>
          <a:xfrm xmlns:a="http://schemas.openxmlformats.org/drawingml/2006/main">
            <a:off x="6991350" y="48672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Mapa e historial</a:t>
            </a:r>
          </a:p>
        </p:txBody>
      </p:sp>
      <p:sp>
        <p:nvSpPr>
          <p:cNvPr id="13" name="">
            <a:extLst xmlns:a="http://schemas.openxmlformats.org/drawingml/2006/main">
              <a:ext uri="{FF2B5EF4-FFF2-40B4-BE49-F238E27FC236}">
                <a16:creationId xmlns:a16="http://schemas.microsoft.com/office/drawing/2014/main" id="{2B66412F-6AE5-40EF-943C-BCF2956C684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Implementación propia del AG, con módulos separados por responsabilidad</a:t>
            </a:r>
          </a:p>
        </p:txBody>
      </p:sp>
    </p:spTree>
    <p:extLst>
      <p:ext uri="{BB962C8B-B14F-4D97-AF65-F5344CB8AC3E}">
        <p14:creationId xmlns:p14="http://schemas.microsoft.com/office/powerpoint/2010/main" val="579289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274133-D5DF-43DE-9795-C60F4DD2C92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Fuentes, peticiones y manejo de datos</a:t>
            </a:r>
          </a:p>
        </p:txBody>
      </p:sp>
      <p:sp>
        <p:nvSpPr>
          <p:cNvPr id="2" name="">
            <a:extLst xmlns:a="http://schemas.openxmlformats.org/drawingml/2006/main">
              <a:ext uri="{FF2B5EF4-FFF2-40B4-BE49-F238E27FC236}">
                <a16:creationId xmlns:a16="http://schemas.microsoft.com/office/drawing/2014/main" id="{6BDA6C14-449B-4FB3-8899-4244205839F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DF2ED3BB-CD7C-4404-AD43-E9F939A7D66F}"/>
              </a:ext>
            </a:extLst>
          </p:cNvPr>
          <p:cNvGraphicFramePr/>
          <p:nvPr/>
        </p:nvGraphicFramePr>
        <p:xfrm>
          <a:off xmlns:a="http://schemas.openxmlformats.org/drawingml/2006/main" x="619125" y="1476375"/>
          <a:ext xmlns:a="http://schemas.openxmlformats.org/drawingml/2006/main" cx="10953750" cy="3486150"/>
        </p:xfrm>
        <a:graphic xmlns:a="http://schemas.openxmlformats.org/drawingml/2006/main">
          <a:graphicData uri="http://schemas.openxmlformats.org/drawingml/2006/table">
            <a:tbl>
              <a:tblPr/>
              <a:tblGrid>
                <a:gridCol w="2667000"/>
                <a:gridCol w="4191000"/>
                <a:gridCol w="4095750"/>
              </a:tblGrid>
              <a:tr h="697230">
                <a:tc>
                  <a:txBody>
                    <a:bodyPr/>
                    <a:lstStyle/>
                    <a:p>
                      <a:r>
                        <a:rPr sz="1950" b="1">
                          <a:solidFill>
                            <a:srgbClr val="FFFFFF"/>
                          </a:solidFill>
                          <a:latin typeface="Arial"/>
                          <a:ea typeface="Arial"/>
                          <a:cs typeface="Arial"/>
                        </a:rPr>
                        <a:t>Fuente</a:t>
                      </a:r>
                    </a:p>
                  </a:txBody>
                  <a:tcPr marL="91440" marR="91440" marT="45720" marB="45720">
                    <a:solidFill>
                      <a:srgbClr val="172F3E"/>
                    </a:solidFill>
                  </a:tcPr>
                </a:tc>
                <a:tc>
                  <a:txBody>
                    <a:bodyPr/>
                    <a:lstStyle/>
                    <a:p>
                      <a:r>
                        <a:rPr sz="1950" b="1">
                          <a:solidFill>
                            <a:srgbClr val="FFFFFF"/>
                          </a:solidFill>
                          <a:latin typeface="Arial"/>
                          <a:ea typeface="Arial"/>
                          <a:cs typeface="Arial"/>
                        </a:rPr>
                        <a:t>Acceso</a:t>
                      </a:r>
                    </a:p>
                  </a:txBody>
                  <a:tcPr marL="91440" marR="91440" marT="45720" marB="45720">
                    <a:solidFill>
                      <a:srgbClr val="172F3E"/>
                    </a:solidFill>
                  </a:tcPr>
                </a:tc>
                <a:tc>
                  <a:txBody>
                    <a:bodyPr/>
                    <a:lstStyle/>
                    <a:p>
                      <a:r>
                        <a:rPr sz="1950" b="1">
                          <a:solidFill>
                            <a:srgbClr val="FFFFFF"/>
                          </a:solidFill>
                          <a:latin typeface="Arial"/>
                          <a:ea typeface="Arial"/>
                          <a:cs typeface="Arial"/>
                        </a:rPr>
                        <a:t>Dato</a:t>
                      </a:r>
                    </a:p>
                  </a:txBody>
                  <a:tcPr marL="91440" marR="91440" marT="45720" marB="45720">
                    <a:solidFill>
                      <a:srgbClr val="172F3E"/>
                    </a:solidFill>
                  </a:tcPr>
                </a:tc>
              </a:tr>
              <a:tr h="697230">
                <a:tc>
                  <a:txBody>
                    <a:bodyPr/>
                    <a:lstStyle/>
                    <a:p>
                      <a:r>
                        <a:rPr sz="1950" b="0">
                          <a:solidFill>
                            <a:srgbClr val="253C49"/>
                          </a:solidFill>
                          <a:latin typeface="Arial"/>
                          <a:ea typeface="Arial"/>
                          <a:cs typeface="Arial"/>
                        </a:rPr>
                        <a:t>IGN</a:t>
                      </a:r>
                    </a:p>
                  </a:txBody>
                  <a:tcPr marL="91440" marR="91440" marT="45720" marB="45720">
                    <a:solidFill>
                      <a:srgbClr val="FFFFFF"/>
                    </a:solidFill>
                  </a:tcPr>
                </a:tc>
                <a:tc>
                  <a:txBody>
                    <a:bodyPr/>
                    <a:lstStyle/>
                    <a:p>
                      <a:r>
                        <a:rPr sz="1950" b="0">
                          <a:solidFill>
                            <a:srgbClr val="253C49"/>
                          </a:solidFill>
                          <a:latin typeface="Arial"/>
                          <a:ea typeface="Arial"/>
                          <a:cs typeface="Arial"/>
                        </a:rPr>
                        <a:t>ZIP / shapefile</a:t>
                      </a:r>
                    </a:p>
                  </a:txBody>
                  <a:tcPr marL="91440" marR="91440" marT="45720" marB="45720">
                    <a:solidFill>
                      <a:srgbClr val="FFFFFF"/>
                    </a:solidFill>
                  </a:tcPr>
                </a:tc>
                <a:tc>
                  <a:txBody>
                    <a:bodyPr/>
                    <a:lstStyle/>
                    <a:p>
                      <a:r>
                        <a:rPr sz="1950" b="0">
                          <a:solidFill>
                            <a:srgbClr val="253C49"/>
                          </a:solidFill>
                          <a:latin typeface="Arial"/>
                          <a:ea typeface="Arial"/>
                          <a:cs typeface="Arial"/>
                        </a:rPr>
                        <a:t>Límite de Santa Fe</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INDEC</a:t>
                      </a:r>
                    </a:p>
                  </a:txBody>
                  <a:tcPr marL="91440" marR="91440" marT="45720" marB="45720">
                    <a:solidFill>
                      <a:srgbClr val="EAF1F1"/>
                    </a:solidFill>
                  </a:tcPr>
                </a:tc>
                <a:tc>
                  <a:txBody>
                    <a:bodyPr/>
                    <a:lstStyle/>
                    <a:p>
                      <a:r>
                        <a:rPr sz="1950" b="0">
                          <a:solidFill>
                            <a:srgbClr val="253C49"/>
                          </a:solidFill>
                          <a:latin typeface="Arial"/>
                          <a:ea typeface="Arial"/>
                          <a:cs typeface="Arial"/>
                        </a:rPr>
                        <a:t>WFS paginado</a:t>
                      </a:r>
                    </a:p>
                  </a:txBody>
                  <a:tcPr marL="91440" marR="91440" marT="45720" marB="45720">
                    <a:solidFill>
                      <a:srgbClr val="EAF1F1"/>
                    </a:solidFill>
                  </a:tcPr>
                </a:tc>
                <a:tc>
                  <a:txBody>
                    <a:bodyPr/>
                    <a:lstStyle/>
                    <a:p>
                      <a:r>
                        <a:rPr sz="1950" b="0">
                          <a:solidFill>
                            <a:srgbClr val="253C49"/>
                          </a:solidFill>
                          <a:latin typeface="Arial"/>
                          <a:ea typeface="Arial"/>
                          <a:cs typeface="Arial"/>
                        </a:rPr>
                        <a:t>Envolventes urbanas</a:t>
                      </a:r>
                    </a:p>
                  </a:txBody>
                  <a:tcPr marL="91440" marR="91440" marT="45720" marB="45720">
                    <a:solidFill>
                      <a:srgbClr val="EAF1F1"/>
                    </a:solidFill>
                  </a:tcPr>
                </a:tc>
              </a:tr>
              <a:tr h="697230">
                <a:tc>
                  <a:txBody>
                    <a:bodyPr/>
                    <a:lstStyle/>
                    <a:p>
                      <a:r>
                        <a:rPr sz="1950" b="0">
                          <a:solidFill>
                            <a:srgbClr val="253C49"/>
                          </a:solidFill>
                          <a:latin typeface="Arial"/>
                          <a:ea typeface="Arial"/>
                          <a:cs typeface="Arial"/>
                        </a:rPr>
                        <a:t>datos.gob.ar</a:t>
                      </a:r>
                    </a:p>
                  </a:txBody>
                  <a:tcPr marL="91440" marR="91440" marT="45720" marB="45720">
                    <a:solidFill>
                      <a:srgbClr val="FFFFFF"/>
                    </a:solidFill>
                  </a:tcPr>
                </a:tc>
                <a:tc>
                  <a:txBody>
                    <a:bodyPr/>
                    <a:lstStyle/>
                    <a:p>
                      <a:r>
                        <a:rPr sz="1950" b="0">
                          <a:solidFill>
                            <a:srgbClr val="253C49"/>
                          </a:solidFill>
                          <a:latin typeface="Arial"/>
                          <a:ea typeface="Arial"/>
                          <a:cs typeface="Arial"/>
                        </a:rPr>
                        <a:t>CKAN + CSV de ET</a:t>
                      </a:r>
                    </a:p>
                  </a:txBody>
                  <a:tcPr marL="91440" marR="91440" marT="45720" marB="45720">
                    <a:solidFill>
                      <a:srgbClr val="FFFFFF"/>
                    </a:solidFill>
                  </a:tcPr>
                </a:tc>
                <a:tc>
                  <a:txBody>
                    <a:bodyPr/>
                    <a:lstStyle/>
                    <a:p>
                      <a:r>
                        <a:rPr sz="1950" b="0">
                          <a:solidFill>
                            <a:srgbClr val="253C49"/>
                          </a:solidFill>
                          <a:latin typeface="Arial"/>
                          <a:ea typeface="Arial"/>
                          <a:cs typeface="Arial"/>
                        </a:rPr>
                        <a:t>Líneas y estaciones</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Copernicus</a:t>
                      </a:r>
                    </a:p>
                  </a:txBody>
                  <a:tcPr marL="91440" marR="91440" marT="45720" marB="45720">
                    <a:solidFill>
                      <a:srgbClr val="EAF1F1"/>
                    </a:solidFill>
                  </a:tcPr>
                </a:tc>
                <a:tc>
                  <a:txBody>
                    <a:bodyPr/>
                    <a:lstStyle/>
                    <a:p>
                      <a:r>
                        <a:rPr sz="1950" b="0">
                          <a:solidFill>
                            <a:srgbClr val="253C49"/>
                          </a:solidFill>
                          <a:latin typeface="Arial"/>
                          <a:ea typeface="Arial"/>
                          <a:cs typeface="Arial"/>
                        </a:rPr>
                        <a:t>ARCO Zarr por bloques</a:t>
                      </a:r>
                    </a:p>
                  </a:txBody>
                  <a:tcPr marL="91440" marR="91440" marT="45720" marB="45720">
                    <a:solidFill>
                      <a:srgbClr val="EAF1F1"/>
                    </a:solidFill>
                  </a:tcPr>
                </a:tc>
                <a:tc>
                  <a:txBody>
                    <a:bodyPr/>
                    <a:lstStyle/>
                    <a:p>
                      <a:r>
                        <a:rPr sz="1950" b="0">
                          <a:solidFill>
                            <a:srgbClr val="253C49"/>
                          </a:solidFill>
                          <a:latin typeface="Arial"/>
                          <a:ea typeface="Arial"/>
                          <a:cs typeface="Arial"/>
                        </a:rPr>
                        <a:t>SSRD horario</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B0731D11-2F2B-4028-878D-5742C4E9BCC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Fuente externa, validación, caché y snapshot local antes de optimizar</a:t>
            </a:r>
          </a:p>
        </p:txBody>
      </p:sp>
    </p:spTree>
    <p:extLst>
      <p:ext uri="{BB962C8B-B14F-4D97-AF65-F5344CB8AC3E}">
        <p14:creationId xmlns:p14="http://schemas.microsoft.com/office/powerpoint/2010/main" val="4904630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836E9-6FAD-4747-8A96-EC7D0E45E3B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límites y valores del escenario</a:t>
            </a:r>
          </a:p>
        </p:txBody>
      </p:sp>
      <p:sp>
        <p:nvSpPr>
          <p:cNvPr id="2" name="">
            <a:extLst xmlns:a="http://schemas.openxmlformats.org/drawingml/2006/main">
              <a:ext uri="{FF2B5EF4-FFF2-40B4-BE49-F238E27FC236}">
                <a16:creationId xmlns:a16="http://schemas.microsoft.com/office/drawing/2014/main" id="{19E6495B-890B-4081-9A61-74687E277E8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9EAAF578-7C1C-40EB-BBA5-187F66E3F9AD}"/>
              </a:ext>
            </a:extLst>
          </p:cNvPr>
          <p:cNvGraphicFramePr/>
          <p:nvPr/>
        </p:nvGraphicFramePr>
        <p:xfrm>
          <a:off xmlns:a="http://schemas.openxmlformats.org/drawingml/2006/main" x="619125" y="1495425"/>
          <a:ext xmlns:a="http://schemas.openxmlformats.org/drawingml/2006/main" cx="10953750" cy="3676650"/>
        </p:xfrm>
        <a:graphic xmlns:a="http://schemas.openxmlformats.org/drawingml/2006/main">
          <a:graphicData uri="http://schemas.openxmlformats.org/drawingml/2006/table">
            <a:tbl>
              <a:tblPr/>
              <a:tblGrid>
                <a:gridCol w="4857750"/>
                <a:gridCol w="2809875"/>
                <a:gridCol w="3286125"/>
              </a:tblGrid>
              <a:tr h="612775">
                <a:tc>
                  <a:txBody>
                    <a:bodyPr/>
                    <a:lstStyle/>
                    <a:p>
                      <a:r>
                        <a:rPr sz="1800" b="1">
                          <a:solidFill>
                            <a:srgbClr val="FFFFFF"/>
                          </a:solidFill>
                          <a:latin typeface="Arial"/>
                          <a:ea typeface="Arial"/>
                          <a:cs typeface="Arial"/>
                        </a:rPr>
                        <a:t>Variable</a:t>
                      </a:r>
                    </a:p>
                  </a:txBody>
                  <a:tcPr marL="91440" marR="91440" marT="45720" marB="45720">
                    <a:solidFill>
                      <a:srgbClr val="172F3E"/>
                    </a:solidFill>
                  </a:tcPr>
                </a:tc>
                <a:tc>
                  <a:txBody>
                    <a:bodyPr/>
                    <a:lstStyle/>
                    <a:p>
                      <a:r>
                        <a:rPr sz="1800" b="1">
                          <a:solidFill>
                            <a:srgbClr val="FFFFFF"/>
                          </a:solidFill>
                          <a:latin typeface="Arial"/>
                          <a:ea typeface="Arial"/>
                          <a:cs typeface="Arial"/>
                        </a:rPr>
                        <a:t>Mínimo</a:t>
                      </a:r>
                    </a:p>
                  </a:txBody>
                  <a:tcPr marL="91440" marR="91440" marT="45720" marB="45720">
                    <a:solidFill>
                      <a:srgbClr val="172F3E"/>
                    </a:solidFill>
                  </a:tcPr>
                </a:tc>
                <a:tc>
                  <a:txBody>
                    <a:bodyPr/>
                    <a:lstStyle/>
                    <a:p>
                      <a:r>
                        <a:rPr sz="1800" b="1">
                          <a:solidFill>
                            <a:srgbClr val="FFFFFF"/>
                          </a:solidFill>
                          <a:latin typeface="Arial"/>
                          <a:ea typeface="Arial"/>
                          <a:cs typeface="Arial"/>
                        </a:rPr>
                        <a:t>Máximo / referencia</a:t>
                      </a:r>
                    </a:p>
                  </a:txBody>
                  <a:tcPr marL="91440" marR="91440" marT="45720" marB="45720">
                    <a:solidFill>
                      <a:srgbClr val="172F3E"/>
                    </a:solidFill>
                  </a:tcPr>
                </a:tc>
              </a:tr>
              <a:tr h="612775">
                <a:tc>
                  <a:txBody>
                    <a:bodyPr/>
                    <a:lstStyle/>
                    <a:p>
                      <a:r>
                        <a:rPr sz="1800" b="0">
                          <a:solidFill>
                            <a:srgbClr val="253C49"/>
                          </a:solidFill>
                          <a:latin typeface="Arial"/>
                          <a:ea typeface="Arial"/>
                          <a:cs typeface="Arial"/>
                        </a:rPr>
                        <a:t>Irradiación (kWh/m²/año)</a:t>
                      </a:r>
                    </a:p>
                  </a:txBody>
                  <a:tcPr marL="91440" marR="91440" marT="45720" marB="45720">
                    <a:solidFill>
                      <a:srgbClr val="FFFFFF"/>
                    </a:solidFill>
                  </a:tcPr>
                </a:tc>
                <a:tc>
                  <a:txBody>
                    <a:bodyPr/>
                    <a:lstStyle/>
                    <a:p>
                      <a:r>
                        <a:rPr sz="1800" b="0">
                          <a:solidFill>
                            <a:srgbClr val="253C49"/>
                          </a:solidFill>
                          <a:latin typeface="Arial"/>
                          <a:ea typeface="Arial"/>
                          <a:cs typeface="Arial"/>
                        </a:rPr>
                        <a:t>1.795,942</a:t>
                      </a:r>
                    </a:p>
                  </a:txBody>
                  <a:tcPr marL="91440" marR="91440" marT="45720" marB="45720">
                    <a:solidFill>
                      <a:srgbClr val="FFFFFF"/>
                    </a:solidFill>
                  </a:tcPr>
                </a:tc>
                <a:tc>
                  <a:txBody>
                    <a:bodyPr/>
                    <a:lstStyle/>
                    <a:p>
                      <a:r>
                        <a:rPr sz="1800" b="0">
                          <a:solidFill>
                            <a:srgbClr val="253C49"/>
                          </a:solidFill>
                          <a:latin typeface="Arial"/>
                          <a:ea typeface="Arial"/>
                          <a:cs typeface="Arial"/>
                        </a:rPr>
                        <a:t>1.895,958</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Distancia a línea (km)</a:t>
                      </a:r>
                    </a:p>
                  </a:txBody>
                  <a:tcPr marL="91440" marR="91440" marT="45720" marB="45720">
                    <a:solidFill>
                      <a:srgbClr val="EAF1F1"/>
                    </a:solidFill>
                  </a:tcPr>
                </a:tc>
                <a:tc>
                  <a:txBody>
                    <a:bodyPr/>
                    <a:lstStyle/>
                    <a:p>
                      <a:r>
                        <a:rPr sz="1800" b="0">
                          <a:solidFill>
                            <a:srgbClr val="253C49"/>
                          </a:solidFill>
                          <a:latin typeface="Arial"/>
                          <a:ea typeface="Arial"/>
                          <a:cs typeface="Arial"/>
                        </a:rPr>
                        <a:t>0,000006</a:t>
                      </a:r>
                    </a:p>
                  </a:txBody>
                  <a:tcPr marL="91440" marR="91440" marT="45720" marB="45720">
                    <a:solidFill>
                      <a:srgbClr val="EAF1F1"/>
                    </a:solidFill>
                  </a:tcPr>
                </a:tc>
                <a:tc>
                  <a:txBody>
                    <a:bodyPr/>
                    <a:lstStyle/>
                    <a:p>
                      <a:r>
                        <a:rPr sz="1800" b="0">
                          <a:solidFill>
                            <a:srgbClr val="253C49"/>
                          </a:solidFill>
                          <a:latin typeface="Arial"/>
                          <a:ea typeface="Arial"/>
                          <a:cs typeface="Arial"/>
                        </a:rPr>
                        <a:t>41,857</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Distancia a ET (km)</a:t>
                      </a:r>
                    </a:p>
                  </a:txBody>
                  <a:tcPr marL="91440" marR="91440" marT="45720" marB="45720">
                    <a:solidFill>
                      <a:srgbClr val="FFFFFF"/>
                    </a:solidFill>
                  </a:tcPr>
                </a:tc>
                <a:tc>
                  <a:txBody>
                    <a:bodyPr/>
                    <a:lstStyle/>
                    <a:p>
                      <a:r>
                        <a:rPr sz="1800" b="0">
                          <a:solidFill>
                            <a:srgbClr val="253C49"/>
                          </a:solidFill>
                          <a:latin typeface="Arial"/>
                          <a:ea typeface="Arial"/>
                          <a:cs typeface="Arial"/>
                        </a:rPr>
                        <a:t>0,088</a:t>
                      </a:r>
                    </a:p>
                  </a:txBody>
                  <a:tcPr marL="91440" marR="91440" marT="45720" marB="45720">
                    <a:solidFill>
                      <a:srgbClr val="FFFFFF"/>
                    </a:solidFill>
                  </a:tcPr>
                </a:tc>
                <a:tc>
                  <a:txBody>
                    <a:bodyPr/>
                    <a:lstStyle/>
                    <a:p>
                      <a:r>
                        <a:rPr sz="1800" b="0">
                          <a:solidFill>
                            <a:srgbClr val="253C49"/>
                          </a:solidFill>
                          <a:latin typeface="Arial"/>
                          <a:ea typeface="Arial"/>
                          <a:cs typeface="Arial"/>
                        </a:rPr>
                        <a:t>249,735</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Potencia (MW)</a:t>
                      </a:r>
                    </a:p>
                  </a:txBody>
                  <a:tcPr marL="91440" marR="91440" marT="45720" marB="45720">
                    <a:solidFill>
                      <a:srgbClr val="EAF1F1"/>
                    </a:solidFill>
                  </a:tcPr>
                </a:tc>
                <a:tc>
                  <a:txBody>
                    <a:bodyPr/>
                    <a:lstStyle/>
                    <a:p>
                      <a:r>
                        <a:rPr sz="1800" b="0">
                          <a:solidFill>
                            <a:srgbClr val="253C49"/>
                          </a:solidFill>
                          <a:latin typeface="Arial"/>
                          <a:ea typeface="Arial"/>
                          <a:cs typeface="Arial"/>
                        </a:rPr>
                        <a:t>0</a:t>
                      </a:r>
                    </a:p>
                  </a:txBody>
                  <a:tcPr marL="91440" marR="91440" marT="45720" marB="45720">
                    <a:solidFill>
                      <a:srgbClr val="EAF1F1"/>
                    </a:solidFill>
                  </a:tcPr>
                </a:tc>
                <a:tc>
                  <a:txBody>
                    <a:bodyPr/>
                    <a:lstStyle/>
                    <a:p>
                      <a:r>
                        <a:rPr sz="1800" b="0">
                          <a:solidFill>
                            <a:srgbClr val="253C49"/>
                          </a:solidFill>
                          <a:latin typeface="Arial"/>
                          <a:ea typeface="Arial"/>
                          <a:cs typeface="Arial"/>
                        </a:rPr>
                        <a:t>80</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Densidad (MW/km²)</a:t>
                      </a:r>
                    </a:p>
                  </a:txBody>
                  <a:tcPr marL="91440" marR="91440" marT="45720" marB="45720">
                    <a:solidFill>
                      <a:srgbClr val="FFFFFF"/>
                    </a:solidFill>
                  </a:tcPr>
                </a:tc>
                <a:tc>
                  <a:txBody>
                    <a:bodyPr/>
                    <a:lstStyle/>
                    <a:p>
                      <a:r>
                        <a:rPr sz="1800" b="0">
                          <a:solidFill>
                            <a:srgbClr val="253C49"/>
                          </a:solidFill>
                          <a:latin typeface="Arial"/>
                          <a:ea typeface="Arial"/>
                          <a:cs typeface="Arial"/>
                        </a:rPr>
                        <a:t>Adoptada</a:t>
                      </a:r>
                    </a:p>
                  </a:txBody>
                  <a:tcPr marL="91440" marR="91440" marT="45720" marB="45720">
                    <a:solidFill>
                      <a:srgbClr val="FFFFFF"/>
                    </a:solidFill>
                  </a:tcPr>
                </a:tc>
                <a:tc>
                  <a:txBody>
                    <a:bodyPr/>
                    <a:lstStyle/>
                    <a:p>
                      <a:r>
                        <a:rPr sz="1800" b="0">
                          <a:solidFill>
                            <a:srgbClr val="253C49"/>
                          </a:solidFill>
                          <a:latin typeface="Arial"/>
                          <a:ea typeface="Arial"/>
                          <a:cs typeface="Arial"/>
                        </a:rPr>
                        <a:t>31,3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7CF236-F144-4EAB-A58F-48693C4DCED3}"/>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Diapositiva de apoyo para preguntas</a:t>
            </a:r>
          </a:p>
        </p:txBody>
      </p:sp>
    </p:spTree>
    <p:extLst>
      <p:ext uri="{BB962C8B-B14F-4D97-AF65-F5344CB8AC3E}">
        <p14:creationId xmlns:p14="http://schemas.microsoft.com/office/powerpoint/2010/main" val="3888505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FA1EF-C3DB-4608-9E38-EDB37EED057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genes del cruce observado</a:t>
            </a:r>
          </a:p>
        </p:txBody>
      </p:sp>
      <p:sp>
        <p:nvSpPr>
          <p:cNvPr id="2" name="">
            <a:extLst xmlns:a="http://schemas.openxmlformats.org/drawingml/2006/main">
              <a:ext uri="{FF2B5EF4-FFF2-40B4-BE49-F238E27FC236}">
                <a16:creationId xmlns:a16="http://schemas.microsoft.com/office/drawing/2014/main" id="{85E15A3A-DF9A-43A8-8194-05900D82FB7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67FAD9E3-7041-4C00-9C8A-586EBE6D005E}"/>
              </a:ext>
            </a:extLst>
          </p:cNvPr>
          <p:cNvGraphicFramePr/>
          <p:nvPr/>
        </p:nvGraphicFramePr>
        <p:xfrm>
          <a:off xmlns:a="http://schemas.openxmlformats.org/drawingml/2006/main" x="619125" y="1562100"/>
          <a:ext xmlns:a="http://schemas.openxmlformats.org/drawingml/2006/main" cx="10953750" cy="3286125"/>
        </p:xfrm>
        <a:graphic xmlns:a="http://schemas.openxmlformats.org/drawingml/2006/main">
          <a:graphicData uri="http://schemas.openxmlformats.org/drawingml/2006/table">
            <a:tbl>
              <a:tblPr/>
              <a:tblGrid>
                <a:gridCol w="1714500"/>
                <a:gridCol w="9239250"/>
              </a:tblGrid>
              <a:tr h="821531">
                <a:tc>
                  <a:txBody>
                    <a:bodyPr/>
                    <a:lstStyle/>
                    <a:p>
                      <a:r>
                        <a:rPr sz="1800" b="1">
                          <a:solidFill>
                            <a:srgbClr val="FFFFFF"/>
                          </a:solidFill>
                          <a:latin typeface="Arial"/>
                          <a:ea typeface="Arial"/>
                          <a:cs typeface="Arial"/>
                        </a:rPr>
                        <a:t>Secuencia</a:t>
                      </a:r>
                    </a:p>
                  </a:txBody>
                  <a:tcPr marL="91440" marR="91440" marT="45720" marB="45720">
                    <a:solidFill>
                      <a:srgbClr val="172F3E"/>
                    </a:solidFill>
                  </a:tcPr>
                </a:tc>
                <a:tc>
                  <a:txBody>
                    <a:bodyPr/>
                    <a:lstStyle/>
                    <a:p>
                      <a:r>
                        <a:rPr sz="1800" b="1">
                          <a:solidFill>
                            <a:srgbClr val="FFFFFF"/>
                          </a:solidFill>
                          <a:latin typeface="Arial"/>
                          <a:ea typeface="Arial"/>
                          <a:cs typeface="Arial"/>
                        </a:rPr>
                        <a:t>Genes reales</a:t>
                      </a:r>
                    </a:p>
                  </a:txBody>
                  <a:tcPr marL="91440" marR="91440" marT="45720" marB="45720">
                    <a:solidFill>
                      <a:srgbClr val="172F3E"/>
                    </a:solidFill>
                  </a:tcPr>
                </a:tc>
              </a:tr>
              <a:tr h="821531">
                <a:tc>
                  <a:txBody>
                    <a:bodyPr/>
                    <a:lstStyle/>
                    <a:p>
                      <a:r>
                        <a:rPr sz="1800" b="0">
                          <a:solidFill>
                            <a:srgbClr val="253C49"/>
                          </a:solidFill>
                          <a:latin typeface="Arial"/>
                          <a:ea typeface="Arial"/>
                          <a:cs typeface="Arial"/>
                        </a:rPr>
                        <a:t>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2083272650, 938200436, 671673529, 538685106</a:t>
                      </a:r>
                    </a:p>
                  </a:txBody>
                  <a:tcPr marL="91440" marR="91440" marT="45720" marB="45720">
                    <a:solidFill>
                      <a:srgbClr val="FFFFFF"/>
                    </a:solidFill>
                  </a:tcPr>
                </a:tc>
              </a:tr>
              <a:tr h="821531">
                <a:tc>
                  <a:txBody>
                    <a:bodyPr/>
                    <a:lstStyle/>
                    <a:p>
                      <a:r>
                        <a:rPr sz="1800" b="0">
                          <a:solidFill>
                            <a:srgbClr val="253C49"/>
                          </a:solidFill>
                          <a:latin typeface="Arial"/>
                          <a:ea typeface="Arial"/>
                          <a:cs typeface="Arial"/>
                        </a:rPr>
                        <a:t>B</a:t>
                      </a:r>
                    </a:p>
                  </a:txBody>
                  <a:tcPr marL="91440" marR="91440" marT="45720" marB="45720">
                    <a:solidFill>
                      <a:srgbClr val="EAF1F1"/>
                    </a:solidFill>
                  </a:tcPr>
                </a:tc>
                <a:tc>
                  <a:txBody>
                    <a:bodyPr/>
                    <a:lstStyle/>
                    <a:p>
                      <a:r>
                        <a:rPr sz="1800" b="0">
                          <a:solidFill>
                            <a:srgbClr val="253C49"/>
                          </a:solidFill>
                          <a:latin typeface="Arial"/>
                          <a:ea typeface="Arial"/>
                          <a:cs typeface="Arial"/>
                        </a:rPr>
                        <a:t>949832610, 786802762, 1753680651, 1864815592, 1486342001, 1918520519</a:t>
                      </a:r>
                    </a:p>
                  </a:txBody>
                  <a:tcPr marL="91440" marR="91440" marT="45720" marB="45720">
                    <a:solidFill>
                      <a:srgbClr val="EAF1F1"/>
                    </a:solidFill>
                  </a:tcPr>
                </a:tc>
              </a:tr>
              <a:tr h="821531">
                <a:tc>
                  <a:txBody>
                    <a:bodyPr/>
                    <a:lstStyle/>
                    <a:p>
                      <a:r>
                        <a:rPr sz="1800" b="0">
                          <a:solidFill>
                            <a:srgbClr val="253C49"/>
                          </a:solidFill>
                          <a:latin typeface="Arial"/>
                          <a:ea typeface="Arial"/>
                          <a:cs typeface="Arial"/>
                        </a:rPr>
                        <a:t>Hijo 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2083272650, 938200436, 671673529, 1486342001, 1918520519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E8A728-FB54-4052-B7CC-20CE45CDC13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Hijo A = prefijo A de 3 genes + sufijo B desde el quinto gen</a:t>
            </a:r>
          </a:p>
        </p:txBody>
      </p:sp>
    </p:spTree>
    <p:extLst>
      <p:ext uri="{BB962C8B-B14F-4D97-AF65-F5344CB8AC3E}">
        <p14:creationId xmlns:p14="http://schemas.microsoft.com/office/powerpoint/2010/main" val="948116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672DF-5B72-42CD-876B-E356F61F567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mejores parques por generación</a:t>
            </a:r>
          </a:p>
        </p:txBody>
      </p:sp>
      <p:sp>
        <p:nvSpPr>
          <p:cNvPr id="2" name="">
            <a:extLst xmlns:a="http://schemas.openxmlformats.org/drawingml/2006/main">
              <a:ext uri="{FF2B5EF4-FFF2-40B4-BE49-F238E27FC236}">
                <a16:creationId xmlns:a16="http://schemas.microsoft.com/office/drawing/2014/main" id="{65FFD7A5-FD4C-43EE-80B5-85C90A50745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9B3B82D0-06DD-418C-A3B3-3880691C16D1}"/>
              </a:ext>
            </a:extLst>
          </p:cNvPr>
          <p:cNvPicPr>
            <a:picLocks xmlns:a="http://schemas.openxmlformats.org/drawingml/2006/main" noChangeAspect="1"/>
          </p:cNvPicPr>
          <p:nvPr/>
        </p:nvPicPr>
        <p:blipFill>
          <a:blip xmlns:r="http://schemas.openxmlformats.org/officeDocument/2006/relationships" xmlns:a="http://schemas.openxmlformats.org/drawingml/2006/main" r:embed="R20765cce94a54a83"/>
          <a:stretch xmlns:a="http://schemas.openxmlformats.org/drawingml/2006/main"/>
        </p:blipFill>
        <p:spPr>
          <a:xfrm xmlns:a="http://schemas.openxmlformats.org/drawingml/2006/main">
            <a:off x="523875" y="1588294"/>
            <a:ext cx="3667125" cy="2881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06998-866A-4D21-B9F5-3A6051268CEE}"/>
              </a:ext>
            </a:extLst>
          </p:cNvPr>
          <p:cNvSpPr>
            <a:spLocks xmlns:a="http://schemas.openxmlformats.org/drawingml/2006/main" noGrp="1"/>
          </p:cNvSpPr>
          <p:nvPr/>
        </p:nvSpPr>
        <p:spPr>
          <a:xfrm xmlns:a="http://schemas.openxmlformats.org/drawingml/2006/main">
            <a:off x="6096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11539562-A930-4E1F-A401-9054C7F4C392}"/>
              </a:ext>
            </a:extLst>
          </p:cNvPr>
          <p:cNvSpPr>
            <a:spLocks xmlns:a="http://schemas.openxmlformats.org/drawingml/2006/main" noGrp="1"/>
          </p:cNvSpPr>
          <p:nvPr/>
        </p:nvSpPr>
        <p:spPr>
          <a:xfrm xmlns:a="http://schemas.openxmlformats.org/drawingml/2006/main">
            <a:off x="6096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0,6384</a:t>
            </a:r>
          </a:p>
        </p:txBody>
      </p:sp>
      <p:pic>
        <p:nvPicPr>
          <p:cNvPr id="6" name="">
            <a:extLst xmlns:a="http://schemas.openxmlformats.org/drawingml/2006/main">
              <a:ext uri="{FF2B5EF4-FFF2-40B4-BE49-F238E27FC236}">
                <a16:creationId xmlns:a16="http://schemas.microsoft.com/office/drawing/2014/main" id="{B9FB5EDA-C1CC-4320-A791-279391C74023}"/>
              </a:ext>
            </a:extLst>
          </p:cNvPr>
          <p:cNvPicPr>
            <a:picLocks xmlns:a="http://schemas.openxmlformats.org/drawingml/2006/main" noChangeAspect="1"/>
          </p:cNvPicPr>
          <p:nvPr/>
        </p:nvPicPr>
        <p:blipFill>
          <a:blip xmlns:r="http://schemas.openxmlformats.org/officeDocument/2006/relationships" xmlns:a="http://schemas.openxmlformats.org/drawingml/2006/main" r:embed="R20bb259a735e4806"/>
          <a:stretch xmlns:a="http://schemas.openxmlformats.org/drawingml/2006/main"/>
        </p:blipFill>
        <p:spPr>
          <a:xfrm xmlns:a="http://schemas.openxmlformats.org/drawingml/2006/main">
            <a:off x="4371975" y="1588294"/>
            <a:ext cx="3667125" cy="2881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D1258D-1CC0-4421-98DA-6DCBA74CFC77}"/>
              </a:ext>
            </a:extLst>
          </p:cNvPr>
          <p:cNvSpPr>
            <a:spLocks xmlns:a="http://schemas.openxmlformats.org/drawingml/2006/main" noGrp="1"/>
          </p:cNvSpPr>
          <p:nvPr/>
        </p:nvSpPr>
        <p:spPr>
          <a:xfrm xmlns:a="http://schemas.openxmlformats.org/drawingml/2006/main">
            <a:off x="44577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0C63E1D4-F42A-4B5E-A79C-469CFC009178}"/>
              </a:ext>
            </a:extLst>
          </p:cNvPr>
          <p:cNvSpPr>
            <a:spLocks xmlns:a="http://schemas.openxmlformats.org/drawingml/2006/main" noGrp="1"/>
          </p:cNvSpPr>
          <p:nvPr/>
        </p:nvSpPr>
        <p:spPr>
          <a:xfrm xmlns:a="http://schemas.openxmlformats.org/drawingml/2006/main">
            <a:off x="44577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0,6907</a:t>
            </a:r>
          </a:p>
        </p:txBody>
      </p:sp>
      <p:pic>
        <p:nvPicPr>
          <p:cNvPr id="9" name="">
            <a:extLst xmlns:a="http://schemas.openxmlformats.org/drawingml/2006/main">
              <a:ext uri="{FF2B5EF4-FFF2-40B4-BE49-F238E27FC236}">
                <a16:creationId xmlns:a16="http://schemas.microsoft.com/office/drawing/2014/main" id="{8486911A-E33F-4E8A-9D95-D89745BC1002}"/>
              </a:ext>
            </a:extLst>
          </p:cNvPr>
          <p:cNvPicPr>
            <a:picLocks xmlns:a="http://schemas.openxmlformats.org/drawingml/2006/main" noChangeAspect="1"/>
          </p:cNvPicPr>
          <p:nvPr/>
        </p:nvPicPr>
        <p:blipFill>
          <a:blip xmlns:r="http://schemas.openxmlformats.org/officeDocument/2006/relationships" xmlns:a="http://schemas.openxmlformats.org/drawingml/2006/main" r:embed="R24f67883eeee46cf"/>
          <a:stretch xmlns:a="http://schemas.openxmlformats.org/drawingml/2006/main"/>
        </p:blipFill>
        <p:spPr>
          <a:xfrm xmlns:a="http://schemas.openxmlformats.org/drawingml/2006/main">
            <a:off x="8220075" y="1588294"/>
            <a:ext cx="3667125" cy="28813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982190E-F5C3-494D-91F5-C69F7ACF524C}"/>
              </a:ext>
            </a:extLst>
          </p:cNvPr>
          <p:cNvSpPr>
            <a:spLocks xmlns:a="http://schemas.openxmlformats.org/drawingml/2006/main" noGrp="1"/>
          </p:cNvSpPr>
          <p:nvPr/>
        </p:nvSpPr>
        <p:spPr>
          <a:xfrm xmlns:a="http://schemas.openxmlformats.org/drawingml/2006/main">
            <a:off x="83058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58E86F58-7034-4EF7-A6B5-D5FB2236A11C}"/>
              </a:ext>
            </a:extLst>
          </p:cNvPr>
          <p:cNvSpPr>
            <a:spLocks xmlns:a="http://schemas.openxmlformats.org/drawingml/2006/main" noGrp="1"/>
          </p:cNvSpPr>
          <p:nvPr/>
        </p:nvSpPr>
        <p:spPr>
          <a:xfrm xmlns:a="http://schemas.openxmlformats.org/drawingml/2006/main">
            <a:off x="83058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0,7174</a:t>
            </a:r>
          </a:p>
        </p:txBody>
      </p:sp>
      <p:sp>
        <p:nvSpPr>
          <p:cNvPr id="12" name="">
            <a:extLst xmlns:a="http://schemas.openxmlformats.org/drawingml/2006/main">
              <a:ext uri="{FF2B5EF4-FFF2-40B4-BE49-F238E27FC236}">
                <a16:creationId xmlns:a16="http://schemas.microsoft.com/office/drawing/2014/main" id="{57F11FC7-299C-4632-8FDE-9B2B2005692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Líderes observados en distintas generaciones. No representan un mismo linaje</a:t>
            </a:r>
          </a:p>
        </p:txBody>
      </p:sp>
    </p:spTree>
    <p:extLst>
      <p:ext uri="{BB962C8B-B14F-4D97-AF65-F5344CB8AC3E}">
        <p14:creationId xmlns:p14="http://schemas.microsoft.com/office/powerpoint/2010/main" val="1151431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2026-10-06T23:26:39.4360000Z</dcterms:created>
  <dcterms:modified xsi:type="dcterms:W3CDTF">2026-10-06T23:26:39.4360000Z</dcterms:modified>
</coreProperties>
</file>